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handoutMasterIdLst>
    <p:handoutMasterId r:id="rId17"/>
  </p:handoutMasterIdLst>
  <p:sldIdLst>
    <p:sldId id="269" r:id="rId3"/>
    <p:sldId id="270" r:id="rId21"/>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6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943" y="1143000"/>
            <a:ext cx="5486114"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the same speaker who introduces the presentation. Suggested line: Here is our roadmap. We will begin with the background and enabling technologies, then discuss applications, challenges and future research, before concluding. Use the slide numbers at the bottom right of each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tags" Target="../tags/tag20.xml"/><Relationship Id="rId3" Type="http://schemas.openxmlformats.org/officeDocument/2006/relationships/tags" Target="../tags/tag21.xml"/><Relationship Id="rId4" Type="http://schemas.openxmlformats.org/officeDocument/2006/relationships/tags" Target="../tags/tag22.xml"/><Relationship Id="rId5" Type="http://schemas.openxmlformats.org/officeDocument/2006/relationships/tags" Target="../tags/tag23.xml"/><Relationship Id="rId6" Type="http://schemas.openxmlformats.org/officeDocument/2006/relationships/tags" Target="../tags/tag24.xml"/><Relationship Id="rId7" Type="http://schemas.openxmlformats.org/officeDocument/2006/relationships/tags" Target="../tags/tag25.xml"/><Relationship Id="rId8" Type="http://schemas.openxmlformats.org/officeDocument/2006/relationships/tags" Target="../tags/tag26.xml"/><Relationship Id="rId9" Type="http://schemas.openxmlformats.org/officeDocument/2006/relationships/tags" Target="../tags/tag27.xml"/><Relationship Id="rId10" Type="http://schemas.openxmlformats.org/officeDocument/2006/relationships/tags" Target="../tags/tag28.xml"/><Relationship Id="rId11" Type="http://schemas.openxmlformats.org/officeDocument/2006/relationships/tags" Target="../tags/tag29.xml"/><Relationship Id="rId12" Type="http://schemas.openxmlformats.org/officeDocument/2006/relationships/tags" Target="../tags/tag30.xml"/><Relationship Id="rId13" Type="http://schemas.openxmlformats.org/officeDocument/2006/relationships/tags" Target="../tags/tag31.xml"/><Relationship Id="rId14" Type="http://schemas.openxmlformats.org/officeDocument/2006/relationships/tags" Target="../tags/tag32.xml"/><Relationship Id="rId15" Type="http://schemas.openxmlformats.org/officeDocument/2006/relationships/tags" Target="../tags/tag33.xml"/><Relationship Id="rId16" Type="http://schemas.openxmlformats.org/officeDocument/2006/relationships/tags" Target="../tags/tag34.xml"/><Relationship Id="rId17" Type="http://schemas.openxmlformats.org/officeDocument/2006/relationships/tags" Target="../tags/tag35.xml"/><Relationship Id="rId18" Type="http://schemas.openxmlformats.org/officeDocument/2006/relationships/tags" Target="../tags/tag36.xml"/><Relationship Id="rId19" Type="http://schemas.openxmlformats.org/officeDocument/2006/relationships/tags" Target="../tags/tag37.xml"/><Relationship Id="rId20" Type="http://schemas.openxmlformats.org/officeDocument/2006/relationships/tags" Target="../tags/tag38.xml"/><Relationship Id="rId2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tags" Target="../tags/tag40.xml"/><Relationship Id="rId3" Type="http://schemas.openxmlformats.org/officeDocument/2006/relationships/tags" Target="../tags/tag41.xml"/><Relationship Id="rId4" Type="http://schemas.openxmlformats.org/officeDocument/2006/relationships/tags" Target="../tags/tag42.xml"/><Relationship Id="rId5" Type="http://schemas.openxmlformats.org/officeDocument/2006/relationships/tags" Target="../tags/tag43.xml"/><Relationship Id="rId6" Type="http://schemas.openxmlformats.org/officeDocument/2006/relationships/tags" Target="../tags/tag44.xml"/><Relationship Id="rId7" Type="http://schemas.openxmlformats.org/officeDocument/2006/relationships/tags" Target="../tags/tag45.xml"/><Relationship Id="rId8" Type="http://schemas.openxmlformats.org/officeDocument/2006/relationships/tags" Target="../tags/tag46.xml"/><Relationship Id="rId9" Type="http://schemas.openxmlformats.org/officeDocument/2006/relationships/tags" Target="../tags/tag47.xml"/><Relationship Id="rId10" Type="http://schemas.openxmlformats.org/officeDocument/2006/relationships/tags" Target="../tags/tag48.xml"/><Relationship Id="rId11" Type="http://schemas.openxmlformats.org/officeDocument/2006/relationships/tags" Target="../tags/tag49.xml"/><Relationship Id="rId12" Type="http://schemas.openxmlformats.org/officeDocument/2006/relationships/tags" Target="../tags/tag50.xml"/><Relationship Id="rId13" Type="http://schemas.openxmlformats.org/officeDocument/2006/relationships/tags" Target="../tags/tag51.xml"/><Relationship Id="rId14" Type="http://schemas.openxmlformats.org/officeDocument/2006/relationships/tags" Target="../tags/tag52.xml"/><Relationship Id="rId15" Type="http://schemas.openxmlformats.org/officeDocument/2006/relationships/tags" Target="../tags/tag53.xml"/><Relationship Id="rId16"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tags" Target="../tags/tag55.xml"/><Relationship Id="rId3" Type="http://schemas.openxmlformats.org/officeDocument/2006/relationships/tags" Target="../tags/tag56.xml"/><Relationship Id="rId4" Type="http://schemas.openxmlformats.org/officeDocument/2006/relationships/tags" Target="../tags/tag57.xml"/><Relationship Id="rId5" Type="http://schemas.openxmlformats.org/officeDocument/2006/relationships/tags" Target="../tags/tag58.xml"/><Relationship Id="rId6" Type="http://schemas.openxmlformats.org/officeDocument/2006/relationships/tags" Target="../tags/tag59.xml"/><Relationship Id="rId7" Type="http://schemas.openxmlformats.org/officeDocument/2006/relationships/tags" Target="../tags/tag60.xml"/><Relationship Id="rId8" Type="http://schemas.openxmlformats.org/officeDocument/2006/relationships/tags" Target="../tags/tag61.xml"/><Relationship Id="rId9" Type="http://schemas.openxmlformats.org/officeDocument/2006/relationships/tags" Target="../tags/tag62.xml"/><Relationship Id="rId10" Type="http://schemas.openxmlformats.org/officeDocument/2006/relationships/tags" Target="../tags/tag63.xml"/><Relationship Id="rId11" Type="http://schemas.openxmlformats.org/officeDocument/2006/relationships/tags" Target="../tags/tag64.xml"/><Relationship Id="rId12" Type="http://schemas.openxmlformats.org/officeDocument/2006/relationships/tags" Target="../tags/tag65.xml"/><Relationship Id="rId13" Type="http://schemas.openxmlformats.org/officeDocument/2006/relationships/tags" Target="../tags/tag66.xml"/><Relationship Id="rId14" Type="http://schemas.openxmlformats.org/officeDocument/2006/relationships/tags" Target="../tags/tag67.xml"/><Relationship Id="rId15" Type="http://schemas.openxmlformats.org/officeDocument/2006/relationships/tags" Target="../tags/tag68.xml"/><Relationship Id="rId16"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tags" Target="../tags/tag70.xml"/><Relationship Id="rId3" Type="http://schemas.openxmlformats.org/officeDocument/2006/relationships/tags" Target="../tags/tag71.xml"/><Relationship Id="rId4" Type="http://schemas.openxmlformats.org/officeDocument/2006/relationships/tags" Target="../tags/tag72.xml"/><Relationship Id="rId5" Type="http://schemas.openxmlformats.org/officeDocument/2006/relationships/tags" Target="../tags/tag73.xml"/><Relationship Id="rId6" Type="http://schemas.openxmlformats.org/officeDocument/2006/relationships/tags" Target="../tags/tag74.xml"/><Relationship Id="rId7" Type="http://schemas.openxmlformats.org/officeDocument/2006/relationships/tags" Target="../tags/tag75.xml"/><Relationship Id="rId8" Type="http://schemas.openxmlformats.org/officeDocument/2006/relationships/tags" Target="../tags/tag76.xml"/><Relationship Id="rId9" Type="http://schemas.openxmlformats.org/officeDocument/2006/relationships/tags" Target="../tags/tag77.xml"/><Relationship Id="rId10" Type="http://schemas.openxmlformats.org/officeDocument/2006/relationships/tags" Target="../tags/tag78.xml"/><Relationship Id="rId11" Type="http://schemas.openxmlformats.org/officeDocument/2006/relationships/tags" Target="../tags/tag79.xml"/><Relationship Id="rId12" Type="http://schemas.openxmlformats.org/officeDocument/2006/relationships/tags" Target="../tags/tag80.xml"/><Relationship Id="rId13" Type="http://schemas.openxmlformats.org/officeDocument/2006/relationships/tags" Target="../tags/tag81.xml"/><Relationship Id="rId14" Type="http://schemas.openxmlformats.org/officeDocument/2006/relationships/tags" Target="../tags/tag82.xml"/><Relationship Id="rId15" Type="http://schemas.openxmlformats.org/officeDocument/2006/relationships/tags" Target="../tags/tag83.xml"/><Relationship Id="rId16" Type="http://schemas.openxmlformats.org/officeDocument/2006/relationships/tags" Target="../tags/tag84.xml"/><Relationship Id="rId17" Type="http://schemas.openxmlformats.org/officeDocument/2006/relationships/tags" Target="../tags/tag85.xml"/><Relationship Id="rId18" Type="http://schemas.openxmlformats.org/officeDocument/2006/relationships/tags" Target="../tags/tag86.xml"/><Relationship Id="rId19"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tags" Target="../tags/tag88.xml"/><Relationship Id="rId3" Type="http://schemas.openxmlformats.org/officeDocument/2006/relationships/tags" Target="../tags/tag89.xml"/><Relationship Id="rId4" Type="http://schemas.openxmlformats.org/officeDocument/2006/relationships/tags" Target="../tags/tag90.xml"/><Relationship Id="rId5" Type="http://schemas.openxmlformats.org/officeDocument/2006/relationships/tags" Target="../tags/tag91.xml"/><Relationship Id="rId6" Type="http://schemas.openxmlformats.org/officeDocument/2006/relationships/tags" Target="../tags/tag92.xml"/><Relationship Id="rId7" Type="http://schemas.openxmlformats.org/officeDocument/2006/relationships/tags" Target="../tags/tag93.xml"/><Relationship Id="rId8" Type="http://schemas.openxmlformats.org/officeDocument/2006/relationships/tags" Target="../tags/tag94.xml"/><Relationship Id="rId9" Type="http://schemas.openxmlformats.org/officeDocument/2006/relationships/tags" Target="../tags/tag95.xml"/><Relationship Id="rId10" Type="http://schemas.openxmlformats.org/officeDocument/2006/relationships/tags" Target="../tags/tag96.xml"/><Relationship Id="rId11" Type="http://schemas.openxmlformats.org/officeDocument/2006/relationships/tags" Target="../tags/tag97.xml"/><Relationship Id="rId12" Type="http://schemas.openxmlformats.org/officeDocument/2006/relationships/tags" Target="../tags/tag98.xml"/><Relationship Id="rId13" Type="http://schemas.openxmlformats.org/officeDocument/2006/relationships/tags" Target="../tags/tag99.xml"/><Relationship Id="rId1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50292"/>
          </a:xfrm>
          <a:prstGeom prst="rect">
            <a:avLst/>
          </a:prstGeom>
          <a:solidFill>
            <a:srgbClr val="00B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62280" y="1332865"/>
            <a:ext cx="73152" cy="4343400"/>
          </a:xfrm>
          <a:prstGeom prst="rect">
            <a:avLst/>
          </a:prstGeom>
          <a:solidFill>
            <a:srgbClr val="00B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图片(1).png"/>
          <p:cNvPicPr>
            <a:picLocks noChangeAspect="1"/>
          </p:cNvPicPr>
          <p:nvPr/>
        </p:nvPicPr>
        <p:blipFill>
          <a:blip r:embed="rId1"/>
          <a:stretch>
            <a:fillRect/>
          </a:stretch>
        </p:blipFill>
        <p:spPr>
          <a:xfrm>
            <a:off x="530352" y="210312"/>
            <a:ext cx="1874519" cy="895957"/>
          </a:xfrm>
          <a:prstGeom prst="rect">
            <a:avLst/>
          </a:prstGeom>
        </p:spPr>
      </p:pic>
      <p:grpSp>
        <p:nvGrpSpPr>
          <p:cNvPr id="20" name="组合 19"/>
          <p:cNvGrpSpPr/>
          <p:nvPr/>
        </p:nvGrpSpPr>
        <p:grpSpPr>
          <a:xfrm>
            <a:off x="2535555" y="203200"/>
            <a:ext cx="840740" cy="895350"/>
            <a:chOff x="17107" y="173"/>
            <a:chExt cx="1324" cy="1410"/>
          </a:xfrm>
        </p:grpSpPr>
        <p:sp>
          <p:nvSpPr>
            <p:cNvPr id="5" name="Rounded Rectangle 4"/>
            <p:cNvSpPr/>
            <p:nvPr/>
          </p:nvSpPr>
          <p:spPr>
            <a:xfrm>
              <a:off x="17107" y="173"/>
              <a:ext cx="1325" cy="1411"/>
            </a:xfrm>
            <a:prstGeom prst="roundRect">
              <a:avLst/>
            </a:prstGeom>
            <a:solidFill>
              <a:srgbClr val="FFFFFF"/>
            </a:solidFill>
            <a:ln w="12700">
              <a:solidFill>
                <a:srgbClr val="D0E1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校徽(1).png"/>
            <p:cNvPicPr>
              <a:picLocks noChangeAspect="1"/>
            </p:cNvPicPr>
            <p:nvPr/>
          </p:nvPicPr>
          <p:blipFill>
            <a:blip r:embed="rId2"/>
            <a:stretch>
              <a:fillRect/>
            </a:stretch>
          </p:blipFill>
          <p:spPr>
            <a:xfrm>
              <a:off x="17208" y="320"/>
              <a:ext cx="1123" cy="1117"/>
            </a:xfrm>
            <a:prstGeom prst="rect">
              <a:avLst/>
            </a:prstGeom>
          </p:spPr>
        </p:pic>
      </p:grpSp>
      <p:sp>
        <p:nvSpPr>
          <p:cNvPr id="7" name="TextBox 6"/>
          <p:cNvSpPr txBox="1"/>
          <p:nvPr/>
        </p:nvSpPr>
        <p:spPr>
          <a:xfrm>
            <a:off x="839343" y="1510348"/>
            <a:ext cx="5303520" cy="235585"/>
          </a:xfrm>
          <a:prstGeom prst="rect">
            <a:avLst/>
          </a:prstGeom>
          <a:noFill/>
        </p:spPr>
        <p:txBody>
          <a:bodyPr wrap="square" lIns="18288" tIns="18288" rIns="18288" bIns="18288" anchor="ctr">
            <a:spAutoFit/>
          </a:bodyPr>
          <a:lstStyle/>
          <a:p>
            <a:pPr algn="l">
              <a:spcAft>
                <a:spcPts val="400"/>
              </a:spcAft>
              <a:buClrTx/>
              <a:buSzTx/>
              <a:buFontTx/>
              <a:defRPr sz="1300" b="1" i="0">
                <a:solidFill>
                  <a:srgbClr val="185EDC"/>
                </a:solidFill>
                <a:latin typeface="Aptos"/>
              </a:defRPr>
            </a:pPr>
            <a:r>
              <a:rPr sz="1300" b="1">
                <a:solidFill>
                  <a:srgbClr val="185EDC"/>
                </a:solidFill>
                <a:latin typeface="Segoe UI" panose="020B0502040204020203" charset="0"/>
              </a:rPr>
              <a:t>6G  /  NEXT-GENERATION WIRELESS</a:t>
            </a:r>
            <a:endParaRPr sz="1300" b="1">
              <a:solidFill>
                <a:srgbClr val="185EDC"/>
              </a:solidFill>
              <a:latin typeface="Segoe UI" panose="020B0502040204020203" charset="0"/>
            </a:endParaRPr>
          </a:p>
        </p:txBody>
      </p:sp>
      <p:sp>
        <p:nvSpPr>
          <p:cNvPr id="8" name="TextBox 7"/>
          <p:cNvSpPr txBox="1"/>
          <p:nvPr/>
        </p:nvSpPr>
        <p:spPr>
          <a:xfrm>
            <a:off x="788797" y="1840611"/>
            <a:ext cx="5212080" cy="574040"/>
          </a:xfrm>
          <a:prstGeom prst="rect">
            <a:avLst/>
          </a:prstGeom>
          <a:noFill/>
        </p:spPr>
        <p:txBody>
          <a:bodyPr wrap="square" lIns="18288" tIns="18288" rIns="18288" bIns="18288" anchor="ctr">
            <a:spAutoFit/>
          </a:bodyPr>
          <a:lstStyle/>
          <a:p>
            <a:pPr algn="l">
              <a:spcAft>
                <a:spcPts val="200"/>
              </a:spcAft>
            </a:pPr>
            <a:r>
              <a:rPr sz="3500">
                <a:solidFill>
                  <a:srgbClr val="0D254E"/>
                </a:solidFill>
                <a:latin typeface="Segoe UI" panose="020B0502040204020203" charset="0"/>
                <a:cs typeface="Segoe UI" panose="020B0502040204020203" charset="0"/>
              </a:rPr>
              <a:t>6G AND</a:t>
            </a:r>
            <a:r>
              <a:rPr lang="en-US" sz="3500">
                <a:solidFill>
                  <a:srgbClr val="0D254E"/>
                </a:solidFill>
                <a:latin typeface="Segoe UI" panose="020B0502040204020203" charset="0"/>
                <a:cs typeface="Segoe UI" panose="020B0502040204020203" charset="0"/>
              </a:rPr>
              <a:t> </a:t>
            </a:r>
            <a:r>
              <a:rPr sz="3500">
                <a:solidFill>
                  <a:srgbClr val="0D254E"/>
                </a:solidFill>
                <a:latin typeface="Segoe UI" panose="020B0502040204020203" charset="0"/>
                <a:cs typeface="Segoe UI" panose="020B0502040204020203" charset="0"/>
              </a:rPr>
              <a:t>BEYOND</a:t>
            </a:r>
            <a:r>
              <a:rPr lang="zh-CN" sz="3500">
                <a:solidFill>
                  <a:srgbClr val="0D254E"/>
                </a:solidFill>
                <a:latin typeface="Segoe UI" panose="020B0502040204020203" charset="0"/>
                <a:cs typeface="Segoe UI" panose="020B0502040204020203" charset="0"/>
              </a:rPr>
              <a:t>：</a:t>
            </a:r>
            <a:endParaRPr lang="zh-CN" sz="3500">
              <a:solidFill>
                <a:srgbClr val="0D254E"/>
              </a:solidFill>
              <a:latin typeface="Segoe UI" panose="020B0502040204020203" charset="0"/>
              <a:cs typeface="Segoe UI" panose="020B0502040204020203" charset="0"/>
            </a:endParaRPr>
          </a:p>
        </p:txBody>
      </p:sp>
      <p:sp>
        <p:nvSpPr>
          <p:cNvPr id="9" name="Rectangle 8"/>
          <p:cNvSpPr/>
          <p:nvPr/>
        </p:nvSpPr>
        <p:spPr>
          <a:xfrm>
            <a:off x="747903" y="2670683"/>
            <a:ext cx="777240" cy="50292"/>
          </a:xfrm>
          <a:prstGeom prst="rect">
            <a:avLst/>
          </a:prstGeom>
          <a:solidFill>
            <a:srgbClr val="00B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030" y="2894457"/>
            <a:ext cx="5394960" cy="2169160"/>
          </a:xfrm>
          <a:prstGeom prst="rect">
            <a:avLst/>
          </a:prstGeom>
          <a:noFill/>
        </p:spPr>
        <p:txBody>
          <a:bodyPr wrap="square" lIns="18288" tIns="18288" rIns="18288" bIns="18288" anchor="ctr">
            <a:spAutoFit/>
          </a:bodyPr>
          <a:lstStyle/>
          <a:p>
            <a:pPr algn="l">
              <a:spcAft>
                <a:spcPts val="400"/>
              </a:spcAft>
              <a:buClrTx/>
              <a:buSzTx/>
              <a:buFontTx/>
              <a:defRPr sz="3200" b="1" i="0">
                <a:solidFill>
                  <a:srgbClr val="071636"/>
                </a:solidFill>
                <a:latin typeface="Aptos Display"/>
              </a:defRPr>
            </a:pPr>
            <a:r>
              <a:rPr sz="4400" b="1">
                <a:latin typeface="Segoe UI Variable Display" charset="0"/>
              </a:rPr>
              <a:t>The Prospects for</a:t>
            </a:r>
            <a:endParaRPr sz="4400" b="1">
              <a:latin typeface="Segoe UI Variable Display" charset="0"/>
            </a:endParaRPr>
          </a:p>
          <a:p>
            <a:pPr algn="l">
              <a:spcAft>
                <a:spcPts val="400"/>
              </a:spcAft>
              <a:buClrTx/>
              <a:buSzTx/>
              <a:buFontTx/>
              <a:defRPr sz="3200" b="1" i="0">
                <a:solidFill>
                  <a:srgbClr val="071636"/>
                </a:solidFill>
                <a:latin typeface="Aptos Display"/>
              </a:defRPr>
            </a:pPr>
            <a:r>
              <a:rPr sz="4400" b="1">
                <a:latin typeface="Segoe UI Variable Display" charset="0"/>
              </a:rPr>
              <a:t>Intelligent Wireless</a:t>
            </a:r>
            <a:endParaRPr sz="4400" b="1">
              <a:latin typeface="Segoe UI Variable Display" charset="0"/>
            </a:endParaRPr>
          </a:p>
          <a:p>
            <a:pPr algn="l">
              <a:spcAft>
                <a:spcPts val="400"/>
              </a:spcAft>
              <a:buClrTx/>
              <a:buSzTx/>
              <a:buFontTx/>
              <a:defRPr sz="3200" b="1" i="0">
                <a:solidFill>
                  <a:srgbClr val="071636"/>
                </a:solidFill>
                <a:latin typeface="Aptos Display"/>
              </a:defRPr>
            </a:pPr>
            <a:r>
              <a:rPr sz="4400" b="1">
                <a:latin typeface="Segoe UI Variable Display" charset="0"/>
              </a:rPr>
              <a:t>Connectivity</a:t>
            </a:r>
            <a:endParaRPr sz="4400" b="1">
              <a:latin typeface="Segoe UI Variable Display" charset="0"/>
            </a:endParaRPr>
          </a:p>
        </p:txBody>
      </p:sp>
      <p:sp>
        <p:nvSpPr>
          <p:cNvPr id="11" name="TextBox 10"/>
          <p:cNvSpPr txBox="1"/>
          <p:nvPr/>
        </p:nvSpPr>
        <p:spPr>
          <a:xfrm>
            <a:off x="788797" y="5179441"/>
            <a:ext cx="5394960" cy="974090"/>
          </a:xfrm>
          <a:prstGeom prst="rect">
            <a:avLst/>
          </a:prstGeom>
          <a:noFill/>
        </p:spPr>
        <p:txBody>
          <a:bodyPr wrap="square" lIns="18288" tIns="18288" rIns="18288" bIns="18288" anchor="ctr">
            <a:spAutoFit/>
          </a:bodyPr>
          <a:lstStyle/>
          <a:p>
            <a:pPr algn="l">
              <a:spcAft>
                <a:spcPts val="200"/>
              </a:spcAft>
            </a:pPr>
            <a:r>
              <a:rPr lang="en-US" sz="1400" b="0">
                <a:solidFill>
                  <a:srgbClr val="5E738F"/>
                </a:solidFill>
                <a:latin typeface="Segoe UI" panose="020B0502040204020203" charset="0"/>
                <a:cs typeface="Segoe UI" panose="020B0502040204020203" charset="0"/>
              </a:rPr>
              <a:t>M</a:t>
            </a:r>
            <a:r>
              <a:rPr lang="en-US" sz="1400" b="0">
                <a:solidFill>
                  <a:srgbClr val="5E738F"/>
                </a:solidFill>
                <a:latin typeface="Segoe UI" panose="020B0502040204020203" charset="0"/>
                <a:cs typeface="Segoe UI" panose="020B0502040204020203" charset="0"/>
              </a:rPr>
              <a:t>embers: Wei Shuwen | Li Su | Lu Zipeng</a:t>
            </a:r>
            <a:endParaRPr lang="en-US" sz="1400" b="0">
              <a:solidFill>
                <a:srgbClr val="5E738F"/>
              </a:solidFill>
              <a:latin typeface="Segoe UI" panose="020B0502040204020203" charset="0"/>
              <a:cs typeface="Segoe UI" panose="020B0502040204020203" charset="0"/>
            </a:endParaRPr>
          </a:p>
          <a:p>
            <a:pPr algn="l">
              <a:spcAft>
                <a:spcPts val="200"/>
              </a:spcAft>
            </a:pPr>
            <a:endParaRPr lang="en-US" sz="1400" b="0">
              <a:solidFill>
                <a:srgbClr val="5E738F"/>
              </a:solidFill>
              <a:latin typeface="Segoe UI" panose="020B0502040204020203" charset="0"/>
              <a:cs typeface="Segoe UI" panose="020B0502040204020203" charset="0"/>
            </a:endParaRPr>
          </a:p>
          <a:p>
            <a:pPr algn="l">
              <a:spcAft>
                <a:spcPts val="200"/>
              </a:spcAft>
            </a:pPr>
            <a:endParaRPr lang="en-US" sz="1400" b="0">
              <a:solidFill>
                <a:srgbClr val="5E738F"/>
              </a:solidFill>
              <a:latin typeface="Segoe UI" panose="020B0502040204020203" charset="0"/>
              <a:cs typeface="Segoe UI" panose="020B0502040204020203" charset="0"/>
            </a:endParaRPr>
          </a:p>
          <a:p>
            <a:pPr algn="l">
              <a:spcAft>
                <a:spcPts val="200"/>
              </a:spcAft>
            </a:pPr>
            <a:endParaRPr lang="en-US" sz="1400" b="0">
              <a:solidFill>
                <a:srgbClr val="5E738F"/>
              </a:solidFill>
              <a:latin typeface="Segoe UI" panose="020B0502040204020203" charset="0"/>
              <a:cs typeface="Segoe UI" panose="020B0502040204020203" charset="0"/>
            </a:endParaRPr>
          </a:p>
        </p:txBody>
      </p:sp>
      <p:pic>
        <p:nvPicPr>
          <p:cNvPr id="16" name="Picture 15" descr="a_wide_cinematic_high_detail_sci_fi_tech_illustr.png"/>
          <p:cNvPicPr>
            <a:picLocks noChangeAspect="1"/>
          </p:cNvPicPr>
          <p:nvPr/>
        </p:nvPicPr>
        <p:blipFill>
          <a:blip r:embed="rId3"/>
          <a:srcRect l="16667" r="16667"/>
          <a:stretch>
            <a:fillRect/>
          </a:stretch>
        </p:blipFill>
        <p:spPr>
          <a:xfrm>
            <a:off x="5958205" y="424815"/>
            <a:ext cx="6015990" cy="6223635"/>
          </a:xfrm>
          <a:prstGeom prst="rect">
            <a:avLst/>
          </a:prstGeom>
          <a:effectLst>
            <a:softEdge rad="317500"/>
          </a:effectLst>
        </p:spPr>
      </p:pic>
      <p:grpSp>
        <p:nvGrpSpPr>
          <p:cNvPr id="22" name="组合 21"/>
          <p:cNvGrpSpPr/>
          <p:nvPr/>
        </p:nvGrpSpPr>
        <p:grpSpPr>
          <a:xfrm>
            <a:off x="6554470" y="5582285"/>
            <a:ext cx="4526280" cy="438150"/>
            <a:chOff x="10752" y="8621"/>
            <a:chExt cx="7128" cy="690"/>
          </a:xfrm>
        </p:grpSpPr>
        <p:sp>
          <p:nvSpPr>
            <p:cNvPr id="17" name="Rounded Rectangle 16"/>
            <p:cNvSpPr/>
            <p:nvPr/>
          </p:nvSpPr>
          <p:spPr>
            <a:xfrm>
              <a:off x="10752" y="8621"/>
              <a:ext cx="7128" cy="691"/>
            </a:xfrm>
            <a:prstGeom prst="roundRect">
              <a:avLst/>
            </a:prstGeom>
            <a:solidFill>
              <a:srgbClr val="0D2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82" y="8769"/>
              <a:ext cx="6998" cy="395"/>
            </a:xfrm>
            <a:prstGeom prst="rect">
              <a:avLst/>
            </a:prstGeom>
            <a:noFill/>
          </p:spPr>
          <p:txBody>
            <a:bodyPr wrap="square" lIns="18288" tIns="18288" rIns="18288" bIns="18288" anchor="ctr">
              <a:spAutoFit/>
            </a:bodyPr>
            <a:lstStyle/>
            <a:p>
              <a:pPr algn="ctr">
                <a:spcAft>
                  <a:spcPts val="200"/>
                </a:spcAft>
              </a:pPr>
              <a:r>
                <a:rPr sz="1400" b="1">
                  <a:solidFill>
                    <a:srgbClr val="FFFFFF"/>
                  </a:solidFill>
                  <a:latin typeface="Segoe UI" panose="020B0502040204020203" charset="0"/>
                  <a:cs typeface="Segoe UI" panose="020B0502040204020203" charset="0"/>
                </a:rPr>
                <a:t>GLOBAL  •  INTELLIGENT  •  CONNECTED</a:t>
              </a:r>
              <a:endParaRPr sz="1400" b="1">
                <a:solidFill>
                  <a:srgbClr val="FFFFFF"/>
                </a:solidFill>
                <a:latin typeface="Segoe UI" panose="020B0502040204020203" charset="0"/>
                <a:cs typeface="Segoe UI" panose="020B0502040204020203" charset="0"/>
              </a:endParaRPr>
            </a:p>
          </p:txBody>
        </p:sp>
      </p:grpSp>
      <p:sp>
        <p:nvSpPr>
          <p:cNvPr id="19" name="TextBox 18"/>
          <p:cNvSpPr txBox="1"/>
          <p:nvPr/>
        </p:nvSpPr>
        <p:spPr>
          <a:xfrm>
            <a:off x="11292840" y="6473952"/>
            <a:ext cx="320040" cy="164592"/>
          </a:xfrm>
          <a:prstGeom prst="rect">
            <a:avLst/>
          </a:prstGeom>
          <a:noFill/>
        </p:spPr>
        <p:txBody>
          <a:bodyPr wrap="square" lIns="18288" tIns="18288" rIns="18288" bIns="18288" anchor="ctr">
            <a:spAutoFit/>
          </a:bodyPr>
          <a:lstStyle/>
          <a:p>
            <a:pPr algn="r">
              <a:spcAft>
                <a:spcPts val="200"/>
              </a:spcAft>
            </a:pPr>
            <a:r>
              <a:rPr sz="800" b="1">
                <a:solidFill>
                  <a:srgbClr val="185EDC"/>
                </a:solidFill>
                <a:latin typeface="Aptos"/>
              </a:rPr>
              <a:t>01</a:t>
            </a:r>
            <a:endParaRPr sz="800" b="1">
              <a:solidFill>
                <a:srgbClr val="185EDC"/>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9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01 / THE BIG IDEA</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What if the network could do more?</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algn="l">
              <a:spcAft>
                <a:spcPts val="400"/>
              </a:spcAft>
              <a:defRPr sz="1300" b="0" i="0">
                <a:solidFill>
                  <a:srgbClr val="586D8B"/>
                </a:solidFill>
                <a:latin typeface="Aptos"/>
              </a:defRPr>
            </a:pPr>
            <a:r>
              <a:rPr sz="1800">
                <a:latin typeface="Times New Roman" panose="02020603050405020304" charset="0"/>
                <a:cs typeface="Times New Roman" panose="02020603050405020304" charset="0"/>
              </a:rPr>
              <a:t>6G is not only about faster downloads — it is about systems that communicate, sense and adapt.</a:t>
            </a:r>
            <a:endParaRPr sz="1800">
              <a:latin typeface="Times New Roman" panose="02020603050405020304" charset="0"/>
              <a:cs typeface="Times New Roman" panose="02020603050405020304" charset="0"/>
            </a:endParaRPr>
          </a:p>
        </p:txBody>
      </p:sp>
      <p:grpSp>
        <p:nvGrpSpPr>
          <p:cNvPr id="29" name="组合 28"/>
          <p:cNvGrpSpPr/>
          <p:nvPr>
            <p:custDataLst>
              <p:tags r:id="rId1"/>
            </p:custDataLst>
          </p:nvPr>
        </p:nvGrpSpPr>
        <p:grpSpPr>
          <a:xfrm>
            <a:off x="4983480" y="2202815"/>
            <a:ext cx="2230755" cy="3402965"/>
            <a:chOff x="9033" y="3416"/>
            <a:chExt cx="3162" cy="4112"/>
          </a:xfrm>
        </p:grpSpPr>
        <p:sp>
          <p:nvSpPr>
            <p:cNvPr id="9" name="Rounded Rectangle 8"/>
            <p:cNvSpPr/>
            <p:nvPr>
              <p:custDataLst>
                <p:tags r:id="rId2"/>
              </p:custDataLst>
            </p:nvPr>
          </p:nvSpPr>
          <p:spPr>
            <a:xfrm>
              <a:off x="9033" y="3416"/>
              <a:ext cx="3163" cy="4112"/>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custDataLst>
                <p:tags r:id="rId3"/>
              </p:custDataLst>
            </p:nvPr>
          </p:nvSpPr>
          <p:spPr>
            <a:xfrm>
              <a:off x="9033" y="3416"/>
              <a:ext cx="111" cy="4112"/>
            </a:xfrm>
            <a:prstGeom prst="rect">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1" name="TextBox 10"/>
          <p:cNvSpPr txBox="1"/>
          <p:nvPr>
            <p:custDataLst>
              <p:tags r:id="rId4"/>
            </p:custDataLst>
          </p:nvPr>
        </p:nvSpPr>
        <p:spPr>
          <a:xfrm>
            <a:off x="5157104" y="2469603"/>
            <a:ext cx="522275" cy="312420"/>
          </a:xfrm>
          <a:prstGeom prst="rect">
            <a:avLst/>
          </a:prstGeom>
          <a:noFill/>
        </p:spPr>
        <p:txBody>
          <a:bodyPr wrap="square" lIns="18288" tIns="18288" rIns="18288" bIns="18288" anchor="t">
            <a:spAutoFit/>
          </a:bodyPr>
          <a:lstStyle/>
          <a:p>
            <a:pPr algn="l">
              <a:spcAft>
                <a:spcPts val="400"/>
              </a:spcAft>
              <a:defRPr sz="1100" b="1" i="0">
                <a:solidFill>
                  <a:srgbClr val="185EDC"/>
                </a:solidFill>
                <a:latin typeface="Aptos"/>
              </a:defRPr>
            </a:pPr>
            <a:r>
              <a:rPr sz="1800">
                <a:latin typeface="Segoe UI" panose="020B0502040204020203" charset="0"/>
              </a:rPr>
              <a:t>01</a:t>
            </a:r>
            <a:endParaRPr sz="1800">
              <a:latin typeface="Segoe UI" panose="020B0502040204020203" charset="0"/>
            </a:endParaRPr>
          </a:p>
        </p:txBody>
      </p:sp>
      <p:sp>
        <p:nvSpPr>
          <p:cNvPr id="12" name="TextBox 11"/>
          <p:cNvSpPr txBox="1"/>
          <p:nvPr>
            <p:custDataLst>
              <p:tags r:id="rId5"/>
            </p:custDataLst>
          </p:nvPr>
        </p:nvSpPr>
        <p:spPr>
          <a:xfrm>
            <a:off x="5489844" y="2781701"/>
            <a:ext cx="1506563" cy="342900"/>
          </a:xfrm>
          <a:prstGeom prst="rect">
            <a:avLst/>
          </a:prstGeom>
          <a:noFill/>
        </p:spPr>
        <p:txBody>
          <a:bodyPr wrap="square" lIns="18288" tIns="18288" rIns="18288" bIns="18288" anchor="t">
            <a:spAutoFit/>
          </a:bodyPr>
          <a:lstStyle/>
          <a:p>
            <a:pPr algn="l">
              <a:spcAft>
                <a:spcPts val="400"/>
              </a:spcAft>
              <a:defRPr sz="1700" b="1" i="0">
                <a:solidFill>
                  <a:srgbClr val="071636"/>
                </a:solidFill>
                <a:latin typeface="Aptos"/>
              </a:defRPr>
            </a:pPr>
            <a:r>
              <a:rPr sz="2000">
                <a:latin typeface="Times New Roman" panose="02020603050405020304" charset="0"/>
                <a:cs typeface="Times New Roman" panose="02020603050405020304" charset="0"/>
              </a:rPr>
              <a:t>CONNECT</a:t>
            </a:r>
            <a:endParaRPr sz="2000">
              <a:latin typeface="Times New Roman" panose="02020603050405020304" charset="0"/>
              <a:cs typeface="Times New Roman" panose="02020603050405020304" charset="0"/>
            </a:endParaRPr>
          </a:p>
        </p:txBody>
      </p:sp>
      <p:sp>
        <p:nvSpPr>
          <p:cNvPr id="13" name="TextBox 12"/>
          <p:cNvSpPr txBox="1"/>
          <p:nvPr>
            <p:custDataLst>
              <p:tags r:id="rId6"/>
            </p:custDataLst>
          </p:nvPr>
        </p:nvSpPr>
        <p:spPr>
          <a:xfrm>
            <a:off x="5149215" y="3446145"/>
            <a:ext cx="2113280" cy="1266190"/>
          </a:xfrm>
          <a:prstGeom prst="rect">
            <a:avLst/>
          </a:prstGeom>
          <a:noFill/>
        </p:spPr>
        <p:txBody>
          <a:bodyPr wrap="square" lIns="18288" tIns="18288" rIns="18288" bIns="18288" anchor="t">
            <a:spAutoFit/>
          </a:bodyPr>
          <a:lstStyle/>
          <a:p>
            <a:pPr algn="l">
              <a:spcAft>
                <a:spcPts val="400"/>
              </a:spcAft>
              <a:defRPr sz="1150" b="0" i="0">
                <a:solidFill>
                  <a:srgbClr val="586D8B"/>
                </a:solidFill>
                <a:latin typeface="Aptos"/>
              </a:defRPr>
            </a:pPr>
            <a:r>
              <a:rPr sz="2000">
                <a:latin typeface="Times New Roman" panose="02020603050405020304" charset="0"/>
                <a:cs typeface="Times New Roman" panose="02020603050405020304" charset="0"/>
              </a:rPr>
              <a:t>Move information reliably between people, devices and services.</a:t>
            </a:r>
            <a:endParaRPr sz="2000">
              <a:latin typeface="Times New Roman" panose="02020603050405020304" charset="0"/>
              <a:cs typeface="Times New Roman" panose="02020603050405020304" charset="0"/>
            </a:endParaRPr>
          </a:p>
        </p:txBody>
      </p:sp>
      <p:grpSp>
        <p:nvGrpSpPr>
          <p:cNvPr id="30" name="组合 29"/>
          <p:cNvGrpSpPr/>
          <p:nvPr>
            <p:custDataLst>
              <p:tags r:id="rId7"/>
            </p:custDataLst>
          </p:nvPr>
        </p:nvGrpSpPr>
        <p:grpSpPr>
          <a:xfrm>
            <a:off x="7349490" y="2202815"/>
            <a:ext cx="2298065" cy="3412490"/>
            <a:chOff x="12623" y="3416"/>
            <a:chExt cx="3162" cy="4112"/>
          </a:xfrm>
        </p:grpSpPr>
        <p:sp>
          <p:nvSpPr>
            <p:cNvPr id="14" name="Rounded Rectangle 13"/>
            <p:cNvSpPr/>
            <p:nvPr>
              <p:custDataLst>
                <p:tags r:id="rId8"/>
              </p:custDataLst>
            </p:nvPr>
          </p:nvSpPr>
          <p:spPr>
            <a:xfrm>
              <a:off x="12623" y="3416"/>
              <a:ext cx="3163" cy="4112"/>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custDataLst>
                <p:tags r:id="rId9"/>
              </p:custDataLst>
            </p:nvPr>
          </p:nvSpPr>
          <p:spPr>
            <a:xfrm>
              <a:off x="12623" y="3416"/>
              <a:ext cx="111" cy="4112"/>
            </a:xfrm>
            <a:prstGeom prst="rect">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6" name="TextBox 15"/>
          <p:cNvSpPr txBox="1"/>
          <p:nvPr>
            <p:custDataLst>
              <p:tags r:id="rId10"/>
            </p:custDataLst>
          </p:nvPr>
        </p:nvSpPr>
        <p:spPr>
          <a:xfrm>
            <a:off x="7745011" y="2469603"/>
            <a:ext cx="522275" cy="312420"/>
          </a:xfrm>
          <a:prstGeom prst="rect">
            <a:avLst/>
          </a:prstGeom>
          <a:noFill/>
        </p:spPr>
        <p:txBody>
          <a:bodyPr wrap="square" lIns="18288" tIns="18288" rIns="18288" bIns="18288" anchor="t">
            <a:spAutoFit/>
          </a:bodyPr>
          <a:lstStyle/>
          <a:p>
            <a:pPr algn="l">
              <a:spcAft>
                <a:spcPts val="400"/>
              </a:spcAft>
              <a:defRPr sz="1100" b="1" i="0">
                <a:solidFill>
                  <a:srgbClr val="00C3FF"/>
                </a:solidFill>
                <a:latin typeface="Aptos"/>
              </a:defRPr>
            </a:pPr>
            <a:r>
              <a:rPr sz="1800">
                <a:latin typeface="Segoe UI" panose="020B0502040204020203" charset="0"/>
              </a:rPr>
              <a:t>02</a:t>
            </a:r>
            <a:endParaRPr sz="1800">
              <a:latin typeface="Segoe UI" panose="020B0502040204020203" charset="0"/>
            </a:endParaRPr>
          </a:p>
        </p:txBody>
      </p:sp>
      <p:sp>
        <p:nvSpPr>
          <p:cNvPr id="17" name="TextBox 16"/>
          <p:cNvSpPr txBox="1"/>
          <p:nvPr>
            <p:custDataLst>
              <p:tags r:id="rId11"/>
            </p:custDataLst>
          </p:nvPr>
        </p:nvSpPr>
        <p:spPr>
          <a:xfrm>
            <a:off x="8141886" y="2781701"/>
            <a:ext cx="1506563" cy="342900"/>
          </a:xfrm>
          <a:prstGeom prst="rect">
            <a:avLst/>
          </a:prstGeom>
          <a:noFill/>
        </p:spPr>
        <p:txBody>
          <a:bodyPr wrap="square" lIns="18288" tIns="18288" rIns="18288" bIns="18288" anchor="t">
            <a:spAutoFit/>
          </a:bodyPr>
          <a:lstStyle/>
          <a:p>
            <a:pPr algn="l">
              <a:spcAft>
                <a:spcPts val="400"/>
              </a:spcAft>
              <a:buClrTx/>
              <a:buSzTx/>
              <a:buFontTx/>
              <a:defRPr sz="1700" b="1" i="0">
                <a:solidFill>
                  <a:srgbClr val="071636"/>
                </a:solidFill>
                <a:latin typeface="Aptos"/>
              </a:defRPr>
            </a:pPr>
            <a:r>
              <a:rPr sz="2000">
                <a:latin typeface="Times New Roman" panose="02020603050405020304" charset="0"/>
                <a:cs typeface="Times New Roman" panose="02020603050405020304" charset="0"/>
              </a:rPr>
              <a:t>SENSE</a:t>
            </a:r>
            <a:endParaRPr sz="2000">
              <a:latin typeface="Times New Roman" panose="02020603050405020304" charset="0"/>
              <a:cs typeface="Times New Roman" panose="02020603050405020304" charset="0"/>
            </a:endParaRPr>
          </a:p>
        </p:txBody>
      </p:sp>
      <p:sp>
        <p:nvSpPr>
          <p:cNvPr id="18" name="TextBox 17"/>
          <p:cNvSpPr txBox="1"/>
          <p:nvPr>
            <p:custDataLst>
              <p:tags r:id="rId12"/>
            </p:custDataLst>
          </p:nvPr>
        </p:nvSpPr>
        <p:spPr>
          <a:xfrm>
            <a:off x="7517765" y="3446780"/>
            <a:ext cx="2275840" cy="1266190"/>
          </a:xfrm>
          <a:prstGeom prst="rect">
            <a:avLst/>
          </a:prstGeom>
          <a:noFill/>
        </p:spPr>
        <p:txBody>
          <a:bodyPr wrap="square" lIns="18288" tIns="18288" rIns="18288" bIns="18288" anchor="t">
            <a:spAutoFit/>
          </a:bodyPr>
          <a:lstStyle/>
          <a:p>
            <a:pPr algn="l">
              <a:spcAft>
                <a:spcPts val="400"/>
              </a:spcAft>
              <a:buClrTx/>
              <a:buSzTx/>
              <a:buFontTx/>
              <a:defRPr sz="1150" b="0" i="0">
                <a:solidFill>
                  <a:srgbClr val="586D8B"/>
                </a:solidFill>
                <a:latin typeface="Aptos"/>
              </a:defRPr>
            </a:pPr>
            <a:r>
              <a:rPr sz="2000">
                <a:latin typeface="Times New Roman" panose="02020603050405020304" charset="0"/>
                <a:cs typeface="Times New Roman" panose="02020603050405020304" charset="0"/>
              </a:rPr>
              <a:t>Use radio signals to estimate location, movement and context.</a:t>
            </a:r>
            <a:endParaRPr sz="2000">
              <a:latin typeface="Times New Roman" panose="02020603050405020304" charset="0"/>
              <a:cs typeface="Times New Roman" panose="02020603050405020304" charset="0"/>
            </a:endParaRPr>
          </a:p>
        </p:txBody>
      </p:sp>
      <p:grpSp>
        <p:nvGrpSpPr>
          <p:cNvPr id="32" name="组合 31"/>
          <p:cNvGrpSpPr/>
          <p:nvPr>
            <p:custDataLst>
              <p:tags r:id="rId13"/>
            </p:custDataLst>
          </p:nvPr>
        </p:nvGrpSpPr>
        <p:grpSpPr>
          <a:xfrm>
            <a:off x="9765030" y="2202815"/>
            <a:ext cx="2254250" cy="3406775"/>
            <a:chOff x="16214" y="3416"/>
            <a:chExt cx="2530" cy="4112"/>
          </a:xfrm>
        </p:grpSpPr>
        <p:sp>
          <p:nvSpPr>
            <p:cNvPr id="19" name="Rounded Rectangle 18"/>
            <p:cNvSpPr/>
            <p:nvPr>
              <p:custDataLst>
                <p:tags r:id="rId14"/>
              </p:custDataLst>
            </p:nvPr>
          </p:nvSpPr>
          <p:spPr>
            <a:xfrm>
              <a:off x="16214" y="3416"/>
              <a:ext cx="2531" cy="4112"/>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custDataLst>
                <p:tags r:id="rId15"/>
              </p:custDataLst>
            </p:nvPr>
          </p:nvSpPr>
          <p:spPr>
            <a:xfrm>
              <a:off x="16214" y="3416"/>
              <a:ext cx="111" cy="4112"/>
            </a:xfrm>
            <a:prstGeom prst="rect">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1" name="TextBox 20"/>
          <p:cNvSpPr txBox="1"/>
          <p:nvPr>
            <p:custDataLst>
              <p:tags r:id="rId16"/>
            </p:custDataLst>
          </p:nvPr>
        </p:nvSpPr>
        <p:spPr>
          <a:xfrm>
            <a:off x="10085269" y="2469603"/>
            <a:ext cx="522275" cy="312420"/>
          </a:xfrm>
          <a:prstGeom prst="rect">
            <a:avLst/>
          </a:prstGeom>
          <a:noFill/>
        </p:spPr>
        <p:txBody>
          <a:bodyPr wrap="square" lIns="18288" tIns="18288" rIns="18288" bIns="18288" anchor="t">
            <a:spAutoFit/>
          </a:bodyPr>
          <a:lstStyle/>
          <a:p>
            <a:pPr algn="l">
              <a:spcAft>
                <a:spcPts val="400"/>
              </a:spcAft>
              <a:defRPr sz="1100" b="1" i="0">
                <a:solidFill>
                  <a:srgbClr val="5FE7DC"/>
                </a:solidFill>
                <a:latin typeface="Aptos"/>
              </a:defRPr>
            </a:pPr>
            <a:r>
              <a:rPr sz="1800">
                <a:latin typeface="Segoe UI" panose="020B0502040204020203" charset="0"/>
              </a:rPr>
              <a:t>03</a:t>
            </a:r>
            <a:endParaRPr sz="1800">
              <a:latin typeface="Segoe UI" panose="020B0502040204020203" charset="0"/>
            </a:endParaRPr>
          </a:p>
        </p:txBody>
      </p:sp>
      <p:sp>
        <p:nvSpPr>
          <p:cNvPr id="22" name="TextBox 21"/>
          <p:cNvSpPr txBox="1"/>
          <p:nvPr>
            <p:custDataLst>
              <p:tags r:id="rId17"/>
            </p:custDataLst>
          </p:nvPr>
        </p:nvSpPr>
        <p:spPr>
          <a:xfrm>
            <a:off x="10435154" y="2781701"/>
            <a:ext cx="1104813" cy="342900"/>
          </a:xfrm>
          <a:prstGeom prst="rect">
            <a:avLst/>
          </a:prstGeom>
          <a:noFill/>
        </p:spPr>
        <p:txBody>
          <a:bodyPr wrap="square" lIns="18288" tIns="18288" rIns="18288" bIns="18288" anchor="t">
            <a:spAutoFit/>
          </a:bodyPr>
          <a:lstStyle/>
          <a:p>
            <a:pPr algn="l">
              <a:spcAft>
                <a:spcPts val="400"/>
              </a:spcAft>
              <a:buClrTx/>
              <a:buSzTx/>
              <a:buFontTx/>
              <a:defRPr sz="1700" b="1" i="0">
                <a:solidFill>
                  <a:srgbClr val="071636"/>
                </a:solidFill>
                <a:latin typeface="Aptos"/>
              </a:defRPr>
            </a:pPr>
            <a:r>
              <a:rPr sz="2000">
                <a:latin typeface="Times New Roman" panose="02020603050405020304" charset="0"/>
                <a:cs typeface="Times New Roman" panose="02020603050405020304" charset="0"/>
              </a:rPr>
              <a:t>ADAPT</a:t>
            </a:r>
            <a:endParaRPr sz="2000">
              <a:latin typeface="Times New Roman" panose="02020603050405020304" charset="0"/>
              <a:cs typeface="Times New Roman" panose="02020603050405020304" charset="0"/>
            </a:endParaRPr>
          </a:p>
        </p:txBody>
      </p:sp>
      <p:sp>
        <p:nvSpPr>
          <p:cNvPr id="23" name="TextBox 22"/>
          <p:cNvSpPr txBox="1"/>
          <p:nvPr>
            <p:custDataLst>
              <p:tags r:id="rId18"/>
            </p:custDataLst>
          </p:nvPr>
        </p:nvSpPr>
        <p:spPr>
          <a:xfrm>
            <a:off x="9931400" y="3446780"/>
            <a:ext cx="2172335" cy="958850"/>
          </a:xfrm>
          <a:prstGeom prst="rect">
            <a:avLst/>
          </a:prstGeom>
          <a:noFill/>
        </p:spPr>
        <p:txBody>
          <a:bodyPr wrap="square" lIns="18288" tIns="18288" rIns="18288" bIns="18288" anchor="t">
            <a:spAutoFit/>
          </a:bodyPr>
          <a:lstStyle/>
          <a:p>
            <a:pPr algn="l">
              <a:spcAft>
                <a:spcPts val="400"/>
              </a:spcAft>
              <a:buClrTx/>
              <a:buSzTx/>
              <a:buFontTx/>
              <a:defRPr sz="1150" b="0" i="0">
                <a:solidFill>
                  <a:srgbClr val="586D8B"/>
                </a:solidFill>
                <a:latin typeface="Aptos"/>
              </a:defRPr>
            </a:pPr>
            <a:r>
              <a:rPr sz="2000">
                <a:latin typeface="Times New Roman" panose="02020603050405020304" charset="0"/>
                <a:cs typeface="Times New Roman" panose="02020603050405020304" charset="0"/>
              </a:rPr>
              <a:t>Use intelligence to respond to changing conditions.</a:t>
            </a:r>
            <a:endParaRPr sz="2000">
              <a:latin typeface="Times New Roman" panose="02020603050405020304" charset="0"/>
              <a:cs typeface="Times New Roman" panose="02020603050405020304" charset="0"/>
            </a:endParaRPr>
          </a:p>
        </p:txBody>
      </p:sp>
      <p:sp>
        <p:nvSpPr>
          <p:cNvPr id="24" name="TextBox 23"/>
          <p:cNvSpPr txBox="1"/>
          <p:nvPr/>
        </p:nvSpPr>
        <p:spPr>
          <a:xfrm>
            <a:off x="5610860" y="5878195"/>
            <a:ext cx="7071360" cy="312420"/>
          </a:xfrm>
          <a:prstGeom prst="rect">
            <a:avLst/>
          </a:prstGeom>
          <a:noFill/>
        </p:spPr>
        <p:txBody>
          <a:bodyPr wrap="square" lIns="18288" tIns="18288" rIns="18288" bIns="18288" anchor="t">
            <a:spAutoFit/>
          </a:bodyPr>
          <a:lstStyle/>
          <a:p>
            <a:pPr algn="l">
              <a:spcAft>
                <a:spcPts val="400"/>
              </a:spcAft>
              <a:defRPr sz="1300" b="1" i="0">
                <a:solidFill>
                  <a:srgbClr val="185EDC"/>
                </a:solidFill>
                <a:latin typeface="Aptos"/>
              </a:defRPr>
            </a:pPr>
            <a:r>
              <a:rPr sz="1800">
                <a:latin typeface="Times New Roman" panose="02020603050405020304" charset="0"/>
                <a:cs typeface="Times New Roman" panose="02020603050405020304" charset="0"/>
              </a:rPr>
              <a:t>evolution → technologies → applications → challenges</a:t>
            </a:r>
            <a:endParaRPr sz="1800">
              <a:latin typeface="Times New Roman" panose="02020603050405020304" charset="0"/>
              <a:cs typeface="Times New Roman" panose="02020603050405020304" charset="0"/>
            </a:endParaRPr>
          </a:p>
        </p:txBody>
      </p:sp>
      <p:sp>
        <p:nvSpPr>
          <p:cNvPr id="25" name="TextBox 24"/>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26" name="TextBox 25"/>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[1], [2]</a:t>
            </a:r>
            <a:endParaRPr>
              <a:latin typeface="Segoe UI" panose="020B0502040204020203" charset="0"/>
            </a:endParaRPr>
          </a:p>
        </p:txBody>
      </p:sp>
      <p:sp>
        <p:nvSpPr>
          <p:cNvPr id="27" name="TextBox 26"/>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03</a:t>
            </a:r>
            <a:endParaRPr>
              <a:latin typeface="Segoe UI" panose="020B0502040204020203" charset="0"/>
            </a:endParaRPr>
          </a:p>
        </p:txBody>
      </p:sp>
      <p:grpSp>
        <p:nvGrpSpPr>
          <p:cNvPr id="31" name="组合 30"/>
          <p:cNvGrpSpPr/>
          <p:nvPr/>
        </p:nvGrpSpPr>
        <p:grpSpPr>
          <a:xfrm>
            <a:off x="276225" y="1994535"/>
            <a:ext cx="4572000" cy="4185920"/>
            <a:chOff x="1080" y="3283"/>
            <a:chExt cx="7200" cy="6592"/>
          </a:xfrm>
        </p:grpSpPr>
        <p:sp>
          <p:nvSpPr>
            <p:cNvPr id="5" name="Rounded Rectangle 4"/>
            <p:cNvSpPr/>
            <p:nvPr/>
          </p:nvSpPr>
          <p:spPr>
            <a:xfrm>
              <a:off x="1080" y="3283"/>
              <a:ext cx="7201" cy="6593"/>
            </a:xfrm>
            <a:prstGeom prst="roundRect">
              <a:avLst/>
            </a:prstGeom>
            <a:solidFill>
              <a:srgbClr val="07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12" y="3499"/>
              <a:ext cx="1008" cy="1008"/>
            </a:xfrm>
            <a:prstGeom prst="rect">
              <a:avLst/>
            </a:prstGeom>
            <a:noFill/>
          </p:spPr>
          <p:txBody>
            <a:bodyPr wrap="square" lIns="18288" tIns="18288" rIns="18288" bIns="18288" anchor="t">
              <a:spAutoFit/>
            </a:bodyPr>
            <a:lstStyle/>
            <a:p>
              <a:pPr algn="l">
                <a:spcAft>
                  <a:spcPts val="400"/>
                </a:spcAft>
                <a:defRPr sz="4800" b="1" i="0">
                  <a:solidFill>
                    <a:srgbClr val="00C3FF"/>
                  </a:solidFill>
                  <a:latin typeface="Aptos"/>
                </a:defRPr>
              </a:pPr>
              <a:r>
                <a:rPr>
                  <a:latin typeface="Segoe UI" panose="020B0502040204020203" charset="0"/>
                </a:rPr>
                <a:t>“</a:t>
              </a:r>
              <a:endParaRPr>
                <a:latin typeface="Segoe UI" panose="020B0502040204020203" charset="0"/>
              </a:endParaRPr>
            </a:p>
          </p:txBody>
        </p:sp>
        <p:sp>
          <p:nvSpPr>
            <p:cNvPr id="7" name="TextBox 6"/>
            <p:cNvSpPr txBox="1"/>
            <p:nvPr/>
          </p:nvSpPr>
          <p:spPr>
            <a:xfrm>
              <a:off x="1699" y="4373"/>
              <a:ext cx="6120" cy="2851"/>
            </a:xfrm>
            <a:prstGeom prst="rect">
              <a:avLst/>
            </a:prstGeom>
            <a:noFill/>
          </p:spPr>
          <p:txBody>
            <a:bodyPr wrap="square" lIns="18288" tIns="18288" rIns="18288" bIns="18288" anchor="t">
              <a:spAutoFit/>
            </a:bodyPr>
            <a:lstStyle/>
            <a:p>
              <a:pPr algn="l">
                <a:spcAft>
                  <a:spcPts val="400"/>
                </a:spcAft>
                <a:defRPr sz="2300" b="1" i="0">
                  <a:solidFill>
                    <a:srgbClr val="FFFFFF"/>
                  </a:solidFill>
                  <a:latin typeface="Aptos"/>
                </a:defRPr>
              </a:pPr>
              <a:r>
                <a:rPr sz="2800">
                  <a:latin typeface="Times New Roman" panose="02020603050405020304" charset="0"/>
                  <a:cs typeface="Times New Roman" panose="02020603050405020304" charset="0"/>
                </a:rPr>
                <a:t>Imagine a virtual laboratory at home —</a:t>
              </a:r>
              <a:endParaRPr sz="2800">
                <a:latin typeface="Times New Roman" panose="02020603050405020304" charset="0"/>
                <a:cs typeface="Times New Roman" panose="02020603050405020304" charset="0"/>
              </a:endParaRPr>
            </a:p>
            <a:p>
              <a:pPr algn="l">
                <a:spcAft>
                  <a:spcPts val="400"/>
                </a:spcAft>
                <a:defRPr sz="2300" b="1" i="0">
                  <a:solidFill>
                    <a:srgbClr val="FFFFFF"/>
                  </a:solidFill>
                  <a:latin typeface="Aptos"/>
                </a:defRPr>
              </a:pPr>
              <a:r>
                <a:rPr sz="2800">
                  <a:latin typeface="Times New Roman" panose="02020603050405020304" charset="0"/>
                  <a:cs typeface="Times New Roman" panose="02020603050405020304" charset="0"/>
                </a:rPr>
                <a:t>immersive, interactive, and responsive.</a:t>
              </a:r>
              <a:endParaRPr sz="2800">
                <a:latin typeface="Times New Roman" panose="02020603050405020304" charset="0"/>
                <a:cs typeface="Times New Roman" panose="02020603050405020304" charset="0"/>
              </a:endParaRPr>
            </a:p>
          </p:txBody>
        </p:sp>
        <p:sp>
          <p:nvSpPr>
            <p:cNvPr id="8" name="TextBox 7"/>
            <p:cNvSpPr txBox="1"/>
            <p:nvPr/>
          </p:nvSpPr>
          <p:spPr>
            <a:xfrm>
              <a:off x="1699" y="7639"/>
              <a:ext cx="6120" cy="1364"/>
            </a:xfrm>
            <a:prstGeom prst="rect">
              <a:avLst/>
            </a:prstGeom>
            <a:noFill/>
          </p:spPr>
          <p:txBody>
            <a:bodyPr wrap="square" lIns="18288" tIns="18288" rIns="18288" bIns="18288" anchor="t">
              <a:spAutoFit/>
            </a:bodyPr>
            <a:lstStyle/>
            <a:p>
              <a:pPr algn="l">
                <a:spcAft>
                  <a:spcPts val="400"/>
                </a:spcAft>
                <a:defRPr sz="1300" b="0" i="0">
                  <a:solidFill>
                    <a:srgbClr val="BED7F4"/>
                  </a:solidFill>
                  <a:latin typeface="Aptos"/>
                </a:defRPr>
              </a:pPr>
              <a:r>
                <a:rPr sz="1800">
                  <a:latin typeface="Times New Roman" panose="02020603050405020304" charset="0"/>
                  <a:cs typeface="Times New Roman" panose="02020603050405020304" charset="0"/>
                </a:rPr>
                <a:t>Now imagine the wireless network also senses movement and adapts resources in real time.</a:t>
              </a:r>
              <a:endParaRPr sz="1800">
                <a:latin typeface="Times New Roman" panose="02020603050405020304" charset="0"/>
                <a:cs typeface="Times New Roman" panose="02020603050405020304" charset="0"/>
              </a:endParaRPr>
            </a:p>
          </p:txBody>
        </p:sp>
        <p:sp>
          <p:nvSpPr>
            <p:cNvPr id="28" name="TextBox 5"/>
            <p:cNvSpPr txBox="1"/>
            <p:nvPr/>
          </p:nvSpPr>
          <p:spPr>
            <a:xfrm rot="10800000">
              <a:off x="6811" y="8454"/>
              <a:ext cx="1008" cy="1008"/>
            </a:xfrm>
            <a:prstGeom prst="rect">
              <a:avLst/>
            </a:prstGeom>
            <a:noFill/>
          </p:spPr>
          <p:txBody>
            <a:bodyPr wrap="square" lIns="18288" tIns="18288" rIns="18288" bIns="18288" anchor="t">
              <a:spAutoFit/>
            </a:bodyPr>
            <a:lstStyle/>
            <a:p>
              <a:pPr algn="l">
                <a:spcAft>
                  <a:spcPts val="400"/>
                </a:spcAft>
                <a:defRPr sz="4800" b="1" i="0">
                  <a:solidFill>
                    <a:srgbClr val="00C3FF"/>
                  </a:solidFill>
                  <a:latin typeface="Aptos"/>
                </a:defRPr>
              </a:pPr>
              <a:r>
                <a:rPr>
                  <a:latin typeface="Segoe UI" panose="020B0502040204020203" charset="0"/>
                </a:rPr>
                <a:t>“</a:t>
              </a:r>
              <a:endParaRPr>
                <a:latin typeface="Segoe UI" panose="020B0502040204020203"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02 / CONTEXT</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From voice calls to intelligent connectivity</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algn="l">
              <a:spcAft>
                <a:spcPts val="400"/>
              </a:spcAft>
              <a:defRPr sz="1300" b="0" i="0">
                <a:solidFill>
                  <a:srgbClr val="586D8B"/>
                </a:solidFill>
                <a:latin typeface="Aptos"/>
              </a:defRPr>
            </a:pPr>
            <a:r>
              <a:rPr sz="1800">
                <a:latin typeface="Times New Roman" panose="02020603050405020304" charset="0"/>
                <a:cs typeface="Times New Roman" panose="02020603050405020304" charset="0"/>
              </a:rPr>
              <a:t>Each generation expanded what mobile networks could support.</a:t>
            </a:r>
            <a:endParaRPr sz="1800">
              <a:latin typeface="Times New Roman" panose="02020603050405020304" charset="0"/>
              <a:cs typeface="Times New Roman" panose="02020603050405020304" charset="0"/>
            </a:endParaRPr>
          </a:p>
        </p:txBody>
      </p:sp>
      <p:cxnSp>
        <p:nvCxnSpPr>
          <p:cNvPr id="5" name="Connector 4"/>
          <p:cNvCxnSpPr/>
          <p:nvPr/>
        </p:nvCxnSpPr>
        <p:spPr>
          <a:xfrm>
            <a:off x="1051560" y="2971800"/>
            <a:ext cx="10058400" cy="0"/>
          </a:xfrm>
          <a:prstGeom prst="line">
            <a:avLst/>
          </a:prstGeom>
          <a:ln w="38100">
            <a:solidFill>
              <a:srgbClr val="CADDF2"/>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005840" y="2852928"/>
            <a:ext cx="237744" cy="237744"/>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01568"/>
            <a:ext cx="1508760" cy="312420"/>
          </a:xfrm>
          <a:prstGeom prst="rect">
            <a:avLst/>
          </a:prstGeom>
          <a:noFill/>
        </p:spPr>
        <p:txBody>
          <a:bodyPr wrap="square" lIns="18288" tIns="18288" rIns="18288" bIns="18288" anchor="t">
            <a:spAutoFit/>
          </a:bodyPr>
          <a:lstStyle/>
          <a:p>
            <a:pPr algn="l">
              <a:spcAft>
                <a:spcPts val="400"/>
              </a:spcAft>
              <a:defRPr sz="1200" b="1" i="0">
                <a:solidFill>
                  <a:srgbClr val="142745"/>
                </a:solidFill>
                <a:latin typeface="Aptos"/>
              </a:defRPr>
            </a:pPr>
            <a:r>
              <a:rPr sz="1800">
                <a:latin typeface="Times New Roman" panose="02020603050405020304" charset="0"/>
                <a:cs typeface="Times New Roman" panose="02020603050405020304" charset="0"/>
              </a:rPr>
              <a:t>Analog voice</a:t>
            </a:r>
            <a:endParaRPr sz="1800">
              <a:latin typeface="Times New Roman" panose="02020603050405020304" charset="0"/>
              <a:cs typeface="Times New Roman" panose="02020603050405020304" charset="0"/>
            </a:endParaRPr>
          </a:p>
        </p:txBody>
      </p:sp>
      <p:sp>
        <p:nvSpPr>
          <p:cNvPr id="9" name="TextBox 8"/>
          <p:cNvSpPr txBox="1"/>
          <p:nvPr/>
        </p:nvSpPr>
        <p:spPr>
          <a:xfrm>
            <a:off x="777240" y="3985767"/>
            <a:ext cx="1600200" cy="312420"/>
          </a:xfrm>
          <a:prstGeom prst="rect">
            <a:avLst/>
          </a:prstGeom>
          <a:noFill/>
        </p:spPr>
        <p:txBody>
          <a:bodyPr wrap="square" lIns="18288" tIns="18288" rIns="18288" bIns="18288" anchor="t">
            <a:spAutoFit/>
          </a:bodyPr>
          <a:lstStyle/>
          <a:p>
            <a:pPr algn="l">
              <a:spcAft>
                <a:spcPts val="400"/>
              </a:spcAft>
              <a:defRPr sz="1000" b="0" i="0">
                <a:solidFill>
                  <a:srgbClr val="586D8B"/>
                </a:solidFill>
                <a:latin typeface="Aptos"/>
              </a:defRPr>
            </a:pPr>
            <a:r>
              <a:rPr sz="1800">
                <a:latin typeface="Times New Roman" panose="02020603050405020304" charset="0"/>
                <a:cs typeface="Times New Roman" panose="02020603050405020304" charset="0"/>
              </a:rPr>
              <a:t>Voice calls</a:t>
            </a:r>
            <a:endParaRPr sz="1800">
              <a:latin typeface="Times New Roman" panose="02020603050405020304" charset="0"/>
              <a:cs typeface="Times New Roman" panose="02020603050405020304" charset="0"/>
            </a:endParaRPr>
          </a:p>
        </p:txBody>
      </p:sp>
      <p:sp>
        <p:nvSpPr>
          <p:cNvPr id="10" name="Oval 9"/>
          <p:cNvSpPr/>
          <p:nvPr/>
        </p:nvSpPr>
        <p:spPr>
          <a:xfrm>
            <a:off x="2971800" y="2852928"/>
            <a:ext cx="237744" cy="237744"/>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3401568"/>
            <a:ext cx="1508760" cy="312420"/>
          </a:xfrm>
          <a:prstGeom prst="rect">
            <a:avLst/>
          </a:prstGeom>
          <a:noFill/>
        </p:spPr>
        <p:txBody>
          <a:bodyPr wrap="square" lIns="18288" tIns="18288" rIns="18288" bIns="18288" anchor="t">
            <a:spAutoFit/>
          </a:bodyPr>
          <a:lstStyle/>
          <a:p>
            <a:pPr algn="l">
              <a:spcAft>
                <a:spcPts val="400"/>
              </a:spcAft>
              <a:defRPr sz="1200" b="1" i="0">
                <a:solidFill>
                  <a:srgbClr val="142745"/>
                </a:solidFill>
                <a:latin typeface="Aptos"/>
              </a:defRPr>
            </a:pPr>
            <a:r>
              <a:rPr sz="1800">
                <a:latin typeface="Times New Roman" panose="02020603050405020304" charset="0"/>
                <a:cs typeface="Times New Roman" panose="02020603050405020304" charset="0"/>
              </a:rPr>
              <a:t>Digital voice</a:t>
            </a:r>
            <a:endParaRPr sz="1800">
              <a:latin typeface="Times New Roman" panose="02020603050405020304" charset="0"/>
              <a:cs typeface="Times New Roman" panose="02020603050405020304" charset="0"/>
            </a:endParaRPr>
          </a:p>
        </p:txBody>
      </p:sp>
      <p:sp>
        <p:nvSpPr>
          <p:cNvPr id="13" name="TextBox 12"/>
          <p:cNvSpPr txBox="1"/>
          <p:nvPr/>
        </p:nvSpPr>
        <p:spPr>
          <a:xfrm>
            <a:off x="2743200" y="3985767"/>
            <a:ext cx="1600200" cy="312420"/>
          </a:xfrm>
          <a:prstGeom prst="rect">
            <a:avLst/>
          </a:prstGeom>
          <a:noFill/>
        </p:spPr>
        <p:txBody>
          <a:bodyPr wrap="square" lIns="18288" tIns="18288" rIns="18288" bIns="18288" anchor="t">
            <a:spAutoFit/>
          </a:bodyPr>
          <a:lstStyle/>
          <a:p>
            <a:pPr algn="l">
              <a:spcAft>
                <a:spcPts val="400"/>
              </a:spcAft>
              <a:defRPr sz="1000" b="0" i="0">
                <a:solidFill>
                  <a:srgbClr val="586D8B"/>
                </a:solidFill>
                <a:latin typeface="Aptos"/>
              </a:defRPr>
            </a:pPr>
            <a:r>
              <a:rPr sz="1800">
                <a:latin typeface="Times New Roman" panose="02020603050405020304" charset="0"/>
                <a:cs typeface="Times New Roman" panose="02020603050405020304" charset="0"/>
              </a:rPr>
              <a:t>Messaging</a:t>
            </a:r>
            <a:endParaRPr>
              <a:latin typeface="Segoe UI" panose="020B0502040204020203" charset="0"/>
            </a:endParaRPr>
          </a:p>
        </p:txBody>
      </p:sp>
      <p:sp>
        <p:nvSpPr>
          <p:cNvPr id="14" name="Oval 13"/>
          <p:cNvSpPr/>
          <p:nvPr/>
        </p:nvSpPr>
        <p:spPr>
          <a:xfrm>
            <a:off x="4937760" y="2852928"/>
            <a:ext cx="237744" cy="237744"/>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3401568"/>
            <a:ext cx="1508760" cy="589280"/>
          </a:xfrm>
          <a:prstGeom prst="rect">
            <a:avLst/>
          </a:prstGeom>
          <a:noFill/>
        </p:spPr>
        <p:txBody>
          <a:bodyPr wrap="square" lIns="18288" tIns="18288" rIns="18288" bIns="18288" anchor="t">
            <a:spAutoFit/>
          </a:bodyPr>
          <a:lstStyle/>
          <a:p>
            <a:pPr lvl="0" algn="l">
              <a:spcAft>
                <a:spcPts val="400"/>
              </a:spcAft>
              <a:buClrTx/>
              <a:buSzTx/>
              <a:buFontTx/>
              <a:defRPr sz="1200" b="1" i="0">
                <a:solidFill>
                  <a:srgbClr val="142745"/>
                </a:solidFill>
                <a:latin typeface="Aptos"/>
              </a:defRPr>
            </a:pPr>
            <a:r>
              <a:rPr sz="1800">
                <a:latin typeface="Times New Roman" panose="02020603050405020304" charset="0"/>
                <a:cs typeface="Times New Roman" panose="02020603050405020304" charset="0"/>
                <a:sym typeface="+mn-ea"/>
              </a:rPr>
              <a:t>Mobile internet</a:t>
            </a:r>
            <a:endParaRPr sz="1800">
              <a:latin typeface="Times New Roman" panose="02020603050405020304" charset="0"/>
              <a:cs typeface="Times New Roman" panose="02020603050405020304" charset="0"/>
              <a:sym typeface="+mn-ea"/>
            </a:endParaRPr>
          </a:p>
        </p:txBody>
      </p:sp>
      <p:sp>
        <p:nvSpPr>
          <p:cNvPr id="17" name="TextBox 16"/>
          <p:cNvSpPr txBox="1"/>
          <p:nvPr/>
        </p:nvSpPr>
        <p:spPr>
          <a:xfrm>
            <a:off x="4709160" y="3985767"/>
            <a:ext cx="1600200" cy="312420"/>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586D8B"/>
                </a:solidFill>
                <a:latin typeface="Aptos"/>
              </a:defRPr>
            </a:pPr>
            <a:r>
              <a:rPr sz="1800">
                <a:latin typeface="Times New Roman" panose="02020603050405020304" charset="0"/>
                <a:cs typeface="Times New Roman" panose="02020603050405020304" charset="0"/>
                <a:sym typeface="+mn-ea"/>
              </a:rPr>
              <a:t>Web access</a:t>
            </a:r>
            <a:endParaRPr sz="1800">
              <a:latin typeface="Times New Roman" panose="02020603050405020304" charset="0"/>
              <a:cs typeface="Times New Roman" panose="02020603050405020304" charset="0"/>
              <a:sym typeface="+mn-ea"/>
            </a:endParaRPr>
          </a:p>
        </p:txBody>
      </p:sp>
      <p:sp>
        <p:nvSpPr>
          <p:cNvPr id="18" name="Oval 17"/>
          <p:cNvSpPr/>
          <p:nvPr/>
        </p:nvSpPr>
        <p:spPr>
          <a:xfrm>
            <a:off x="6903720" y="2852928"/>
            <a:ext cx="237744" cy="237744"/>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401568"/>
            <a:ext cx="1508760" cy="589280"/>
          </a:xfrm>
          <a:prstGeom prst="rect">
            <a:avLst/>
          </a:prstGeom>
          <a:noFill/>
        </p:spPr>
        <p:txBody>
          <a:bodyPr wrap="square" lIns="18288" tIns="18288" rIns="18288" bIns="18288" anchor="t">
            <a:spAutoFit/>
          </a:bodyPr>
          <a:lstStyle/>
          <a:p>
            <a:pPr lvl="0" algn="l">
              <a:spcAft>
                <a:spcPts val="400"/>
              </a:spcAft>
              <a:buClrTx/>
              <a:buSzTx/>
              <a:buFontTx/>
              <a:defRPr sz="1200" b="1" i="0">
                <a:solidFill>
                  <a:srgbClr val="142745"/>
                </a:solidFill>
                <a:latin typeface="Aptos"/>
              </a:defRPr>
            </a:pPr>
            <a:r>
              <a:rPr sz="1800">
                <a:latin typeface="Times New Roman" panose="02020603050405020304" charset="0"/>
                <a:cs typeface="Times New Roman" panose="02020603050405020304" charset="0"/>
                <a:sym typeface="+mn-ea"/>
              </a:rPr>
              <a:t>Mobile broadband</a:t>
            </a:r>
            <a:endParaRPr sz="1800">
              <a:latin typeface="Times New Roman" panose="02020603050405020304" charset="0"/>
              <a:cs typeface="Times New Roman" panose="02020603050405020304" charset="0"/>
              <a:sym typeface="+mn-ea"/>
            </a:endParaRPr>
          </a:p>
        </p:txBody>
      </p:sp>
      <p:sp>
        <p:nvSpPr>
          <p:cNvPr id="21" name="TextBox 20"/>
          <p:cNvSpPr txBox="1"/>
          <p:nvPr/>
        </p:nvSpPr>
        <p:spPr>
          <a:xfrm>
            <a:off x="6583680" y="3985767"/>
            <a:ext cx="1600200" cy="312420"/>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586D8B"/>
                </a:solidFill>
                <a:latin typeface="Aptos"/>
              </a:defRPr>
            </a:pPr>
            <a:r>
              <a:rPr sz="1800">
                <a:latin typeface="Times New Roman" panose="02020603050405020304" charset="0"/>
                <a:cs typeface="Times New Roman" panose="02020603050405020304" charset="0"/>
                <a:sym typeface="+mn-ea"/>
              </a:rPr>
              <a:t>Everyday apps</a:t>
            </a:r>
            <a:endParaRPr sz="1800">
              <a:latin typeface="Times New Roman" panose="02020603050405020304" charset="0"/>
              <a:cs typeface="Times New Roman" panose="02020603050405020304" charset="0"/>
              <a:sym typeface="+mn-ea"/>
            </a:endParaRPr>
          </a:p>
        </p:txBody>
      </p:sp>
      <p:sp>
        <p:nvSpPr>
          <p:cNvPr id="22" name="Oval 21"/>
          <p:cNvSpPr/>
          <p:nvPr/>
        </p:nvSpPr>
        <p:spPr>
          <a:xfrm>
            <a:off x="8869680" y="2852928"/>
            <a:ext cx="237744" cy="237744"/>
          </a:xfrm>
          <a:prstGeom prst="ellipse">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41080" y="3401568"/>
            <a:ext cx="1508760" cy="589280"/>
          </a:xfrm>
          <a:prstGeom prst="rect">
            <a:avLst/>
          </a:prstGeom>
          <a:noFill/>
        </p:spPr>
        <p:txBody>
          <a:bodyPr wrap="square" lIns="18288" tIns="18288" rIns="18288" bIns="18288" anchor="t">
            <a:spAutoFit/>
          </a:bodyPr>
          <a:lstStyle/>
          <a:p>
            <a:pPr lvl="0" algn="l">
              <a:spcAft>
                <a:spcPts val="400"/>
              </a:spcAft>
              <a:buClrTx/>
              <a:buSzTx/>
              <a:buFontTx/>
              <a:defRPr sz="1200" b="1" i="0">
                <a:solidFill>
                  <a:srgbClr val="142745"/>
                </a:solidFill>
                <a:latin typeface="Aptos"/>
              </a:defRPr>
            </a:pPr>
            <a:r>
              <a:rPr sz="1800">
                <a:latin typeface="Times New Roman" panose="02020603050405020304" charset="0"/>
                <a:cs typeface="Times New Roman" panose="02020603050405020304" charset="0"/>
                <a:sym typeface="+mn-ea"/>
              </a:rPr>
              <a:t>Service diversity</a:t>
            </a:r>
            <a:endParaRPr sz="1800">
              <a:latin typeface="Times New Roman" panose="02020603050405020304" charset="0"/>
              <a:cs typeface="Times New Roman" panose="02020603050405020304" charset="0"/>
              <a:sym typeface="+mn-ea"/>
            </a:endParaRPr>
          </a:p>
        </p:txBody>
      </p:sp>
      <p:sp>
        <p:nvSpPr>
          <p:cNvPr id="25" name="TextBox 24"/>
          <p:cNvSpPr txBox="1"/>
          <p:nvPr/>
        </p:nvSpPr>
        <p:spPr>
          <a:xfrm>
            <a:off x="8587105" y="4002912"/>
            <a:ext cx="1600200" cy="969010"/>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586D8B"/>
                </a:solidFill>
                <a:latin typeface="Aptos"/>
              </a:defRPr>
            </a:pPr>
            <a:r>
              <a:rPr sz="1800">
                <a:latin typeface="Times New Roman" panose="02020603050405020304" charset="0"/>
                <a:cs typeface="Times New Roman" panose="02020603050405020304" charset="0"/>
                <a:sym typeface="+mn-ea"/>
              </a:rPr>
              <a:t>High capacity</a:t>
            </a:r>
            <a:endParaRPr sz="1800">
              <a:latin typeface="Times New Roman" panose="02020603050405020304" charset="0"/>
              <a:cs typeface="Times New Roman" panose="02020603050405020304" charset="0"/>
              <a:sym typeface="+mn-ea"/>
            </a:endParaRPr>
          </a:p>
          <a:p>
            <a:pPr lvl="0" algn="l">
              <a:spcAft>
                <a:spcPts val="400"/>
              </a:spcAft>
              <a:buClrTx/>
              <a:buSzTx/>
              <a:buFontTx/>
              <a:defRPr sz="1000" b="0" i="0">
                <a:solidFill>
                  <a:srgbClr val="586D8B"/>
                </a:solidFill>
                <a:latin typeface="Aptos"/>
              </a:defRPr>
            </a:pPr>
            <a:r>
              <a:rPr sz="1800">
                <a:latin typeface="Times New Roman" panose="02020603050405020304" charset="0"/>
                <a:cs typeface="Times New Roman" panose="02020603050405020304" charset="0"/>
                <a:sym typeface="+mn-ea"/>
              </a:rPr>
              <a:t> • low delay </a:t>
            </a:r>
            <a:endParaRPr sz="1800">
              <a:latin typeface="Times New Roman" panose="02020603050405020304" charset="0"/>
              <a:cs typeface="Times New Roman" panose="02020603050405020304" charset="0"/>
              <a:sym typeface="+mn-ea"/>
            </a:endParaRPr>
          </a:p>
          <a:p>
            <a:pPr lvl="0" algn="l">
              <a:spcAft>
                <a:spcPts val="400"/>
              </a:spcAft>
              <a:buClrTx/>
              <a:buSzTx/>
              <a:buFontTx/>
              <a:defRPr sz="1000" b="0" i="0">
                <a:solidFill>
                  <a:srgbClr val="586D8B"/>
                </a:solidFill>
                <a:latin typeface="Aptos"/>
              </a:defRPr>
            </a:pPr>
            <a:r>
              <a:rPr sz="1800">
                <a:latin typeface="Times New Roman" panose="02020603050405020304" charset="0"/>
                <a:cs typeface="Times New Roman" panose="02020603050405020304" charset="0"/>
                <a:sym typeface="+mn-ea"/>
              </a:rPr>
              <a:t>• massive IoT</a:t>
            </a:r>
            <a:endParaRPr sz="1800">
              <a:latin typeface="Times New Roman" panose="02020603050405020304" charset="0"/>
              <a:cs typeface="Times New Roman" panose="02020603050405020304" charset="0"/>
              <a:sym typeface="+mn-ea"/>
            </a:endParaRPr>
          </a:p>
        </p:txBody>
      </p:sp>
      <p:sp>
        <p:nvSpPr>
          <p:cNvPr id="26" name="Oval 25"/>
          <p:cNvSpPr/>
          <p:nvPr/>
        </p:nvSpPr>
        <p:spPr>
          <a:xfrm>
            <a:off x="10835640" y="2852928"/>
            <a:ext cx="237744" cy="237744"/>
          </a:xfrm>
          <a:prstGeom prst="ellipse">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5" name="组合 34"/>
          <p:cNvGrpSpPr/>
          <p:nvPr/>
        </p:nvGrpSpPr>
        <p:grpSpPr>
          <a:xfrm>
            <a:off x="1005840" y="2155190"/>
            <a:ext cx="10716895" cy="327660"/>
            <a:chOff x="1296" y="3384"/>
            <a:chExt cx="17208" cy="516"/>
          </a:xfrm>
        </p:grpSpPr>
        <p:sp>
          <p:nvSpPr>
            <p:cNvPr id="7" name="TextBox 6"/>
            <p:cNvSpPr txBox="1"/>
            <p:nvPr/>
          </p:nvSpPr>
          <p:spPr>
            <a:xfrm>
              <a:off x="1296" y="3384"/>
              <a:ext cx="1728" cy="516"/>
            </a:xfrm>
            <a:prstGeom prst="rect">
              <a:avLst/>
            </a:prstGeom>
            <a:noFill/>
          </p:spPr>
          <p:txBody>
            <a:bodyPr wrap="square" lIns="18288" tIns="18288" rIns="18288" bIns="18288" anchor="t">
              <a:spAutoFit/>
            </a:bodyPr>
            <a:lstStyle/>
            <a:p>
              <a:pPr algn="l">
                <a:spcAft>
                  <a:spcPts val="400"/>
                </a:spcAft>
                <a:defRPr sz="1900" b="1" i="0">
                  <a:solidFill>
                    <a:srgbClr val="071636"/>
                  </a:solidFill>
                  <a:latin typeface="Aptos"/>
                </a:defRPr>
              </a:pPr>
              <a:r>
                <a:rPr>
                  <a:latin typeface="Segoe UI" panose="020B0502040204020203" charset="0"/>
                </a:rPr>
                <a:t>1G</a:t>
              </a:r>
              <a:endParaRPr>
                <a:latin typeface="Segoe UI" panose="020B0502040204020203" charset="0"/>
              </a:endParaRPr>
            </a:p>
          </p:txBody>
        </p:sp>
        <p:sp>
          <p:nvSpPr>
            <p:cNvPr id="11" name="TextBox 10"/>
            <p:cNvSpPr txBox="1"/>
            <p:nvPr/>
          </p:nvSpPr>
          <p:spPr>
            <a:xfrm>
              <a:off x="4392" y="3384"/>
              <a:ext cx="1728" cy="516"/>
            </a:xfrm>
            <a:prstGeom prst="rect">
              <a:avLst/>
            </a:prstGeom>
            <a:noFill/>
          </p:spPr>
          <p:txBody>
            <a:bodyPr wrap="square" lIns="18288" tIns="18288" rIns="18288" bIns="18288" anchor="t">
              <a:spAutoFit/>
            </a:bodyPr>
            <a:lstStyle/>
            <a:p>
              <a:pPr algn="l">
                <a:spcAft>
                  <a:spcPts val="400"/>
                </a:spcAft>
                <a:defRPr sz="1900" b="1" i="0">
                  <a:solidFill>
                    <a:srgbClr val="071636"/>
                  </a:solidFill>
                  <a:latin typeface="Aptos"/>
                </a:defRPr>
              </a:pPr>
              <a:r>
                <a:rPr>
                  <a:latin typeface="Segoe UI" panose="020B0502040204020203" charset="0"/>
                </a:rPr>
                <a:t>2G</a:t>
              </a:r>
              <a:endParaRPr>
                <a:latin typeface="Segoe UI" panose="020B0502040204020203" charset="0"/>
              </a:endParaRPr>
            </a:p>
          </p:txBody>
        </p:sp>
        <p:sp>
          <p:nvSpPr>
            <p:cNvPr id="15" name="TextBox 14"/>
            <p:cNvSpPr txBox="1"/>
            <p:nvPr/>
          </p:nvSpPr>
          <p:spPr>
            <a:xfrm>
              <a:off x="7488" y="3384"/>
              <a:ext cx="1728" cy="516"/>
            </a:xfrm>
            <a:prstGeom prst="rect">
              <a:avLst/>
            </a:prstGeom>
            <a:noFill/>
          </p:spPr>
          <p:txBody>
            <a:bodyPr wrap="square" lIns="18288" tIns="18288" rIns="18288" bIns="18288" anchor="t">
              <a:spAutoFit/>
            </a:bodyPr>
            <a:lstStyle/>
            <a:p>
              <a:pPr algn="l">
                <a:spcAft>
                  <a:spcPts val="400"/>
                </a:spcAft>
                <a:defRPr sz="1900" b="1" i="0">
                  <a:solidFill>
                    <a:srgbClr val="071636"/>
                  </a:solidFill>
                  <a:latin typeface="Aptos"/>
                </a:defRPr>
              </a:pPr>
              <a:r>
                <a:rPr>
                  <a:latin typeface="Segoe UI" panose="020B0502040204020203" charset="0"/>
                </a:rPr>
                <a:t>3G</a:t>
              </a:r>
              <a:endParaRPr>
                <a:latin typeface="Segoe UI" panose="020B0502040204020203" charset="0"/>
              </a:endParaRPr>
            </a:p>
          </p:txBody>
        </p:sp>
        <p:sp>
          <p:nvSpPr>
            <p:cNvPr id="19" name="TextBox 18"/>
            <p:cNvSpPr txBox="1"/>
            <p:nvPr/>
          </p:nvSpPr>
          <p:spPr>
            <a:xfrm>
              <a:off x="10584" y="3384"/>
              <a:ext cx="1728" cy="516"/>
            </a:xfrm>
            <a:prstGeom prst="rect">
              <a:avLst/>
            </a:prstGeom>
            <a:noFill/>
          </p:spPr>
          <p:txBody>
            <a:bodyPr wrap="square" lIns="18288" tIns="18288" rIns="18288" bIns="18288" anchor="t">
              <a:spAutoFit/>
            </a:bodyPr>
            <a:lstStyle/>
            <a:p>
              <a:pPr algn="l">
                <a:spcAft>
                  <a:spcPts val="400"/>
                </a:spcAft>
                <a:defRPr sz="1900" b="1" i="0">
                  <a:solidFill>
                    <a:srgbClr val="071636"/>
                  </a:solidFill>
                  <a:latin typeface="Aptos"/>
                </a:defRPr>
              </a:pPr>
              <a:r>
                <a:rPr>
                  <a:latin typeface="Segoe UI" panose="020B0502040204020203" charset="0"/>
                </a:rPr>
                <a:t>4G</a:t>
              </a:r>
              <a:endParaRPr>
                <a:latin typeface="Segoe UI" panose="020B0502040204020203" charset="0"/>
              </a:endParaRPr>
            </a:p>
          </p:txBody>
        </p:sp>
        <p:sp>
          <p:nvSpPr>
            <p:cNvPr id="23" name="TextBox 22"/>
            <p:cNvSpPr txBox="1"/>
            <p:nvPr/>
          </p:nvSpPr>
          <p:spPr>
            <a:xfrm>
              <a:off x="13680" y="3384"/>
              <a:ext cx="1728" cy="516"/>
            </a:xfrm>
            <a:prstGeom prst="rect">
              <a:avLst/>
            </a:prstGeom>
            <a:noFill/>
          </p:spPr>
          <p:txBody>
            <a:bodyPr wrap="square" lIns="18288" tIns="18288" rIns="18288" bIns="18288" anchor="t">
              <a:spAutoFit/>
            </a:bodyPr>
            <a:lstStyle/>
            <a:p>
              <a:pPr algn="l">
                <a:spcAft>
                  <a:spcPts val="400"/>
                </a:spcAft>
                <a:defRPr sz="1900" b="1" i="0">
                  <a:solidFill>
                    <a:srgbClr val="071636"/>
                  </a:solidFill>
                  <a:latin typeface="Aptos"/>
                </a:defRPr>
              </a:pPr>
              <a:r>
                <a:rPr>
                  <a:latin typeface="Segoe UI" panose="020B0502040204020203" charset="0"/>
                </a:rPr>
                <a:t>5G</a:t>
              </a:r>
              <a:endParaRPr>
                <a:latin typeface="Segoe UI" panose="020B0502040204020203" charset="0"/>
              </a:endParaRPr>
            </a:p>
          </p:txBody>
        </p:sp>
        <p:sp>
          <p:nvSpPr>
            <p:cNvPr id="27" name="TextBox 26"/>
            <p:cNvSpPr txBox="1"/>
            <p:nvPr/>
          </p:nvSpPr>
          <p:spPr>
            <a:xfrm>
              <a:off x="16776" y="3384"/>
              <a:ext cx="1728" cy="516"/>
            </a:xfrm>
            <a:prstGeom prst="rect">
              <a:avLst/>
            </a:prstGeom>
            <a:noFill/>
          </p:spPr>
          <p:txBody>
            <a:bodyPr wrap="square" lIns="18288" tIns="18288" rIns="18288" bIns="18288" anchor="t">
              <a:spAutoFit/>
            </a:bodyPr>
            <a:lstStyle/>
            <a:p>
              <a:pPr algn="l">
                <a:spcAft>
                  <a:spcPts val="400"/>
                </a:spcAft>
                <a:defRPr sz="1900" b="1" i="0">
                  <a:solidFill>
                    <a:srgbClr val="071636"/>
                  </a:solidFill>
                  <a:latin typeface="Aptos"/>
                </a:defRPr>
              </a:pPr>
              <a:r>
                <a:rPr>
                  <a:latin typeface="Segoe UI" panose="020B0502040204020203" charset="0"/>
                </a:rPr>
                <a:t>6G</a:t>
              </a:r>
              <a:endParaRPr>
                <a:latin typeface="Segoe UI" panose="020B0502040204020203" charset="0"/>
              </a:endParaRPr>
            </a:p>
          </p:txBody>
        </p:sp>
      </p:grpSp>
      <p:sp>
        <p:nvSpPr>
          <p:cNvPr id="28" name="TextBox 27"/>
          <p:cNvSpPr txBox="1"/>
          <p:nvPr/>
        </p:nvSpPr>
        <p:spPr>
          <a:xfrm>
            <a:off x="10607040" y="3401568"/>
            <a:ext cx="1508760" cy="589280"/>
          </a:xfrm>
          <a:prstGeom prst="rect">
            <a:avLst/>
          </a:prstGeom>
          <a:noFill/>
        </p:spPr>
        <p:txBody>
          <a:bodyPr wrap="square" lIns="18288" tIns="18288" rIns="18288" bIns="18288" anchor="t">
            <a:spAutoFit/>
          </a:bodyPr>
          <a:lstStyle/>
          <a:p>
            <a:pPr lvl="0" algn="l">
              <a:spcAft>
                <a:spcPts val="400"/>
              </a:spcAft>
              <a:buClrTx/>
              <a:buSzTx/>
              <a:buFontTx/>
              <a:defRPr sz="1200" b="1" i="0">
                <a:solidFill>
                  <a:srgbClr val="142745"/>
                </a:solidFill>
                <a:latin typeface="Aptos"/>
              </a:defRPr>
            </a:pPr>
            <a:r>
              <a:rPr sz="1800">
                <a:latin typeface="Times New Roman" panose="02020603050405020304" charset="0"/>
                <a:cs typeface="Times New Roman" panose="02020603050405020304" charset="0"/>
                <a:sym typeface="+mn-ea"/>
              </a:rPr>
              <a:t>Converged systems</a:t>
            </a:r>
            <a:endParaRPr sz="1800">
              <a:latin typeface="Times New Roman" panose="02020603050405020304" charset="0"/>
              <a:cs typeface="Times New Roman" panose="02020603050405020304" charset="0"/>
              <a:sym typeface="+mn-ea"/>
            </a:endParaRPr>
          </a:p>
        </p:txBody>
      </p:sp>
      <p:sp>
        <p:nvSpPr>
          <p:cNvPr id="29" name="TextBox 28"/>
          <p:cNvSpPr txBox="1"/>
          <p:nvPr/>
        </p:nvSpPr>
        <p:spPr>
          <a:xfrm>
            <a:off x="10591165" y="3990847"/>
            <a:ext cx="1600200" cy="917575"/>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586D8B"/>
                </a:solidFill>
                <a:latin typeface="Aptos"/>
              </a:defRPr>
            </a:pPr>
            <a:r>
              <a:rPr sz="1800">
                <a:latin typeface="Times New Roman" panose="02020603050405020304" charset="0"/>
                <a:cs typeface="Times New Roman" panose="02020603050405020304" charset="0"/>
                <a:sym typeface="+mn-ea"/>
              </a:rPr>
              <a:t>Communication + sensing</a:t>
            </a:r>
            <a:endParaRPr sz="1800">
              <a:latin typeface="Times New Roman" panose="02020603050405020304" charset="0"/>
              <a:cs typeface="Times New Roman" panose="02020603050405020304" charset="0"/>
              <a:sym typeface="+mn-ea"/>
            </a:endParaRPr>
          </a:p>
          <a:p>
            <a:pPr lvl="0" algn="l">
              <a:spcAft>
                <a:spcPts val="400"/>
              </a:spcAft>
              <a:buClrTx/>
              <a:buSzTx/>
              <a:buFontTx/>
              <a:defRPr sz="1000" b="0" i="0">
                <a:solidFill>
                  <a:srgbClr val="586D8B"/>
                </a:solidFill>
                <a:latin typeface="Aptos"/>
              </a:defRPr>
            </a:pPr>
            <a:r>
              <a:rPr sz="1800">
                <a:latin typeface="Times New Roman" panose="02020603050405020304" charset="0"/>
                <a:cs typeface="Times New Roman" panose="02020603050405020304" charset="0"/>
                <a:sym typeface="+mn-ea"/>
              </a:rPr>
              <a:t> + AI</a:t>
            </a:r>
            <a:endParaRPr sz="1800">
              <a:latin typeface="Times New Roman" panose="02020603050405020304" charset="0"/>
              <a:cs typeface="Times New Roman" panose="02020603050405020304" charset="0"/>
              <a:sym typeface="+mn-ea"/>
            </a:endParaRPr>
          </a:p>
        </p:txBody>
      </p:sp>
      <p:grpSp>
        <p:nvGrpSpPr>
          <p:cNvPr id="36" name="组合 35"/>
          <p:cNvGrpSpPr/>
          <p:nvPr/>
        </p:nvGrpSpPr>
        <p:grpSpPr>
          <a:xfrm>
            <a:off x="960120" y="5151973"/>
            <a:ext cx="10415270" cy="1019175"/>
            <a:chOff x="1512" y="8179"/>
            <a:chExt cx="16056" cy="936"/>
          </a:xfrm>
        </p:grpSpPr>
        <p:sp>
          <p:nvSpPr>
            <p:cNvPr id="30" name="Rounded Rectangle 29"/>
            <p:cNvSpPr/>
            <p:nvPr/>
          </p:nvSpPr>
          <p:spPr>
            <a:xfrm>
              <a:off x="1512" y="8179"/>
              <a:ext cx="16056" cy="936"/>
            </a:xfrm>
            <a:prstGeom prst="roundRect">
              <a:avLst/>
            </a:prstGeom>
            <a:solidFill>
              <a:srgbClr val="E2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46" y="8293"/>
              <a:ext cx="15120" cy="711"/>
            </a:xfrm>
            <a:prstGeom prst="rect">
              <a:avLst/>
            </a:prstGeom>
            <a:noFill/>
          </p:spPr>
          <p:txBody>
            <a:bodyPr wrap="square" lIns="18288" tIns="18288" rIns="18288" bIns="18288" anchor="t">
              <a:spAutoFit/>
            </a:bodyPr>
            <a:lstStyle/>
            <a:p>
              <a:pPr algn="ctr">
                <a:spcAft>
                  <a:spcPts val="400"/>
                </a:spcAft>
                <a:defRPr sz="1400" b="1" i="0">
                  <a:solidFill>
                    <a:srgbClr val="0A2654"/>
                  </a:solidFill>
                  <a:latin typeface="Aptos"/>
                </a:defRPr>
              </a:pPr>
              <a:r>
                <a:rPr sz="2400">
                  <a:solidFill>
                    <a:srgbClr val="142745"/>
                  </a:solidFill>
                  <a:latin typeface="Times New Roman" panose="02020603050405020304" charset="0"/>
                  <a:cs typeface="Times New Roman" panose="02020603050405020304" charset="0"/>
                </a:rPr>
                <a:t>The 6G question: how can multiple capabilities work together — reliably, securely and sustainably?</a:t>
              </a:r>
              <a:endParaRPr sz="2400">
                <a:solidFill>
                  <a:srgbClr val="142745"/>
                </a:solidFill>
                <a:latin typeface="Times New Roman" panose="02020603050405020304" charset="0"/>
                <a:cs typeface="Times New Roman" panose="02020603050405020304" charset="0"/>
              </a:endParaRPr>
            </a:p>
          </p:txBody>
        </p:sp>
      </p:grpSp>
      <p:sp>
        <p:nvSpPr>
          <p:cNvPr id="32" name="TextBox 31"/>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33" name="TextBox 32"/>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[1], [2]</a:t>
            </a:r>
            <a:endParaRPr>
              <a:latin typeface="Segoe UI" panose="020B0502040204020203" charset="0"/>
            </a:endParaRPr>
          </a:p>
        </p:txBody>
      </p:sp>
      <p:sp>
        <p:nvSpPr>
          <p:cNvPr id="34" name="TextBox 33"/>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04</a:t>
            </a:r>
            <a:endParaRPr>
              <a:latin typeface="Segoe UI" panose="020B05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9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03 / THE FRAMEWORK</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IMT-2030: a broader ambition</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algn="l">
              <a:spcAft>
                <a:spcPts val="400"/>
              </a:spcAft>
              <a:defRPr sz="1300" b="0" i="0">
                <a:solidFill>
                  <a:srgbClr val="586D8B"/>
                </a:solidFill>
                <a:latin typeface="Aptos"/>
              </a:defRPr>
            </a:pPr>
            <a:r>
              <a:rPr sz="1800">
                <a:latin typeface="Times New Roman" panose="02020603050405020304" charset="0"/>
                <a:cs typeface="Times New Roman" panose="02020603050405020304" charset="0"/>
              </a:rPr>
              <a:t>The ITU framework looks beyond incremental speed improvements.</a:t>
            </a:r>
            <a:endParaRPr sz="1800">
              <a:latin typeface="Times New Roman" panose="02020603050405020304" charset="0"/>
              <a:cs typeface="Times New Roman" panose="02020603050405020304" charset="0"/>
            </a:endParaRPr>
          </a:p>
        </p:txBody>
      </p:sp>
      <p:sp>
        <p:nvSpPr>
          <p:cNvPr id="5" name="Oval 4"/>
          <p:cNvSpPr/>
          <p:nvPr/>
        </p:nvSpPr>
        <p:spPr>
          <a:xfrm>
            <a:off x="5166360" y="2377440"/>
            <a:ext cx="1828800" cy="1828800"/>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513832" y="2724912"/>
            <a:ext cx="1133856" cy="113385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50992" y="2971800"/>
            <a:ext cx="868680" cy="502920"/>
          </a:xfrm>
          <a:prstGeom prst="rect">
            <a:avLst/>
          </a:prstGeom>
          <a:noFill/>
        </p:spPr>
        <p:txBody>
          <a:bodyPr wrap="square" lIns="18288" tIns="18288" rIns="18288" bIns="18288" anchor="t">
            <a:spAutoFit/>
          </a:bodyPr>
          <a:lstStyle/>
          <a:p>
            <a:pPr algn="ctr">
              <a:spcAft>
                <a:spcPts val="400"/>
              </a:spcAft>
              <a:defRPr sz="2000" b="1" i="0">
                <a:solidFill>
                  <a:srgbClr val="071636"/>
                </a:solidFill>
                <a:latin typeface="Aptos"/>
              </a:defRPr>
            </a:pPr>
            <a:r>
              <a:rPr>
                <a:latin typeface="Segoe UI" panose="020B0502040204020203" charset="0"/>
              </a:rPr>
              <a:t>IMT-</a:t>
            </a:r>
            <a:endParaRPr>
              <a:latin typeface="Segoe UI" panose="020B0502040204020203" charset="0"/>
            </a:endParaRPr>
          </a:p>
          <a:p>
            <a:pPr algn="ctr">
              <a:spcAft>
                <a:spcPts val="400"/>
              </a:spcAft>
              <a:defRPr sz="2000" b="1" i="0">
                <a:solidFill>
                  <a:srgbClr val="071636"/>
                </a:solidFill>
                <a:latin typeface="Aptos"/>
              </a:defRPr>
            </a:pPr>
            <a:r>
              <a:rPr>
                <a:latin typeface="Segoe UI" panose="020B0502040204020203" charset="0"/>
              </a:rPr>
              <a:t>2030</a:t>
            </a:r>
            <a:endParaRPr>
              <a:latin typeface="Segoe UI" panose="020B0502040204020203" charset="0"/>
            </a:endParaRPr>
          </a:p>
        </p:txBody>
      </p:sp>
      <p:grpSp>
        <p:nvGrpSpPr>
          <p:cNvPr id="32" name="组合 31"/>
          <p:cNvGrpSpPr/>
          <p:nvPr/>
        </p:nvGrpSpPr>
        <p:grpSpPr>
          <a:xfrm>
            <a:off x="777240" y="2057400"/>
            <a:ext cx="2900045" cy="1315085"/>
            <a:chOff x="1224" y="3240"/>
            <a:chExt cx="4752" cy="1512"/>
          </a:xfrm>
        </p:grpSpPr>
        <p:sp>
          <p:nvSpPr>
            <p:cNvPr id="8" name="Rounded Rectangle 7"/>
            <p:cNvSpPr/>
            <p:nvPr/>
          </p:nvSpPr>
          <p:spPr>
            <a:xfrm>
              <a:off x="1224" y="3240"/>
              <a:ext cx="4752" cy="1512"/>
            </a:xfrm>
            <a:prstGeom prst="roundRect">
              <a:avLst/>
            </a:prstGeom>
            <a:solidFill>
              <a:srgbClr val="E7F2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24" y="3240"/>
              <a:ext cx="101" cy="1512"/>
            </a:xfrm>
            <a:prstGeom prst="rect">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0" name="TextBox 9"/>
          <p:cNvSpPr txBox="1"/>
          <p:nvPr/>
        </p:nvSpPr>
        <p:spPr>
          <a:xfrm>
            <a:off x="978408" y="2221992"/>
            <a:ext cx="2651760" cy="281305"/>
          </a:xfrm>
          <a:prstGeom prst="rect">
            <a:avLst/>
          </a:prstGeom>
          <a:noFill/>
        </p:spPr>
        <p:txBody>
          <a:bodyPr wrap="square" lIns="18288" tIns="18288" rIns="18288" bIns="18288" anchor="t">
            <a:spAutoFit/>
          </a:bodyPr>
          <a:lstStyle/>
          <a:p>
            <a:pPr algn="l">
              <a:spcAft>
                <a:spcPts val="400"/>
              </a:spcAft>
              <a:defRPr sz="1100" b="1" i="0">
                <a:solidFill>
                  <a:srgbClr val="185EDC"/>
                </a:solidFill>
                <a:latin typeface="Aptos"/>
              </a:defRPr>
            </a:pPr>
            <a:r>
              <a:rPr sz="1600">
                <a:latin typeface="Times New Roman" panose="02020603050405020304" charset="0"/>
                <a:cs typeface="Times New Roman" panose="02020603050405020304" charset="0"/>
              </a:rPr>
              <a:t>AI + COMMUNICATION</a:t>
            </a:r>
            <a:endParaRPr sz="1600">
              <a:latin typeface="Times New Roman" panose="02020603050405020304" charset="0"/>
              <a:cs typeface="Times New Roman" panose="02020603050405020304" charset="0"/>
            </a:endParaRPr>
          </a:p>
        </p:txBody>
      </p:sp>
      <p:sp>
        <p:nvSpPr>
          <p:cNvPr id="11" name="TextBox 10"/>
          <p:cNvSpPr txBox="1"/>
          <p:nvPr/>
        </p:nvSpPr>
        <p:spPr>
          <a:xfrm>
            <a:off x="941578" y="2608580"/>
            <a:ext cx="2651760" cy="527685"/>
          </a:xfrm>
          <a:prstGeom prst="rect">
            <a:avLst/>
          </a:prstGeom>
          <a:noFill/>
        </p:spPr>
        <p:txBody>
          <a:bodyPr wrap="square" lIns="18288" tIns="18288" rIns="18288" bIns="18288" anchor="t">
            <a:spAutoFit/>
          </a:bodyPr>
          <a:lstStyle/>
          <a:p>
            <a:pPr algn="l">
              <a:spcAft>
                <a:spcPts val="400"/>
              </a:spcAft>
              <a:defRPr sz="1000" b="0" i="0">
                <a:solidFill>
                  <a:srgbClr val="142745"/>
                </a:solidFill>
                <a:latin typeface="Aptos"/>
              </a:defRPr>
            </a:pPr>
            <a:r>
              <a:rPr sz="1600">
                <a:latin typeface="Times New Roman" panose="02020603050405020304" charset="0"/>
                <a:cs typeface="Times New Roman" panose="02020603050405020304" charset="0"/>
              </a:rPr>
              <a:t>Intelligence embedded in network operation</a:t>
            </a:r>
            <a:endParaRPr sz="1600">
              <a:latin typeface="Times New Roman" panose="02020603050405020304" charset="0"/>
              <a:cs typeface="Times New Roman" panose="02020603050405020304" charset="0"/>
            </a:endParaRPr>
          </a:p>
        </p:txBody>
      </p:sp>
      <p:grpSp>
        <p:nvGrpSpPr>
          <p:cNvPr id="33" name="组合 32"/>
          <p:cNvGrpSpPr/>
          <p:nvPr/>
        </p:nvGrpSpPr>
        <p:grpSpPr>
          <a:xfrm>
            <a:off x="777240" y="3794760"/>
            <a:ext cx="2997835" cy="1217930"/>
            <a:chOff x="1224" y="5976"/>
            <a:chExt cx="4752" cy="1512"/>
          </a:xfrm>
        </p:grpSpPr>
        <p:sp>
          <p:nvSpPr>
            <p:cNvPr id="12" name="Rounded Rectangle 11"/>
            <p:cNvSpPr/>
            <p:nvPr/>
          </p:nvSpPr>
          <p:spPr>
            <a:xfrm>
              <a:off x="1224" y="5976"/>
              <a:ext cx="4752" cy="1512"/>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24" y="5976"/>
              <a:ext cx="101" cy="1512"/>
            </a:xfrm>
            <a:prstGeom prst="rect">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4" name="TextBox 13"/>
          <p:cNvSpPr txBox="1"/>
          <p:nvPr/>
        </p:nvSpPr>
        <p:spPr>
          <a:xfrm>
            <a:off x="978408" y="3959352"/>
            <a:ext cx="2651760" cy="281305"/>
          </a:xfrm>
          <a:prstGeom prst="rect">
            <a:avLst/>
          </a:prstGeom>
          <a:noFill/>
        </p:spPr>
        <p:txBody>
          <a:bodyPr wrap="square" lIns="18288" tIns="18288" rIns="18288" bIns="18288" anchor="t">
            <a:spAutoFit/>
          </a:bodyPr>
          <a:lstStyle/>
          <a:p>
            <a:pPr algn="l">
              <a:spcAft>
                <a:spcPts val="400"/>
              </a:spcAft>
              <a:defRPr sz="1100" b="1" i="0">
                <a:solidFill>
                  <a:srgbClr val="009B96"/>
                </a:solidFill>
                <a:latin typeface="Aptos"/>
              </a:defRPr>
            </a:pPr>
            <a:r>
              <a:rPr sz="1600">
                <a:latin typeface="Times New Roman" panose="02020603050405020304" charset="0"/>
                <a:cs typeface="Times New Roman" panose="02020603050405020304" charset="0"/>
              </a:rPr>
              <a:t>INTEGRATED SENSING</a:t>
            </a:r>
            <a:endParaRPr sz="1600">
              <a:latin typeface="Times New Roman" panose="02020603050405020304" charset="0"/>
              <a:cs typeface="Times New Roman" panose="02020603050405020304" charset="0"/>
            </a:endParaRPr>
          </a:p>
        </p:txBody>
      </p:sp>
      <p:sp>
        <p:nvSpPr>
          <p:cNvPr id="15" name="TextBox 14"/>
          <p:cNvSpPr txBox="1"/>
          <p:nvPr/>
        </p:nvSpPr>
        <p:spPr>
          <a:xfrm>
            <a:off x="978408" y="4251960"/>
            <a:ext cx="2651760" cy="527685"/>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142745"/>
                </a:solidFill>
                <a:latin typeface="Aptos"/>
              </a:defRPr>
            </a:pPr>
            <a:r>
              <a:rPr sz="1600">
                <a:latin typeface="Times New Roman" panose="02020603050405020304" charset="0"/>
                <a:cs typeface="Times New Roman" panose="02020603050405020304" charset="0"/>
                <a:sym typeface="+mn-ea"/>
              </a:rPr>
              <a:t>Communication and sensing share resources</a:t>
            </a:r>
            <a:endParaRPr sz="1600">
              <a:latin typeface="Times New Roman" panose="02020603050405020304" charset="0"/>
              <a:cs typeface="Times New Roman" panose="02020603050405020304" charset="0"/>
              <a:sym typeface="+mn-ea"/>
            </a:endParaRPr>
          </a:p>
        </p:txBody>
      </p:sp>
      <p:grpSp>
        <p:nvGrpSpPr>
          <p:cNvPr id="35" name="组合 34"/>
          <p:cNvGrpSpPr/>
          <p:nvPr/>
        </p:nvGrpSpPr>
        <p:grpSpPr>
          <a:xfrm>
            <a:off x="8366760" y="2057400"/>
            <a:ext cx="3114675" cy="1307465"/>
            <a:chOff x="13176" y="3240"/>
            <a:chExt cx="4752" cy="1512"/>
          </a:xfrm>
        </p:grpSpPr>
        <p:sp>
          <p:nvSpPr>
            <p:cNvPr id="16" name="Rounded Rectangle 15"/>
            <p:cNvSpPr/>
            <p:nvPr/>
          </p:nvSpPr>
          <p:spPr>
            <a:xfrm>
              <a:off x="13176" y="3240"/>
              <a:ext cx="4752" cy="1512"/>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176" y="3240"/>
              <a:ext cx="101" cy="1512"/>
            </a:xfrm>
            <a:prstGeom prst="rect">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8" name="TextBox 17"/>
          <p:cNvSpPr txBox="1"/>
          <p:nvPr/>
        </p:nvSpPr>
        <p:spPr>
          <a:xfrm>
            <a:off x="8432800" y="2221865"/>
            <a:ext cx="3108960" cy="281305"/>
          </a:xfrm>
          <a:prstGeom prst="rect">
            <a:avLst/>
          </a:prstGeom>
          <a:noFill/>
        </p:spPr>
        <p:txBody>
          <a:bodyPr wrap="square" lIns="18288" tIns="18288" rIns="18288" bIns="18288" anchor="t">
            <a:spAutoFit/>
          </a:bodyPr>
          <a:lstStyle/>
          <a:p>
            <a:pPr algn="l">
              <a:spcAft>
                <a:spcPts val="400"/>
              </a:spcAft>
              <a:defRPr sz="1100" b="1" i="0">
                <a:solidFill>
                  <a:srgbClr val="185EDC"/>
                </a:solidFill>
                <a:latin typeface="Aptos"/>
              </a:defRPr>
            </a:pPr>
            <a:r>
              <a:rPr sz="1600">
                <a:latin typeface="Times New Roman" panose="02020603050405020304" charset="0"/>
                <a:cs typeface="Times New Roman" panose="02020603050405020304" charset="0"/>
              </a:rPr>
              <a:t>UBIQUITOUS CONNECTIVITY</a:t>
            </a:r>
            <a:endParaRPr sz="1600">
              <a:latin typeface="Segoe UI" panose="020B0502040204020203" charset="0"/>
            </a:endParaRPr>
          </a:p>
        </p:txBody>
      </p:sp>
      <p:sp>
        <p:nvSpPr>
          <p:cNvPr id="19" name="TextBox 18"/>
          <p:cNvSpPr txBox="1"/>
          <p:nvPr/>
        </p:nvSpPr>
        <p:spPr>
          <a:xfrm>
            <a:off x="8531225" y="2608580"/>
            <a:ext cx="3107690" cy="579120"/>
          </a:xfrm>
          <a:prstGeom prst="rect">
            <a:avLst/>
          </a:prstGeom>
          <a:noFill/>
        </p:spPr>
        <p:txBody>
          <a:bodyPr wrap="square" lIns="18288" tIns="18288" rIns="18288" bIns="18288" anchor="t">
            <a:spAutoFit/>
          </a:bodyPr>
          <a:lstStyle/>
          <a:p>
            <a:pPr algn="l">
              <a:spcAft>
                <a:spcPts val="400"/>
              </a:spcAft>
              <a:defRPr sz="1000" b="0" i="0">
                <a:solidFill>
                  <a:srgbClr val="142745"/>
                </a:solidFill>
                <a:latin typeface="Aptos"/>
              </a:defRPr>
            </a:pPr>
            <a:r>
              <a:rPr sz="1600">
                <a:latin typeface="Times New Roman" panose="02020603050405020304" charset="0"/>
                <a:cs typeface="Times New Roman" panose="02020603050405020304" charset="0"/>
              </a:rPr>
              <a:t>Broader access across </a:t>
            </a:r>
            <a:endParaRPr sz="1600">
              <a:latin typeface="Times New Roman" panose="02020603050405020304" charset="0"/>
              <a:cs typeface="Times New Roman" panose="02020603050405020304" charset="0"/>
            </a:endParaRPr>
          </a:p>
          <a:p>
            <a:pPr algn="l">
              <a:spcAft>
                <a:spcPts val="400"/>
              </a:spcAft>
              <a:defRPr sz="1000" b="0" i="0">
                <a:solidFill>
                  <a:srgbClr val="142745"/>
                </a:solidFill>
                <a:latin typeface="Aptos"/>
              </a:defRPr>
            </a:pPr>
            <a:r>
              <a:rPr sz="1600">
                <a:latin typeface="Times New Roman" panose="02020603050405020304" charset="0"/>
                <a:cs typeface="Times New Roman" panose="02020603050405020304" charset="0"/>
              </a:rPr>
              <a:t>environments</a:t>
            </a:r>
            <a:endParaRPr sz="1600">
              <a:latin typeface="Times New Roman" panose="02020603050405020304" charset="0"/>
              <a:cs typeface="Times New Roman" panose="02020603050405020304" charset="0"/>
            </a:endParaRPr>
          </a:p>
        </p:txBody>
      </p:sp>
      <p:grpSp>
        <p:nvGrpSpPr>
          <p:cNvPr id="34" name="组合 33"/>
          <p:cNvGrpSpPr/>
          <p:nvPr/>
        </p:nvGrpSpPr>
        <p:grpSpPr>
          <a:xfrm>
            <a:off x="8366760" y="3794760"/>
            <a:ext cx="3156585" cy="1217295"/>
            <a:chOff x="13176" y="5976"/>
            <a:chExt cx="4752" cy="1512"/>
          </a:xfrm>
        </p:grpSpPr>
        <p:sp>
          <p:nvSpPr>
            <p:cNvPr id="20" name="Rounded Rectangle 19"/>
            <p:cNvSpPr/>
            <p:nvPr/>
          </p:nvSpPr>
          <p:spPr>
            <a:xfrm>
              <a:off x="13176" y="5976"/>
              <a:ext cx="4752" cy="1512"/>
            </a:xfrm>
            <a:prstGeom prst="roundRect">
              <a:avLst/>
            </a:prstGeom>
            <a:solidFill>
              <a:srgbClr val="E7F2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176" y="5976"/>
              <a:ext cx="101" cy="1512"/>
            </a:xfrm>
            <a:prstGeom prst="rect">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2" name="TextBox 21"/>
          <p:cNvSpPr txBox="1"/>
          <p:nvPr/>
        </p:nvSpPr>
        <p:spPr>
          <a:xfrm>
            <a:off x="8567928" y="3876167"/>
            <a:ext cx="2651760" cy="527685"/>
          </a:xfrm>
          <a:prstGeom prst="rect">
            <a:avLst/>
          </a:prstGeom>
          <a:noFill/>
        </p:spPr>
        <p:txBody>
          <a:bodyPr wrap="square" lIns="18288" tIns="18288" rIns="18288" bIns="18288" anchor="t">
            <a:spAutoFit/>
          </a:bodyPr>
          <a:lstStyle/>
          <a:p>
            <a:pPr algn="l">
              <a:spcAft>
                <a:spcPts val="400"/>
              </a:spcAft>
              <a:defRPr sz="1100" b="1" i="0">
                <a:solidFill>
                  <a:srgbClr val="009B96"/>
                </a:solidFill>
                <a:latin typeface="Aptos"/>
              </a:defRPr>
            </a:pPr>
            <a:r>
              <a:rPr sz="1600">
                <a:latin typeface="Times New Roman" panose="02020603050405020304" charset="0"/>
                <a:cs typeface="Times New Roman" panose="02020603050405020304" charset="0"/>
              </a:rPr>
              <a:t>SUSTAINABILITY + SECURITY</a:t>
            </a:r>
            <a:endParaRPr sz="1600">
              <a:latin typeface="Times New Roman" panose="02020603050405020304" charset="0"/>
              <a:cs typeface="Times New Roman" panose="02020603050405020304" charset="0"/>
            </a:endParaRPr>
          </a:p>
        </p:txBody>
      </p:sp>
      <p:sp>
        <p:nvSpPr>
          <p:cNvPr id="23" name="TextBox 22"/>
          <p:cNvSpPr txBox="1"/>
          <p:nvPr/>
        </p:nvSpPr>
        <p:spPr>
          <a:xfrm>
            <a:off x="8567928" y="4428490"/>
            <a:ext cx="2651760" cy="527685"/>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142745"/>
                </a:solidFill>
                <a:latin typeface="Aptos"/>
              </a:defRPr>
            </a:pPr>
            <a:r>
              <a:rPr sz="1600">
                <a:latin typeface="Times New Roman" panose="02020603050405020304" charset="0"/>
                <a:cs typeface="Times New Roman" panose="02020603050405020304" charset="0"/>
                <a:sym typeface="+mn-ea"/>
              </a:rPr>
              <a:t>Responsible, dependable network design</a:t>
            </a:r>
            <a:endParaRPr sz="1600">
              <a:latin typeface="Times New Roman" panose="02020603050405020304" charset="0"/>
              <a:cs typeface="Times New Roman" panose="02020603050405020304" charset="0"/>
              <a:sym typeface="+mn-ea"/>
            </a:endParaRPr>
          </a:p>
        </p:txBody>
      </p:sp>
      <p:cxnSp>
        <p:nvCxnSpPr>
          <p:cNvPr id="24" name="Connector 23"/>
          <p:cNvCxnSpPr/>
          <p:nvPr/>
        </p:nvCxnSpPr>
        <p:spPr>
          <a:xfrm>
            <a:off x="3794760" y="2542032"/>
            <a:ext cx="1417320" cy="384048"/>
          </a:xfrm>
          <a:prstGeom prst="line">
            <a:avLst/>
          </a:prstGeom>
          <a:ln w="20320">
            <a:solidFill>
              <a:srgbClr val="94BCE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a:stCxn id="12" idx="3"/>
          </p:cNvCxnSpPr>
          <p:nvPr/>
        </p:nvCxnSpPr>
        <p:spPr>
          <a:xfrm flipV="1">
            <a:off x="3775075" y="3703320"/>
            <a:ext cx="1574165" cy="700405"/>
          </a:xfrm>
          <a:prstGeom prst="line">
            <a:avLst/>
          </a:prstGeom>
          <a:ln w="20320">
            <a:solidFill>
              <a:srgbClr val="94BCE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949440" y="2541905"/>
            <a:ext cx="1417320" cy="429895"/>
          </a:xfrm>
          <a:prstGeom prst="line">
            <a:avLst/>
          </a:prstGeom>
          <a:ln w="20320">
            <a:solidFill>
              <a:srgbClr val="94BCE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a:endCxn id="21" idx="1"/>
          </p:cNvCxnSpPr>
          <p:nvPr/>
        </p:nvCxnSpPr>
        <p:spPr>
          <a:xfrm>
            <a:off x="6949440" y="3657600"/>
            <a:ext cx="1417320" cy="746125"/>
          </a:xfrm>
          <a:prstGeom prst="line">
            <a:avLst/>
          </a:prstGeom>
          <a:ln w="20320">
            <a:solidFill>
              <a:srgbClr val="94BCE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05840" y="5696585"/>
            <a:ext cx="10149840" cy="312420"/>
          </a:xfrm>
          <a:prstGeom prst="rect">
            <a:avLst/>
          </a:prstGeom>
          <a:noFill/>
        </p:spPr>
        <p:txBody>
          <a:bodyPr wrap="square" lIns="18288" tIns="18288" rIns="18288" bIns="18288" anchor="t">
            <a:spAutoFit/>
          </a:bodyPr>
          <a:lstStyle/>
          <a:p>
            <a:pPr algn="ctr">
              <a:spcAft>
                <a:spcPts val="400"/>
              </a:spcAft>
              <a:defRPr sz="1400" b="1" i="0">
                <a:solidFill>
                  <a:srgbClr val="185EDC"/>
                </a:solidFill>
                <a:latin typeface="Aptos"/>
              </a:defRPr>
            </a:pPr>
            <a:r>
              <a:rPr sz="1800">
                <a:latin typeface="Times New Roman" panose="02020603050405020304" charset="0"/>
                <a:cs typeface="Times New Roman" panose="02020603050405020304" charset="0"/>
              </a:rPr>
              <a:t>A framework defines goals — not a guarantee that every target will be achieved simultaneously.</a:t>
            </a:r>
            <a:endParaRPr sz="1800">
              <a:latin typeface="Times New Roman" panose="02020603050405020304" charset="0"/>
              <a:cs typeface="Times New Roman" panose="02020603050405020304" charset="0"/>
            </a:endParaRPr>
          </a:p>
        </p:txBody>
      </p:sp>
      <p:sp>
        <p:nvSpPr>
          <p:cNvPr id="29" name="TextBox 28"/>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30" name="TextBox 29"/>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[1]</a:t>
            </a:r>
            <a:endParaRPr>
              <a:latin typeface="Segoe UI" panose="020B0502040204020203" charset="0"/>
            </a:endParaRPr>
          </a:p>
        </p:txBody>
      </p:sp>
      <p:sp>
        <p:nvSpPr>
          <p:cNvPr id="31" name="TextBox 30"/>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05</a:t>
            </a:r>
            <a:endParaRPr>
              <a:latin typeface="Segoe UI" panose="020B05020402040202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9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04 / ENABLING TECHNOLOGIES</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Four technology building blocks</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The </a:t>
            </a:r>
            <a:r>
              <a:rPr sz="1800">
                <a:latin typeface="Times New Roman" panose="02020603050405020304" charset="0"/>
                <a:cs typeface="Times New Roman" panose="02020603050405020304" charset="0"/>
                <a:sym typeface="+mn-ea"/>
              </a:rPr>
              <a:t>6G vision depends on complementary advances — each with its own constraints.</a:t>
            </a:r>
            <a:endParaRPr sz="1800">
              <a:latin typeface="Times New Roman" panose="02020603050405020304" charset="0"/>
              <a:cs typeface="Times New Roman" panose="02020603050405020304" charset="0"/>
              <a:sym typeface="+mn-ea"/>
            </a:endParaRPr>
          </a:p>
        </p:txBody>
      </p:sp>
      <p:sp>
        <p:nvSpPr>
          <p:cNvPr id="5" name="Rounded Rectangle 4"/>
          <p:cNvSpPr/>
          <p:nvPr>
            <p:custDataLst>
              <p:tags r:id="rId1"/>
            </p:custDataLst>
          </p:nvPr>
        </p:nvSpPr>
        <p:spPr>
          <a:xfrm>
            <a:off x="795655" y="2057400"/>
            <a:ext cx="5166360" cy="155448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custDataLst>
              <p:tags r:id="rId2"/>
            </p:custDataLst>
          </p:nvPr>
        </p:nvSpPr>
        <p:spPr>
          <a:xfrm>
            <a:off x="731520" y="2063750"/>
            <a:ext cx="64008" cy="1554480"/>
          </a:xfrm>
          <a:prstGeom prst="rect">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3"/>
            </p:custDataLst>
          </p:nvPr>
        </p:nvSpPr>
        <p:spPr>
          <a:xfrm>
            <a:off x="960120" y="2148840"/>
            <a:ext cx="475488" cy="292608"/>
          </a:xfrm>
          <a:prstGeom prst="rect">
            <a:avLst/>
          </a:prstGeom>
          <a:noFill/>
        </p:spPr>
        <p:txBody>
          <a:bodyPr wrap="square" lIns="18288" tIns="18288" rIns="18288" bIns="18288" anchor="t">
            <a:spAutoFit/>
          </a:bodyPr>
          <a:lstStyle/>
          <a:p>
            <a:pPr algn="l">
              <a:spcAft>
                <a:spcPts val="400"/>
              </a:spcAft>
              <a:defRPr sz="1100" b="1" i="0">
                <a:solidFill>
                  <a:srgbClr val="185EDC"/>
                </a:solidFill>
                <a:latin typeface="Aptos"/>
              </a:defRPr>
            </a:pPr>
            <a:r>
              <a:rPr>
                <a:latin typeface="Segoe UI" panose="020B0502040204020203" charset="0"/>
              </a:rPr>
              <a:t>AI</a:t>
            </a:r>
            <a:endParaRPr>
              <a:latin typeface="Segoe UI" panose="020B0502040204020203" charset="0"/>
            </a:endParaRPr>
          </a:p>
        </p:txBody>
      </p:sp>
      <p:sp>
        <p:nvSpPr>
          <p:cNvPr id="8" name="TextBox 7"/>
          <p:cNvSpPr txBox="1"/>
          <p:nvPr>
            <p:custDataLst>
              <p:tags r:id="rId4"/>
            </p:custDataLst>
          </p:nvPr>
        </p:nvSpPr>
        <p:spPr>
          <a:xfrm>
            <a:off x="960120" y="2455164"/>
            <a:ext cx="4709160"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01  </a:t>
            </a:r>
            <a:r>
              <a:rPr sz="1800">
                <a:latin typeface="Times New Roman" panose="02020603050405020304" charset="0"/>
                <a:cs typeface="Times New Roman" panose="02020603050405020304" charset="0"/>
                <a:sym typeface="+mn-ea"/>
              </a:rPr>
              <a:t>AI-native networking</a:t>
            </a:r>
            <a:endParaRPr sz="1800">
              <a:latin typeface="Times New Roman" panose="02020603050405020304" charset="0"/>
              <a:cs typeface="Times New Roman" panose="02020603050405020304" charset="0"/>
              <a:sym typeface="+mn-ea"/>
            </a:endParaRPr>
          </a:p>
        </p:txBody>
      </p:sp>
      <p:sp>
        <p:nvSpPr>
          <p:cNvPr id="9" name="TextBox 8"/>
          <p:cNvSpPr txBox="1"/>
          <p:nvPr>
            <p:custDataLst>
              <p:tags r:id="rId5"/>
            </p:custDataLst>
          </p:nvPr>
        </p:nvSpPr>
        <p:spPr>
          <a:xfrm>
            <a:off x="960120" y="2919476"/>
            <a:ext cx="4727448" cy="466090"/>
          </a:xfrm>
          <a:prstGeom prst="rect">
            <a:avLst/>
          </a:prstGeom>
          <a:noFill/>
        </p:spPr>
        <p:txBody>
          <a:bodyPr wrap="square" lIns="18288" tIns="18288" rIns="18288" bIns="18288" anchor="t">
            <a:spAutoFit/>
          </a:bodyPr>
          <a:lstStyle/>
          <a:p>
            <a:pPr algn="l">
              <a:spcAft>
                <a:spcPts val="400"/>
              </a:spcAft>
              <a:defRPr sz="1150" b="0" i="0">
                <a:solidFill>
                  <a:srgbClr val="586D8B"/>
                </a:solidFill>
                <a:latin typeface="Aptos"/>
              </a:defRPr>
            </a:pPr>
            <a:r>
              <a:rPr sz="1400">
                <a:latin typeface="Times New Roman" panose="02020603050405020304" charset="0"/>
                <a:cs typeface="Times New Roman" panose="02020603050405020304" charset="0"/>
              </a:rPr>
              <a:t>Predict traffic, allocate resources and maintain connections; edge computing can process data closer to users.</a:t>
            </a:r>
            <a:endParaRPr sz="1400">
              <a:latin typeface="Times New Roman" panose="02020603050405020304" charset="0"/>
              <a:cs typeface="Times New Roman" panose="02020603050405020304" charset="0"/>
            </a:endParaRPr>
          </a:p>
        </p:txBody>
      </p:sp>
      <p:sp>
        <p:nvSpPr>
          <p:cNvPr id="10" name="Rounded Rectangle 9"/>
          <p:cNvSpPr/>
          <p:nvPr>
            <p:custDataLst>
              <p:tags r:id="rId6"/>
            </p:custDataLst>
          </p:nvPr>
        </p:nvSpPr>
        <p:spPr>
          <a:xfrm>
            <a:off x="6263640" y="2044700"/>
            <a:ext cx="5166360" cy="155448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custDataLst>
              <p:tags r:id="rId7"/>
            </p:custDataLst>
          </p:nvPr>
        </p:nvSpPr>
        <p:spPr>
          <a:xfrm>
            <a:off x="6263640" y="2044700"/>
            <a:ext cx="64008" cy="1554480"/>
          </a:xfrm>
          <a:prstGeom prst="rect">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8"/>
            </p:custDataLst>
          </p:nvPr>
        </p:nvSpPr>
        <p:spPr>
          <a:xfrm>
            <a:off x="6492240" y="2148840"/>
            <a:ext cx="475488" cy="292608"/>
          </a:xfrm>
          <a:prstGeom prst="rect">
            <a:avLst/>
          </a:prstGeom>
          <a:noFill/>
        </p:spPr>
        <p:txBody>
          <a:bodyPr wrap="square" lIns="18288" tIns="18288" rIns="18288" bIns="18288" anchor="t">
            <a:spAutoFit/>
          </a:bodyPr>
          <a:lstStyle/>
          <a:p>
            <a:pPr algn="l">
              <a:spcAft>
                <a:spcPts val="400"/>
              </a:spcAft>
              <a:defRPr sz="1100" b="1" i="0">
                <a:solidFill>
                  <a:srgbClr val="00C3FF"/>
                </a:solidFill>
                <a:latin typeface="Aptos"/>
              </a:defRPr>
            </a:pPr>
            <a:r>
              <a:rPr>
                <a:latin typeface="Segoe UI" panose="020B0502040204020203" charset="0"/>
              </a:rPr>
              <a:t>RF</a:t>
            </a:r>
            <a:endParaRPr>
              <a:latin typeface="Segoe UI" panose="020B0502040204020203" charset="0"/>
            </a:endParaRPr>
          </a:p>
        </p:txBody>
      </p:sp>
      <p:sp>
        <p:nvSpPr>
          <p:cNvPr id="13" name="TextBox 12"/>
          <p:cNvSpPr txBox="1"/>
          <p:nvPr>
            <p:custDataLst>
              <p:tags r:id="rId9"/>
            </p:custDataLst>
          </p:nvPr>
        </p:nvSpPr>
        <p:spPr>
          <a:xfrm>
            <a:off x="6492240" y="2406269"/>
            <a:ext cx="4709160"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02  New radio approaches</a:t>
            </a:r>
            <a:endParaRPr sz="1800">
              <a:latin typeface="Times New Roman" panose="02020603050405020304" charset="0"/>
              <a:cs typeface="Times New Roman" panose="02020603050405020304" charset="0"/>
              <a:sym typeface="+mn-ea"/>
            </a:endParaRPr>
          </a:p>
        </p:txBody>
      </p:sp>
      <p:sp>
        <p:nvSpPr>
          <p:cNvPr id="14" name="TextBox 13"/>
          <p:cNvSpPr txBox="1"/>
          <p:nvPr>
            <p:custDataLst>
              <p:tags r:id="rId10"/>
            </p:custDataLst>
          </p:nvPr>
        </p:nvSpPr>
        <p:spPr>
          <a:xfrm>
            <a:off x="6492240" y="2962656"/>
            <a:ext cx="4727448" cy="466090"/>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400">
                <a:latin typeface="Times New Roman" panose="02020603050405020304" charset="0"/>
                <a:cs typeface="Times New Roman" panose="02020603050405020304" charset="0"/>
                <a:sym typeface="+mn-ea"/>
              </a:rPr>
              <a:t>Sub-THz / THz bandwidth, large antenna arrays and reconfigurable intelligent surfaces.</a:t>
            </a:r>
            <a:endParaRPr sz="1400">
              <a:latin typeface="Times New Roman" panose="02020603050405020304" charset="0"/>
              <a:cs typeface="Times New Roman" panose="02020603050405020304" charset="0"/>
              <a:sym typeface="+mn-ea"/>
            </a:endParaRPr>
          </a:p>
        </p:txBody>
      </p:sp>
      <p:sp>
        <p:nvSpPr>
          <p:cNvPr id="15" name="Rounded Rectangle 14"/>
          <p:cNvSpPr/>
          <p:nvPr>
            <p:custDataLst>
              <p:tags r:id="rId11"/>
            </p:custDataLst>
          </p:nvPr>
        </p:nvSpPr>
        <p:spPr>
          <a:xfrm>
            <a:off x="795655" y="3905250"/>
            <a:ext cx="5166360" cy="155448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custDataLst>
              <p:tags r:id="rId12"/>
            </p:custDataLst>
          </p:nvPr>
        </p:nvSpPr>
        <p:spPr>
          <a:xfrm>
            <a:off x="731520" y="3977640"/>
            <a:ext cx="64008" cy="1554480"/>
          </a:xfrm>
          <a:prstGeom prst="rect">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13"/>
            </p:custDataLst>
          </p:nvPr>
        </p:nvSpPr>
        <p:spPr>
          <a:xfrm>
            <a:off x="960120" y="3977640"/>
            <a:ext cx="475488" cy="292608"/>
          </a:xfrm>
          <a:prstGeom prst="rect">
            <a:avLst/>
          </a:prstGeom>
          <a:noFill/>
        </p:spPr>
        <p:txBody>
          <a:bodyPr wrap="square" lIns="18288" tIns="18288" rIns="18288" bIns="18288" anchor="t">
            <a:spAutoFit/>
          </a:bodyPr>
          <a:lstStyle/>
          <a:p>
            <a:pPr algn="l">
              <a:spcAft>
                <a:spcPts val="400"/>
              </a:spcAft>
              <a:defRPr sz="1100" b="1" i="0">
                <a:solidFill>
                  <a:srgbClr val="5FE7DC"/>
                </a:solidFill>
                <a:latin typeface="Aptos"/>
              </a:defRPr>
            </a:pPr>
            <a:r>
              <a:rPr>
                <a:latin typeface="Segoe UI" panose="020B0502040204020203" charset="0"/>
              </a:rPr>
              <a:t>ISAC</a:t>
            </a:r>
            <a:endParaRPr>
              <a:latin typeface="Segoe UI" panose="020B0502040204020203" charset="0"/>
            </a:endParaRPr>
          </a:p>
        </p:txBody>
      </p:sp>
      <p:sp>
        <p:nvSpPr>
          <p:cNvPr id="18" name="TextBox 17"/>
          <p:cNvSpPr txBox="1"/>
          <p:nvPr>
            <p:custDataLst>
              <p:tags r:id="rId14"/>
            </p:custDataLst>
          </p:nvPr>
        </p:nvSpPr>
        <p:spPr>
          <a:xfrm>
            <a:off x="960120" y="4352544"/>
            <a:ext cx="4709160" cy="312420"/>
          </a:xfrm>
          <a:prstGeom prst="rect">
            <a:avLst/>
          </a:prstGeom>
          <a:noFill/>
        </p:spPr>
        <p:txBody>
          <a:bodyPr wrap="square" lIns="18288" tIns="18288" rIns="18288" bIns="18288" anchor="t">
            <a:spAutoFit/>
          </a:bodyPr>
          <a:lstStyle/>
          <a:p>
            <a:pPr algn="l">
              <a:spcAft>
                <a:spcPts val="400"/>
              </a:spcAft>
              <a:defRPr sz="1700" b="1" i="0">
                <a:solidFill>
                  <a:srgbClr val="071636"/>
                </a:solidFill>
                <a:latin typeface="Aptos"/>
              </a:defRPr>
            </a:pPr>
            <a:r>
              <a:rPr sz="1800">
                <a:latin typeface="Times New Roman" panose="02020603050405020304" charset="0"/>
                <a:cs typeface="Times New Roman" panose="02020603050405020304" charset="0"/>
              </a:rPr>
              <a:t>03  Integrated sensing &amp; communication</a:t>
            </a:r>
            <a:endParaRPr sz="1800">
              <a:latin typeface="Times New Roman" panose="02020603050405020304" charset="0"/>
              <a:cs typeface="Times New Roman" panose="02020603050405020304" charset="0"/>
            </a:endParaRPr>
          </a:p>
        </p:txBody>
      </p:sp>
      <p:sp>
        <p:nvSpPr>
          <p:cNvPr id="19" name="TextBox 18"/>
          <p:cNvSpPr txBox="1"/>
          <p:nvPr>
            <p:custDataLst>
              <p:tags r:id="rId15"/>
            </p:custDataLst>
          </p:nvPr>
        </p:nvSpPr>
        <p:spPr>
          <a:xfrm>
            <a:off x="960120" y="4791456"/>
            <a:ext cx="4727448" cy="466090"/>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400">
                <a:latin typeface="Times New Roman" panose="02020603050405020304" charset="0"/>
                <a:cs typeface="Times New Roman" panose="02020603050405020304" charset="0"/>
                <a:sym typeface="+mn-ea"/>
              </a:rPr>
              <a:t>Reuse radio signals and infrastructure to communicate while estimating location or movement.</a:t>
            </a:r>
            <a:endParaRPr sz="1400">
              <a:latin typeface="Times New Roman" panose="02020603050405020304" charset="0"/>
              <a:cs typeface="Times New Roman" panose="02020603050405020304" charset="0"/>
              <a:sym typeface="+mn-ea"/>
            </a:endParaRPr>
          </a:p>
        </p:txBody>
      </p:sp>
      <p:sp>
        <p:nvSpPr>
          <p:cNvPr id="20" name="Rounded Rectangle 19"/>
          <p:cNvSpPr/>
          <p:nvPr>
            <p:custDataLst>
              <p:tags r:id="rId16"/>
            </p:custDataLst>
          </p:nvPr>
        </p:nvSpPr>
        <p:spPr>
          <a:xfrm>
            <a:off x="6327775" y="3903980"/>
            <a:ext cx="5166360" cy="155448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custDataLst>
              <p:tags r:id="rId17"/>
            </p:custDataLst>
          </p:nvPr>
        </p:nvSpPr>
        <p:spPr>
          <a:xfrm>
            <a:off x="6263640" y="3905250"/>
            <a:ext cx="64008" cy="1554480"/>
          </a:xfrm>
          <a:prstGeom prst="rect">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8"/>
            </p:custDataLst>
          </p:nvPr>
        </p:nvSpPr>
        <p:spPr>
          <a:xfrm>
            <a:off x="6492240" y="3977640"/>
            <a:ext cx="475488" cy="292608"/>
          </a:xfrm>
          <a:prstGeom prst="rect">
            <a:avLst/>
          </a:prstGeom>
          <a:noFill/>
        </p:spPr>
        <p:txBody>
          <a:bodyPr wrap="square" lIns="18288" tIns="18288" rIns="18288" bIns="18288" anchor="t">
            <a:spAutoFit/>
          </a:bodyPr>
          <a:lstStyle/>
          <a:p>
            <a:pPr algn="l">
              <a:spcAft>
                <a:spcPts val="400"/>
              </a:spcAft>
              <a:defRPr sz="1100" b="1" i="0">
                <a:solidFill>
                  <a:srgbClr val="185EDC"/>
                </a:solidFill>
                <a:latin typeface="Aptos"/>
              </a:defRPr>
            </a:pPr>
            <a:r>
              <a:rPr>
                <a:latin typeface="Segoe UI" panose="020B0502040204020203" charset="0"/>
              </a:rPr>
              <a:t>NTN</a:t>
            </a:r>
            <a:endParaRPr>
              <a:latin typeface="Segoe UI" panose="020B0502040204020203" charset="0"/>
            </a:endParaRPr>
          </a:p>
        </p:txBody>
      </p:sp>
      <p:sp>
        <p:nvSpPr>
          <p:cNvPr id="23" name="TextBox 22"/>
          <p:cNvSpPr txBox="1"/>
          <p:nvPr>
            <p:custDataLst>
              <p:tags r:id="rId19"/>
            </p:custDataLst>
          </p:nvPr>
        </p:nvSpPr>
        <p:spPr>
          <a:xfrm>
            <a:off x="6492240" y="4352544"/>
            <a:ext cx="4709160"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04  Integrated coverage</a:t>
            </a:r>
            <a:endParaRPr sz="1800">
              <a:latin typeface="Times New Roman" panose="02020603050405020304" charset="0"/>
              <a:cs typeface="Times New Roman" panose="02020603050405020304" charset="0"/>
              <a:sym typeface="+mn-ea"/>
            </a:endParaRPr>
          </a:p>
        </p:txBody>
      </p:sp>
      <p:sp>
        <p:nvSpPr>
          <p:cNvPr id="24" name="TextBox 23"/>
          <p:cNvSpPr txBox="1"/>
          <p:nvPr>
            <p:custDataLst>
              <p:tags r:id="rId20"/>
            </p:custDataLst>
          </p:nvPr>
        </p:nvSpPr>
        <p:spPr>
          <a:xfrm>
            <a:off x="6492240" y="4791456"/>
            <a:ext cx="4727448" cy="466090"/>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400">
                <a:latin typeface="Times New Roman" panose="02020603050405020304" charset="0"/>
                <a:cs typeface="Times New Roman" panose="02020603050405020304" charset="0"/>
                <a:sym typeface="+mn-ea"/>
              </a:rPr>
              <a:t>Coordinate terrestrial networks with satellites and aerial platforms to extend connectivity.</a:t>
            </a:r>
            <a:endParaRPr sz="1400">
              <a:latin typeface="Times New Roman" panose="02020603050405020304" charset="0"/>
              <a:cs typeface="Times New Roman" panose="02020603050405020304" charset="0"/>
              <a:sym typeface="+mn-ea"/>
            </a:endParaRPr>
          </a:p>
        </p:txBody>
      </p:sp>
      <p:sp>
        <p:nvSpPr>
          <p:cNvPr id="25" name="TextBox 24"/>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26" name="TextBox 25"/>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[2]–[4]</a:t>
            </a:r>
            <a:endParaRPr>
              <a:latin typeface="Segoe UI" panose="020B0502040204020203" charset="0"/>
            </a:endParaRPr>
          </a:p>
        </p:txBody>
      </p:sp>
      <p:sp>
        <p:nvSpPr>
          <p:cNvPr id="27" name="TextBox 26"/>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06</a:t>
            </a:r>
            <a:endParaRPr>
              <a:latin typeface="Segoe UI" panose="020B0502040204020203"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05 / TECHNOLOGY SPOTLIGHT</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Intelligence meets the radio environment</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Two complementary levers: smarter network decisions and more capable radio links.</a:t>
            </a:r>
            <a:endParaRPr sz="1800">
              <a:latin typeface="Times New Roman" panose="02020603050405020304" charset="0"/>
              <a:cs typeface="Times New Roman" panose="02020603050405020304" charset="0"/>
              <a:sym typeface="+mn-ea"/>
            </a:endParaRPr>
          </a:p>
        </p:txBody>
      </p:sp>
      <p:sp>
        <p:nvSpPr>
          <p:cNvPr id="5" name="Rounded Rectangle 4"/>
          <p:cNvSpPr/>
          <p:nvPr/>
        </p:nvSpPr>
        <p:spPr>
          <a:xfrm>
            <a:off x="731520" y="1965960"/>
            <a:ext cx="5138420" cy="4121150"/>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67712"/>
            <a:ext cx="4480560" cy="312420"/>
          </a:xfrm>
          <a:prstGeom prst="rect">
            <a:avLst/>
          </a:prstGeom>
          <a:noFill/>
        </p:spPr>
        <p:txBody>
          <a:bodyPr wrap="square" lIns="18288" tIns="18288" rIns="18288" bIns="18288" anchor="t">
            <a:spAutoFit/>
          </a:bodyPr>
          <a:lstStyle/>
          <a:p>
            <a:pPr lvl="0" algn="ctr">
              <a:spcAft>
                <a:spcPts val="400"/>
              </a:spcAft>
              <a:buClrTx/>
              <a:buSzTx/>
              <a:buFontTx/>
              <a:defRPr sz="1400" b="1" i="0">
                <a:solidFill>
                  <a:srgbClr val="185EDC"/>
                </a:solidFill>
                <a:latin typeface="Aptos"/>
              </a:defRPr>
            </a:pPr>
            <a:r>
              <a:rPr sz="1800">
                <a:latin typeface="Times New Roman" panose="02020603050405020304" charset="0"/>
                <a:cs typeface="Times New Roman" panose="02020603050405020304" charset="0"/>
                <a:sym typeface="+mn-ea"/>
              </a:rPr>
              <a:t>AI-NATIVE NETWORKING</a:t>
            </a:r>
            <a:endParaRPr sz="1800">
              <a:latin typeface="Times New Roman" panose="02020603050405020304" charset="0"/>
              <a:cs typeface="Times New Roman" panose="02020603050405020304" charset="0"/>
              <a:sym typeface="+mn-ea"/>
            </a:endParaRPr>
          </a:p>
        </p:txBody>
      </p:sp>
      <p:grpSp>
        <p:nvGrpSpPr>
          <p:cNvPr id="30" name="组合 29"/>
          <p:cNvGrpSpPr/>
          <p:nvPr/>
        </p:nvGrpSpPr>
        <p:grpSpPr>
          <a:xfrm>
            <a:off x="1066800" y="2914650"/>
            <a:ext cx="4290695" cy="917575"/>
            <a:chOff x="2045" y="4824"/>
            <a:chExt cx="5962" cy="1123"/>
          </a:xfrm>
        </p:grpSpPr>
        <p:sp>
          <p:nvSpPr>
            <p:cNvPr id="7" name="Oval 6"/>
            <p:cNvSpPr/>
            <p:nvPr/>
          </p:nvSpPr>
          <p:spPr>
            <a:xfrm>
              <a:off x="2088" y="4824"/>
              <a:ext cx="1123" cy="1123"/>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45" y="5227"/>
              <a:ext cx="1210" cy="307"/>
            </a:xfrm>
            <a:prstGeom prst="rect">
              <a:avLst/>
            </a:prstGeom>
            <a:noFill/>
          </p:spPr>
          <p:txBody>
            <a:bodyPr wrap="square" lIns="18288" tIns="18288" rIns="18288" bIns="18288" anchor="t">
              <a:spAutoFit/>
            </a:bodyPr>
            <a:lstStyle/>
            <a:p>
              <a:pPr algn="ctr">
                <a:spcAft>
                  <a:spcPts val="400"/>
                </a:spcAft>
                <a:defRPr sz="900" b="1" i="0">
                  <a:solidFill>
                    <a:srgbClr val="FFFFFF"/>
                  </a:solidFill>
                  <a:latin typeface="Aptos"/>
                </a:defRPr>
              </a:pPr>
              <a:r>
                <a:rPr sz="1400">
                  <a:latin typeface="Segoe UI" panose="020B0502040204020203" charset="0"/>
                </a:rPr>
                <a:t>DATA</a:t>
              </a:r>
              <a:endParaRPr sz="1400">
                <a:latin typeface="Segoe UI" panose="020B0502040204020203" charset="0"/>
              </a:endParaRPr>
            </a:p>
          </p:txBody>
        </p:sp>
        <p:sp>
          <p:nvSpPr>
            <p:cNvPr id="9" name="Oval 8"/>
            <p:cNvSpPr/>
            <p:nvPr/>
          </p:nvSpPr>
          <p:spPr>
            <a:xfrm>
              <a:off x="4464" y="4824"/>
              <a:ext cx="1123" cy="1123"/>
            </a:xfrm>
            <a:prstGeom prst="ellipse">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1" y="5227"/>
              <a:ext cx="1210" cy="307"/>
            </a:xfrm>
            <a:prstGeom prst="rect">
              <a:avLst/>
            </a:prstGeom>
            <a:noFill/>
          </p:spPr>
          <p:txBody>
            <a:bodyPr wrap="square" lIns="18288" tIns="18288" rIns="18288" bIns="18288" anchor="t">
              <a:spAutoFit/>
            </a:bodyPr>
            <a:lstStyle/>
            <a:p>
              <a:pPr lvl="0" algn="ctr">
                <a:spcAft>
                  <a:spcPts val="400"/>
                </a:spcAft>
                <a:buClrTx/>
                <a:buSzTx/>
                <a:buFontTx/>
                <a:defRPr sz="900" b="1" i="0">
                  <a:solidFill>
                    <a:srgbClr val="FFFFFF"/>
                  </a:solidFill>
                  <a:latin typeface="Aptos"/>
                </a:defRPr>
              </a:pPr>
              <a:r>
                <a:rPr sz="1400">
                  <a:latin typeface="Segoe UI" panose="020B0502040204020203" charset="0"/>
                  <a:sym typeface="+mn-ea"/>
                </a:rPr>
                <a:t>LEARN</a:t>
              </a:r>
              <a:endParaRPr sz="1400">
                <a:latin typeface="Segoe UI" panose="020B0502040204020203" charset="0"/>
                <a:sym typeface="+mn-ea"/>
              </a:endParaRPr>
            </a:p>
          </p:txBody>
        </p:sp>
        <p:sp>
          <p:nvSpPr>
            <p:cNvPr id="11" name="Oval 10"/>
            <p:cNvSpPr/>
            <p:nvPr/>
          </p:nvSpPr>
          <p:spPr>
            <a:xfrm>
              <a:off x="6840" y="4824"/>
              <a:ext cx="1123" cy="1123"/>
            </a:xfrm>
            <a:prstGeom prst="ellipse">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97" y="5227"/>
              <a:ext cx="1210" cy="307"/>
            </a:xfrm>
            <a:prstGeom prst="rect">
              <a:avLst/>
            </a:prstGeom>
            <a:noFill/>
          </p:spPr>
          <p:txBody>
            <a:bodyPr wrap="square" lIns="18288" tIns="18288" rIns="18288" bIns="18288" anchor="t">
              <a:spAutoFit/>
            </a:bodyPr>
            <a:lstStyle/>
            <a:p>
              <a:pPr lvl="0" algn="ctr">
                <a:spcAft>
                  <a:spcPts val="400"/>
                </a:spcAft>
                <a:buClrTx/>
                <a:buSzTx/>
                <a:buFontTx/>
                <a:defRPr sz="900" b="1" i="0">
                  <a:solidFill>
                    <a:srgbClr val="FFFFFF"/>
                  </a:solidFill>
                  <a:latin typeface="Aptos"/>
                </a:defRPr>
              </a:pPr>
              <a:r>
                <a:rPr sz="1400">
                  <a:latin typeface="Segoe UI" panose="020B0502040204020203" charset="0"/>
                  <a:sym typeface="+mn-ea"/>
                </a:rPr>
                <a:t>ADAPT</a:t>
              </a:r>
              <a:endParaRPr sz="1400">
                <a:latin typeface="Segoe UI" panose="020B0502040204020203" charset="0"/>
                <a:sym typeface="+mn-ea"/>
              </a:endParaRPr>
            </a:p>
          </p:txBody>
        </p:sp>
        <p:cxnSp>
          <p:nvCxnSpPr>
            <p:cNvPr id="13" name="Connector 12"/>
            <p:cNvCxnSpPr/>
            <p:nvPr/>
          </p:nvCxnSpPr>
          <p:spPr>
            <a:xfrm>
              <a:off x="3211" y="5400"/>
              <a:ext cx="1224" cy="0"/>
            </a:xfrm>
            <a:prstGeom prst="line">
              <a:avLst/>
            </a:prstGeom>
            <a:ln w="25400">
              <a:solidFill>
                <a:srgbClr val="185ED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587" y="5400"/>
              <a:ext cx="1224" cy="0"/>
            </a:xfrm>
            <a:prstGeom prst="line">
              <a:avLst/>
            </a:prstGeom>
            <a:ln w="25400">
              <a:solidFill>
                <a:srgbClr val="185EDC"/>
              </a:solidFill>
            </a:ln>
          </p:spPr>
          <p:style>
            <a:lnRef idx="2">
              <a:schemeClr val="accent1"/>
            </a:lnRef>
            <a:fillRef idx="0">
              <a:schemeClr val="accent1"/>
            </a:fillRef>
            <a:effectRef idx="1">
              <a:schemeClr val="accent1"/>
            </a:effectRef>
            <a:fontRef idx="minor">
              <a:schemeClr val="tx1"/>
            </a:fontRef>
          </p:style>
        </p:cxnSp>
      </p:grpSp>
      <p:sp>
        <p:nvSpPr>
          <p:cNvPr id="15" name="TextBox 14"/>
          <p:cNvSpPr txBox="1"/>
          <p:nvPr/>
        </p:nvSpPr>
        <p:spPr>
          <a:xfrm>
            <a:off x="1024128" y="4160520"/>
            <a:ext cx="4572000" cy="589280"/>
          </a:xfrm>
          <a:prstGeom prst="rect">
            <a:avLst/>
          </a:prstGeom>
          <a:noFill/>
        </p:spPr>
        <p:txBody>
          <a:bodyPr wrap="square" lIns="18288" tIns="18288" rIns="18288" bIns="18288" anchor="t">
            <a:spAutoFit/>
          </a:bodyPr>
          <a:lstStyle/>
          <a:p>
            <a:pPr algn="l">
              <a:spcAft>
                <a:spcPts val="400"/>
              </a:spcAft>
              <a:defRPr sz="1200" b="0" i="0">
                <a:solidFill>
                  <a:srgbClr val="142745"/>
                </a:solidFill>
                <a:latin typeface="Aptos"/>
              </a:defRPr>
            </a:pPr>
            <a:r>
              <a:rPr sz="1800">
                <a:latin typeface="Times New Roman" panose="02020603050405020304" charset="0"/>
                <a:cs typeface="Times New Roman" panose="02020603050405020304" charset="0"/>
              </a:rPr>
              <a:t>Potential: traffic prediction • resource allocation • connection maintenance</a:t>
            </a:r>
            <a:endParaRPr sz="1800">
              <a:latin typeface="Times New Roman" panose="02020603050405020304" charset="0"/>
              <a:cs typeface="Times New Roman" panose="02020603050405020304" charset="0"/>
            </a:endParaRPr>
          </a:p>
        </p:txBody>
      </p:sp>
      <p:sp>
        <p:nvSpPr>
          <p:cNvPr id="16" name="TextBox 15"/>
          <p:cNvSpPr txBox="1"/>
          <p:nvPr/>
        </p:nvSpPr>
        <p:spPr>
          <a:xfrm>
            <a:off x="1024128" y="4800600"/>
            <a:ext cx="4572000" cy="589280"/>
          </a:xfrm>
          <a:prstGeom prst="rect">
            <a:avLst/>
          </a:prstGeom>
          <a:noFill/>
        </p:spPr>
        <p:txBody>
          <a:bodyPr wrap="square" lIns="18288" tIns="18288" rIns="18288" bIns="18288" anchor="t">
            <a:spAutoFit/>
          </a:bodyPr>
          <a:lstStyle/>
          <a:p>
            <a:pPr algn="l">
              <a:spcAft>
                <a:spcPts val="400"/>
              </a:spcAft>
              <a:defRPr sz="1100" b="0" i="1">
                <a:solidFill>
                  <a:srgbClr val="586D8B"/>
                </a:solidFill>
                <a:latin typeface="Aptos"/>
              </a:defRPr>
            </a:pPr>
            <a:r>
              <a:rPr sz="1800">
                <a:latin typeface="Segoe UI" panose="020B0502040204020203" charset="0"/>
              </a:rPr>
              <a:t>Watch-out: training data, compute demand and decision reliability.</a:t>
            </a:r>
            <a:endParaRPr sz="1800">
              <a:latin typeface="Segoe UI" panose="020B0502040204020203" charset="0"/>
            </a:endParaRPr>
          </a:p>
        </p:txBody>
      </p:sp>
      <p:sp>
        <p:nvSpPr>
          <p:cNvPr id="17" name="Rounded Rectangle 16"/>
          <p:cNvSpPr/>
          <p:nvPr/>
        </p:nvSpPr>
        <p:spPr>
          <a:xfrm>
            <a:off x="6337300" y="1965960"/>
            <a:ext cx="5138420" cy="4120515"/>
          </a:xfrm>
          <a:prstGeom prst="roundRect">
            <a:avLst/>
          </a:prstGeom>
          <a:solidFill>
            <a:srgbClr val="07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2267712"/>
            <a:ext cx="4480560" cy="312420"/>
          </a:xfrm>
          <a:prstGeom prst="rect">
            <a:avLst/>
          </a:prstGeom>
          <a:noFill/>
        </p:spPr>
        <p:txBody>
          <a:bodyPr wrap="square" lIns="18288" tIns="18288" rIns="18288" bIns="18288" anchor="t">
            <a:spAutoFit/>
          </a:bodyPr>
          <a:lstStyle/>
          <a:p>
            <a:pPr algn="ctr">
              <a:spcAft>
                <a:spcPts val="400"/>
              </a:spcAft>
              <a:defRPr sz="1200" b="1" i="0">
                <a:solidFill>
                  <a:srgbClr val="00C3FF"/>
                </a:solidFill>
                <a:latin typeface="Aptos"/>
              </a:defRPr>
            </a:pPr>
            <a:r>
              <a:rPr sz="1800">
                <a:latin typeface="Times New Roman" panose="02020603050405020304" charset="0"/>
                <a:cs typeface="Times New Roman" panose="02020603050405020304" charset="0"/>
              </a:rPr>
              <a:t>RADIO CAPACITY &amp; PROPAGATION</a:t>
            </a:r>
            <a:endParaRPr sz="1800">
              <a:latin typeface="Times New Roman" panose="02020603050405020304" charset="0"/>
              <a:cs typeface="Times New Roman" panose="02020603050405020304" charset="0"/>
            </a:endParaRPr>
          </a:p>
        </p:txBody>
      </p:sp>
      <p:sp>
        <p:nvSpPr>
          <p:cNvPr id="19" name="Oval 18"/>
          <p:cNvSpPr/>
          <p:nvPr/>
        </p:nvSpPr>
        <p:spPr>
          <a:xfrm>
            <a:off x="6812280" y="2788920"/>
            <a:ext cx="822960" cy="822960"/>
          </a:xfrm>
          <a:prstGeom prst="ellipse">
            <a:avLst/>
          </a:prstGeom>
          <a:noFill/>
          <a:ln w="15240">
            <a:solidFill>
              <a:srgbClr val="00C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12280" y="2788920"/>
            <a:ext cx="1426464" cy="1426464"/>
          </a:xfrm>
          <a:prstGeom prst="ellipse">
            <a:avLst/>
          </a:prstGeom>
          <a:noFill/>
          <a:ln w="15240">
            <a:solidFill>
              <a:srgbClr val="00C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12280" y="2788920"/>
            <a:ext cx="2048256" cy="2048256"/>
          </a:xfrm>
          <a:prstGeom prst="ellipse">
            <a:avLst/>
          </a:prstGeom>
          <a:noFill/>
          <a:ln w="15240">
            <a:solidFill>
              <a:srgbClr val="00C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89520" y="3566160"/>
            <a:ext cx="274320" cy="274320"/>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7726679" y="3108960"/>
            <a:ext cx="1463041" cy="594360"/>
          </a:xfrm>
          <a:prstGeom prst="line">
            <a:avLst/>
          </a:prstGeom>
          <a:ln w="25400">
            <a:solidFill>
              <a:srgbClr val="00C3F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089136" y="3008376"/>
            <a:ext cx="201168" cy="201168"/>
          </a:xfrm>
          <a:prstGeom prst="ellipse">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7005" y="3181985"/>
            <a:ext cx="2423160" cy="784225"/>
          </a:xfrm>
          <a:prstGeom prst="rect">
            <a:avLst/>
          </a:prstGeom>
          <a:noFill/>
        </p:spPr>
        <p:txBody>
          <a:bodyPr wrap="square" lIns="18288" tIns="18288" rIns="18288" bIns="18288" anchor="t">
            <a:spAutoFit/>
          </a:bodyPr>
          <a:lstStyle/>
          <a:p>
            <a:pPr algn="l">
              <a:spcAft>
                <a:spcPts val="400"/>
              </a:spcAft>
              <a:defRPr sz="1200" b="1" i="0">
                <a:solidFill>
                  <a:srgbClr val="FFFFFF"/>
                </a:solidFill>
                <a:latin typeface="Aptos"/>
              </a:defRPr>
            </a:pPr>
            <a:r>
              <a:rPr sz="1400">
                <a:latin typeface="Segoe UI" panose="020B0502040204020203" charset="0"/>
              </a:rPr>
              <a:t>Sub-THz / THz </a:t>
            </a:r>
            <a:endParaRPr sz="1400">
              <a:latin typeface="Segoe UI" panose="020B0502040204020203" charset="0"/>
            </a:endParaRPr>
          </a:p>
          <a:p>
            <a:pPr algn="l">
              <a:spcAft>
                <a:spcPts val="400"/>
              </a:spcAft>
              <a:defRPr sz="1200" b="1" i="0">
                <a:solidFill>
                  <a:srgbClr val="FFFFFF"/>
                </a:solidFill>
                <a:latin typeface="Aptos"/>
              </a:defRPr>
            </a:pPr>
            <a:r>
              <a:rPr sz="1400">
                <a:latin typeface="Segoe UI" panose="020B0502040204020203" charset="0"/>
              </a:rPr>
              <a:t>• large antenna arrays </a:t>
            </a:r>
            <a:endParaRPr sz="1400">
              <a:latin typeface="Segoe UI" panose="020B0502040204020203" charset="0"/>
            </a:endParaRPr>
          </a:p>
          <a:p>
            <a:pPr algn="l">
              <a:spcAft>
                <a:spcPts val="400"/>
              </a:spcAft>
              <a:defRPr sz="1200" b="1" i="0">
                <a:solidFill>
                  <a:srgbClr val="FFFFFF"/>
                </a:solidFill>
                <a:latin typeface="Aptos"/>
              </a:defRPr>
            </a:pPr>
            <a:r>
              <a:rPr sz="1400">
                <a:latin typeface="Segoe UI" panose="020B0502040204020203" charset="0"/>
              </a:rPr>
              <a:t>• intelligent surfaces</a:t>
            </a:r>
            <a:endParaRPr sz="1400">
              <a:latin typeface="Segoe UI" panose="020B0502040204020203" charset="0"/>
            </a:endParaRPr>
          </a:p>
        </p:txBody>
      </p:sp>
      <p:sp>
        <p:nvSpPr>
          <p:cNvPr id="26" name="TextBox 25"/>
          <p:cNvSpPr txBox="1"/>
          <p:nvPr/>
        </p:nvSpPr>
        <p:spPr>
          <a:xfrm>
            <a:off x="6812280" y="4979035"/>
            <a:ext cx="4526280" cy="866140"/>
          </a:xfrm>
          <a:prstGeom prst="rect">
            <a:avLst/>
          </a:prstGeom>
          <a:noFill/>
        </p:spPr>
        <p:txBody>
          <a:bodyPr wrap="square" lIns="18288" tIns="18288" rIns="18288" bIns="18288" anchor="t">
            <a:spAutoFit/>
          </a:bodyPr>
          <a:lstStyle/>
          <a:p>
            <a:pPr lvl="0" algn="l">
              <a:spcAft>
                <a:spcPts val="400"/>
              </a:spcAft>
              <a:buClrTx/>
              <a:buSzTx/>
              <a:buFontTx/>
              <a:defRPr sz="1200" b="0" i="0">
                <a:solidFill>
                  <a:srgbClr val="142745"/>
                </a:solidFill>
                <a:latin typeface="Aptos"/>
              </a:defRPr>
            </a:pPr>
            <a:r>
              <a:rPr sz="1800">
                <a:solidFill>
                  <a:schemeClr val="bg1"/>
                </a:solidFill>
                <a:latin typeface="Times New Roman" panose="02020603050405020304" charset="0"/>
                <a:cs typeface="Times New Roman" panose="02020603050405020304" charset="0"/>
                <a:sym typeface="+mn-ea"/>
              </a:rPr>
              <a:t>Watch-out: blockage, propagation loss and hardware limits. Higher bands complement lower-frequency coverage.</a:t>
            </a:r>
            <a:endParaRPr sz="1800">
              <a:solidFill>
                <a:schemeClr val="bg1"/>
              </a:solidFill>
              <a:latin typeface="Times New Roman" panose="02020603050405020304" charset="0"/>
              <a:cs typeface="Times New Roman" panose="02020603050405020304" charset="0"/>
              <a:sym typeface="+mn-ea"/>
            </a:endParaRPr>
          </a:p>
        </p:txBody>
      </p:sp>
      <p:sp>
        <p:nvSpPr>
          <p:cNvPr id="27" name="TextBox 26"/>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28" name="TextBox 27"/>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[2], [3]</a:t>
            </a:r>
            <a:endParaRPr>
              <a:latin typeface="Segoe UI" panose="020B0502040204020203" charset="0"/>
            </a:endParaRPr>
          </a:p>
        </p:txBody>
      </p:sp>
      <p:sp>
        <p:nvSpPr>
          <p:cNvPr id="29" name="TextBox 28"/>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07</a:t>
            </a:r>
            <a:endParaRPr>
              <a:latin typeface="Segoe UI" panose="020B0502040204020203"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9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06 / TECHNOLOGY SPOTLIGHT</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One network, more awareness</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ISAC and integrated coverage expand what a wireless system can observe and reach.</a:t>
            </a:r>
            <a:endParaRPr sz="1800">
              <a:latin typeface="Times New Roman" panose="02020603050405020304" charset="0"/>
              <a:cs typeface="Times New Roman" panose="02020603050405020304" charset="0"/>
              <a:sym typeface="+mn-ea"/>
            </a:endParaRPr>
          </a:p>
        </p:txBody>
      </p:sp>
      <p:sp>
        <p:nvSpPr>
          <p:cNvPr id="5" name="Rounded Rectangle 4"/>
          <p:cNvSpPr/>
          <p:nvPr/>
        </p:nvSpPr>
        <p:spPr>
          <a:xfrm>
            <a:off x="731520" y="1965960"/>
            <a:ext cx="5363845" cy="416687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240280"/>
            <a:ext cx="4572000" cy="312420"/>
          </a:xfrm>
          <a:prstGeom prst="rect">
            <a:avLst/>
          </a:prstGeom>
          <a:noFill/>
        </p:spPr>
        <p:txBody>
          <a:bodyPr wrap="square" lIns="18288" tIns="18288" rIns="18288" bIns="18288" anchor="t">
            <a:spAutoFit/>
          </a:bodyPr>
          <a:lstStyle/>
          <a:p>
            <a:pPr lvl="0" algn="ctr">
              <a:spcAft>
                <a:spcPts val="400"/>
              </a:spcAft>
              <a:buClrTx/>
              <a:buSzTx/>
              <a:buFontTx/>
              <a:defRPr sz="1400" b="1" i="0">
                <a:solidFill>
                  <a:srgbClr val="185EDC"/>
                </a:solidFill>
                <a:latin typeface="Aptos"/>
              </a:defRPr>
            </a:pPr>
            <a:r>
              <a:rPr sz="1800">
                <a:latin typeface="Times New Roman" panose="02020603050405020304" charset="0"/>
                <a:cs typeface="Times New Roman" panose="02020603050405020304" charset="0"/>
                <a:sym typeface="+mn-ea"/>
              </a:rPr>
              <a:t>ISAC  /  SENSING + COMMUNICATION</a:t>
            </a:r>
            <a:endParaRPr sz="1800">
              <a:latin typeface="Times New Roman" panose="02020603050405020304" charset="0"/>
              <a:cs typeface="Times New Roman" panose="02020603050405020304" charset="0"/>
              <a:sym typeface="+mn-ea"/>
            </a:endParaRPr>
          </a:p>
        </p:txBody>
      </p:sp>
      <p:sp>
        <p:nvSpPr>
          <p:cNvPr id="7" name="Rounded Rectangle 6"/>
          <p:cNvSpPr/>
          <p:nvPr/>
        </p:nvSpPr>
        <p:spPr>
          <a:xfrm>
            <a:off x="1234440" y="3703320"/>
            <a:ext cx="1097280" cy="411480"/>
          </a:xfrm>
          <a:prstGeom prst="roundRect">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rapezoid 7"/>
          <p:cNvSpPr/>
          <p:nvPr/>
        </p:nvSpPr>
        <p:spPr>
          <a:xfrm>
            <a:off x="1444752" y="3401568"/>
            <a:ext cx="658368" cy="384048"/>
          </a:xfrm>
          <a:prstGeom prst="trapezoid">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4041648"/>
            <a:ext cx="228600" cy="228600"/>
          </a:xfrm>
          <a:prstGeom prst="ellipse">
            <a:avLst/>
          </a:prstGeom>
          <a:solidFill>
            <a:srgbClr val="07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5960" y="4041648"/>
            <a:ext cx="228600" cy="228600"/>
          </a:xfrm>
          <a:prstGeom prst="ellipse">
            <a:avLst/>
          </a:prstGeom>
          <a:solidFill>
            <a:srgbClr val="07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3108960"/>
            <a:ext cx="137160" cy="1234440"/>
          </a:xfrm>
          <a:prstGeom prst="rect">
            <a:avLst/>
          </a:prstGeom>
          <a:solidFill>
            <a:srgbClr val="0A26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005072" y="2880360"/>
            <a:ext cx="457200" cy="457200"/>
          </a:xfrm>
          <a:prstGeom prst="ellipse">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3063240" y="2788920"/>
            <a:ext cx="1005840" cy="1005840"/>
          </a:xfrm>
          <a:prstGeom prst="arc">
            <a:avLst/>
          </a:prstGeom>
          <a:noFill/>
          <a:ln w="17780">
            <a:solidFill>
              <a:srgbClr val="185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3063240" y="2788920"/>
            <a:ext cx="1499616" cy="1499616"/>
          </a:xfrm>
          <a:prstGeom prst="arc">
            <a:avLst/>
          </a:prstGeom>
          <a:noFill/>
          <a:ln w="17780">
            <a:solidFill>
              <a:srgbClr val="185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3063240" y="2788920"/>
            <a:ext cx="1975104" cy="1975104"/>
          </a:xfrm>
          <a:prstGeom prst="arc">
            <a:avLst/>
          </a:prstGeom>
          <a:noFill/>
          <a:ln w="17780">
            <a:solidFill>
              <a:srgbClr val="185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V="1">
            <a:off x="2331720" y="3246120"/>
            <a:ext cx="1691640" cy="548640"/>
          </a:xfrm>
          <a:prstGeom prst="line">
            <a:avLst/>
          </a:prstGeom>
          <a:ln w="25400">
            <a:solidFill>
              <a:srgbClr val="00C3F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69848" y="4634865"/>
            <a:ext cx="4526280" cy="589280"/>
          </a:xfrm>
          <a:prstGeom prst="rect">
            <a:avLst/>
          </a:prstGeom>
          <a:noFill/>
        </p:spPr>
        <p:txBody>
          <a:bodyPr wrap="square" lIns="18288" tIns="18288" rIns="18288" bIns="18288" anchor="t">
            <a:spAutoFit/>
          </a:bodyPr>
          <a:lstStyle/>
          <a:p>
            <a:pPr lvl="0" algn="l">
              <a:spcAft>
                <a:spcPts val="400"/>
              </a:spcAft>
              <a:buClrTx/>
              <a:buSzTx/>
              <a:buFontTx/>
              <a:defRPr sz="1200" b="0" i="0">
                <a:solidFill>
                  <a:srgbClr val="142745"/>
                </a:solidFill>
                <a:latin typeface="Aptos"/>
              </a:defRPr>
            </a:pPr>
            <a:r>
              <a:rPr sz="1800">
                <a:latin typeface="Times New Roman" panose="02020603050405020304" charset="0"/>
                <a:cs typeface="Times New Roman" panose="02020603050405020304" charset="0"/>
                <a:sym typeface="+mn-ea"/>
              </a:rPr>
              <a:t>Sense position / motion while supporting data exchange</a:t>
            </a:r>
            <a:endParaRPr sz="1800">
              <a:latin typeface="Times New Roman" panose="02020603050405020304" charset="0"/>
              <a:cs typeface="Times New Roman" panose="02020603050405020304" charset="0"/>
              <a:sym typeface="+mn-ea"/>
            </a:endParaRPr>
          </a:p>
        </p:txBody>
      </p:sp>
      <p:sp>
        <p:nvSpPr>
          <p:cNvPr id="18" name="TextBox 17"/>
          <p:cNvSpPr txBox="1"/>
          <p:nvPr/>
        </p:nvSpPr>
        <p:spPr>
          <a:xfrm>
            <a:off x="1024128" y="5288407"/>
            <a:ext cx="4526280" cy="527685"/>
          </a:xfrm>
          <a:prstGeom prst="rect">
            <a:avLst/>
          </a:prstGeom>
          <a:noFill/>
        </p:spPr>
        <p:txBody>
          <a:bodyPr wrap="square" lIns="18288" tIns="18288" rIns="18288" bIns="18288" anchor="t">
            <a:spAutoFit/>
          </a:bodyPr>
          <a:lstStyle/>
          <a:p>
            <a:pPr lvl="0" algn="l">
              <a:spcAft>
                <a:spcPts val="400"/>
              </a:spcAft>
              <a:buClrTx/>
              <a:buSzTx/>
              <a:buFontTx/>
              <a:defRPr sz="1100" b="0" i="1">
                <a:solidFill>
                  <a:srgbClr val="586D8B"/>
                </a:solidFill>
                <a:latin typeface="Aptos"/>
              </a:defRPr>
            </a:pPr>
            <a:r>
              <a:rPr sz="1600">
                <a:latin typeface="Segoe UI" panose="020B0502040204020203" charset="0"/>
                <a:sym typeface="+mn-ea"/>
              </a:rPr>
              <a:t>Trade-off: sensing accuracy and communication performance may compete for resources.</a:t>
            </a:r>
            <a:endParaRPr sz="1600">
              <a:latin typeface="Segoe UI" panose="020B0502040204020203" charset="0"/>
              <a:sym typeface="+mn-ea"/>
            </a:endParaRPr>
          </a:p>
        </p:txBody>
      </p:sp>
      <p:sp>
        <p:nvSpPr>
          <p:cNvPr id="19" name="Rounded Rectangle 18"/>
          <p:cNvSpPr/>
          <p:nvPr/>
        </p:nvSpPr>
        <p:spPr>
          <a:xfrm>
            <a:off x="6263640" y="1965960"/>
            <a:ext cx="5212080" cy="4182745"/>
          </a:xfrm>
          <a:prstGeom prst="roundRect">
            <a:avLst/>
          </a:prstGeom>
          <a:solidFill>
            <a:srgbClr val="071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240280"/>
            <a:ext cx="4480560" cy="312420"/>
          </a:xfrm>
          <a:prstGeom prst="rect">
            <a:avLst/>
          </a:prstGeom>
          <a:noFill/>
        </p:spPr>
        <p:txBody>
          <a:bodyPr wrap="square" lIns="18288" tIns="18288" rIns="18288" bIns="18288" anchor="t">
            <a:spAutoFit/>
          </a:bodyPr>
          <a:lstStyle/>
          <a:p>
            <a:pPr lvl="0" algn="ctr">
              <a:spcAft>
                <a:spcPts val="400"/>
              </a:spcAft>
              <a:buClrTx/>
              <a:buSzTx/>
              <a:buFontTx/>
              <a:defRPr sz="1200" b="1" i="0">
                <a:solidFill>
                  <a:srgbClr val="00C3FF"/>
                </a:solidFill>
                <a:latin typeface="Aptos"/>
              </a:defRPr>
            </a:pPr>
            <a:r>
              <a:rPr sz="1800">
                <a:latin typeface="Times New Roman" panose="02020603050405020304" charset="0"/>
                <a:cs typeface="Times New Roman" panose="02020603050405020304" charset="0"/>
                <a:sym typeface="+mn-ea"/>
              </a:rPr>
              <a:t>INTEGRATED COVERAGE</a:t>
            </a:r>
            <a:endParaRPr sz="1800">
              <a:latin typeface="Times New Roman" panose="02020603050405020304" charset="0"/>
              <a:cs typeface="Times New Roman" panose="02020603050405020304" charset="0"/>
              <a:sym typeface="+mn-ea"/>
            </a:endParaRPr>
          </a:p>
        </p:txBody>
      </p:sp>
      <p:sp>
        <p:nvSpPr>
          <p:cNvPr id="21" name="Isosceles Triangle 20"/>
          <p:cNvSpPr/>
          <p:nvPr/>
        </p:nvSpPr>
        <p:spPr>
          <a:xfrm>
            <a:off x="6995160" y="3657600"/>
            <a:ext cx="548640" cy="914400"/>
          </a:xfrm>
          <a:prstGeom prst="triangl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H="1">
            <a:off x="6903720" y="3931920"/>
            <a:ext cx="365760" cy="640080"/>
          </a:xfrm>
          <a:prstGeom prst="line">
            <a:avLst/>
          </a:prstGeom>
          <a:ln w="25400">
            <a:solidFill>
              <a:srgbClr val="00C3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269480" y="3931920"/>
            <a:ext cx="365760" cy="640080"/>
          </a:xfrm>
          <a:prstGeom prst="line">
            <a:avLst/>
          </a:prstGeom>
          <a:ln w="25400">
            <a:solidFill>
              <a:srgbClr val="00C3FF"/>
            </a:solidFill>
          </a:ln>
        </p:spPr>
        <p:style>
          <a:lnRef idx="2">
            <a:schemeClr val="accent1"/>
          </a:lnRef>
          <a:fillRef idx="0">
            <a:schemeClr val="accent1"/>
          </a:fillRef>
          <a:effectRef idx="1">
            <a:schemeClr val="accent1"/>
          </a:effectRef>
          <a:fontRef idx="minor">
            <a:schemeClr val="tx1"/>
          </a:fontRef>
        </p:style>
      </p:cxnSp>
      <p:sp>
        <p:nvSpPr>
          <p:cNvPr id="24" name="5-Point Star 23"/>
          <p:cNvSpPr/>
          <p:nvPr/>
        </p:nvSpPr>
        <p:spPr>
          <a:xfrm>
            <a:off x="8321040" y="2834640"/>
            <a:ext cx="502920" cy="502920"/>
          </a:xfrm>
          <a:prstGeom prst="star5">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evron 24"/>
          <p:cNvSpPr/>
          <p:nvPr/>
        </p:nvSpPr>
        <p:spPr>
          <a:xfrm>
            <a:off x="9692640" y="2926080"/>
            <a:ext cx="960120" cy="384048"/>
          </a:xfrm>
          <a:prstGeom prst="chevron">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V="1">
            <a:off x="7406640" y="3337560"/>
            <a:ext cx="1005840" cy="320040"/>
          </a:xfrm>
          <a:prstGeom prst="line">
            <a:avLst/>
          </a:prstGeom>
          <a:ln w="19050">
            <a:solidFill>
              <a:srgbClr val="3A78B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869680" y="3108960"/>
            <a:ext cx="868680" cy="0"/>
          </a:xfrm>
          <a:prstGeom prst="line">
            <a:avLst/>
          </a:prstGeom>
          <a:ln w="19050">
            <a:solidFill>
              <a:srgbClr val="3A78B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16370" y="4702175"/>
            <a:ext cx="4526280" cy="281305"/>
          </a:xfrm>
          <a:prstGeom prst="rect">
            <a:avLst/>
          </a:prstGeom>
          <a:noFill/>
        </p:spPr>
        <p:txBody>
          <a:bodyPr wrap="square" lIns="18288" tIns="18288" rIns="18288" bIns="18288" anchor="t">
            <a:spAutoFit/>
          </a:bodyPr>
          <a:lstStyle/>
          <a:p>
            <a:pPr algn="l">
              <a:spcAft>
                <a:spcPts val="400"/>
              </a:spcAft>
              <a:defRPr sz="1300" b="1" i="0">
                <a:solidFill>
                  <a:srgbClr val="FFFFFF"/>
                </a:solidFill>
                <a:latin typeface="Aptos"/>
              </a:defRPr>
            </a:pPr>
            <a:r>
              <a:rPr sz="1600">
                <a:latin typeface="Times New Roman" panose="02020603050405020304" charset="0"/>
                <a:cs typeface="Times New Roman" panose="02020603050405020304" charset="0"/>
              </a:rPr>
              <a:t>Terrestrial networks + satellites + aerial platforms</a:t>
            </a:r>
            <a:endParaRPr sz="1600">
              <a:latin typeface="Times New Roman" panose="02020603050405020304" charset="0"/>
              <a:cs typeface="Times New Roman" panose="02020603050405020304" charset="0"/>
            </a:endParaRPr>
          </a:p>
        </p:txBody>
      </p:sp>
      <p:sp>
        <p:nvSpPr>
          <p:cNvPr id="29" name="TextBox 28"/>
          <p:cNvSpPr txBox="1"/>
          <p:nvPr/>
        </p:nvSpPr>
        <p:spPr>
          <a:xfrm>
            <a:off x="6537960" y="5222875"/>
            <a:ext cx="4526280" cy="589280"/>
          </a:xfrm>
          <a:prstGeom prst="rect">
            <a:avLst/>
          </a:prstGeom>
          <a:noFill/>
        </p:spPr>
        <p:txBody>
          <a:bodyPr wrap="square" lIns="18288" tIns="18288" rIns="18288" bIns="18288" anchor="t">
            <a:spAutoFit/>
          </a:bodyPr>
          <a:lstStyle/>
          <a:p>
            <a:pPr algn="l">
              <a:spcAft>
                <a:spcPts val="400"/>
              </a:spcAft>
              <a:defRPr sz="1050" b="0" i="0">
                <a:solidFill>
                  <a:srgbClr val="C3D8F1"/>
                </a:solidFill>
                <a:latin typeface="Aptos"/>
              </a:defRPr>
            </a:pPr>
            <a:r>
              <a:rPr sz="1800">
                <a:latin typeface="Times New Roman" panose="02020603050405020304" charset="0"/>
                <a:cs typeface="Times New Roman" panose="02020603050405020304" charset="0"/>
              </a:rPr>
              <a:t>Challenge: coordinate very different links while platforms and users move.</a:t>
            </a:r>
            <a:endParaRPr sz="1800">
              <a:latin typeface="Times New Roman" panose="02020603050405020304" charset="0"/>
              <a:cs typeface="Times New Roman" panose="02020603050405020304" charset="0"/>
            </a:endParaRPr>
          </a:p>
        </p:txBody>
      </p:sp>
      <p:sp>
        <p:nvSpPr>
          <p:cNvPr id="30" name="TextBox 29"/>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31" name="TextBox 30"/>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[2], [4]</a:t>
            </a:r>
            <a:endParaRPr>
              <a:latin typeface="Segoe UI" panose="020B0502040204020203" charset="0"/>
            </a:endParaRPr>
          </a:p>
        </p:txBody>
      </p:sp>
      <p:sp>
        <p:nvSpPr>
          <p:cNvPr id="32" name="TextBox 31"/>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08</a:t>
            </a:r>
            <a:endParaRPr>
              <a:latin typeface="Segoe UI" panose="020B0502040204020203"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07 / APPLICATIONS</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Three ways 6G could matter</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These are literature-based use cases and proposed designs — not completed commercial 6G deployments.</a:t>
            </a:r>
            <a:endParaRPr sz="1800">
              <a:latin typeface="Times New Roman" panose="02020603050405020304" charset="0"/>
              <a:cs typeface="Times New Roman" panose="02020603050405020304" charset="0"/>
              <a:sym typeface="+mn-ea"/>
            </a:endParaRPr>
          </a:p>
        </p:txBody>
      </p:sp>
      <p:sp>
        <p:nvSpPr>
          <p:cNvPr id="5" name="Rounded Rectangle 4"/>
          <p:cNvSpPr/>
          <p:nvPr>
            <p:custDataLst>
              <p:tags r:id="rId1"/>
            </p:custDataLst>
          </p:nvPr>
        </p:nvSpPr>
        <p:spPr>
          <a:xfrm>
            <a:off x="731520" y="1965960"/>
            <a:ext cx="3520440" cy="333756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custDataLst>
              <p:tags r:id="rId2"/>
            </p:custDataLst>
          </p:nvPr>
        </p:nvSpPr>
        <p:spPr>
          <a:xfrm>
            <a:off x="731520" y="1965960"/>
            <a:ext cx="64008" cy="3337560"/>
          </a:xfrm>
          <a:prstGeom prst="rect">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3"/>
            </p:custDataLst>
          </p:nvPr>
        </p:nvSpPr>
        <p:spPr>
          <a:xfrm>
            <a:off x="960120" y="2148840"/>
            <a:ext cx="1193800" cy="281305"/>
          </a:xfrm>
          <a:prstGeom prst="rect">
            <a:avLst/>
          </a:prstGeom>
          <a:noFill/>
        </p:spPr>
        <p:txBody>
          <a:bodyPr wrap="square" lIns="18288" tIns="18288" rIns="18288" bIns="18288" anchor="t">
            <a:spAutoFit/>
          </a:bodyPr>
          <a:lstStyle/>
          <a:p>
            <a:pPr algn="l">
              <a:spcAft>
                <a:spcPts val="400"/>
              </a:spcAft>
              <a:defRPr sz="1100" b="1" i="0">
                <a:solidFill>
                  <a:srgbClr val="185EDC"/>
                </a:solidFill>
                <a:latin typeface="Aptos"/>
              </a:defRPr>
            </a:pPr>
            <a:r>
              <a:rPr sz="1600">
                <a:latin typeface="Times New Roman" panose="02020603050405020304" charset="0"/>
                <a:cs typeface="Times New Roman" panose="02020603050405020304" charset="0"/>
              </a:rPr>
              <a:t>CASE 01</a:t>
            </a:r>
            <a:endParaRPr sz="1600">
              <a:latin typeface="Times New Roman" panose="02020603050405020304" charset="0"/>
              <a:cs typeface="Times New Roman" panose="02020603050405020304" charset="0"/>
            </a:endParaRPr>
          </a:p>
        </p:txBody>
      </p:sp>
      <p:sp>
        <p:nvSpPr>
          <p:cNvPr id="8" name="TextBox 7"/>
          <p:cNvSpPr txBox="1"/>
          <p:nvPr>
            <p:custDataLst>
              <p:tags r:id="rId4"/>
            </p:custDataLst>
          </p:nvPr>
        </p:nvSpPr>
        <p:spPr>
          <a:xfrm>
            <a:off x="960120" y="2523744"/>
            <a:ext cx="3063240" cy="312420"/>
          </a:xfrm>
          <a:prstGeom prst="rect">
            <a:avLst/>
          </a:prstGeom>
          <a:noFill/>
        </p:spPr>
        <p:txBody>
          <a:bodyPr wrap="square" lIns="18288" tIns="18288" rIns="18288" bIns="18288" anchor="t">
            <a:spAutoFit/>
          </a:bodyPr>
          <a:lstStyle/>
          <a:p>
            <a:pPr algn="l">
              <a:spcAft>
                <a:spcPts val="400"/>
              </a:spcAft>
              <a:defRPr sz="1700" b="1" i="0">
                <a:solidFill>
                  <a:srgbClr val="071636"/>
                </a:solidFill>
                <a:latin typeface="Aptos"/>
              </a:defRPr>
            </a:pPr>
            <a:r>
              <a:rPr sz="1800">
                <a:latin typeface="Times New Roman" panose="02020603050405020304" charset="0"/>
                <a:cs typeface="Times New Roman" panose="02020603050405020304" charset="0"/>
              </a:rPr>
              <a:t>Immersive education</a:t>
            </a:r>
            <a:endParaRPr sz="1800">
              <a:latin typeface="Times New Roman" panose="02020603050405020304" charset="0"/>
              <a:cs typeface="Times New Roman" panose="02020603050405020304" charset="0"/>
            </a:endParaRPr>
          </a:p>
        </p:txBody>
      </p:sp>
      <p:sp>
        <p:nvSpPr>
          <p:cNvPr id="9" name="TextBox 8"/>
          <p:cNvSpPr txBox="1"/>
          <p:nvPr>
            <p:custDataLst>
              <p:tags r:id="rId5"/>
            </p:custDataLst>
          </p:nvPr>
        </p:nvSpPr>
        <p:spPr>
          <a:xfrm>
            <a:off x="960120" y="2962656"/>
            <a:ext cx="3081528" cy="1861185"/>
          </a:xfrm>
          <a:prstGeom prst="rect">
            <a:avLst/>
          </a:prstGeom>
          <a:noFill/>
        </p:spPr>
        <p:txBody>
          <a:bodyPr wrap="square" lIns="18288" tIns="18288" rIns="18288" bIns="18288" anchor="t">
            <a:spAutoFit/>
          </a:bodyPr>
          <a:lstStyle/>
          <a:p>
            <a:pPr algn="l">
              <a:spcAft>
                <a:spcPts val="400"/>
              </a:spcAft>
              <a:defRPr sz="1150" b="0" i="0">
                <a:solidFill>
                  <a:srgbClr val="586D8B"/>
                </a:solidFill>
                <a:latin typeface="Aptos"/>
              </a:defRPr>
            </a:pPr>
            <a:r>
              <a:rPr sz="1600">
                <a:latin typeface="Times New Roman" panose="02020603050405020304" charset="0"/>
                <a:cs typeface="Times New Roman" panose="02020603050405020304" charset="0"/>
              </a:rPr>
              <a:t>Virtual laboratories need high-quality visuals and consistent interaction. Edge processing and intelligent allocation could help.</a:t>
            </a:r>
            <a:endParaRPr sz="1600">
              <a:latin typeface="Times New Roman" panose="02020603050405020304" charset="0"/>
              <a:cs typeface="Times New Roman" panose="02020603050405020304" charset="0"/>
            </a:endParaRPr>
          </a:p>
          <a:p>
            <a:pPr algn="l">
              <a:spcAft>
                <a:spcPts val="400"/>
              </a:spcAft>
              <a:defRPr sz="1150" b="0" i="0">
                <a:solidFill>
                  <a:srgbClr val="586D8B"/>
                </a:solidFill>
                <a:latin typeface="Aptos"/>
              </a:defRPr>
            </a:pPr>
            <a:endParaRPr sz="1600">
              <a:latin typeface="Times New Roman" panose="02020603050405020304" charset="0"/>
              <a:cs typeface="Times New Roman" panose="02020603050405020304" charset="0"/>
            </a:endParaRPr>
          </a:p>
          <a:p>
            <a:pPr algn="l">
              <a:spcAft>
                <a:spcPts val="400"/>
              </a:spcAft>
              <a:defRPr sz="1150" b="0" i="0">
                <a:solidFill>
                  <a:srgbClr val="586D8B"/>
                </a:solidFill>
                <a:latin typeface="Aptos"/>
              </a:defRPr>
            </a:pPr>
            <a:r>
              <a:rPr sz="1600">
                <a:latin typeface="Times New Roman" panose="02020603050405020304" charset="0"/>
                <a:cs typeface="Times New Roman" panose="02020603050405020304" charset="0"/>
              </a:rPr>
              <a:t>Evaluate: interaction delay, interruptions, user comfort.</a:t>
            </a:r>
            <a:endParaRPr sz="1600">
              <a:latin typeface="Times New Roman" panose="02020603050405020304" charset="0"/>
              <a:cs typeface="Times New Roman" panose="02020603050405020304" charset="0"/>
            </a:endParaRPr>
          </a:p>
        </p:txBody>
      </p:sp>
      <p:sp>
        <p:nvSpPr>
          <p:cNvPr id="10" name="Rounded Rectangle 9"/>
          <p:cNvSpPr/>
          <p:nvPr>
            <p:custDataLst>
              <p:tags r:id="rId6"/>
            </p:custDataLst>
          </p:nvPr>
        </p:nvSpPr>
        <p:spPr>
          <a:xfrm>
            <a:off x="4343400" y="1965960"/>
            <a:ext cx="3520440" cy="333756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custDataLst>
              <p:tags r:id="rId7"/>
            </p:custDataLst>
          </p:nvPr>
        </p:nvSpPr>
        <p:spPr>
          <a:xfrm>
            <a:off x="4343400" y="1965960"/>
            <a:ext cx="64008" cy="3337560"/>
          </a:xfrm>
          <a:prstGeom prst="rect">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8"/>
            </p:custDataLst>
          </p:nvPr>
        </p:nvSpPr>
        <p:spPr>
          <a:xfrm>
            <a:off x="4572000" y="2148840"/>
            <a:ext cx="1209675" cy="281305"/>
          </a:xfrm>
          <a:prstGeom prst="rect">
            <a:avLst/>
          </a:prstGeom>
          <a:noFill/>
        </p:spPr>
        <p:txBody>
          <a:bodyPr wrap="square" lIns="18288" tIns="18288" rIns="18288" bIns="18288" anchor="t">
            <a:spAutoFit/>
          </a:bodyPr>
          <a:lstStyle/>
          <a:p>
            <a:pPr algn="l">
              <a:spcAft>
                <a:spcPts val="400"/>
              </a:spcAft>
              <a:defRPr sz="1100" b="1" i="0">
                <a:solidFill>
                  <a:srgbClr val="00C3FF"/>
                </a:solidFill>
                <a:latin typeface="Aptos"/>
              </a:defRPr>
            </a:pPr>
            <a:r>
              <a:rPr sz="1600">
                <a:latin typeface="Times New Roman" panose="02020603050405020304" charset="0"/>
                <a:cs typeface="Times New Roman" panose="02020603050405020304" charset="0"/>
              </a:rPr>
              <a:t>CASE 02</a:t>
            </a:r>
            <a:endParaRPr sz="1600">
              <a:latin typeface="Times New Roman" panose="02020603050405020304" charset="0"/>
              <a:cs typeface="Times New Roman" panose="02020603050405020304" charset="0"/>
            </a:endParaRPr>
          </a:p>
        </p:txBody>
      </p:sp>
      <p:sp>
        <p:nvSpPr>
          <p:cNvPr id="13" name="TextBox 12"/>
          <p:cNvSpPr txBox="1"/>
          <p:nvPr>
            <p:custDataLst>
              <p:tags r:id="rId9"/>
            </p:custDataLst>
          </p:nvPr>
        </p:nvSpPr>
        <p:spPr>
          <a:xfrm>
            <a:off x="4572000" y="2523744"/>
            <a:ext cx="3063240"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Connected transport</a:t>
            </a:r>
            <a:endParaRPr sz="1800">
              <a:latin typeface="Times New Roman" panose="02020603050405020304" charset="0"/>
              <a:cs typeface="Times New Roman" panose="02020603050405020304" charset="0"/>
              <a:sym typeface="+mn-ea"/>
            </a:endParaRPr>
          </a:p>
        </p:txBody>
      </p:sp>
      <p:sp>
        <p:nvSpPr>
          <p:cNvPr id="14" name="TextBox 13"/>
          <p:cNvSpPr txBox="1"/>
          <p:nvPr>
            <p:custDataLst>
              <p:tags r:id="rId10"/>
            </p:custDataLst>
          </p:nvPr>
        </p:nvSpPr>
        <p:spPr>
          <a:xfrm>
            <a:off x="4572000" y="2962656"/>
            <a:ext cx="3081528" cy="1861185"/>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Roadside sensing could track vehicle motion, support narrow radio beams and prepare resources before handover.</a:t>
            </a: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Evaluate: sensing accuracy, connection reliability.</a:t>
            </a:r>
            <a:endParaRPr sz="1600">
              <a:latin typeface="Times New Roman" panose="02020603050405020304" charset="0"/>
              <a:cs typeface="Times New Roman" panose="02020603050405020304" charset="0"/>
              <a:sym typeface="+mn-ea"/>
            </a:endParaRPr>
          </a:p>
        </p:txBody>
      </p:sp>
      <p:sp>
        <p:nvSpPr>
          <p:cNvPr id="15" name="Rounded Rectangle 14"/>
          <p:cNvSpPr/>
          <p:nvPr>
            <p:custDataLst>
              <p:tags r:id="rId11"/>
            </p:custDataLst>
          </p:nvPr>
        </p:nvSpPr>
        <p:spPr>
          <a:xfrm>
            <a:off x="7955279" y="1965960"/>
            <a:ext cx="3520440" cy="333756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custDataLst>
              <p:tags r:id="rId12"/>
            </p:custDataLst>
          </p:nvPr>
        </p:nvSpPr>
        <p:spPr>
          <a:xfrm>
            <a:off x="7955279" y="1965960"/>
            <a:ext cx="64008" cy="3337560"/>
          </a:xfrm>
          <a:prstGeom prst="rect">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13"/>
            </p:custDataLst>
          </p:nvPr>
        </p:nvSpPr>
        <p:spPr>
          <a:xfrm>
            <a:off x="8183880" y="2148840"/>
            <a:ext cx="964565" cy="281305"/>
          </a:xfrm>
          <a:prstGeom prst="rect">
            <a:avLst/>
          </a:prstGeom>
          <a:noFill/>
        </p:spPr>
        <p:txBody>
          <a:bodyPr wrap="square" lIns="18288" tIns="18288" rIns="18288" bIns="18288" anchor="t">
            <a:spAutoFit/>
          </a:bodyPr>
          <a:lstStyle/>
          <a:p>
            <a:pPr algn="l">
              <a:spcAft>
                <a:spcPts val="400"/>
              </a:spcAft>
              <a:defRPr sz="1100" b="1" i="0">
                <a:solidFill>
                  <a:srgbClr val="5FE7DC"/>
                </a:solidFill>
                <a:latin typeface="Aptos"/>
              </a:defRPr>
            </a:pPr>
            <a:r>
              <a:rPr sz="1600">
                <a:latin typeface="Times New Roman" panose="02020603050405020304" charset="0"/>
                <a:cs typeface="Times New Roman" panose="02020603050405020304" charset="0"/>
              </a:rPr>
              <a:t>CASE 03</a:t>
            </a:r>
            <a:endParaRPr sz="1600">
              <a:latin typeface="Times New Roman" panose="02020603050405020304" charset="0"/>
              <a:cs typeface="Times New Roman" panose="02020603050405020304" charset="0"/>
            </a:endParaRPr>
          </a:p>
        </p:txBody>
      </p:sp>
      <p:sp>
        <p:nvSpPr>
          <p:cNvPr id="18" name="TextBox 17"/>
          <p:cNvSpPr txBox="1"/>
          <p:nvPr>
            <p:custDataLst>
              <p:tags r:id="rId14"/>
            </p:custDataLst>
          </p:nvPr>
        </p:nvSpPr>
        <p:spPr>
          <a:xfrm>
            <a:off x="8183880" y="2523490"/>
            <a:ext cx="3281045"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Renewable-energy coordination</a:t>
            </a:r>
            <a:endParaRPr sz="1800">
              <a:latin typeface="Times New Roman" panose="02020603050405020304" charset="0"/>
              <a:cs typeface="Times New Roman" panose="02020603050405020304" charset="0"/>
              <a:sym typeface="+mn-ea"/>
            </a:endParaRPr>
          </a:p>
        </p:txBody>
      </p:sp>
      <p:sp>
        <p:nvSpPr>
          <p:cNvPr id="19" name="TextBox 18"/>
          <p:cNvSpPr txBox="1"/>
          <p:nvPr>
            <p:custDataLst>
              <p:tags r:id="rId15"/>
            </p:custDataLst>
          </p:nvPr>
        </p:nvSpPr>
        <p:spPr>
          <a:xfrm>
            <a:off x="8183879" y="2962656"/>
            <a:ext cx="3081528" cy="1861185"/>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Timely information from solar installations, batteries and consumers could help balance local supply and demand.</a:t>
            </a: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Evaluate: cost, power use, compatibility.</a:t>
            </a:r>
            <a:endParaRPr sz="1600">
              <a:latin typeface="Times New Roman" panose="02020603050405020304" charset="0"/>
              <a:cs typeface="Times New Roman" panose="02020603050405020304" charset="0"/>
              <a:sym typeface="+mn-ea"/>
            </a:endParaRPr>
          </a:p>
        </p:txBody>
      </p:sp>
      <p:sp>
        <p:nvSpPr>
          <p:cNvPr id="20" name="TextBox 19"/>
          <p:cNvSpPr txBox="1"/>
          <p:nvPr/>
        </p:nvSpPr>
        <p:spPr>
          <a:xfrm>
            <a:off x="1051560" y="5650992"/>
            <a:ext cx="10058400" cy="312420"/>
          </a:xfrm>
          <a:prstGeom prst="rect">
            <a:avLst/>
          </a:prstGeom>
          <a:noFill/>
        </p:spPr>
        <p:txBody>
          <a:bodyPr wrap="square" lIns="18288" tIns="18288" rIns="18288" bIns="18288" anchor="t">
            <a:spAutoFit/>
          </a:bodyPr>
          <a:lstStyle/>
          <a:p>
            <a:pPr lvl="0" algn="ctr">
              <a:spcAft>
                <a:spcPts val="400"/>
              </a:spcAft>
              <a:buClrTx/>
              <a:buSzTx/>
              <a:buFontTx/>
              <a:defRPr sz="1400" b="1" i="0">
                <a:solidFill>
                  <a:srgbClr val="185EDC"/>
                </a:solidFill>
                <a:latin typeface="Aptos"/>
              </a:defRPr>
            </a:pPr>
            <a:r>
              <a:rPr sz="1800">
                <a:latin typeface="Times New Roman" panose="02020603050405020304" charset="0"/>
                <a:cs typeface="Times New Roman" panose="02020603050405020304" charset="0"/>
                <a:sym typeface="+mn-ea"/>
              </a:rPr>
              <a:t>The test: what measurable benefit does the proposed design add over today's alternatives?</a:t>
            </a:r>
            <a:endParaRPr sz="1800">
              <a:latin typeface="Times New Roman" panose="02020603050405020304" charset="0"/>
              <a:cs typeface="Times New Roman" panose="02020603050405020304" charset="0"/>
              <a:sym typeface="+mn-ea"/>
            </a:endParaRPr>
          </a:p>
        </p:txBody>
      </p:sp>
      <p:sp>
        <p:nvSpPr>
          <p:cNvPr id="21" name="TextBox 20"/>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22" name="TextBox 21"/>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[2], [4]–[6]</a:t>
            </a:r>
            <a:endParaRPr>
              <a:latin typeface="Segoe UI" panose="020B0502040204020203" charset="0"/>
            </a:endParaRPr>
          </a:p>
        </p:txBody>
      </p:sp>
      <p:sp>
        <p:nvSpPr>
          <p:cNvPr id="23" name="TextBox 22"/>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09</a:t>
            </a:r>
            <a:endParaRPr>
              <a:latin typeface="Segoe UI" panose="020B0502040204020203"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9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08 / CHALLENGES</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Promising components must work in the real world</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System-level evidence matters more than isolated component performance.</a:t>
            </a:r>
            <a:endParaRPr sz="1800">
              <a:latin typeface="Times New Roman" panose="02020603050405020304" charset="0"/>
              <a:cs typeface="Times New Roman" panose="02020603050405020304" charset="0"/>
              <a:sym typeface="+mn-ea"/>
            </a:endParaRPr>
          </a:p>
        </p:txBody>
      </p:sp>
      <p:sp>
        <p:nvSpPr>
          <p:cNvPr id="5" name="Rounded Rectangle 4"/>
          <p:cNvSpPr/>
          <p:nvPr>
            <p:custDataLst>
              <p:tags r:id="rId1"/>
            </p:custDataLst>
          </p:nvPr>
        </p:nvSpPr>
        <p:spPr>
          <a:xfrm>
            <a:off x="731520" y="2011680"/>
            <a:ext cx="3520440" cy="324612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custDataLst>
              <p:tags r:id="rId2"/>
            </p:custDataLst>
          </p:nvPr>
        </p:nvSpPr>
        <p:spPr>
          <a:xfrm>
            <a:off x="731520" y="2011680"/>
            <a:ext cx="64008" cy="3246120"/>
          </a:xfrm>
          <a:prstGeom prst="rect">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3"/>
            </p:custDataLst>
          </p:nvPr>
        </p:nvSpPr>
        <p:spPr>
          <a:xfrm>
            <a:off x="960120" y="2194560"/>
            <a:ext cx="1323975" cy="281305"/>
          </a:xfrm>
          <a:prstGeom prst="rect">
            <a:avLst/>
          </a:prstGeom>
          <a:noFill/>
        </p:spPr>
        <p:txBody>
          <a:bodyPr wrap="square" lIns="18288" tIns="18288" rIns="18288" bIns="18288" anchor="t">
            <a:spAutoFit/>
          </a:bodyPr>
          <a:lstStyle/>
          <a:p>
            <a:pPr lvl="0" algn="l">
              <a:spcAft>
                <a:spcPts val="400"/>
              </a:spcAft>
              <a:buClrTx/>
              <a:buSzTx/>
              <a:buFontTx/>
              <a:defRPr sz="1100" b="1" i="0">
                <a:solidFill>
                  <a:srgbClr val="00C3FF"/>
                </a:solidFill>
                <a:latin typeface="Aptos"/>
              </a:defRPr>
            </a:pPr>
            <a:r>
              <a:rPr sz="1600">
                <a:latin typeface="Times New Roman" panose="02020603050405020304" charset="0"/>
                <a:cs typeface="Times New Roman" panose="02020603050405020304" charset="0"/>
                <a:sym typeface="+mn-ea"/>
              </a:rPr>
              <a:t>SYSTEM</a:t>
            </a:r>
            <a:endParaRPr sz="1600">
              <a:latin typeface="Times New Roman" panose="02020603050405020304" charset="0"/>
              <a:cs typeface="Times New Roman" panose="02020603050405020304" charset="0"/>
              <a:sym typeface="+mn-ea"/>
            </a:endParaRPr>
          </a:p>
        </p:txBody>
      </p:sp>
      <p:sp>
        <p:nvSpPr>
          <p:cNvPr id="8" name="TextBox 7"/>
          <p:cNvSpPr txBox="1"/>
          <p:nvPr>
            <p:custDataLst>
              <p:tags r:id="rId4"/>
            </p:custDataLst>
          </p:nvPr>
        </p:nvSpPr>
        <p:spPr>
          <a:xfrm>
            <a:off x="960120" y="2569464"/>
            <a:ext cx="3063240"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01  Real-world reliability</a:t>
            </a:r>
            <a:endParaRPr sz="1800">
              <a:latin typeface="Times New Roman" panose="02020603050405020304" charset="0"/>
              <a:cs typeface="Times New Roman" panose="02020603050405020304" charset="0"/>
              <a:sym typeface="+mn-ea"/>
            </a:endParaRPr>
          </a:p>
        </p:txBody>
      </p:sp>
      <p:sp>
        <p:nvSpPr>
          <p:cNvPr id="9" name="TextBox 8"/>
          <p:cNvSpPr txBox="1"/>
          <p:nvPr>
            <p:custDataLst>
              <p:tags r:id="rId5"/>
            </p:custDataLst>
          </p:nvPr>
        </p:nvSpPr>
        <p:spPr>
          <a:xfrm>
            <a:off x="960120" y="3008376"/>
            <a:ext cx="3081528" cy="1615440"/>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Mobility, congestion, blockage and equipment constraints can change results.</a:t>
            </a: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Need: reproducible testbeds and fair baseline comparisons.</a:t>
            </a:r>
            <a:endParaRPr sz="1600">
              <a:latin typeface="Times New Roman" panose="02020603050405020304" charset="0"/>
              <a:cs typeface="Times New Roman" panose="02020603050405020304" charset="0"/>
              <a:sym typeface="+mn-ea"/>
            </a:endParaRPr>
          </a:p>
        </p:txBody>
      </p:sp>
      <p:sp>
        <p:nvSpPr>
          <p:cNvPr id="10" name="Rounded Rectangle 9"/>
          <p:cNvSpPr/>
          <p:nvPr>
            <p:custDataLst>
              <p:tags r:id="rId6"/>
            </p:custDataLst>
          </p:nvPr>
        </p:nvSpPr>
        <p:spPr>
          <a:xfrm>
            <a:off x="4343400" y="2011680"/>
            <a:ext cx="3520440" cy="324612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custDataLst>
              <p:tags r:id="rId7"/>
            </p:custDataLst>
          </p:nvPr>
        </p:nvSpPr>
        <p:spPr>
          <a:xfrm>
            <a:off x="4343400" y="2011680"/>
            <a:ext cx="64008" cy="3246120"/>
          </a:xfrm>
          <a:prstGeom prst="rect">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8"/>
            </p:custDataLst>
          </p:nvPr>
        </p:nvSpPr>
        <p:spPr>
          <a:xfrm>
            <a:off x="4572000" y="2194560"/>
            <a:ext cx="1524000" cy="281305"/>
          </a:xfrm>
          <a:prstGeom prst="rect">
            <a:avLst/>
          </a:prstGeom>
          <a:noFill/>
        </p:spPr>
        <p:txBody>
          <a:bodyPr wrap="square" lIns="18288" tIns="18288" rIns="18288" bIns="18288" anchor="t">
            <a:spAutoFit/>
          </a:bodyPr>
          <a:lstStyle/>
          <a:p>
            <a:pPr lvl="0" algn="l">
              <a:spcAft>
                <a:spcPts val="400"/>
              </a:spcAft>
              <a:buClrTx/>
              <a:buSzTx/>
              <a:buFontTx/>
              <a:defRPr sz="1100" b="1" i="0">
                <a:solidFill>
                  <a:srgbClr val="5FE7DC"/>
                </a:solidFill>
                <a:latin typeface="Aptos"/>
              </a:defRPr>
            </a:pPr>
            <a:r>
              <a:rPr sz="1600">
                <a:latin typeface="Times New Roman" panose="02020603050405020304" charset="0"/>
                <a:cs typeface="Times New Roman" panose="02020603050405020304" charset="0"/>
                <a:sym typeface="+mn-ea"/>
              </a:rPr>
              <a:t>TRUST</a:t>
            </a:r>
            <a:endParaRPr sz="1600">
              <a:latin typeface="Times New Roman" panose="02020603050405020304" charset="0"/>
              <a:cs typeface="Times New Roman" panose="02020603050405020304" charset="0"/>
              <a:sym typeface="+mn-ea"/>
            </a:endParaRPr>
          </a:p>
        </p:txBody>
      </p:sp>
      <p:sp>
        <p:nvSpPr>
          <p:cNvPr id="13" name="TextBox 12"/>
          <p:cNvSpPr txBox="1"/>
          <p:nvPr>
            <p:custDataLst>
              <p:tags r:id="rId9"/>
            </p:custDataLst>
          </p:nvPr>
        </p:nvSpPr>
        <p:spPr>
          <a:xfrm>
            <a:off x="4572000" y="2569464"/>
            <a:ext cx="3063240" cy="384048"/>
          </a:xfrm>
          <a:prstGeom prst="rect">
            <a:avLst/>
          </a:prstGeom>
          <a:noFill/>
        </p:spPr>
        <p:txBody>
          <a:bodyPr wrap="square" lIns="18288" tIns="18288" rIns="18288" bIns="18288" anchor="t">
            <a:spAutoFit/>
          </a:bodyPr>
          <a:lstStyle/>
          <a:p>
            <a:pPr algn="l">
              <a:spcAft>
                <a:spcPts val="400"/>
              </a:spcAft>
              <a:defRPr sz="1700" b="1" i="0">
                <a:solidFill>
                  <a:srgbClr val="071636"/>
                </a:solidFill>
                <a:latin typeface="Aptos"/>
              </a:defRPr>
            </a:pPr>
            <a:r>
              <a:rPr>
                <a:latin typeface="Segoe UI" panose="020B0502040204020203" charset="0"/>
              </a:rPr>
              <a:t>02  Security &amp; privacy</a:t>
            </a:r>
            <a:endParaRPr>
              <a:latin typeface="Segoe UI" panose="020B0502040204020203" charset="0"/>
            </a:endParaRPr>
          </a:p>
        </p:txBody>
      </p:sp>
      <p:sp>
        <p:nvSpPr>
          <p:cNvPr id="14" name="TextBox 13"/>
          <p:cNvSpPr txBox="1"/>
          <p:nvPr>
            <p:custDataLst>
              <p:tags r:id="rId10"/>
            </p:custDataLst>
          </p:nvPr>
        </p:nvSpPr>
        <p:spPr>
          <a:xfrm>
            <a:off x="4572000" y="3008376"/>
            <a:ext cx="3081528" cy="1615440"/>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Manipulated data can mislead learning systems; sensing can expose sensitive movement information.</a:t>
            </a: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Need: built-in protections and adversarial testing.</a:t>
            </a:r>
            <a:endParaRPr sz="1600">
              <a:latin typeface="Times New Roman" panose="02020603050405020304" charset="0"/>
              <a:cs typeface="Times New Roman" panose="02020603050405020304" charset="0"/>
              <a:sym typeface="+mn-ea"/>
            </a:endParaRPr>
          </a:p>
        </p:txBody>
      </p:sp>
      <p:sp>
        <p:nvSpPr>
          <p:cNvPr id="15" name="Rounded Rectangle 14"/>
          <p:cNvSpPr/>
          <p:nvPr>
            <p:custDataLst>
              <p:tags r:id="rId11"/>
            </p:custDataLst>
          </p:nvPr>
        </p:nvSpPr>
        <p:spPr>
          <a:xfrm>
            <a:off x="7955279" y="2011680"/>
            <a:ext cx="3520440" cy="324612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custDataLst>
              <p:tags r:id="rId12"/>
            </p:custDataLst>
          </p:nvPr>
        </p:nvSpPr>
        <p:spPr>
          <a:xfrm>
            <a:off x="7955279" y="2011680"/>
            <a:ext cx="64008" cy="3246120"/>
          </a:xfrm>
          <a:prstGeom prst="rect">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13"/>
            </p:custDataLst>
          </p:nvPr>
        </p:nvSpPr>
        <p:spPr>
          <a:xfrm>
            <a:off x="8183880" y="2194560"/>
            <a:ext cx="1247775" cy="204470"/>
          </a:xfrm>
          <a:prstGeom prst="rect">
            <a:avLst/>
          </a:prstGeom>
          <a:noFill/>
        </p:spPr>
        <p:txBody>
          <a:bodyPr wrap="square" lIns="18288" tIns="18288" rIns="18288" bIns="18288" anchor="t">
            <a:spAutoFit/>
          </a:bodyPr>
          <a:lstStyle/>
          <a:p>
            <a:pPr lvl="0" algn="l">
              <a:spcAft>
                <a:spcPts val="400"/>
              </a:spcAft>
              <a:buClrTx/>
              <a:buSzTx/>
              <a:buFontTx/>
              <a:defRPr sz="1100" b="1" i="0">
                <a:solidFill>
                  <a:srgbClr val="185EDC"/>
                </a:solidFill>
                <a:latin typeface="Aptos"/>
              </a:defRPr>
            </a:pPr>
            <a:r>
              <a:rPr sz="1600">
                <a:latin typeface="Times New Roman" panose="02020603050405020304" charset="0"/>
                <a:cs typeface="Times New Roman" panose="02020603050405020304" charset="0"/>
                <a:sym typeface="+mn-ea"/>
              </a:rPr>
              <a:t>IMPACT</a:t>
            </a:r>
            <a:endParaRPr sz="1600">
              <a:latin typeface="Times New Roman" panose="02020603050405020304" charset="0"/>
              <a:cs typeface="Times New Roman" panose="02020603050405020304" charset="0"/>
              <a:sym typeface="+mn-ea"/>
            </a:endParaRPr>
          </a:p>
        </p:txBody>
      </p:sp>
      <p:sp>
        <p:nvSpPr>
          <p:cNvPr id="18" name="TextBox 17"/>
          <p:cNvSpPr txBox="1"/>
          <p:nvPr>
            <p:custDataLst>
              <p:tags r:id="rId14"/>
            </p:custDataLst>
          </p:nvPr>
        </p:nvSpPr>
        <p:spPr>
          <a:xfrm>
            <a:off x="8183879" y="2569464"/>
            <a:ext cx="3063240" cy="384048"/>
          </a:xfrm>
          <a:prstGeom prst="rect">
            <a:avLst/>
          </a:prstGeom>
          <a:noFill/>
        </p:spPr>
        <p:txBody>
          <a:bodyPr wrap="square" lIns="18288" tIns="18288" rIns="18288" bIns="18288" anchor="t">
            <a:spAutoFit/>
          </a:bodyPr>
          <a:lstStyle/>
          <a:p>
            <a:pPr algn="l">
              <a:spcAft>
                <a:spcPts val="400"/>
              </a:spcAft>
              <a:defRPr sz="1700" b="1" i="0">
                <a:solidFill>
                  <a:srgbClr val="071636"/>
                </a:solidFill>
                <a:latin typeface="Aptos"/>
              </a:defRPr>
            </a:pPr>
            <a:r>
              <a:rPr>
                <a:latin typeface="Segoe UI" panose="020B0502040204020203" charset="0"/>
              </a:rPr>
              <a:t>03  Sustainability</a:t>
            </a:r>
            <a:endParaRPr>
              <a:latin typeface="Segoe UI" panose="020B0502040204020203" charset="0"/>
            </a:endParaRPr>
          </a:p>
        </p:txBody>
      </p:sp>
      <p:sp>
        <p:nvSpPr>
          <p:cNvPr id="19" name="TextBox 18"/>
          <p:cNvSpPr txBox="1"/>
          <p:nvPr>
            <p:custDataLst>
              <p:tags r:id="rId15"/>
            </p:custDataLst>
          </p:nvPr>
        </p:nvSpPr>
        <p:spPr>
          <a:xfrm>
            <a:off x="8183879" y="3008376"/>
            <a:ext cx="3081528" cy="1615440"/>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Infrastructure, computing and hardware consume resources beyond the energy used to transmit bits.</a:t>
            </a: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endParaRPr sz="1600">
              <a:latin typeface="Times New Roman" panose="02020603050405020304" charset="0"/>
              <a:cs typeface="Times New Roman" panose="02020603050405020304" charset="0"/>
              <a:sym typeface="+mn-ea"/>
            </a:endParaRPr>
          </a:p>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Need: report energy, deployment and maintenance costs.</a:t>
            </a:r>
            <a:endParaRPr sz="1600">
              <a:latin typeface="Times New Roman" panose="02020603050405020304" charset="0"/>
              <a:cs typeface="Times New Roman" panose="02020603050405020304" charset="0"/>
              <a:sym typeface="+mn-ea"/>
            </a:endParaRPr>
          </a:p>
        </p:txBody>
      </p:sp>
      <p:sp>
        <p:nvSpPr>
          <p:cNvPr id="20" name="TextBox 19"/>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21" name="TextBox 20"/>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[2], [3], [7], [8]</a:t>
            </a:r>
            <a:endParaRPr>
              <a:latin typeface="Segoe UI" panose="020B0502040204020203" charset="0"/>
            </a:endParaRPr>
          </a:p>
        </p:txBody>
      </p:sp>
      <p:sp>
        <p:nvSpPr>
          <p:cNvPr id="22" name="TextBox 21"/>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10</a:t>
            </a:r>
            <a:endParaRPr>
              <a:latin typeface="Segoe UI" panose="020B0502040204020203"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9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09 / RESEARCH AGENDA</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Three questions to keep 6G grounded</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A practical research agenda connects performance claims to real operating conditions.</a:t>
            </a:r>
            <a:endParaRPr sz="1800">
              <a:latin typeface="Times New Roman" panose="02020603050405020304" charset="0"/>
              <a:cs typeface="Times New Roman" panose="02020603050405020304" charset="0"/>
              <a:sym typeface="+mn-ea"/>
            </a:endParaRPr>
          </a:p>
        </p:txBody>
      </p:sp>
      <p:sp>
        <p:nvSpPr>
          <p:cNvPr id="5" name="Rounded Rectangle 4"/>
          <p:cNvSpPr/>
          <p:nvPr>
            <p:custDataLst>
              <p:tags r:id="rId1"/>
            </p:custDataLst>
          </p:nvPr>
        </p:nvSpPr>
        <p:spPr>
          <a:xfrm>
            <a:off x="777240" y="1965960"/>
            <a:ext cx="10652760" cy="96012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custDataLst>
              <p:tags r:id="rId2"/>
            </p:custDataLst>
          </p:nvPr>
        </p:nvSpPr>
        <p:spPr>
          <a:xfrm>
            <a:off x="1024128" y="2167128"/>
            <a:ext cx="512064" cy="512064"/>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3"/>
            </p:custDataLst>
          </p:nvPr>
        </p:nvSpPr>
        <p:spPr>
          <a:xfrm>
            <a:off x="1033271" y="2322576"/>
            <a:ext cx="493776" cy="128016"/>
          </a:xfrm>
          <a:prstGeom prst="rect">
            <a:avLst/>
          </a:prstGeom>
          <a:noFill/>
        </p:spPr>
        <p:txBody>
          <a:bodyPr wrap="square" lIns="18288" tIns="18288" rIns="18288" bIns="18288" anchor="t">
            <a:spAutoFit/>
          </a:bodyPr>
          <a:lstStyle/>
          <a:p>
            <a:pPr algn="ctr">
              <a:spcAft>
                <a:spcPts val="400"/>
              </a:spcAft>
              <a:defRPr sz="1000" b="1" i="0">
                <a:solidFill>
                  <a:srgbClr val="FFFFFF"/>
                </a:solidFill>
                <a:latin typeface="Aptos"/>
              </a:defRPr>
            </a:pPr>
            <a:r>
              <a:rPr>
                <a:latin typeface="Segoe UI" panose="020B0502040204020203" charset="0"/>
              </a:rPr>
              <a:t>01</a:t>
            </a:r>
            <a:endParaRPr>
              <a:latin typeface="Segoe UI" panose="020B0502040204020203" charset="0"/>
            </a:endParaRPr>
          </a:p>
        </p:txBody>
      </p:sp>
      <p:sp>
        <p:nvSpPr>
          <p:cNvPr id="8" name="TextBox 7"/>
          <p:cNvSpPr txBox="1"/>
          <p:nvPr>
            <p:custDataLst>
              <p:tags r:id="rId4"/>
            </p:custDataLst>
          </p:nvPr>
        </p:nvSpPr>
        <p:spPr>
          <a:xfrm>
            <a:off x="1783080" y="2130552"/>
            <a:ext cx="18288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RELIABILITY</a:t>
            </a:r>
            <a:endParaRPr>
              <a:latin typeface="Segoe UI" panose="020B0502040204020203" charset="0"/>
            </a:endParaRPr>
          </a:p>
        </p:txBody>
      </p:sp>
      <p:sp>
        <p:nvSpPr>
          <p:cNvPr id="9" name="TextBox 8"/>
          <p:cNvSpPr txBox="1"/>
          <p:nvPr>
            <p:custDataLst>
              <p:tags r:id="rId5"/>
            </p:custDataLst>
          </p:nvPr>
        </p:nvSpPr>
        <p:spPr>
          <a:xfrm>
            <a:off x="1783080" y="2386330"/>
            <a:ext cx="5567045"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Does the system remain reliable outside ideal conditions?</a:t>
            </a:r>
            <a:endParaRPr sz="1800">
              <a:latin typeface="Times New Roman" panose="02020603050405020304" charset="0"/>
              <a:cs typeface="Times New Roman" panose="02020603050405020304" charset="0"/>
              <a:sym typeface="+mn-ea"/>
            </a:endParaRPr>
          </a:p>
        </p:txBody>
      </p:sp>
      <p:sp>
        <p:nvSpPr>
          <p:cNvPr id="10" name="TextBox 9"/>
          <p:cNvSpPr txBox="1"/>
          <p:nvPr>
            <p:custDataLst>
              <p:tags r:id="rId6"/>
            </p:custDataLst>
          </p:nvPr>
        </p:nvSpPr>
        <p:spPr>
          <a:xfrm>
            <a:off x="7406640" y="2240279"/>
            <a:ext cx="4023360" cy="527685"/>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Test mobility, congestion, blockage and equipment limits.</a:t>
            </a:r>
            <a:endParaRPr sz="1600">
              <a:latin typeface="Times New Roman" panose="02020603050405020304" charset="0"/>
              <a:cs typeface="Times New Roman" panose="02020603050405020304" charset="0"/>
              <a:sym typeface="+mn-ea"/>
            </a:endParaRPr>
          </a:p>
        </p:txBody>
      </p:sp>
      <p:sp>
        <p:nvSpPr>
          <p:cNvPr id="11" name="Rounded Rectangle 10"/>
          <p:cNvSpPr/>
          <p:nvPr>
            <p:custDataLst>
              <p:tags r:id="rId7"/>
            </p:custDataLst>
          </p:nvPr>
        </p:nvSpPr>
        <p:spPr>
          <a:xfrm>
            <a:off x="777240" y="3200400"/>
            <a:ext cx="10652760" cy="96012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custDataLst>
              <p:tags r:id="rId8"/>
            </p:custDataLst>
          </p:nvPr>
        </p:nvSpPr>
        <p:spPr>
          <a:xfrm>
            <a:off x="1024128" y="3401568"/>
            <a:ext cx="512064" cy="512064"/>
          </a:xfrm>
          <a:prstGeom prst="ellipse">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custDataLst>
              <p:tags r:id="rId9"/>
            </p:custDataLst>
          </p:nvPr>
        </p:nvSpPr>
        <p:spPr>
          <a:xfrm>
            <a:off x="1033271" y="3557016"/>
            <a:ext cx="493776" cy="128016"/>
          </a:xfrm>
          <a:prstGeom prst="rect">
            <a:avLst/>
          </a:prstGeom>
          <a:noFill/>
        </p:spPr>
        <p:txBody>
          <a:bodyPr wrap="square" lIns="18288" tIns="18288" rIns="18288" bIns="18288" anchor="t">
            <a:spAutoFit/>
          </a:bodyPr>
          <a:lstStyle/>
          <a:p>
            <a:pPr algn="ctr">
              <a:spcAft>
                <a:spcPts val="400"/>
              </a:spcAft>
              <a:defRPr sz="1000" b="1" i="0">
                <a:solidFill>
                  <a:srgbClr val="FFFFFF"/>
                </a:solidFill>
                <a:latin typeface="Aptos"/>
              </a:defRPr>
            </a:pPr>
            <a:r>
              <a:rPr>
                <a:latin typeface="Segoe UI" panose="020B0502040204020203" charset="0"/>
              </a:rPr>
              <a:t>02</a:t>
            </a:r>
            <a:endParaRPr>
              <a:latin typeface="Segoe UI" panose="020B0502040204020203" charset="0"/>
            </a:endParaRPr>
          </a:p>
        </p:txBody>
      </p:sp>
      <p:sp>
        <p:nvSpPr>
          <p:cNvPr id="14" name="TextBox 13"/>
          <p:cNvSpPr txBox="1"/>
          <p:nvPr>
            <p:custDataLst>
              <p:tags r:id="rId10"/>
            </p:custDataLst>
          </p:nvPr>
        </p:nvSpPr>
        <p:spPr>
          <a:xfrm>
            <a:off x="1783080" y="3364992"/>
            <a:ext cx="1828800" cy="228600"/>
          </a:xfrm>
          <a:prstGeom prst="rect">
            <a:avLst/>
          </a:prstGeom>
          <a:noFill/>
        </p:spPr>
        <p:txBody>
          <a:bodyPr wrap="square" lIns="18288" tIns="18288" rIns="18288" bIns="18288" anchor="t">
            <a:spAutoFit/>
          </a:bodyPr>
          <a:lstStyle/>
          <a:p>
            <a:pPr algn="l">
              <a:spcAft>
                <a:spcPts val="400"/>
              </a:spcAft>
              <a:defRPr sz="1000" b="1" i="0">
                <a:solidFill>
                  <a:srgbClr val="00C3FF"/>
                </a:solidFill>
                <a:latin typeface="Aptos"/>
              </a:defRPr>
            </a:pPr>
            <a:r>
              <a:rPr>
                <a:latin typeface="Segoe UI" panose="020B0502040204020203" charset="0"/>
              </a:rPr>
              <a:t>RESILIENCE</a:t>
            </a:r>
            <a:endParaRPr>
              <a:latin typeface="Segoe UI" panose="020B0502040204020203" charset="0"/>
            </a:endParaRPr>
          </a:p>
        </p:txBody>
      </p:sp>
      <p:sp>
        <p:nvSpPr>
          <p:cNvPr id="15" name="TextBox 14"/>
          <p:cNvSpPr txBox="1"/>
          <p:nvPr>
            <p:custDataLst>
              <p:tags r:id="rId11"/>
            </p:custDataLst>
          </p:nvPr>
        </p:nvSpPr>
        <p:spPr>
          <a:xfrm>
            <a:off x="1783080" y="3621024"/>
            <a:ext cx="5120640"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Can it protect users and recover from attacks?</a:t>
            </a:r>
            <a:endParaRPr sz="1800">
              <a:latin typeface="Times New Roman" panose="02020603050405020304" charset="0"/>
              <a:cs typeface="Times New Roman" panose="02020603050405020304" charset="0"/>
              <a:sym typeface="+mn-ea"/>
            </a:endParaRPr>
          </a:p>
        </p:txBody>
      </p:sp>
      <p:sp>
        <p:nvSpPr>
          <p:cNvPr id="16" name="TextBox 15"/>
          <p:cNvSpPr txBox="1"/>
          <p:nvPr>
            <p:custDataLst>
              <p:tags r:id="rId12"/>
            </p:custDataLst>
          </p:nvPr>
        </p:nvSpPr>
        <p:spPr>
          <a:xfrm>
            <a:off x="7350125" y="3419475"/>
            <a:ext cx="4023360" cy="527685"/>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Test data / model attacks, privacy risks and recovery.</a:t>
            </a:r>
            <a:endParaRPr sz="1600">
              <a:latin typeface="Times New Roman" panose="02020603050405020304" charset="0"/>
              <a:cs typeface="Times New Roman" panose="02020603050405020304" charset="0"/>
              <a:sym typeface="+mn-ea"/>
            </a:endParaRPr>
          </a:p>
        </p:txBody>
      </p:sp>
      <p:sp>
        <p:nvSpPr>
          <p:cNvPr id="17" name="Rounded Rectangle 16"/>
          <p:cNvSpPr/>
          <p:nvPr>
            <p:custDataLst>
              <p:tags r:id="rId13"/>
            </p:custDataLst>
          </p:nvPr>
        </p:nvSpPr>
        <p:spPr>
          <a:xfrm>
            <a:off x="777240" y="4434840"/>
            <a:ext cx="10652760" cy="960120"/>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custDataLst>
              <p:tags r:id="rId14"/>
            </p:custDataLst>
          </p:nvPr>
        </p:nvSpPr>
        <p:spPr>
          <a:xfrm>
            <a:off x="1024128" y="4636007"/>
            <a:ext cx="512064" cy="512064"/>
          </a:xfrm>
          <a:prstGeom prst="ellipse">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custDataLst>
              <p:tags r:id="rId15"/>
            </p:custDataLst>
          </p:nvPr>
        </p:nvSpPr>
        <p:spPr>
          <a:xfrm>
            <a:off x="1033271" y="4791455"/>
            <a:ext cx="493776" cy="128016"/>
          </a:xfrm>
          <a:prstGeom prst="rect">
            <a:avLst/>
          </a:prstGeom>
          <a:noFill/>
        </p:spPr>
        <p:txBody>
          <a:bodyPr wrap="square" lIns="18288" tIns="18288" rIns="18288" bIns="18288" anchor="t">
            <a:spAutoFit/>
          </a:bodyPr>
          <a:lstStyle/>
          <a:p>
            <a:pPr algn="ctr">
              <a:spcAft>
                <a:spcPts val="400"/>
              </a:spcAft>
              <a:defRPr sz="1000" b="1" i="0">
                <a:solidFill>
                  <a:srgbClr val="FFFFFF"/>
                </a:solidFill>
                <a:latin typeface="Aptos"/>
              </a:defRPr>
            </a:pPr>
            <a:r>
              <a:rPr>
                <a:latin typeface="Segoe UI" panose="020B0502040204020203" charset="0"/>
              </a:rPr>
              <a:t>03</a:t>
            </a:r>
            <a:endParaRPr>
              <a:latin typeface="Segoe UI" panose="020B0502040204020203" charset="0"/>
            </a:endParaRPr>
          </a:p>
        </p:txBody>
      </p:sp>
      <p:sp>
        <p:nvSpPr>
          <p:cNvPr id="20" name="TextBox 19"/>
          <p:cNvSpPr txBox="1"/>
          <p:nvPr>
            <p:custDataLst>
              <p:tags r:id="rId16"/>
            </p:custDataLst>
          </p:nvPr>
        </p:nvSpPr>
        <p:spPr>
          <a:xfrm>
            <a:off x="1783080" y="4599431"/>
            <a:ext cx="1828800" cy="228600"/>
          </a:xfrm>
          <a:prstGeom prst="rect">
            <a:avLst/>
          </a:prstGeom>
          <a:noFill/>
        </p:spPr>
        <p:txBody>
          <a:bodyPr wrap="square" lIns="18288" tIns="18288" rIns="18288" bIns="18288" anchor="t">
            <a:spAutoFit/>
          </a:bodyPr>
          <a:lstStyle/>
          <a:p>
            <a:pPr algn="l">
              <a:spcAft>
                <a:spcPts val="400"/>
              </a:spcAft>
              <a:defRPr sz="1000" b="1" i="0">
                <a:solidFill>
                  <a:srgbClr val="5FE7DC"/>
                </a:solidFill>
                <a:latin typeface="Aptos"/>
              </a:defRPr>
            </a:pPr>
            <a:r>
              <a:rPr>
                <a:latin typeface="Segoe UI" panose="020B0502040204020203" charset="0"/>
              </a:rPr>
              <a:t>SUSTAINABILITY</a:t>
            </a:r>
            <a:endParaRPr>
              <a:latin typeface="Segoe UI" panose="020B0502040204020203" charset="0"/>
            </a:endParaRPr>
          </a:p>
        </p:txBody>
      </p:sp>
      <p:sp>
        <p:nvSpPr>
          <p:cNvPr id="21" name="TextBox 20"/>
          <p:cNvSpPr txBox="1"/>
          <p:nvPr>
            <p:custDataLst>
              <p:tags r:id="rId17"/>
            </p:custDataLst>
          </p:nvPr>
        </p:nvSpPr>
        <p:spPr>
          <a:xfrm>
            <a:off x="1783080" y="4855464"/>
            <a:ext cx="5120640" cy="312420"/>
          </a:xfrm>
          <a:prstGeom prst="rect">
            <a:avLst/>
          </a:prstGeom>
          <a:noFill/>
        </p:spPr>
        <p:txBody>
          <a:bodyPr wrap="square" lIns="18288" tIns="18288" rIns="18288" bIns="18288" anchor="t">
            <a:spAutoFit/>
          </a:bodyPr>
          <a:lstStyle/>
          <a:p>
            <a:pPr lvl="0" algn="l">
              <a:spcAft>
                <a:spcPts val="400"/>
              </a:spcAft>
              <a:buClrTx/>
              <a:buSzTx/>
              <a:buFontTx/>
              <a:defRPr sz="1700" b="1" i="0">
                <a:solidFill>
                  <a:srgbClr val="071636"/>
                </a:solidFill>
                <a:latin typeface="Aptos"/>
              </a:defRPr>
            </a:pPr>
            <a:r>
              <a:rPr sz="1800">
                <a:latin typeface="Times New Roman" panose="02020603050405020304" charset="0"/>
                <a:cs typeface="Times New Roman" panose="02020603050405020304" charset="0"/>
                <a:sym typeface="+mn-ea"/>
              </a:rPr>
              <a:t>Do the benefits justify energy and deployment costs?</a:t>
            </a:r>
            <a:endParaRPr sz="1800">
              <a:latin typeface="Times New Roman" panose="02020603050405020304" charset="0"/>
              <a:cs typeface="Times New Roman" panose="02020603050405020304" charset="0"/>
              <a:sym typeface="+mn-ea"/>
            </a:endParaRPr>
          </a:p>
        </p:txBody>
      </p:sp>
      <p:sp>
        <p:nvSpPr>
          <p:cNvPr id="22" name="TextBox 21"/>
          <p:cNvSpPr txBox="1"/>
          <p:nvPr>
            <p:custDataLst>
              <p:tags r:id="rId18"/>
            </p:custDataLst>
          </p:nvPr>
        </p:nvSpPr>
        <p:spPr>
          <a:xfrm>
            <a:off x="7350125" y="4733289"/>
            <a:ext cx="4023360" cy="527685"/>
          </a:xfrm>
          <a:prstGeom prst="rect">
            <a:avLst/>
          </a:prstGeom>
          <a:noFill/>
        </p:spPr>
        <p:txBody>
          <a:bodyPr wrap="square" lIns="18288" tIns="18288" rIns="18288" bIns="18288" anchor="t">
            <a:spAutoFit/>
          </a:bodyPr>
          <a:lstStyle/>
          <a:p>
            <a:pPr lvl="0" algn="l">
              <a:spcAft>
                <a:spcPts val="400"/>
              </a:spcAft>
              <a:buClrTx/>
              <a:buSzTx/>
              <a:buFontTx/>
              <a:defRPr sz="1150" b="0" i="0">
                <a:solidFill>
                  <a:srgbClr val="586D8B"/>
                </a:solidFill>
                <a:latin typeface="Aptos"/>
              </a:defRPr>
            </a:pPr>
            <a:r>
              <a:rPr sz="1600">
                <a:latin typeface="Times New Roman" panose="02020603050405020304" charset="0"/>
                <a:cs typeface="Times New Roman" panose="02020603050405020304" charset="0"/>
                <a:sym typeface="+mn-ea"/>
              </a:rPr>
              <a:t>Measure system-level energy use and lifecycle costs.</a:t>
            </a:r>
            <a:endParaRPr sz="1600">
              <a:latin typeface="Times New Roman" panose="02020603050405020304" charset="0"/>
              <a:cs typeface="Times New Roman" panose="02020603050405020304" charset="0"/>
              <a:sym typeface="+mn-ea"/>
            </a:endParaRPr>
          </a:p>
        </p:txBody>
      </p:sp>
      <p:sp>
        <p:nvSpPr>
          <p:cNvPr id="23" name="TextBox 22"/>
          <p:cNvSpPr txBox="1"/>
          <p:nvPr/>
        </p:nvSpPr>
        <p:spPr>
          <a:xfrm>
            <a:off x="1005840" y="5833872"/>
            <a:ext cx="10149840" cy="312420"/>
          </a:xfrm>
          <a:prstGeom prst="rect">
            <a:avLst/>
          </a:prstGeom>
          <a:noFill/>
        </p:spPr>
        <p:txBody>
          <a:bodyPr wrap="square" lIns="18288" tIns="18288" rIns="18288" bIns="18288" anchor="t">
            <a:spAutoFit/>
          </a:bodyPr>
          <a:lstStyle/>
          <a:p>
            <a:pPr lvl="0" algn="ctr">
              <a:spcAft>
                <a:spcPts val="400"/>
              </a:spcAft>
              <a:buClrTx/>
              <a:buSzTx/>
              <a:buFontTx/>
              <a:defRPr sz="1400" b="1" i="0">
                <a:solidFill>
                  <a:srgbClr val="185EDC"/>
                </a:solidFill>
                <a:latin typeface="Aptos"/>
              </a:defRPr>
            </a:pPr>
            <a:r>
              <a:rPr sz="1800">
                <a:latin typeface="Times New Roman" panose="02020603050405020304" charset="0"/>
                <a:cs typeface="Times New Roman" panose="02020603050405020304" charset="0"/>
                <a:sym typeface="+mn-ea"/>
              </a:rPr>
              <a:t>Progress requires collaboration across communications, computing, security and application design.</a:t>
            </a:r>
            <a:endParaRPr sz="1800">
              <a:latin typeface="Times New Roman" panose="02020603050405020304" charset="0"/>
              <a:cs typeface="Times New Roman" panose="02020603050405020304" charset="0"/>
              <a:sym typeface="+mn-ea"/>
            </a:endParaRPr>
          </a:p>
        </p:txBody>
      </p:sp>
      <p:sp>
        <p:nvSpPr>
          <p:cNvPr id="24" name="TextBox 23"/>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25" name="TextBox 24"/>
          <p:cNvSpPr txBox="1"/>
          <p:nvPr/>
        </p:nvSpPr>
        <p:spPr>
          <a:xfrm>
            <a:off x="6400800" y="6492240"/>
            <a:ext cx="4983480" cy="182880"/>
          </a:xfrm>
          <a:prstGeom prst="rect">
            <a:avLst/>
          </a:prstGeom>
          <a:noFill/>
        </p:spPr>
        <p:txBody>
          <a:bodyPr wrap="square" lIns="18288" tIns="18288" rIns="18288" bIns="18288" anchor="ctr">
            <a:spAutoFit/>
          </a:bodyPr>
          <a:lstStyle/>
          <a:p>
            <a:pPr algn="r">
              <a:spcAft>
                <a:spcPts val="400"/>
              </a:spcAft>
              <a:defRPr sz="800" b="0" i="0">
                <a:solidFill>
                  <a:srgbClr val="586D8B"/>
                </a:solidFill>
                <a:latin typeface="Aptos"/>
              </a:defRPr>
            </a:pPr>
            <a:r>
              <a:rPr>
                <a:latin typeface="Segoe UI" panose="020B0502040204020203" charset="0"/>
              </a:rPr>
              <a:t>[2], [3], [7], [8]</a:t>
            </a:r>
            <a:endParaRPr>
              <a:latin typeface="Segoe UI" panose="020B0502040204020203" charset="0"/>
            </a:endParaRPr>
          </a:p>
        </p:txBody>
      </p:sp>
      <p:sp>
        <p:nvSpPr>
          <p:cNvPr id="26" name="TextBox 25"/>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11</a:t>
            </a:r>
            <a:endParaRPr>
              <a:latin typeface="Segoe UI" panose="020B0502040204020203"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10 / CONCLUSION</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The future of 6G must be demonstrated</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A compelling vision is one supported by useful applications and realistic evidence.</a:t>
            </a:r>
            <a:endParaRPr sz="1800">
              <a:latin typeface="Times New Roman" panose="02020603050405020304" charset="0"/>
              <a:cs typeface="Times New Roman" panose="02020603050405020304" charset="0"/>
              <a:sym typeface="+mn-ea"/>
            </a:endParaRPr>
          </a:p>
        </p:txBody>
      </p:sp>
      <p:sp>
        <p:nvSpPr>
          <p:cNvPr id="5" name="TextBox 4"/>
          <p:cNvSpPr txBox="1"/>
          <p:nvPr/>
        </p:nvSpPr>
        <p:spPr>
          <a:xfrm>
            <a:off x="676910" y="2186305"/>
            <a:ext cx="4754880" cy="512445"/>
          </a:xfrm>
          <a:prstGeom prst="rect">
            <a:avLst/>
          </a:prstGeom>
          <a:noFill/>
        </p:spPr>
        <p:txBody>
          <a:bodyPr wrap="square" lIns="18288" tIns="18288" rIns="18288" bIns="18288" anchor="t">
            <a:spAutoFit/>
          </a:bodyPr>
          <a:lstStyle/>
          <a:p>
            <a:pPr algn="l">
              <a:spcAft>
                <a:spcPts val="400"/>
              </a:spcAft>
              <a:defRPr sz="3100" b="1" i="0">
                <a:solidFill>
                  <a:srgbClr val="071636"/>
                </a:solidFill>
                <a:latin typeface="Aptos Display"/>
              </a:defRPr>
            </a:pPr>
            <a:r>
              <a:rPr>
                <a:latin typeface="Times New Roman" panose="02020603050405020304" charset="0"/>
                <a:cs typeface="Times New Roman" panose="02020603050405020304" charset="0"/>
              </a:rPr>
              <a:t>Faster is not enough.</a:t>
            </a:r>
            <a:endParaRPr>
              <a:latin typeface="Times New Roman" panose="02020603050405020304" charset="0"/>
              <a:cs typeface="Times New Roman" panose="02020603050405020304" charset="0"/>
            </a:endParaRPr>
          </a:p>
        </p:txBody>
      </p:sp>
      <p:sp>
        <p:nvSpPr>
          <p:cNvPr id="6" name="TextBox 5"/>
          <p:cNvSpPr txBox="1"/>
          <p:nvPr/>
        </p:nvSpPr>
        <p:spPr>
          <a:xfrm>
            <a:off x="676783" y="3114675"/>
            <a:ext cx="4800600" cy="774065"/>
          </a:xfrm>
          <a:prstGeom prst="rect">
            <a:avLst/>
          </a:prstGeom>
          <a:noFill/>
        </p:spPr>
        <p:txBody>
          <a:bodyPr wrap="square" lIns="18288" tIns="18288" rIns="18288" bIns="18288" anchor="t">
            <a:spAutoFit/>
          </a:bodyPr>
          <a:lstStyle/>
          <a:p>
            <a:pPr algn="l">
              <a:spcAft>
                <a:spcPts val="400"/>
              </a:spcAft>
              <a:defRPr sz="2000" b="1" i="0">
                <a:solidFill>
                  <a:srgbClr val="142745"/>
                </a:solidFill>
                <a:latin typeface="Aptos"/>
              </a:defRPr>
            </a:pPr>
            <a:r>
              <a:rPr sz="2400">
                <a:latin typeface="Times New Roman" panose="02020603050405020304" charset="0"/>
                <a:cs typeface="Times New Roman" panose="02020603050405020304" charset="0"/>
              </a:rPr>
              <a:t>More intelligent is not automatically secure or sustainable.</a:t>
            </a:r>
            <a:endParaRPr sz="2400">
              <a:latin typeface="Times New Roman" panose="02020603050405020304" charset="0"/>
              <a:cs typeface="Times New Roman" panose="02020603050405020304" charset="0"/>
            </a:endParaRPr>
          </a:p>
        </p:txBody>
      </p:sp>
      <p:grpSp>
        <p:nvGrpSpPr>
          <p:cNvPr id="22" name="组合 21"/>
          <p:cNvGrpSpPr/>
          <p:nvPr>
            <p:custDataLst>
              <p:tags r:id="rId1"/>
            </p:custDataLst>
          </p:nvPr>
        </p:nvGrpSpPr>
        <p:grpSpPr>
          <a:xfrm>
            <a:off x="5897880" y="1874519"/>
            <a:ext cx="5641975" cy="4052271"/>
            <a:chOff x="10080" y="2952"/>
            <a:chExt cx="7560" cy="4838"/>
          </a:xfrm>
        </p:grpSpPr>
        <p:sp>
          <p:nvSpPr>
            <p:cNvPr id="7" name="Rounded Rectangle 6"/>
            <p:cNvSpPr/>
            <p:nvPr>
              <p:custDataLst>
                <p:tags r:id="rId2"/>
              </p:custDataLst>
            </p:nvPr>
          </p:nvSpPr>
          <p:spPr>
            <a:xfrm>
              <a:off x="10080" y="2952"/>
              <a:ext cx="7560" cy="1325"/>
            </a:xfrm>
            <a:prstGeom prst="roundRect">
              <a:avLst/>
            </a:prstGeom>
            <a:solidFill>
              <a:srgbClr val="E7F2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custDataLst>
                <p:tags r:id="rId3"/>
              </p:custDataLst>
            </p:nvPr>
          </p:nvSpPr>
          <p:spPr>
            <a:xfrm>
              <a:off x="10512" y="3341"/>
              <a:ext cx="490" cy="490"/>
            </a:xfrm>
            <a:prstGeom prst="ellipse">
              <a:avLst/>
            </a:prstGeom>
            <a:solidFill>
              <a:srgbClr val="00C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custDataLst>
                <p:tags r:id="rId4"/>
              </p:custDataLst>
            </p:nvPr>
          </p:nvSpPr>
          <p:spPr>
            <a:xfrm>
              <a:off x="11304" y="3197"/>
              <a:ext cx="5472" cy="336"/>
            </a:xfrm>
            <a:prstGeom prst="rect">
              <a:avLst/>
            </a:prstGeom>
            <a:noFill/>
          </p:spPr>
          <p:txBody>
            <a:bodyPr wrap="square" lIns="18288" tIns="18288" rIns="18288" bIns="18288" anchor="t">
              <a:spAutoFit/>
            </a:bodyPr>
            <a:lstStyle/>
            <a:p>
              <a:pPr algn="l">
                <a:spcAft>
                  <a:spcPts val="400"/>
                </a:spcAft>
                <a:defRPr sz="1100" b="1" i="0">
                  <a:solidFill>
                    <a:srgbClr val="00C3FF"/>
                  </a:solidFill>
                  <a:latin typeface="Aptos"/>
                </a:defRPr>
              </a:pPr>
              <a:r>
                <a:rPr sz="1600">
                  <a:latin typeface="Times New Roman" panose="02020603050405020304" charset="0"/>
                  <a:cs typeface="Times New Roman" panose="02020603050405020304" charset="0"/>
                </a:rPr>
                <a:t>BETTER EXPERIENCE</a:t>
              </a:r>
              <a:endParaRPr sz="1600">
                <a:latin typeface="Times New Roman" panose="02020603050405020304" charset="0"/>
                <a:cs typeface="Times New Roman" panose="02020603050405020304" charset="0"/>
              </a:endParaRPr>
            </a:p>
          </p:txBody>
        </p:sp>
        <p:sp>
          <p:nvSpPr>
            <p:cNvPr id="10" name="TextBox 9"/>
            <p:cNvSpPr txBox="1"/>
            <p:nvPr>
              <p:custDataLst>
                <p:tags r:id="rId5"/>
              </p:custDataLst>
            </p:nvPr>
          </p:nvSpPr>
          <p:spPr>
            <a:xfrm>
              <a:off x="11304" y="3600"/>
              <a:ext cx="5760" cy="336"/>
            </a:xfrm>
            <a:prstGeom prst="rect">
              <a:avLst/>
            </a:prstGeom>
            <a:noFill/>
          </p:spPr>
          <p:txBody>
            <a:bodyPr wrap="square" lIns="18288" tIns="18288" rIns="18288" bIns="18288" anchor="t">
              <a:spAutoFit/>
            </a:bodyPr>
            <a:lstStyle/>
            <a:p>
              <a:pPr algn="l">
                <a:spcAft>
                  <a:spcPts val="400"/>
                </a:spcAft>
                <a:defRPr sz="1000" b="0" i="0">
                  <a:solidFill>
                    <a:srgbClr val="142745"/>
                  </a:solidFill>
                  <a:latin typeface="Aptos"/>
                </a:defRPr>
              </a:pPr>
              <a:r>
                <a:rPr sz="1600">
                  <a:latin typeface="Times New Roman" panose="02020603050405020304" charset="0"/>
                  <a:cs typeface="Times New Roman" panose="02020603050405020304" charset="0"/>
                </a:rPr>
                <a:t>Useful applications and human-centered metrics</a:t>
              </a:r>
              <a:endParaRPr sz="1600">
                <a:latin typeface="Times New Roman" panose="02020603050405020304" charset="0"/>
                <a:cs typeface="Times New Roman" panose="02020603050405020304" charset="0"/>
              </a:endParaRPr>
            </a:p>
          </p:txBody>
        </p:sp>
        <p:sp>
          <p:nvSpPr>
            <p:cNvPr id="11" name="Rounded Rectangle 10"/>
            <p:cNvSpPr/>
            <p:nvPr>
              <p:custDataLst>
                <p:tags r:id="rId6"/>
              </p:custDataLst>
            </p:nvPr>
          </p:nvSpPr>
          <p:spPr>
            <a:xfrm>
              <a:off x="10080" y="4709"/>
              <a:ext cx="7560" cy="1325"/>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custDataLst>
                <p:tags r:id="rId7"/>
              </p:custDataLst>
            </p:nvPr>
          </p:nvSpPr>
          <p:spPr>
            <a:xfrm>
              <a:off x="10512" y="5098"/>
              <a:ext cx="490" cy="490"/>
            </a:xfrm>
            <a:prstGeom prst="ellipse">
              <a:avLst/>
            </a:prstGeom>
            <a:solidFill>
              <a:srgbClr val="5F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custDataLst>
                <p:tags r:id="rId8"/>
              </p:custDataLst>
            </p:nvPr>
          </p:nvSpPr>
          <p:spPr>
            <a:xfrm>
              <a:off x="11304" y="4954"/>
              <a:ext cx="5472" cy="336"/>
            </a:xfrm>
            <a:prstGeom prst="rect">
              <a:avLst/>
            </a:prstGeom>
            <a:noFill/>
          </p:spPr>
          <p:txBody>
            <a:bodyPr wrap="square" lIns="18288" tIns="18288" rIns="18288" bIns="18288" anchor="t">
              <a:spAutoFit/>
            </a:bodyPr>
            <a:lstStyle/>
            <a:p>
              <a:pPr algn="l">
                <a:spcAft>
                  <a:spcPts val="400"/>
                </a:spcAft>
                <a:defRPr sz="1100" b="1" i="0">
                  <a:solidFill>
                    <a:srgbClr val="5FE7DC"/>
                  </a:solidFill>
                  <a:latin typeface="Aptos"/>
                </a:defRPr>
              </a:pPr>
              <a:r>
                <a:rPr sz="1600">
                  <a:latin typeface="Times New Roman" panose="02020603050405020304" charset="0"/>
                  <a:cs typeface="Times New Roman" panose="02020603050405020304" charset="0"/>
                </a:rPr>
                <a:t>RELIABLE OPERATION</a:t>
              </a:r>
              <a:endParaRPr sz="1600">
                <a:latin typeface="Times New Roman" panose="02020603050405020304" charset="0"/>
                <a:cs typeface="Times New Roman" panose="02020603050405020304" charset="0"/>
              </a:endParaRPr>
            </a:p>
          </p:txBody>
        </p:sp>
        <p:sp>
          <p:nvSpPr>
            <p:cNvPr id="14" name="TextBox 13"/>
            <p:cNvSpPr txBox="1"/>
            <p:nvPr>
              <p:custDataLst>
                <p:tags r:id="rId9"/>
              </p:custDataLst>
            </p:nvPr>
          </p:nvSpPr>
          <p:spPr>
            <a:xfrm>
              <a:off x="11304" y="5357"/>
              <a:ext cx="5760" cy="336"/>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142745"/>
                  </a:solidFill>
                  <a:latin typeface="Aptos"/>
                </a:defRPr>
              </a:pPr>
              <a:r>
                <a:rPr sz="1600">
                  <a:latin typeface="Times New Roman" panose="02020603050405020304" charset="0"/>
                  <a:cs typeface="Times New Roman" panose="02020603050405020304" charset="0"/>
                  <a:sym typeface="+mn-ea"/>
                </a:rPr>
                <a:t>Evidence under realistic conditions</a:t>
              </a:r>
              <a:endParaRPr sz="1600">
                <a:latin typeface="Times New Roman" panose="02020603050405020304" charset="0"/>
                <a:cs typeface="Times New Roman" panose="02020603050405020304" charset="0"/>
                <a:sym typeface="+mn-ea"/>
              </a:endParaRPr>
            </a:p>
          </p:txBody>
        </p:sp>
        <p:sp>
          <p:nvSpPr>
            <p:cNvPr id="15" name="Rounded Rectangle 14"/>
            <p:cNvSpPr/>
            <p:nvPr>
              <p:custDataLst>
                <p:tags r:id="rId10"/>
              </p:custDataLst>
            </p:nvPr>
          </p:nvSpPr>
          <p:spPr>
            <a:xfrm>
              <a:off x="10080" y="6466"/>
              <a:ext cx="7560" cy="1325"/>
            </a:xfrm>
            <a:prstGeom prst="roundRect">
              <a:avLst/>
            </a:prstGeom>
            <a:solidFill>
              <a:srgbClr val="E7F2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custDataLst>
                <p:tags r:id="rId11"/>
              </p:custDataLst>
            </p:nvPr>
          </p:nvSpPr>
          <p:spPr>
            <a:xfrm>
              <a:off x="10512" y="6854"/>
              <a:ext cx="490" cy="490"/>
            </a:xfrm>
            <a:prstGeom prst="ellipse">
              <a:avLst/>
            </a:prstGeom>
            <a:solidFill>
              <a:srgbClr val="185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12"/>
              </p:custDataLst>
            </p:nvPr>
          </p:nvSpPr>
          <p:spPr>
            <a:xfrm>
              <a:off x="11304" y="6710"/>
              <a:ext cx="5472" cy="336"/>
            </a:xfrm>
            <a:prstGeom prst="rect">
              <a:avLst/>
            </a:prstGeom>
            <a:noFill/>
          </p:spPr>
          <p:txBody>
            <a:bodyPr wrap="square" lIns="18288" tIns="18288" rIns="18288" bIns="18288" anchor="t">
              <a:spAutoFit/>
            </a:bodyPr>
            <a:lstStyle/>
            <a:p>
              <a:pPr algn="l">
                <a:spcAft>
                  <a:spcPts val="400"/>
                </a:spcAft>
                <a:defRPr sz="1100" b="1" i="0">
                  <a:solidFill>
                    <a:srgbClr val="185EDC"/>
                  </a:solidFill>
                  <a:latin typeface="Aptos"/>
                </a:defRPr>
              </a:pPr>
              <a:r>
                <a:rPr sz="1600">
                  <a:latin typeface="Times New Roman" panose="02020603050405020304" charset="0"/>
                  <a:cs typeface="Times New Roman" panose="02020603050405020304" charset="0"/>
                </a:rPr>
                <a:t>RESPONSIBLE RESOURCES</a:t>
              </a:r>
              <a:endParaRPr sz="1600">
                <a:latin typeface="Times New Roman" panose="02020603050405020304" charset="0"/>
                <a:cs typeface="Times New Roman" panose="02020603050405020304" charset="0"/>
              </a:endParaRPr>
            </a:p>
          </p:txBody>
        </p:sp>
        <p:sp>
          <p:nvSpPr>
            <p:cNvPr id="18" name="TextBox 17"/>
            <p:cNvSpPr txBox="1"/>
            <p:nvPr>
              <p:custDataLst>
                <p:tags r:id="rId13"/>
              </p:custDataLst>
            </p:nvPr>
          </p:nvSpPr>
          <p:spPr>
            <a:xfrm>
              <a:off x="11304" y="7114"/>
              <a:ext cx="5760" cy="336"/>
            </a:xfrm>
            <a:prstGeom prst="rect">
              <a:avLst/>
            </a:prstGeom>
            <a:noFill/>
          </p:spPr>
          <p:txBody>
            <a:bodyPr wrap="square" lIns="18288" tIns="18288" rIns="18288" bIns="18288" anchor="t">
              <a:spAutoFit/>
            </a:bodyPr>
            <a:lstStyle/>
            <a:p>
              <a:pPr lvl="0" algn="l">
                <a:spcAft>
                  <a:spcPts val="400"/>
                </a:spcAft>
                <a:buClrTx/>
                <a:buSzTx/>
                <a:buFontTx/>
                <a:defRPr sz="1000" b="0" i="0">
                  <a:solidFill>
                    <a:srgbClr val="142745"/>
                  </a:solidFill>
                  <a:latin typeface="Aptos"/>
                </a:defRPr>
              </a:pPr>
              <a:r>
                <a:rPr sz="1600">
                  <a:latin typeface="Times New Roman" panose="02020603050405020304" charset="0"/>
                  <a:cs typeface="Times New Roman" panose="02020603050405020304" charset="0"/>
                  <a:sym typeface="+mn-ea"/>
                </a:rPr>
                <a:t>Security, energy and deployment trade-offs</a:t>
              </a:r>
              <a:endParaRPr sz="1600">
                <a:latin typeface="Times New Roman" panose="02020603050405020304" charset="0"/>
                <a:cs typeface="Times New Roman" panose="02020603050405020304" charset="0"/>
                <a:sym typeface="+mn-ea"/>
              </a:endParaRPr>
            </a:p>
          </p:txBody>
        </p:sp>
      </p:grpSp>
      <p:sp>
        <p:nvSpPr>
          <p:cNvPr id="20" name="TextBox 19"/>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21" name="TextBox 20"/>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12</a:t>
            </a:r>
            <a:endParaRPr>
              <a:latin typeface="Segoe UI" panose="020B0502040204020203"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REFERENCES</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Selected sources</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Sources cited in the presentation — original titles retained for traceability.</a:t>
            </a:r>
            <a:endParaRPr sz="1800">
              <a:latin typeface="Times New Roman" panose="02020603050405020304" charset="0"/>
              <a:cs typeface="Times New Roman" panose="02020603050405020304" charset="0"/>
              <a:sym typeface="+mn-ea"/>
            </a:endParaRPr>
          </a:p>
        </p:txBody>
      </p:sp>
      <p:sp>
        <p:nvSpPr>
          <p:cNvPr id="5" name="Rounded Rectangle 4"/>
          <p:cNvSpPr/>
          <p:nvPr/>
        </p:nvSpPr>
        <p:spPr>
          <a:xfrm>
            <a:off x="749808" y="1901952"/>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048256"/>
            <a:ext cx="10104120" cy="404495"/>
          </a:xfrm>
          <a:prstGeom prst="rect">
            <a:avLst/>
          </a:prstGeom>
          <a:noFill/>
        </p:spPr>
        <p:txBody>
          <a:bodyPr wrap="square" lIns="18288" tIns="18288" rIns="18288" bIns="18288" anchor="t">
            <a:spAutoFit/>
          </a:bodyPr>
          <a:lstStyle/>
          <a:p>
            <a:pPr lvl="0" algn="l">
              <a:spcAft>
                <a:spcPts val="400"/>
              </a:spcAft>
              <a:buClrTx/>
              <a:buSzTx/>
              <a:buFontTx/>
              <a:defRPr sz="1050" b="0" i="0">
                <a:solidFill>
                  <a:srgbClr val="142745"/>
                </a:solidFill>
                <a:latin typeface="Aptos"/>
              </a:defRPr>
            </a:pPr>
            <a:r>
              <a:rPr sz="1200">
                <a:latin typeface="Times New Roman" panose="02020603050405020304" charset="0"/>
                <a:cs typeface="Times New Roman" panose="02020603050405020304" charset="0"/>
                <a:sym typeface="+mn-ea"/>
              </a:rPr>
              <a:t>[1] International Telecommunication Union. “Framework and overall objectives of the future development of IMT for 2030 and beyond.” Recommendation ITU-R M.2160-0, Nov. 2023. itu.int/rec/R-REC-M.2160-0-202311-I/en</a:t>
            </a:r>
            <a:endParaRPr sz="1200">
              <a:latin typeface="Times New Roman" panose="02020603050405020304" charset="0"/>
              <a:cs typeface="Times New Roman" panose="02020603050405020304" charset="0"/>
              <a:sym typeface="+mn-ea"/>
            </a:endParaRPr>
          </a:p>
        </p:txBody>
      </p:sp>
      <p:sp>
        <p:nvSpPr>
          <p:cNvPr id="7" name="Rounded Rectangle 6"/>
          <p:cNvSpPr/>
          <p:nvPr/>
        </p:nvSpPr>
        <p:spPr>
          <a:xfrm>
            <a:off x="749808" y="2889504"/>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035808"/>
            <a:ext cx="10104120" cy="404495"/>
          </a:xfrm>
          <a:prstGeom prst="rect">
            <a:avLst/>
          </a:prstGeom>
          <a:noFill/>
        </p:spPr>
        <p:txBody>
          <a:bodyPr wrap="square" lIns="18288" tIns="18288" rIns="18288" bIns="18288" anchor="t">
            <a:spAutoFit/>
          </a:bodyPr>
          <a:lstStyle/>
          <a:p>
            <a:pPr lvl="0" algn="l">
              <a:spcAft>
                <a:spcPts val="400"/>
              </a:spcAft>
              <a:buClrTx/>
              <a:buSzTx/>
              <a:buFontTx/>
              <a:defRPr sz="1050" b="0" i="0">
                <a:solidFill>
                  <a:srgbClr val="142745"/>
                </a:solidFill>
                <a:latin typeface="Aptos"/>
              </a:defRPr>
            </a:pPr>
            <a:r>
              <a:rPr sz="1200">
                <a:latin typeface="Times New Roman" panose="02020603050405020304" charset="0"/>
                <a:cs typeface="Times New Roman" panose="02020603050405020304" charset="0"/>
                <a:sym typeface="+mn-ea"/>
              </a:rPr>
              <a:t>[2] S. Latreche and H. Bellahsene. “A comprehensive survey on 6G: Enabling technologies, key applications, and future challenges.” Franklin Open, vol. 15, Art. 100559, 2026. doi:10.1016/j.fraope.2026.100559</a:t>
            </a:r>
            <a:endParaRPr sz="1200">
              <a:latin typeface="Times New Roman" panose="02020603050405020304" charset="0"/>
              <a:cs typeface="Times New Roman" panose="02020603050405020304" charset="0"/>
              <a:sym typeface="+mn-ea"/>
            </a:endParaRPr>
          </a:p>
        </p:txBody>
      </p:sp>
      <p:sp>
        <p:nvSpPr>
          <p:cNvPr id="9" name="Rounded Rectangle 8"/>
          <p:cNvSpPr/>
          <p:nvPr/>
        </p:nvSpPr>
        <p:spPr>
          <a:xfrm>
            <a:off x="749808" y="3877056"/>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4023360"/>
            <a:ext cx="10104120" cy="219710"/>
          </a:xfrm>
          <a:prstGeom prst="rect">
            <a:avLst/>
          </a:prstGeom>
          <a:noFill/>
        </p:spPr>
        <p:txBody>
          <a:bodyPr wrap="square" lIns="18288" tIns="18288" rIns="18288" bIns="18288" anchor="t">
            <a:spAutoFit/>
          </a:bodyPr>
          <a:lstStyle/>
          <a:p>
            <a:pPr lvl="0" algn="l">
              <a:spcAft>
                <a:spcPts val="400"/>
              </a:spcAft>
              <a:buClrTx/>
              <a:buSzTx/>
              <a:buFontTx/>
              <a:defRPr sz="1050" b="0" i="0">
                <a:solidFill>
                  <a:srgbClr val="142745"/>
                </a:solidFill>
                <a:latin typeface="Aptos"/>
              </a:defRPr>
            </a:pPr>
            <a:r>
              <a:rPr sz="1200">
                <a:latin typeface="Times New Roman" panose="02020603050405020304" charset="0"/>
                <a:cs typeface="Times New Roman" panose="02020603050405020304" charset="0"/>
                <a:sym typeface="+mn-ea"/>
              </a:rPr>
              <a:t>[3] K. B. Letaief et al. “The roadmap to 6G – AI empowered wireless networks.” arXiv:1904.11686v2, 2019. arxiv.org/abs/1904.11686v2</a:t>
            </a:r>
            <a:endParaRPr sz="1200">
              <a:latin typeface="Times New Roman" panose="02020603050405020304" charset="0"/>
              <a:cs typeface="Times New Roman" panose="02020603050405020304" charset="0"/>
              <a:sym typeface="+mn-ea"/>
            </a:endParaRPr>
          </a:p>
        </p:txBody>
      </p:sp>
      <p:sp>
        <p:nvSpPr>
          <p:cNvPr id="11" name="Rounded Rectangle 10"/>
          <p:cNvSpPr/>
          <p:nvPr/>
        </p:nvSpPr>
        <p:spPr>
          <a:xfrm>
            <a:off x="749808" y="4864608"/>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5010912"/>
            <a:ext cx="10104120" cy="404495"/>
          </a:xfrm>
          <a:prstGeom prst="rect">
            <a:avLst/>
          </a:prstGeom>
          <a:noFill/>
        </p:spPr>
        <p:txBody>
          <a:bodyPr wrap="square" lIns="18288" tIns="18288" rIns="18288" bIns="18288" anchor="t">
            <a:spAutoFit/>
          </a:bodyPr>
          <a:lstStyle/>
          <a:p>
            <a:pPr lvl="0" algn="l">
              <a:spcAft>
                <a:spcPts val="400"/>
              </a:spcAft>
              <a:buClrTx/>
              <a:buSzTx/>
              <a:buFontTx/>
              <a:defRPr sz="1050" b="0" i="0">
                <a:solidFill>
                  <a:srgbClr val="142745"/>
                </a:solidFill>
                <a:latin typeface="Aptos"/>
              </a:defRPr>
            </a:pPr>
            <a:r>
              <a:rPr sz="1200">
                <a:latin typeface="Times New Roman" panose="02020603050405020304" charset="0"/>
                <a:cs typeface="Times New Roman" panose="02020603050405020304" charset="0"/>
                <a:sym typeface="+mn-ea"/>
              </a:rPr>
              <a:t>[4] F. Liu et al. “Integrated sensing and communications: Towards dual-functional wireless networks for 6G and beyond.” arXiv:2108.07165v1, 2021. arxiv.org/abs/2108.07165v1</a:t>
            </a:r>
            <a:endParaRPr sz="1200">
              <a:latin typeface="Times New Roman" panose="02020603050405020304" charset="0"/>
              <a:cs typeface="Times New Roman" panose="02020603050405020304" charset="0"/>
              <a:sym typeface="+mn-ea"/>
            </a:endParaRPr>
          </a:p>
        </p:txBody>
      </p:sp>
      <p:sp>
        <p:nvSpPr>
          <p:cNvPr id="13" name="TextBox 12"/>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14" name="TextBox 13"/>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13</a:t>
            </a:r>
            <a:endParaRPr>
              <a:latin typeface="Segoe UI" panose="020B0502040204020203" charset="0"/>
            </a:endParaRPr>
          </a:p>
        </p:txBody>
      </p:sp>
      <p:sp>
        <p:nvSpPr>
          <p:cNvPr id="19" name="TextBox 18"/>
          <p:cNvSpPr txBox="1"/>
          <p:nvPr/>
        </p:nvSpPr>
        <p:spPr>
          <a:xfrm>
            <a:off x="4575683" y="162560"/>
            <a:ext cx="4389120" cy="404495"/>
          </a:xfrm>
          <a:prstGeom prst="rect">
            <a:avLst/>
          </a:prstGeom>
          <a:noFill/>
        </p:spPr>
        <p:txBody>
          <a:bodyPr wrap="square" lIns="18288" tIns="18288" rIns="18288" bIns="18288" anchor="t">
            <a:spAutoFit/>
          </a:bodyPr>
          <a:lstStyle/>
          <a:p>
            <a:pPr algn="l">
              <a:spcAft>
                <a:spcPts val="400"/>
              </a:spcAft>
              <a:defRPr sz="1900" b="1" i="0">
                <a:solidFill>
                  <a:srgbClr val="185EDC"/>
                </a:solidFill>
                <a:latin typeface="Aptos"/>
              </a:defRPr>
            </a:pPr>
            <a:r>
              <a:rPr sz="2400">
                <a:latin typeface="Segoe UI" panose="020B0502040204020203" charset="0"/>
              </a:rPr>
              <a:t>Thank you for listening.</a:t>
            </a:r>
            <a:endParaRPr sz="2400">
              <a:latin typeface="Segoe UI" panose="020B0502040204020203"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REFERENCES</a:t>
            </a:r>
            <a:endParaRPr>
              <a:latin typeface="Segoe UI" panose="020B0502040204020203" charset="0"/>
            </a:endParaRPr>
          </a:p>
        </p:txBody>
      </p:sp>
      <p:sp>
        <p:nvSpPr>
          <p:cNvPr id="3" name="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Further reading</a:t>
            </a:r>
            <a:endParaRPr>
              <a:latin typeface="Segoe UI Variable Display" charset="0"/>
            </a:endParaRPr>
          </a:p>
        </p:txBody>
      </p:sp>
      <p:sp>
        <p:nvSpPr>
          <p:cNvPr id="4" name="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Full source details are provided in the original English script.</a:t>
            </a:r>
            <a:endParaRPr sz="1800">
              <a:latin typeface="Times New Roman" panose="02020603050405020304" charset="0"/>
              <a:cs typeface="Times New Roman" panose="02020603050405020304" charset="0"/>
              <a:sym typeface="+mn-ea"/>
            </a:endParaRPr>
          </a:p>
        </p:txBody>
      </p:sp>
      <p:sp>
        <p:nvSpPr>
          <p:cNvPr id="5" name="Rounded Rectangle 4"/>
          <p:cNvSpPr/>
          <p:nvPr/>
        </p:nvSpPr>
        <p:spPr>
          <a:xfrm>
            <a:off x="749808" y="1901952"/>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048256"/>
            <a:ext cx="10104120" cy="404495"/>
          </a:xfrm>
          <a:prstGeom prst="rect">
            <a:avLst/>
          </a:prstGeom>
          <a:noFill/>
        </p:spPr>
        <p:txBody>
          <a:bodyPr wrap="square" lIns="18288" tIns="18288" rIns="18288" bIns="18288" anchor="t">
            <a:spAutoFit/>
          </a:bodyPr>
          <a:lstStyle/>
          <a:p>
            <a:pPr algn="l">
              <a:spcAft>
                <a:spcPts val="400"/>
              </a:spcAft>
              <a:defRPr sz="1050" b="0" i="0">
                <a:solidFill>
                  <a:srgbClr val="142745"/>
                </a:solidFill>
                <a:latin typeface="Aptos"/>
              </a:defRPr>
            </a:pPr>
            <a:r>
              <a:rPr sz="1200">
                <a:latin typeface="Times New Roman" panose="02020603050405020304" charset="0"/>
                <a:cs typeface="Times New Roman" panose="02020603050405020304" charset="0"/>
              </a:rPr>
              <a:t>[5] W. Saad, M. Bennis and M. Chen. “A vision of 6G wireless systems: Applications, trends, technologies, and open research problems.” arXiv:1902.10265v1, 2019. arxiv.org/abs/1902.10265v1</a:t>
            </a:r>
            <a:endParaRPr sz="1200">
              <a:latin typeface="Times New Roman" panose="02020603050405020304" charset="0"/>
              <a:cs typeface="Times New Roman" panose="02020603050405020304" charset="0"/>
            </a:endParaRPr>
          </a:p>
        </p:txBody>
      </p:sp>
      <p:sp>
        <p:nvSpPr>
          <p:cNvPr id="7" name="Rounded Rectangle 6"/>
          <p:cNvSpPr/>
          <p:nvPr/>
        </p:nvSpPr>
        <p:spPr>
          <a:xfrm>
            <a:off x="749808" y="2889504"/>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035808"/>
            <a:ext cx="10104120" cy="404495"/>
          </a:xfrm>
          <a:prstGeom prst="rect">
            <a:avLst/>
          </a:prstGeom>
          <a:noFill/>
        </p:spPr>
        <p:txBody>
          <a:bodyPr wrap="square" lIns="18288" tIns="18288" rIns="18288" bIns="18288" anchor="t">
            <a:spAutoFit/>
          </a:bodyPr>
          <a:lstStyle/>
          <a:p>
            <a:pPr lvl="0" algn="l">
              <a:spcAft>
                <a:spcPts val="400"/>
              </a:spcAft>
              <a:buClrTx/>
              <a:buSzTx/>
              <a:buFontTx/>
              <a:defRPr sz="1050" b="0" i="0">
                <a:solidFill>
                  <a:srgbClr val="142745"/>
                </a:solidFill>
                <a:latin typeface="Aptos"/>
              </a:defRPr>
            </a:pPr>
            <a:r>
              <a:rPr sz="1200">
                <a:latin typeface="Times New Roman" panose="02020603050405020304" charset="0"/>
                <a:cs typeface="Times New Roman" panose="02020603050405020304" charset="0"/>
                <a:sym typeface="+mn-ea"/>
              </a:rPr>
              <a:t>[6] A. Rashid et al. “Review on 6G communication network technology for sustainable renewable energy system: Implementations, constraints, and recommendations.” Results in Engineering, vol. 28, Art. 107933, 2025. doi:10.1016/j.rineng.2025.107933</a:t>
            </a:r>
            <a:endParaRPr sz="1200">
              <a:latin typeface="Times New Roman" panose="02020603050405020304" charset="0"/>
              <a:cs typeface="Times New Roman" panose="02020603050405020304" charset="0"/>
              <a:sym typeface="+mn-ea"/>
            </a:endParaRPr>
          </a:p>
        </p:txBody>
      </p:sp>
      <p:sp>
        <p:nvSpPr>
          <p:cNvPr id="9" name="Rounded Rectangle 8"/>
          <p:cNvSpPr/>
          <p:nvPr/>
        </p:nvSpPr>
        <p:spPr>
          <a:xfrm>
            <a:off x="749808" y="3877056"/>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4023360"/>
            <a:ext cx="10104120" cy="219710"/>
          </a:xfrm>
          <a:prstGeom prst="rect">
            <a:avLst/>
          </a:prstGeom>
          <a:noFill/>
        </p:spPr>
        <p:txBody>
          <a:bodyPr wrap="square" lIns="18288" tIns="18288" rIns="18288" bIns="18288" anchor="t">
            <a:spAutoFit/>
          </a:bodyPr>
          <a:lstStyle/>
          <a:p>
            <a:pPr lvl="0" algn="l">
              <a:spcAft>
                <a:spcPts val="400"/>
              </a:spcAft>
              <a:buClrTx/>
              <a:buSzTx/>
              <a:buFontTx/>
              <a:defRPr sz="1050" b="0" i="0">
                <a:solidFill>
                  <a:srgbClr val="142745"/>
                </a:solidFill>
                <a:latin typeface="Aptos"/>
              </a:defRPr>
            </a:pPr>
            <a:r>
              <a:rPr sz="1200">
                <a:latin typeface="Times New Roman" panose="02020603050405020304" charset="0"/>
                <a:cs typeface="Times New Roman" panose="02020603050405020304" charset="0"/>
                <a:sym typeface="+mn-ea"/>
              </a:rPr>
              <a:t>[7] V.-L. Nguyen et al. “Security and privacy for 6G: A survey on prospective technologies and challenges.” arXiv:2108.11861v2, 2021. arxiv.org/abs/2108.11861v2</a:t>
            </a:r>
            <a:endParaRPr sz="1200">
              <a:latin typeface="Times New Roman" panose="02020603050405020304" charset="0"/>
              <a:cs typeface="Times New Roman" panose="02020603050405020304" charset="0"/>
              <a:sym typeface="+mn-ea"/>
            </a:endParaRPr>
          </a:p>
        </p:txBody>
      </p:sp>
      <p:sp>
        <p:nvSpPr>
          <p:cNvPr id="11" name="Rounded Rectangle 10"/>
          <p:cNvSpPr/>
          <p:nvPr/>
        </p:nvSpPr>
        <p:spPr>
          <a:xfrm>
            <a:off x="749808" y="4864608"/>
            <a:ext cx="10652760" cy="786384"/>
          </a:xfrm>
          <a:prstGeom prst="roundRect">
            <a:avLst/>
          </a:prstGeom>
          <a:solidFill>
            <a:srgbClr val="F4F9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5010912"/>
            <a:ext cx="10104120" cy="404495"/>
          </a:xfrm>
          <a:prstGeom prst="rect">
            <a:avLst/>
          </a:prstGeom>
          <a:noFill/>
        </p:spPr>
        <p:txBody>
          <a:bodyPr wrap="square" lIns="18288" tIns="18288" rIns="18288" bIns="18288" anchor="t">
            <a:spAutoFit/>
          </a:bodyPr>
          <a:lstStyle/>
          <a:p>
            <a:pPr lvl="0" algn="l">
              <a:spcAft>
                <a:spcPts val="400"/>
              </a:spcAft>
              <a:buClrTx/>
              <a:buSzTx/>
              <a:buFontTx/>
              <a:defRPr sz="1050" b="0" i="0">
                <a:solidFill>
                  <a:srgbClr val="142745"/>
                </a:solidFill>
                <a:latin typeface="Aptos"/>
              </a:defRPr>
            </a:pPr>
            <a:r>
              <a:rPr sz="1200">
                <a:latin typeface="Times New Roman" panose="02020603050405020304" charset="0"/>
                <a:cs typeface="Times New Roman" panose="02020603050405020304" charset="0"/>
                <a:sym typeface="+mn-ea"/>
              </a:rPr>
              <a:t>[8] I. Ahmad et al. “Sustainability in 6G networks: Vision and directions.” Proc. 2023 IEEE Conference on Standards for Communications and Networking, pp. 202–208. doi:10.1109/CSCN60443.2023.10453200</a:t>
            </a:r>
            <a:endParaRPr sz="1200">
              <a:latin typeface="Times New Roman" panose="02020603050405020304" charset="0"/>
              <a:cs typeface="Times New Roman" panose="02020603050405020304" charset="0"/>
              <a:sym typeface="+mn-ea"/>
            </a:endParaRPr>
          </a:p>
        </p:txBody>
      </p:sp>
      <p:sp>
        <p:nvSpPr>
          <p:cNvPr id="13" name="Rounded Rectangle 12"/>
          <p:cNvSpPr/>
          <p:nvPr/>
        </p:nvSpPr>
        <p:spPr>
          <a:xfrm>
            <a:off x="749808" y="5989320"/>
            <a:ext cx="10652760" cy="310896"/>
          </a:xfrm>
          <a:prstGeom prst="roundRect">
            <a:avLst/>
          </a:prstGeom>
          <a:solidFill>
            <a:srgbClr val="E2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6062472"/>
            <a:ext cx="10195560" cy="128016"/>
          </a:xfrm>
          <a:prstGeom prst="rect">
            <a:avLst/>
          </a:prstGeom>
          <a:noFill/>
        </p:spPr>
        <p:txBody>
          <a:bodyPr wrap="square" lIns="18288" tIns="18288" rIns="18288" bIns="18288" anchor="t">
            <a:spAutoFit/>
          </a:bodyPr>
          <a:lstStyle/>
          <a:p>
            <a:pPr algn="ctr">
              <a:spcAft>
                <a:spcPts val="400"/>
              </a:spcAft>
              <a:defRPr sz="900" b="1" i="0">
                <a:solidFill>
                  <a:srgbClr val="0A2654"/>
                </a:solidFill>
                <a:latin typeface="Aptos"/>
              </a:defRPr>
            </a:pPr>
            <a:r>
              <a:rPr>
                <a:latin typeface="Segoe UI" panose="020B0502040204020203" charset="0"/>
              </a:rPr>
              <a:t>Evidence-led overview • Proposed capabilities are development goals, not guarantees of deployment.</a:t>
            </a:r>
            <a:endParaRPr>
              <a:latin typeface="Segoe UI" panose="020B0502040204020203" charset="0"/>
            </a:endParaRPr>
          </a:p>
        </p:txBody>
      </p:sp>
      <p:sp>
        <p:nvSpPr>
          <p:cNvPr id="15" name="TextBox 14"/>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16" name="TextBox 15"/>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14</a:t>
            </a:r>
            <a:endParaRPr>
              <a:latin typeface="Segoe UI" panose="020B0502040204020203" charset="0"/>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9FF"/>
        </a:solidFill>
        <a:effectLst/>
      </p:bgPr>
    </p:bg>
    <p:spTree>
      <p:nvGrpSpPr>
        <p:cNvPr id="1" name=""/>
        <p:cNvGrpSpPr/>
        <p:nvPr/>
      </p:nvGrpSpPr>
      <p:grpSpPr/>
      <p:sp>
        <p:nvSpPr>
          <p:cNvPr id="2" name="Agenda TextBox 1"/>
          <p:cNvSpPr txBox="1"/>
          <p:nvPr/>
        </p:nvSpPr>
        <p:spPr>
          <a:xfrm>
            <a:off x="658368" y="384048"/>
            <a:ext cx="7772400" cy="228600"/>
          </a:xfrm>
          <a:prstGeom prst="rect">
            <a:avLst/>
          </a:prstGeom>
          <a:noFill/>
        </p:spPr>
        <p:txBody>
          <a:bodyPr wrap="square" lIns="18288" tIns="18288" rIns="18288" bIns="18288" anchor="t">
            <a:spAutoFit/>
          </a:bodyPr>
          <a:lstStyle/>
          <a:p>
            <a:pPr algn="l">
              <a:spcAft>
                <a:spcPts val="400"/>
              </a:spcAft>
              <a:defRPr sz="1000" b="1" i="0">
                <a:solidFill>
                  <a:srgbClr val="185EDC"/>
                </a:solidFill>
                <a:latin typeface="Aptos"/>
              </a:defRPr>
            </a:pPr>
            <a:r>
              <a:rPr>
                <a:latin typeface="Segoe UI" panose="020B0502040204020203" charset="0"/>
              </a:rPr>
              <a:t>CONTENTS / PRESENTATION ROADMAP</a:t>
            </a:r>
            <a:endParaRPr>
              <a:latin typeface="Segoe UI" panose="020B0502040204020203" charset="0"/>
            </a:endParaRPr>
          </a:p>
        </p:txBody>
      </p:sp>
      <p:sp>
        <p:nvSpPr>
          <p:cNvPr id="3" name="Agenda TextBox 2"/>
          <p:cNvSpPr txBox="1"/>
          <p:nvPr/>
        </p:nvSpPr>
        <p:spPr>
          <a:xfrm>
            <a:off x="658368" y="713232"/>
            <a:ext cx="10881360" cy="603504"/>
          </a:xfrm>
          <a:prstGeom prst="rect">
            <a:avLst/>
          </a:prstGeom>
          <a:noFill/>
        </p:spPr>
        <p:txBody>
          <a:bodyPr wrap="square" lIns="18288" tIns="18288" rIns="18288" bIns="18288" anchor="t">
            <a:spAutoFit/>
          </a:bodyPr>
          <a:lstStyle/>
          <a:p>
            <a:pPr algn="l">
              <a:spcAft>
                <a:spcPts val="400"/>
              </a:spcAft>
              <a:defRPr sz="2900" b="1" i="0">
                <a:solidFill>
                  <a:srgbClr val="071636"/>
                </a:solidFill>
                <a:latin typeface="Aptos Display"/>
              </a:defRPr>
            </a:pPr>
            <a:r>
              <a:rPr>
                <a:latin typeface="Segoe UI Variable Display" charset="0"/>
              </a:rPr>
              <a:t>Our route through 6G</a:t>
            </a:r>
            <a:endParaRPr>
              <a:latin typeface="Segoe UI Variable Display" charset="0"/>
            </a:endParaRPr>
          </a:p>
        </p:txBody>
      </p:sp>
      <p:sp>
        <p:nvSpPr>
          <p:cNvPr id="4" name="Agenda TextBox 3"/>
          <p:cNvSpPr txBox="1"/>
          <p:nvPr/>
        </p:nvSpPr>
        <p:spPr>
          <a:xfrm>
            <a:off x="676656" y="1353312"/>
            <a:ext cx="10698480" cy="312420"/>
          </a:xfrm>
          <a:prstGeom prst="rect">
            <a:avLst/>
          </a:prstGeom>
          <a:noFill/>
        </p:spPr>
        <p:txBody>
          <a:bodyPr wrap="square" lIns="18288" tIns="18288" rIns="18288" bIns="18288" anchor="t">
            <a:spAutoFit/>
          </a:bodyPr>
          <a:lstStyle/>
          <a:p>
            <a:pPr lvl="0" algn="l">
              <a:spcAft>
                <a:spcPts val="400"/>
              </a:spcAft>
              <a:buClrTx/>
              <a:buSzTx/>
              <a:buFontTx/>
              <a:defRPr sz="1300" b="0" i="0">
                <a:solidFill>
                  <a:srgbClr val="586D8B"/>
                </a:solidFill>
                <a:latin typeface="Aptos"/>
              </a:defRPr>
            </a:pPr>
            <a:r>
              <a:rPr sz="1800">
                <a:latin typeface="Times New Roman" panose="02020603050405020304" charset="0"/>
                <a:cs typeface="Times New Roman" panose="02020603050405020304" charset="0"/>
                <a:sym typeface="+mn-ea"/>
              </a:rPr>
              <a:t>Six parts: from the 6G vision to applications, challenges and conclusions.</a:t>
            </a:r>
            <a:endParaRPr sz="1800">
              <a:latin typeface="Times New Roman" panose="02020603050405020304" charset="0"/>
              <a:cs typeface="Times New Roman" panose="02020603050405020304" charset="0"/>
              <a:sym typeface="+mn-ea"/>
            </a:endParaRPr>
          </a:p>
        </p:txBody>
      </p:sp>
      <p:sp>
        <p:nvSpPr>
          <p:cNvPr id="5" name="Agenda Rounded Rectangle 4"/>
          <p:cNvSpPr/>
          <p:nvPr/>
        </p:nvSpPr>
        <p:spPr>
          <a:xfrm>
            <a:off x="795528" y="1956816"/>
            <a:ext cx="5166360" cy="1161288"/>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genda Rectangle 5"/>
          <p:cNvSpPr/>
          <p:nvPr/>
        </p:nvSpPr>
        <p:spPr>
          <a:xfrm>
            <a:off x="740664" y="1965960"/>
            <a:ext cx="64008" cy="1143000"/>
          </a:xfrm>
          <a:prstGeom prst="rect">
            <a:avLst/>
          </a:prstGeom>
          <a:solidFill>
            <a:srgbClr val="0D5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2048256"/>
            <a:ext cx="438912" cy="219456"/>
          </a:xfrm>
          <a:prstGeom prst="rect">
            <a:avLst/>
          </a:prstGeom>
          <a:noFill/>
        </p:spPr>
        <p:txBody>
          <a:bodyPr wrap="none" lIns="0" rIns="0" tIns="0" bIns="0" anchor="ctr">
            <a:spAutoFit/>
          </a:bodyPr>
          <a:lstStyle/>
          <a:p>
            <a:pPr algn="l">
              <a:spcBef>
                <a:spcPts val="0"/>
              </a:spcBef>
              <a:spcAft>
                <a:spcPts val="0"/>
              </a:spcAft>
            </a:pPr>
            <a:r>
              <a:rPr sz="1300" b="1">
                <a:solidFill>
                  <a:srgbClr val="0D5CF2"/>
                </a:solidFill>
                <a:latin typeface="Segoe UI"/>
              </a:rPr>
              <a:t>01</a:t>
            </a:r>
          </a:p>
        </p:txBody>
      </p:sp>
      <p:sp>
        <p:nvSpPr>
          <p:cNvPr id="8" name="TextBox 7"/>
          <p:cNvSpPr txBox="1"/>
          <p:nvPr/>
        </p:nvSpPr>
        <p:spPr>
          <a:xfrm>
            <a:off x="4233672" y="2048256"/>
            <a:ext cx="1490472" cy="219456"/>
          </a:xfrm>
          <a:prstGeom prst="rect">
            <a:avLst/>
          </a:prstGeom>
          <a:noFill/>
        </p:spPr>
        <p:txBody>
          <a:bodyPr wrap="none" lIns="0" rIns="0" tIns="0" bIns="0" anchor="ctr">
            <a:spAutoFit/>
          </a:bodyPr>
          <a:lstStyle/>
          <a:p>
            <a:pPr algn="r">
              <a:spcBef>
                <a:spcPts val="0"/>
              </a:spcBef>
              <a:spcAft>
                <a:spcPts val="0"/>
              </a:spcAft>
            </a:pPr>
            <a:r>
              <a:rPr sz="1000" b="1">
                <a:solidFill>
                  <a:srgbClr val="526C91"/>
                </a:solidFill>
                <a:latin typeface="Segoe UI"/>
              </a:rPr>
              <a:t>SLIDE 03</a:t>
            </a:r>
          </a:p>
        </p:txBody>
      </p:sp>
      <p:sp>
        <p:nvSpPr>
          <p:cNvPr id="9" name="TextBox 8"/>
          <p:cNvSpPr txBox="1"/>
          <p:nvPr/>
        </p:nvSpPr>
        <p:spPr>
          <a:xfrm>
            <a:off x="969264" y="2331720"/>
            <a:ext cx="4773168" cy="365760"/>
          </a:xfrm>
          <a:prstGeom prst="rect">
            <a:avLst/>
          </a:prstGeom>
          <a:noFill/>
        </p:spPr>
        <p:txBody>
          <a:bodyPr wrap="none" lIns="0" rIns="0" tIns="0" bIns="0" anchor="ctr">
            <a:spAutoFit/>
          </a:bodyPr>
          <a:lstStyle/>
          <a:p>
            <a:pPr algn="l">
              <a:spcBef>
                <a:spcPts val="0"/>
              </a:spcBef>
              <a:spcAft>
                <a:spcPts val="0"/>
              </a:spcAft>
            </a:pPr>
            <a:r>
              <a:rPr sz="2200" b="1">
                <a:solidFill>
                  <a:srgbClr val="081A3A"/>
                </a:solidFill>
                <a:latin typeface="Times New Roman"/>
              </a:rPr>
              <a:t>Introduction</a:t>
            </a:r>
          </a:p>
        </p:txBody>
      </p:sp>
      <p:sp>
        <p:nvSpPr>
          <p:cNvPr id="10" name="TextBox 9"/>
          <p:cNvSpPr txBox="1"/>
          <p:nvPr/>
        </p:nvSpPr>
        <p:spPr>
          <a:xfrm>
            <a:off x="969264" y="2770632"/>
            <a:ext cx="4773168" cy="228600"/>
          </a:xfrm>
          <a:prstGeom prst="rect">
            <a:avLst/>
          </a:prstGeom>
          <a:noFill/>
        </p:spPr>
        <p:txBody>
          <a:bodyPr wrap="none" lIns="0" rIns="0" tIns="0" bIns="0" anchor="ctr">
            <a:spAutoFit/>
          </a:bodyPr>
          <a:lstStyle/>
          <a:p>
            <a:pPr algn="l">
              <a:spcBef>
                <a:spcPts val="0"/>
              </a:spcBef>
              <a:spcAft>
                <a:spcPts val="0"/>
              </a:spcAft>
            </a:pPr>
            <a:r>
              <a:rPr sz="1550" b="0">
                <a:solidFill>
                  <a:srgbClr val="526C91"/>
                </a:solidFill>
                <a:latin typeface="Times New Roman"/>
              </a:rPr>
              <a:t>Vision and presentation scope</a:t>
            </a:r>
          </a:p>
        </p:txBody>
      </p:sp>
      <p:sp>
        <p:nvSpPr>
          <p:cNvPr id="11" name="Agenda Rounded Rectangle 4"/>
          <p:cNvSpPr/>
          <p:nvPr/>
        </p:nvSpPr>
        <p:spPr>
          <a:xfrm>
            <a:off x="6263640" y="1956816"/>
            <a:ext cx="5166360" cy="1161288"/>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genda Rectangle 5"/>
          <p:cNvSpPr/>
          <p:nvPr/>
        </p:nvSpPr>
        <p:spPr>
          <a:xfrm>
            <a:off x="6208776" y="1965960"/>
            <a:ext cx="64008" cy="1143000"/>
          </a:xfrm>
          <a:prstGeom prst="rect">
            <a:avLst/>
          </a:prstGeom>
          <a:solidFill>
            <a:srgbClr val="0D5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48256"/>
            <a:ext cx="438912" cy="219456"/>
          </a:xfrm>
          <a:prstGeom prst="rect">
            <a:avLst/>
          </a:prstGeom>
          <a:noFill/>
        </p:spPr>
        <p:txBody>
          <a:bodyPr wrap="none" lIns="0" rIns="0" tIns="0" bIns="0" anchor="ctr">
            <a:spAutoFit/>
          </a:bodyPr>
          <a:lstStyle/>
          <a:p>
            <a:pPr algn="l">
              <a:spcBef>
                <a:spcPts val="0"/>
              </a:spcBef>
              <a:spcAft>
                <a:spcPts val="0"/>
              </a:spcAft>
            </a:pPr>
            <a:r>
              <a:rPr sz="1300" b="1">
                <a:solidFill>
                  <a:srgbClr val="0D5CF2"/>
                </a:solidFill>
                <a:latin typeface="Segoe UI"/>
              </a:rPr>
              <a:t>02</a:t>
            </a:r>
          </a:p>
        </p:txBody>
      </p:sp>
      <p:sp>
        <p:nvSpPr>
          <p:cNvPr id="14" name="TextBox 13"/>
          <p:cNvSpPr txBox="1"/>
          <p:nvPr/>
        </p:nvSpPr>
        <p:spPr>
          <a:xfrm>
            <a:off x="9701784" y="2048256"/>
            <a:ext cx="1490472" cy="219456"/>
          </a:xfrm>
          <a:prstGeom prst="rect">
            <a:avLst/>
          </a:prstGeom>
          <a:noFill/>
        </p:spPr>
        <p:txBody>
          <a:bodyPr wrap="none" lIns="0" rIns="0" tIns="0" bIns="0" anchor="ctr">
            <a:spAutoFit/>
          </a:bodyPr>
          <a:lstStyle/>
          <a:p>
            <a:pPr algn="r">
              <a:spcBef>
                <a:spcPts val="0"/>
              </a:spcBef>
              <a:spcAft>
                <a:spcPts val="0"/>
              </a:spcAft>
            </a:pPr>
            <a:r>
              <a:rPr sz="1000" b="1">
                <a:solidFill>
                  <a:srgbClr val="526C91"/>
                </a:solidFill>
                <a:latin typeface="Segoe UI"/>
              </a:rPr>
              <a:t>SLIDES 04–05</a:t>
            </a:r>
          </a:p>
        </p:txBody>
      </p:sp>
      <p:sp>
        <p:nvSpPr>
          <p:cNvPr id="15" name="TextBox 14"/>
          <p:cNvSpPr txBox="1"/>
          <p:nvPr/>
        </p:nvSpPr>
        <p:spPr>
          <a:xfrm>
            <a:off x="6437376" y="2331720"/>
            <a:ext cx="4773168" cy="365760"/>
          </a:xfrm>
          <a:prstGeom prst="rect">
            <a:avLst/>
          </a:prstGeom>
          <a:noFill/>
        </p:spPr>
        <p:txBody>
          <a:bodyPr wrap="none" lIns="0" rIns="0" tIns="0" bIns="0" anchor="ctr">
            <a:spAutoFit/>
          </a:bodyPr>
          <a:lstStyle/>
          <a:p>
            <a:pPr algn="l">
              <a:spcBef>
                <a:spcPts val="0"/>
              </a:spcBef>
              <a:spcAft>
                <a:spcPts val="0"/>
              </a:spcAft>
            </a:pPr>
            <a:r>
              <a:rPr sz="2200" b="1">
                <a:solidFill>
                  <a:srgbClr val="081A3A"/>
                </a:solidFill>
                <a:latin typeface="Times New Roman"/>
              </a:rPr>
              <a:t>Background &amp; technology evolution</a:t>
            </a:r>
          </a:p>
        </p:txBody>
      </p:sp>
      <p:sp>
        <p:nvSpPr>
          <p:cNvPr id="16" name="TextBox 15"/>
          <p:cNvSpPr txBox="1"/>
          <p:nvPr/>
        </p:nvSpPr>
        <p:spPr>
          <a:xfrm>
            <a:off x="6437376" y="2770632"/>
            <a:ext cx="4773168" cy="228600"/>
          </a:xfrm>
          <a:prstGeom prst="rect">
            <a:avLst/>
          </a:prstGeom>
          <a:noFill/>
        </p:spPr>
        <p:txBody>
          <a:bodyPr wrap="none" lIns="0" rIns="0" tIns="0" bIns="0" anchor="ctr">
            <a:spAutoFit/>
          </a:bodyPr>
          <a:lstStyle/>
          <a:p>
            <a:pPr algn="l">
              <a:spcBef>
                <a:spcPts val="0"/>
              </a:spcBef>
              <a:spcAft>
                <a:spcPts val="0"/>
              </a:spcAft>
            </a:pPr>
            <a:r>
              <a:rPr sz="1550" b="0">
                <a:solidFill>
                  <a:srgbClr val="526C91"/>
                </a:solidFill>
                <a:latin typeface="Times New Roman"/>
              </a:rPr>
              <a:t>From voice calls to IMT-2030</a:t>
            </a:r>
          </a:p>
        </p:txBody>
      </p:sp>
      <p:sp>
        <p:nvSpPr>
          <p:cNvPr id="17" name="Agenda Rounded Rectangle 4"/>
          <p:cNvSpPr/>
          <p:nvPr/>
        </p:nvSpPr>
        <p:spPr>
          <a:xfrm>
            <a:off x="795528" y="3310128"/>
            <a:ext cx="5166360" cy="1161288"/>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genda Rectangle 5"/>
          <p:cNvSpPr/>
          <p:nvPr/>
        </p:nvSpPr>
        <p:spPr>
          <a:xfrm>
            <a:off x="740664" y="3319272"/>
            <a:ext cx="64008" cy="1143000"/>
          </a:xfrm>
          <a:prstGeom prst="rect">
            <a:avLst/>
          </a:prstGeom>
          <a:solidFill>
            <a:srgbClr val="00B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401568"/>
            <a:ext cx="438912" cy="219456"/>
          </a:xfrm>
          <a:prstGeom prst="rect">
            <a:avLst/>
          </a:prstGeom>
          <a:noFill/>
        </p:spPr>
        <p:txBody>
          <a:bodyPr wrap="none" lIns="0" rIns="0" tIns="0" bIns="0" anchor="ctr">
            <a:spAutoFit/>
          </a:bodyPr>
          <a:lstStyle/>
          <a:p>
            <a:pPr algn="l">
              <a:spcBef>
                <a:spcPts val="0"/>
              </a:spcBef>
              <a:spcAft>
                <a:spcPts val="0"/>
              </a:spcAft>
            </a:pPr>
            <a:r>
              <a:rPr sz="1300" b="1">
                <a:solidFill>
                  <a:srgbClr val="00B4DF"/>
                </a:solidFill>
                <a:latin typeface="Segoe UI"/>
              </a:rPr>
              <a:t>03</a:t>
            </a:r>
          </a:p>
        </p:txBody>
      </p:sp>
      <p:sp>
        <p:nvSpPr>
          <p:cNvPr id="20" name="TextBox 19"/>
          <p:cNvSpPr txBox="1"/>
          <p:nvPr/>
        </p:nvSpPr>
        <p:spPr>
          <a:xfrm>
            <a:off x="4233672" y="3401568"/>
            <a:ext cx="1490472" cy="219456"/>
          </a:xfrm>
          <a:prstGeom prst="rect">
            <a:avLst/>
          </a:prstGeom>
          <a:noFill/>
        </p:spPr>
        <p:txBody>
          <a:bodyPr wrap="none" lIns="0" rIns="0" tIns="0" bIns="0" anchor="ctr">
            <a:spAutoFit/>
          </a:bodyPr>
          <a:lstStyle/>
          <a:p>
            <a:pPr algn="r">
              <a:spcBef>
                <a:spcPts val="0"/>
              </a:spcBef>
              <a:spcAft>
                <a:spcPts val="0"/>
              </a:spcAft>
            </a:pPr>
            <a:r>
              <a:rPr sz="1000" b="1">
                <a:solidFill>
                  <a:srgbClr val="526C91"/>
                </a:solidFill>
                <a:latin typeface="Segoe UI"/>
              </a:rPr>
              <a:t>SLIDES 06–08</a:t>
            </a:r>
          </a:p>
        </p:txBody>
      </p:sp>
      <p:sp>
        <p:nvSpPr>
          <p:cNvPr id="21" name="TextBox 20"/>
          <p:cNvSpPr txBox="1"/>
          <p:nvPr/>
        </p:nvSpPr>
        <p:spPr>
          <a:xfrm>
            <a:off x="969264" y="3685032"/>
            <a:ext cx="4773168" cy="365760"/>
          </a:xfrm>
          <a:prstGeom prst="rect">
            <a:avLst/>
          </a:prstGeom>
          <a:noFill/>
        </p:spPr>
        <p:txBody>
          <a:bodyPr wrap="none" lIns="0" rIns="0" tIns="0" bIns="0" anchor="ctr">
            <a:spAutoFit/>
          </a:bodyPr>
          <a:lstStyle/>
          <a:p>
            <a:pPr algn="l">
              <a:spcBef>
                <a:spcPts val="0"/>
              </a:spcBef>
              <a:spcAft>
                <a:spcPts val="0"/>
              </a:spcAft>
            </a:pPr>
            <a:r>
              <a:rPr sz="2200" b="1">
                <a:solidFill>
                  <a:srgbClr val="081A3A"/>
                </a:solidFill>
                <a:latin typeface="Times New Roman"/>
              </a:rPr>
              <a:t>Core technologies of 6G</a:t>
            </a:r>
          </a:p>
        </p:txBody>
      </p:sp>
      <p:sp>
        <p:nvSpPr>
          <p:cNvPr id="22" name="TextBox 21"/>
          <p:cNvSpPr txBox="1"/>
          <p:nvPr/>
        </p:nvSpPr>
        <p:spPr>
          <a:xfrm>
            <a:off x="969264" y="4123944"/>
            <a:ext cx="4773168" cy="228600"/>
          </a:xfrm>
          <a:prstGeom prst="rect">
            <a:avLst/>
          </a:prstGeom>
          <a:noFill/>
        </p:spPr>
        <p:txBody>
          <a:bodyPr wrap="none" lIns="0" rIns="0" tIns="0" bIns="0" anchor="ctr">
            <a:spAutoFit/>
          </a:bodyPr>
          <a:lstStyle/>
          <a:p>
            <a:pPr algn="l">
              <a:spcBef>
                <a:spcPts val="0"/>
              </a:spcBef>
              <a:spcAft>
                <a:spcPts val="0"/>
              </a:spcAft>
            </a:pPr>
            <a:r>
              <a:rPr sz="1550" b="0">
                <a:solidFill>
                  <a:srgbClr val="526C91"/>
                </a:solidFill>
                <a:latin typeface="Times New Roman"/>
              </a:rPr>
              <a:t>AI, radio, sensing and integrated coverage</a:t>
            </a:r>
          </a:p>
        </p:txBody>
      </p:sp>
      <p:sp>
        <p:nvSpPr>
          <p:cNvPr id="23" name="Agenda Rounded Rectangle 4"/>
          <p:cNvSpPr/>
          <p:nvPr/>
        </p:nvSpPr>
        <p:spPr>
          <a:xfrm>
            <a:off x="6263640" y="3310128"/>
            <a:ext cx="5166360" cy="1161288"/>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genda Rectangle 5"/>
          <p:cNvSpPr/>
          <p:nvPr/>
        </p:nvSpPr>
        <p:spPr>
          <a:xfrm>
            <a:off x="6208776" y="3319272"/>
            <a:ext cx="64008" cy="1143000"/>
          </a:xfrm>
          <a:prstGeom prst="rect">
            <a:avLst/>
          </a:prstGeom>
          <a:solidFill>
            <a:srgbClr val="00B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3401568"/>
            <a:ext cx="438912" cy="219456"/>
          </a:xfrm>
          <a:prstGeom prst="rect">
            <a:avLst/>
          </a:prstGeom>
          <a:noFill/>
        </p:spPr>
        <p:txBody>
          <a:bodyPr wrap="none" lIns="0" rIns="0" tIns="0" bIns="0" anchor="ctr">
            <a:spAutoFit/>
          </a:bodyPr>
          <a:lstStyle/>
          <a:p>
            <a:pPr algn="l">
              <a:spcBef>
                <a:spcPts val="0"/>
              </a:spcBef>
              <a:spcAft>
                <a:spcPts val="0"/>
              </a:spcAft>
            </a:pPr>
            <a:r>
              <a:rPr sz="1300" b="1">
                <a:solidFill>
                  <a:srgbClr val="00B4DF"/>
                </a:solidFill>
                <a:latin typeface="Segoe UI"/>
              </a:rPr>
              <a:t>04</a:t>
            </a:r>
          </a:p>
        </p:txBody>
      </p:sp>
      <p:sp>
        <p:nvSpPr>
          <p:cNvPr id="26" name="TextBox 25"/>
          <p:cNvSpPr txBox="1"/>
          <p:nvPr/>
        </p:nvSpPr>
        <p:spPr>
          <a:xfrm>
            <a:off x="9701784" y="3401568"/>
            <a:ext cx="1490472" cy="219456"/>
          </a:xfrm>
          <a:prstGeom prst="rect">
            <a:avLst/>
          </a:prstGeom>
          <a:noFill/>
        </p:spPr>
        <p:txBody>
          <a:bodyPr wrap="none" lIns="0" rIns="0" tIns="0" bIns="0" anchor="ctr">
            <a:spAutoFit/>
          </a:bodyPr>
          <a:lstStyle/>
          <a:p>
            <a:pPr algn="r">
              <a:spcBef>
                <a:spcPts val="0"/>
              </a:spcBef>
              <a:spcAft>
                <a:spcPts val="0"/>
              </a:spcAft>
            </a:pPr>
            <a:r>
              <a:rPr sz="1000" b="1">
                <a:solidFill>
                  <a:srgbClr val="526C91"/>
                </a:solidFill>
                <a:latin typeface="Segoe UI"/>
              </a:rPr>
              <a:t>SLIDE 09</a:t>
            </a:r>
          </a:p>
        </p:txBody>
      </p:sp>
      <p:sp>
        <p:nvSpPr>
          <p:cNvPr id="27" name="TextBox 26"/>
          <p:cNvSpPr txBox="1"/>
          <p:nvPr/>
        </p:nvSpPr>
        <p:spPr>
          <a:xfrm>
            <a:off x="6437376" y="3685032"/>
            <a:ext cx="4773168" cy="365760"/>
          </a:xfrm>
          <a:prstGeom prst="rect">
            <a:avLst/>
          </a:prstGeom>
          <a:noFill/>
        </p:spPr>
        <p:txBody>
          <a:bodyPr wrap="none" lIns="0" rIns="0" tIns="0" bIns="0" anchor="ctr">
            <a:spAutoFit/>
          </a:bodyPr>
          <a:lstStyle/>
          <a:p>
            <a:pPr algn="l">
              <a:spcBef>
                <a:spcPts val="0"/>
              </a:spcBef>
              <a:spcAft>
                <a:spcPts val="0"/>
              </a:spcAft>
            </a:pPr>
            <a:r>
              <a:rPr sz="2200" b="1">
                <a:solidFill>
                  <a:srgbClr val="081A3A"/>
                </a:solidFill>
                <a:latin typeface="Times New Roman"/>
              </a:rPr>
              <a:t>Applications &amp; case studies</a:t>
            </a:r>
          </a:p>
        </p:txBody>
      </p:sp>
      <p:sp>
        <p:nvSpPr>
          <p:cNvPr id="28" name="TextBox 27"/>
          <p:cNvSpPr txBox="1"/>
          <p:nvPr/>
        </p:nvSpPr>
        <p:spPr>
          <a:xfrm>
            <a:off x="6437376" y="4123944"/>
            <a:ext cx="4773168" cy="228600"/>
          </a:xfrm>
          <a:prstGeom prst="rect">
            <a:avLst/>
          </a:prstGeom>
          <a:noFill/>
        </p:spPr>
        <p:txBody>
          <a:bodyPr wrap="none" lIns="0" rIns="0" tIns="0" bIns="0" anchor="ctr">
            <a:spAutoFit/>
          </a:bodyPr>
          <a:lstStyle/>
          <a:p>
            <a:pPr algn="l">
              <a:spcBef>
                <a:spcPts val="0"/>
              </a:spcBef>
              <a:spcAft>
                <a:spcPts val="0"/>
              </a:spcAft>
            </a:pPr>
            <a:r>
              <a:rPr sz="1550" b="0">
                <a:solidFill>
                  <a:srgbClr val="526C91"/>
                </a:solidFill>
                <a:latin typeface="Times New Roman"/>
              </a:rPr>
              <a:t>Education, transport and renewable energy</a:t>
            </a:r>
          </a:p>
        </p:txBody>
      </p:sp>
      <p:sp>
        <p:nvSpPr>
          <p:cNvPr id="29" name="Agenda Rounded Rectangle 4"/>
          <p:cNvSpPr/>
          <p:nvPr/>
        </p:nvSpPr>
        <p:spPr>
          <a:xfrm>
            <a:off x="795528" y="4663440"/>
            <a:ext cx="5166360" cy="1161288"/>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genda Rectangle 5"/>
          <p:cNvSpPr/>
          <p:nvPr/>
        </p:nvSpPr>
        <p:spPr>
          <a:xfrm>
            <a:off x="740664" y="4672583"/>
            <a:ext cx="64008" cy="1143000"/>
          </a:xfrm>
          <a:prstGeom prst="rect">
            <a:avLst/>
          </a:prstGeom>
          <a:solidFill>
            <a:srgbClr val="45D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754879"/>
            <a:ext cx="438912" cy="219456"/>
          </a:xfrm>
          <a:prstGeom prst="rect">
            <a:avLst/>
          </a:prstGeom>
          <a:noFill/>
        </p:spPr>
        <p:txBody>
          <a:bodyPr wrap="none" lIns="0" rIns="0" tIns="0" bIns="0" anchor="ctr">
            <a:spAutoFit/>
          </a:bodyPr>
          <a:lstStyle/>
          <a:p>
            <a:pPr algn="l">
              <a:spcBef>
                <a:spcPts val="0"/>
              </a:spcBef>
              <a:spcAft>
                <a:spcPts val="0"/>
              </a:spcAft>
            </a:pPr>
            <a:r>
              <a:rPr sz="1300" b="1">
                <a:solidFill>
                  <a:srgbClr val="45D7D0"/>
                </a:solidFill>
                <a:latin typeface="Segoe UI"/>
              </a:rPr>
              <a:t>05</a:t>
            </a:r>
          </a:p>
        </p:txBody>
      </p:sp>
      <p:sp>
        <p:nvSpPr>
          <p:cNvPr id="32" name="TextBox 31"/>
          <p:cNvSpPr txBox="1"/>
          <p:nvPr/>
        </p:nvSpPr>
        <p:spPr>
          <a:xfrm>
            <a:off x="4233672" y="4754879"/>
            <a:ext cx="1490472" cy="219456"/>
          </a:xfrm>
          <a:prstGeom prst="rect">
            <a:avLst/>
          </a:prstGeom>
          <a:noFill/>
        </p:spPr>
        <p:txBody>
          <a:bodyPr wrap="none" lIns="0" rIns="0" tIns="0" bIns="0" anchor="ctr">
            <a:spAutoFit/>
          </a:bodyPr>
          <a:lstStyle/>
          <a:p>
            <a:pPr algn="r">
              <a:spcBef>
                <a:spcPts val="0"/>
              </a:spcBef>
              <a:spcAft>
                <a:spcPts val="0"/>
              </a:spcAft>
            </a:pPr>
            <a:r>
              <a:rPr sz="1000" b="1">
                <a:solidFill>
                  <a:srgbClr val="526C91"/>
                </a:solidFill>
                <a:latin typeface="Segoe UI"/>
              </a:rPr>
              <a:t>SLIDES 10–11</a:t>
            </a:r>
          </a:p>
        </p:txBody>
      </p:sp>
      <p:sp>
        <p:nvSpPr>
          <p:cNvPr id="33" name="TextBox 32"/>
          <p:cNvSpPr txBox="1"/>
          <p:nvPr/>
        </p:nvSpPr>
        <p:spPr>
          <a:xfrm>
            <a:off x="969264" y="5038344"/>
            <a:ext cx="4773168" cy="365760"/>
          </a:xfrm>
          <a:prstGeom prst="rect">
            <a:avLst/>
          </a:prstGeom>
          <a:noFill/>
        </p:spPr>
        <p:txBody>
          <a:bodyPr wrap="none" lIns="0" rIns="0" tIns="0" bIns="0" anchor="ctr">
            <a:spAutoFit/>
          </a:bodyPr>
          <a:lstStyle/>
          <a:p>
            <a:pPr algn="l">
              <a:spcBef>
                <a:spcPts val="0"/>
              </a:spcBef>
              <a:spcAft>
                <a:spcPts val="0"/>
              </a:spcAft>
            </a:pPr>
            <a:r>
              <a:rPr sz="2200" b="1">
                <a:solidFill>
                  <a:srgbClr val="081A3A"/>
                </a:solidFill>
                <a:latin typeface="Times New Roman"/>
              </a:rPr>
              <a:t>Challenges &amp; future research</a:t>
            </a:r>
          </a:p>
        </p:txBody>
      </p:sp>
      <p:sp>
        <p:nvSpPr>
          <p:cNvPr id="34" name="TextBox 33"/>
          <p:cNvSpPr txBox="1"/>
          <p:nvPr/>
        </p:nvSpPr>
        <p:spPr>
          <a:xfrm>
            <a:off x="969264" y="5477255"/>
            <a:ext cx="4773168" cy="228600"/>
          </a:xfrm>
          <a:prstGeom prst="rect">
            <a:avLst/>
          </a:prstGeom>
          <a:noFill/>
        </p:spPr>
        <p:txBody>
          <a:bodyPr wrap="none" lIns="0" rIns="0" tIns="0" bIns="0" anchor="ctr">
            <a:spAutoFit/>
          </a:bodyPr>
          <a:lstStyle/>
          <a:p>
            <a:pPr algn="l">
              <a:spcBef>
                <a:spcPts val="0"/>
              </a:spcBef>
              <a:spcAft>
                <a:spcPts val="0"/>
              </a:spcAft>
            </a:pPr>
            <a:r>
              <a:rPr sz="1550" b="0">
                <a:solidFill>
                  <a:srgbClr val="526C91"/>
                </a:solidFill>
                <a:latin typeface="Times New Roman"/>
              </a:rPr>
              <a:t>Reliability, security and sustainability</a:t>
            </a:r>
          </a:p>
        </p:txBody>
      </p:sp>
      <p:sp>
        <p:nvSpPr>
          <p:cNvPr id="35" name="Agenda Rounded Rectangle 4"/>
          <p:cNvSpPr/>
          <p:nvPr/>
        </p:nvSpPr>
        <p:spPr>
          <a:xfrm>
            <a:off x="6263640" y="4663440"/>
            <a:ext cx="5166360" cy="1161288"/>
          </a:xfrm>
          <a:prstGeom prst="roundRect">
            <a:avLst/>
          </a:prstGeom>
          <a:solidFill>
            <a:srgbClr val="FFFFFF"/>
          </a:solidFill>
          <a:ln w="15240">
            <a:solidFill>
              <a:srgbClr val="CAD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genda Rectangle 5"/>
          <p:cNvSpPr/>
          <p:nvPr/>
        </p:nvSpPr>
        <p:spPr>
          <a:xfrm>
            <a:off x="6208776" y="4672583"/>
            <a:ext cx="64008" cy="1143000"/>
          </a:xfrm>
          <a:prstGeom prst="rect">
            <a:avLst/>
          </a:prstGeom>
          <a:solidFill>
            <a:srgbClr val="45D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7376" y="4754879"/>
            <a:ext cx="438912" cy="219456"/>
          </a:xfrm>
          <a:prstGeom prst="rect">
            <a:avLst/>
          </a:prstGeom>
          <a:noFill/>
        </p:spPr>
        <p:txBody>
          <a:bodyPr wrap="none" lIns="0" rIns="0" tIns="0" bIns="0" anchor="ctr">
            <a:spAutoFit/>
          </a:bodyPr>
          <a:lstStyle/>
          <a:p>
            <a:pPr algn="l">
              <a:spcBef>
                <a:spcPts val="0"/>
              </a:spcBef>
              <a:spcAft>
                <a:spcPts val="0"/>
              </a:spcAft>
            </a:pPr>
            <a:r>
              <a:rPr sz="1300" b="1">
                <a:solidFill>
                  <a:srgbClr val="45D7D0"/>
                </a:solidFill>
                <a:latin typeface="Segoe UI"/>
              </a:rPr>
              <a:t>06</a:t>
            </a:r>
          </a:p>
        </p:txBody>
      </p:sp>
      <p:sp>
        <p:nvSpPr>
          <p:cNvPr id="38" name="TextBox 37"/>
          <p:cNvSpPr txBox="1"/>
          <p:nvPr/>
        </p:nvSpPr>
        <p:spPr>
          <a:xfrm>
            <a:off x="9701784" y="4754879"/>
            <a:ext cx="1490472" cy="219456"/>
          </a:xfrm>
          <a:prstGeom prst="rect">
            <a:avLst/>
          </a:prstGeom>
          <a:noFill/>
        </p:spPr>
        <p:txBody>
          <a:bodyPr wrap="none" lIns="0" rIns="0" tIns="0" bIns="0" anchor="ctr">
            <a:spAutoFit/>
          </a:bodyPr>
          <a:lstStyle/>
          <a:p>
            <a:pPr algn="r">
              <a:spcBef>
                <a:spcPts val="0"/>
              </a:spcBef>
              <a:spcAft>
                <a:spcPts val="0"/>
              </a:spcAft>
            </a:pPr>
            <a:r>
              <a:rPr sz="1000" b="1">
                <a:solidFill>
                  <a:srgbClr val="526C91"/>
                </a:solidFill>
                <a:latin typeface="Segoe UI"/>
              </a:rPr>
              <a:t>SLIDE 12</a:t>
            </a:r>
          </a:p>
        </p:txBody>
      </p:sp>
      <p:sp>
        <p:nvSpPr>
          <p:cNvPr id="39" name="TextBox 38"/>
          <p:cNvSpPr txBox="1"/>
          <p:nvPr/>
        </p:nvSpPr>
        <p:spPr>
          <a:xfrm>
            <a:off x="6437376" y="5038344"/>
            <a:ext cx="4773168" cy="365760"/>
          </a:xfrm>
          <a:prstGeom prst="rect">
            <a:avLst/>
          </a:prstGeom>
          <a:noFill/>
        </p:spPr>
        <p:txBody>
          <a:bodyPr wrap="none" lIns="0" rIns="0" tIns="0" bIns="0" anchor="ctr">
            <a:spAutoFit/>
          </a:bodyPr>
          <a:lstStyle/>
          <a:p>
            <a:pPr algn="l">
              <a:spcBef>
                <a:spcPts val="0"/>
              </a:spcBef>
              <a:spcAft>
                <a:spcPts val="0"/>
              </a:spcAft>
            </a:pPr>
            <a:r>
              <a:rPr sz="2200" b="1">
                <a:solidFill>
                  <a:srgbClr val="081A3A"/>
                </a:solidFill>
                <a:latin typeface="Times New Roman"/>
              </a:rPr>
              <a:t>Conclusion</a:t>
            </a:r>
          </a:p>
        </p:txBody>
      </p:sp>
      <p:sp>
        <p:nvSpPr>
          <p:cNvPr id="40" name="TextBox 39"/>
          <p:cNvSpPr txBox="1"/>
          <p:nvPr/>
        </p:nvSpPr>
        <p:spPr>
          <a:xfrm>
            <a:off x="6437376" y="5477255"/>
            <a:ext cx="4773168" cy="228600"/>
          </a:xfrm>
          <a:prstGeom prst="rect">
            <a:avLst/>
          </a:prstGeom>
          <a:noFill/>
        </p:spPr>
        <p:txBody>
          <a:bodyPr wrap="none" lIns="0" rIns="0" tIns="0" bIns="0" anchor="ctr">
            <a:spAutoFit/>
          </a:bodyPr>
          <a:lstStyle/>
          <a:p>
            <a:pPr algn="l">
              <a:spcBef>
                <a:spcPts val="0"/>
              </a:spcBef>
              <a:spcAft>
                <a:spcPts val="0"/>
              </a:spcAft>
            </a:pPr>
            <a:r>
              <a:rPr sz="1550" b="0">
                <a:solidFill>
                  <a:srgbClr val="526C91"/>
                </a:solidFill>
                <a:latin typeface="Times New Roman"/>
              </a:rPr>
              <a:t>Key messages and evidence-led outlook</a:t>
            </a:r>
          </a:p>
        </p:txBody>
      </p:sp>
      <p:sp>
        <p:nvSpPr>
          <p:cNvPr id="41" name="TextBox 40"/>
          <p:cNvSpPr txBox="1"/>
          <p:nvPr/>
        </p:nvSpPr>
        <p:spPr>
          <a:xfrm>
            <a:off x="832104" y="6117336"/>
            <a:ext cx="10515600" cy="219456"/>
          </a:xfrm>
          <a:prstGeom prst="rect">
            <a:avLst/>
          </a:prstGeom>
          <a:noFill/>
        </p:spPr>
        <p:txBody>
          <a:bodyPr wrap="none" lIns="0" rIns="0" tIns="0" bIns="0" anchor="ctr">
            <a:spAutoFit/>
          </a:bodyPr>
          <a:lstStyle/>
          <a:p>
            <a:pPr algn="l">
              <a:spcBef>
                <a:spcPts val="0"/>
              </a:spcBef>
              <a:spcAft>
                <a:spcPts val="0"/>
              </a:spcAft>
            </a:pPr>
            <a:r>
              <a:rPr sz="1300" b="0">
                <a:solidFill>
                  <a:srgbClr val="526C91"/>
                </a:solidFill>
                <a:latin typeface="Times New Roman"/>
              </a:rPr>
              <a:t>References follow on slides 13–14.</a:t>
            </a:r>
          </a:p>
        </p:txBody>
      </p:sp>
      <p:sp>
        <p:nvSpPr>
          <p:cNvPr id="42" name="Agenda TextBox 24"/>
          <p:cNvSpPr txBox="1"/>
          <p:nvPr/>
        </p:nvSpPr>
        <p:spPr>
          <a:xfrm>
            <a:off x="502920" y="6510528"/>
            <a:ext cx="4754880" cy="164592"/>
          </a:xfrm>
          <a:prstGeom prst="rect">
            <a:avLst/>
          </a:prstGeom>
          <a:noFill/>
        </p:spPr>
        <p:txBody>
          <a:bodyPr wrap="square" lIns="18288" tIns="18288" rIns="18288" bIns="18288" anchor="ctr">
            <a:spAutoFit/>
          </a:bodyPr>
          <a:lstStyle/>
          <a:p>
            <a:pPr algn="l">
              <a:spcAft>
                <a:spcPts val="400"/>
              </a:spcAft>
              <a:defRPr sz="800" b="1" i="0">
                <a:solidFill>
                  <a:srgbClr val="586D8B"/>
                </a:solidFill>
                <a:latin typeface="Aptos"/>
              </a:defRPr>
            </a:pPr>
            <a:r>
              <a:rPr>
                <a:latin typeface="Segoe UI" panose="020B0502040204020203" charset="0"/>
              </a:rPr>
              <a:t>6G  /  INTELLIGENT WIRELESS CONNECTIVITY</a:t>
            </a:r>
            <a:endParaRPr>
              <a:latin typeface="Segoe UI" panose="020B0502040204020203" charset="0"/>
            </a:endParaRPr>
          </a:p>
        </p:txBody>
      </p:sp>
      <p:sp>
        <p:nvSpPr>
          <p:cNvPr id="43" name="Agenda TextBox 26"/>
          <p:cNvSpPr txBox="1"/>
          <p:nvPr/>
        </p:nvSpPr>
        <p:spPr>
          <a:xfrm>
            <a:off x="11384280" y="6473952"/>
            <a:ext cx="320040" cy="201168"/>
          </a:xfrm>
          <a:prstGeom prst="rect">
            <a:avLst/>
          </a:prstGeom>
          <a:noFill/>
        </p:spPr>
        <p:txBody>
          <a:bodyPr wrap="square" lIns="18288" tIns="18288" rIns="18288" bIns="18288" anchor="ctr">
            <a:spAutoFit/>
          </a:bodyPr>
          <a:lstStyle/>
          <a:p>
            <a:pPr algn="r">
              <a:spcAft>
                <a:spcPts val="400"/>
              </a:spcAft>
              <a:defRPr sz="900" b="1" i="0">
                <a:solidFill>
                  <a:srgbClr val="185EDC"/>
                </a:solidFill>
                <a:latin typeface="Aptos"/>
              </a:defRPr>
            </a:pPr>
            <a:r>
              <a:rPr>
                <a:latin typeface="Segoe UI" panose="020B0502040204020203" charset="0"/>
              </a:rPr>
              <a:t>02</a:t>
            </a:r>
            <a:endParaRPr>
              <a:latin typeface="Segoe UI" panose="020B0502040204020203" charset="0"/>
            </a:endParaRPr>
          </a:p>
        </p:txBody>
      </p:sp>
    </p:spTree>
  </p:cSld>
  <p:clrMapOvr>
    <a:masterClrMapping/>
  </p:clrMapOvr>
</p:sld>
</file>

<file path=ppt/tags/tag1.xml><?xml version="1.0" encoding="utf-8"?>
<p:tagLst xmlns:p="http://schemas.openxmlformats.org/presentationml/2006/main">
  <p:tag name="KSO_WM_DIAGRAM_VIRTUALLY_FRAME" val="{&quot;height&quot;:279.06000000000006,&quot;left&quot;:392.4,&quot;top&quot;:170.79,&quot;width&quot;:566.25}"/>
</p:tagLst>
</file>

<file path=ppt/tags/tag2.xml><?xml version="1.0" encoding="utf-8"?>
<p:tagLst xmlns:p="http://schemas.openxmlformats.org/presentationml/2006/main">
  <p:tag name="KSO_WM_DIAGRAM_VIRTUALLY_FRAME" val="{&quot;height&quot;:279.06000000000006,&quot;left&quot;:392.4,&quot;top&quot;:170.79,&quot;width&quot;:566.25}"/>
</p:tagLst>
</file>

<file path=ppt/tags/tag3.xml><?xml version="1.0" encoding="utf-8"?>
<p:tagLst xmlns:p="http://schemas.openxmlformats.org/presentationml/2006/main">
  <p:tag name="KSO_WM_DIAGRAM_VIRTUALLY_FRAME" val="{&quot;height&quot;:279.06000000000006,&quot;left&quot;:392.4,&quot;top&quot;:170.79,&quot;width&quot;:566.25}"/>
</p:tagLst>
</file>

<file path=ppt/tags/tag4.xml><?xml version="1.0" encoding="utf-8"?>
<p:tagLst xmlns:p="http://schemas.openxmlformats.org/presentationml/2006/main">
  <p:tag name="KSO_WM_DIAGRAM_VIRTUALLY_FRAME" val="{&quot;height&quot;:279.06000000000006,&quot;left&quot;:392.4,&quot;top&quot;:170.79,&quot;width&quot;:566.25}"/>
</p:tagLst>
</file>

<file path=ppt/tags/tag5.xml><?xml version="1.0" encoding="utf-8"?>
<p:tagLst xmlns:p="http://schemas.openxmlformats.org/presentationml/2006/main">
  <p:tag name="KSO_WM_DIAGRAM_VIRTUALLY_FRAME" val="{&quot;height&quot;:279.06000000000006,&quot;left&quot;:392.4,&quot;top&quot;:170.79,&quot;width&quot;:566.25}"/>
</p:tagLst>
</file>

<file path=ppt/tags/tag6.xml><?xml version="1.0" encoding="utf-8"?>
<p:tagLst xmlns:p="http://schemas.openxmlformats.org/presentationml/2006/main">
  <p:tag name="KSO_WM_DIAGRAM_VIRTUALLY_FRAME" val="{&quot;height&quot;:279.06000000000006,&quot;left&quot;:392.4,&quot;top&quot;:170.79,&quot;width&quot;:566.25}"/>
</p:tagLst>
</file>

<file path=ppt/tags/tag7.xml><?xml version="1.0" encoding="utf-8"?>
<p:tagLst xmlns:p="http://schemas.openxmlformats.org/presentationml/2006/main">
  <p:tag name="KSO_WM_DIAGRAM_VIRTUALLY_FRAME" val="{&quot;height&quot;:279.06000000000006,&quot;left&quot;:392.4,&quot;top&quot;:170.79,&quot;width&quot;:566.25}"/>
</p:tagLst>
</file>

<file path=ppt/tags/tag8.xml><?xml version="1.0" encoding="utf-8"?>
<p:tagLst xmlns:p="http://schemas.openxmlformats.org/presentationml/2006/main">
  <p:tag name="KSO_WM_DIAGRAM_VIRTUALLY_FRAME" val="{&quot;height&quot;:279.06000000000006,&quot;left&quot;:392.4,&quot;top&quot;:170.79,&quot;width&quot;:566.25}"/>
</p:tagLst>
</file>

<file path=ppt/tags/tag9.xml><?xml version="1.0" encoding="utf-8"?>
<p:tagLst xmlns:p="http://schemas.openxmlformats.org/presentationml/2006/main">
  <p:tag name="KSO_WM_DIAGRAM_VIRTUALLY_FRAME" val="{&quot;height&quot;:279.06000000000006,&quot;left&quot;:392.4,&quot;top&quot;:170.79,&quot;width&quot;:566.25}"/>
</p:tagLst>
</file>

<file path=ppt/tags/tag10.xml><?xml version="1.0" encoding="utf-8"?>
<p:tagLst xmlns:p="http://schemas.openxmlformats.org/presentationml/2006/main">
  <p:tag name="KSO_WM_DIAGRAM_VIRTUALLY_FRAME" val="{&quot;height&quot;:279.06000000000006,&quot;left&quot;:392.4,&quot;top&quot;:170.79,&quot;width&quot;:566.25}"/>
</p:tagLst>
</file>

<file path=ppt/tags/tag11.xml><?xml version="1.0" encoding="utf-8"?>
<p:tagLst xmlns:p="http://schemas.openxmlformats.org/presentationml/2006/main">
  <p:tag name="KSO_WM_DIAGRAM_VIRTUALLY_FRAME" val="{&quot;height&quot;:279.06000000000006,&quot;left&quot;:392.4,&quot;top&quot;:170.79,&quot;width&quot;:566.25}"/>
</p:tagLst>
</file>

<file path=ppt/tags/tag12.xml><?xml version="1.0" encoding="utf-8"?>
<p:tagLst xmlns:p="http://schemas.openxmlformats.org/presentationml/2006/main">
  <p:tag name="KSO_WM_DIAGRAM_VIRTUALLY_FRAME" val="{&quot;height&quot;:279.06000000000006,&quot;left&quot;:392.4,&quot;top&quot;:170.79,&quot;width&quot;:566.25}"/>
</p:tagLst>
</file>

<file path=ppt/tags/tag13.xml><?xml version="1.0" encoding="utf-8"?>
<p:tagLst xmlns:p="http://schemas.openxmlformats.org/presentationml/2006/main">
  <p:tag name="KSO_WM_DIAGRAM_VIRTUALLY_FRAME" val="{&quot;height&quot;:279.06000000000006,&quot;left&quot;:392.4,&quot;top&quot;:170.79,&quot;width&quot;:566.25}"/>
</p:tagLst>
</file>

<file path=ppt/tags/tag14.xml><?xml version="1.0" encoding="utf-8"?>
<p:tagLst xmlns:p="http://schemas.openxmlformats.org/presentationml/2006/main">
  <p:tag name="KSO_WM_DIAGRAM_VIRTUALLY_FRAME" val="{&quot;height&quot;:279.06000000000006,&quot;left&quot;:392.4,&quot;top&quot;:170.79,&quot;width&quot;:566.25}"/>
</p:tagLst>
</file>

<file path=ppt/tags/tag15.xml><?xml version="1.0" encoding="utf-8"?>
<p:tagLst xmlns:p="http://schemas.openxmlformats.org/presentationml/2006/main">
  <p:tag name="KSO_WM_DIAGRAM_VIRTUALLY_FRAME" val="{&quot;height&quot;:279.06000000000006,&quot;left&quot;:392.4,&quot;top&quot;:170.79,&quot;width&quot;:566.25}"/>
</p:tagLst>
</file>

<file path=ppt/tags/tag16.xml><?xml version="1.0" encoding="utf-8"?>
<p:tagLst xmlns:p="http://schemas.openxmlformats.org/presentationml/2006/main">
  <p:tag name="KSO_WM_DIAGRAM_VIRTUALLY_FRAME" val="{&quot;height&quot;:279.06000000000006,&quot;left&quot;:392.4,&quot;top&quot;:170.79,&quot;width&quot;:566.25}"/>
</p:tagLst>
</file>

<file path=ppt/tags/tag17.xml><?xml version="1.0" encoding="utf-8"?>
<p:tagLst xmlns:p="http://schemas.openxmlformats.org/presentationml/2006/main">
  <p:tag name="KSO_WM_DIAGRAM_VIRTUALLY_FRAME" val="{&quot;height&quot;:279.06000000000006,&quot;left&quot;:392.4,&quot;top&quot;:170.79,&quot;width&quot;:566.25}"/>
</p:tagLst>
</file>

<file path=ppt/tags/tag18.xml><?xml version="1.0" encoding="utf-8"?>
<p:tagLst xmlns:p="http://schemas.openxmlformats.org/presentationml/2006/main">
  <p:tag name="KSO_WM_DIAGRAM_VIRTUALLY_FRAME" val="{&quot;height&quot;:279.06000000000006,&quot;left&quot;:392.4,&quot;top&quot;:170.79,&quot;width&quot;:566.25}"/>
</p:tagLst>
</file>

<file path=ppt/tags/tag19.xml><?xml version="1.0" encoding="utf-8"?>
<p:tagLst xmlns:p="http://schemas.openxmlformats.org/presentationml/2006/main">
  <p:tag name="KSO_WM_DIAGRAM_VIRTUALLY_FRAME" val="{&quot;height&quot;:280.8,&quot;left&quot;:57.6,&quot;top&quot;:154.8,&quot;width&quot;:847.45}"/>
</p:tagLst>
</file>

<file path=ppt/tags/tag20.xml><?xml version="1.0" encoding="utf-8"?>
<p:tagLst xmlns:p="http://schemas.openxmlformats.org/presentationml/2006/main">
  <p:tag name="KSO_WM_DIAGRAM_VIRTUALLY_FRAME" val="{&quot;height&quot;:280.8,&quot;left&quot;:57.6,&quot;top&quot;:154.8,&quot;width&quot;:847.45}"/>
</p:tagLst>
</file>

<file path=ppt/tags/tag21.xml><?xml version="1.0" encoding="utf-8"?>
<p:tagLst xmlns:p="http://schemas.openxmlformats.org/presentationml/2006/main">
  <p:tag name="KSO_WM_DIAGRAM_VIRTUALLY_FRAME" val="{&quot;height&quot;:280.8,&quot;left&quot;:57.6,&quot;top&quot;:154.8,&quot;width&quot;:847.45}"/>
</p:tagLst>
</file>

<file path=ppt/tags/tag22.xml><?xml version="1.0" encoding="utf-8"?>
<p:tagLst xmlns:p="http://schemas.openxmlformats.org/presentationml/2006/main">
  <p:tag name="KSO_WM_DIAGRAM_VIRTUALLY_FRAME" val="{&quot;height&quot;:280.8,&quot;left&quot;:57.6,&quot;top&quot;:154.8,&quot;width&quot;:847.45}"/>
</p:tagLst>
</file>

<file path=ppt/tags/tag23.xml><?xml version="1.0" encoding="utf-8"?>
<p:tagLst xmlns:p="http://schemas.openxmlformats.org/presentationml/2006/main">
  <p:tag name="KSO_WM_DIAGRAM_VIRTUALLY_FRAME" val="{&quot;height&quot;:280.8,&quot;left&quot;:57.6,&quot;top&quot;:154.8,&quot;width&quot;:847.45}"/>
</p:tagLst>
</file>

<file path=ppt/tags/tag24.xml><?xml version="1.0" encoding="utf-8"?>
<p:tagLst xmlns:p="http://schemas.openxmlformats.org/presentationml/2006/main">
  <p:tag name="KSO_WM_DIAGRAM_VIRTUALLY_FRAME" val="{&quot;height&quot;:280.8,&quot;left&quot;:57.6,&quot;top&quot;:154.8,&quot;width&quot;:847.45}"/>
</p:tagLst>
</file>

<file path=ppt/tags/tag25.xml><?xml version="1.0" encoding="utf-8"?>
<p:tagLst xmlns:p="http://schemas.openxmlformats.org/presentationml/2006/main">
  <p:tag name="KSO_WM_DIAGRAM_VIRTUALLY_FRAME" val="{&quot;height&quot;:280.8,&quot;left&quot;:57.6,&quot;top&quot;:154.8,&quot;width&quot;:847.45}"/>
</p:tagLst>
</file>

<file path=ppt/tags/tag26.xml><?xml version="1.0" encoding="utf-8"?>
<p:tagLst xmlns:p="http://schemas.openxmlformats.org/presentationml/2006/main">
  <p:tag name="KSO_WM_DIAGRAM_VIRTUALLY_FRAME" val="{&quot;height&quot;:280.8,&quot;left&quot;:57.6,&quot;top&quot;:154.8,&quot;width&quot;:847.45}"/>
</p:tagLst>
</file>

<file path=ppt/tags/tag27.xml><?xml version="1.0" encoding="utf-8"?>
<p:tagLst xmlns:p="http://schemas.openxmlformats.org/presentationml/2006/main">
  <p:tag name="KSO_WM_DIAGRAM_VIRTUALLY_FRAME" val="{&quot;height&quot;:280.8,&quot;left&quot;:57.6,&quot;top&quot;:154.8,&quot;width&quot;:847.45}"/>
</p:tagLst>
</file>

<file path=ppt/tags/tag28.xml><?xml version="1.0" encoding="utf-8"?>
<p:tagLst xmlns:p="http://schemas.openxmlformats.org/presentationml/2006/main">
  <p:tag name="KSO_WM_DIAGRAM_VIRTUALLY_FRAME" val="{&quot;height&quot;:280.8,&quot;left&quot;:57.6,&quot;top&quot;:154.8,&quot;width&quot;:847.45}"/>
</p:tagLst>
</file>

<file path=ppt/tags/tag29.xml><?xml version="1.0" encoding="utf-8"?>
<p:tagLst xmlns:p="http://schemas.openxmlformats.org/presentationml/2006/main">
  <p:tag name="KSO_WM_DIAGRAM_VIRTUALLY_FRAME" val="{&quot;height&quot;:280.8,&quot;left&quot;:57.6,&quot;top&quot;:154.8,&quot;width&quot;:847.45}"/>
</p:tagLst>
</file>

<file path=ppt/tags/tag30.xml><?xml version="1.0" encoding="utf-8"?>
<p:tagLst xmlns:p="http://schemas.openxmlformats.org/presentationml/2006/main">
  <p:tag name="KSO_WM_DIAGRAM_VIRTUALLY_FRAME" val="{&quot;height&quot;:280.8,&quot;left&quot;:57.6,&quot;top&quot;:154.8,&quot;width&quot;:847.45}"/>
</p:tagLst>
</file>

<file path=ppt/tags/tag31.xml><?xml version="1.0" encoding="utf-8"?>
<p:tagLst xmlns:p="http://schemas.openxmlformats.org/presentationml/2006/main">
  <p:tag name="KSO_WM_DIAGRAM_VIRTUALLY_FRAME" val="{&quot;height&quot;:280.8,&quot;left&quot;:57.6,&quot;top&quot;:154.8,&quot;width&quot;:847.45}"/>
</p:tagLst>
</file>

<file path=ppt/tags/tag32.xml><?xml version="1.0" encoding="utf-8"?>
<p:tagLst xmlns:p="http://schemas.openxmlformats.org/presentationml/2006/main">
  <p:tag name="KSO_WM_DIAGRAM_VIRTUALLY_FRAME" val="{&quot;height&quot;:280.8,&quot;left&quot;:57.6,&quot;top&quot;:154.8,&quot;width&quot;:847.45}"/>
</p:tagLst>
</file>

<file path=ppt/tags/tag33.xml><?xml version="1.0" encoding="utf-8"?>
<p:tagLst xmlns:p="http://schemas.openxmlformats.org/presentationml/2006/main">
  <p:tag name="KSO_WM_DIAGRAM_VIRTUALLY_FRAME" val="{&quot;height&quot;:280.8,&quot;left&quot;:57.6,&quot;top&quot;:154.8,&quot;width&quot;:847.45}"/>
</p:tagLst>
</file>

<file path=ppt/tags/tag34.xml><?xml version="1.0" encoding="utf-8"?>
<p:tagLst xmlns:p="http://schemas.openxmlformats.org/presentationml/2006/main">
  <p:tag name="KSO_WM_DIAGRAM_VIRTUALLY_FRAME" val="{&quot;height&quot;:280.8,&quot;left&quot;:57.6,&quot;top&quot;:154.8,&quot;width&quot;:847.45}"/>
</p:tagLst>
</file>

<file path=ppt/tags/tag35.xml><?xml version="1.0" encoding="utf-8"?>
<p:tagLst xmlns:p="http://schemas.openxmlformats.org/presentationml/2006/main">
  <p:tag name="KSO_WM_DIAGRAM_VIRTUALLY_FRAME" val="{&quot;height&quot;:280.8,&quot;left&quot;:57.6,&quot;top&quot;:154.8,&quot;width&quot;:847.45}"/>
</p:tagLst>
</file>

<file path=ppt/tags/tag36.xml><?xml version="1.0" encoding="utf-8"?>
<p:tagLst xmlns:p="http://schemas.openxmlformats.org/presentationml/2006/main">
  <p:tag name="KSO_WM_DIAGRAM_VIRTUALLY_FRAME" val="{&quot;height&quot;:280.8,&quot;left&quot;:57.6,&quot;top&quot;:154.8,&quot;width&quot;:847.45}"/>
</p:tagLst>
</file>

<file path=ppt/tags/tag37.xml><?xml version="1.0" encoding="utf-8"?>
<p:tagLst xmlns:p="http://schemas.openxmlformats.org/presentationml/2006/main">
  <p:tag name="KSO_WM_DIAGRAM_VIRTUALLY_FRAME" val="{&quot;height&quot;:280.8,&quot;left&quot;:57.6,&quot;top&quot;:154.8,&quot;width&quot;:847.45}"/>
</p:tagLst>
</file>

<file path=ppt/tags/tag38.xml><?xml version="1.0" encoding="utf-8"?>
<p:tagLst xmlns:p="http://schemas.openxmlformats.org/presentationml/2006/main">
  <p:tag name="KSO_WM_DIAGRAM_VIRTUALLY_FRAME" val="{&quot;height&quot;:280.8,&quot;left&quot;:57.6,&quot;top&quot;:154.8,&quot;width&quot;:847.45}"/>
</p:tagLst>
</file>

<file path=ppt/tags/tag39.xml><?xml version="1.0" encoding="utf-8"?>
<p:tagLst xmlns:p="http://schemas.openxmlformats.org/presentationml/2006/main">
  <p:tag name="KSO_WM_DIAGRAM_VIRTUALLY_FRAME" val="{&quot;height&quot;:262.8,&quot;left&quot;:57.6,&quot;top&quot;:154.8,&quot;width&quot;:845.9999212598425}"/>
</p:tagLst>
</file>

<file path=ppt/tags/tag40.xml><?xml version="1.0" encoding="utf-8"?>
<p:tagLst xmlns:p="http://schemas.openxmlformats.org/presentationml/2006/main">
  <p:tag name="KSO_WM_DIAGRAM_VIRTUALLY_FRAME" val="{&quot;height&quot;:262.8,&quot;left&quot;:57.6,&quot;top&quot;:154.8,&quot;width&quot;:845.9999212598425}"/>
</p:tagLst>
</file>

<file path=ppt/tags/tag41.xml><?xml version="1.0" encoding="utf-8"?>
<p:tagLst xmlns:p="http://schemas.openxmlformats.org/presentationml/2006/main">
  <p:tag name="KSO_WM_DIAGRAM_VIRTUALLY_FRAME" val="{&quot;height&quot;:262.8,&quot;left&quot;:57.6,&quot;top&quot;:154.8,&quot;width&quot;:845.9999212598425}"/>
</p:tagLst>
</file>

<file path=ppt/tags/tag42.xml><?xml version="1.0" encoding="utf-8"?>
<p:tagLst xmlns:p="http://schemas.openxmlformats.org/presentationml/2006/main">
  <p:tag name="KSO_WM_DIAGRAM_VIRTUALLY_FRAME" val="{&quot;height&quot;:262.8,&quot;left&quot;:57.6,&quot;top&quot;:154.8,&quot;width&quot;:845.9999212598425}"/>
</p:tagLst>
</file>

<file path=ppt/tags/tag43.xml><?xml version="1.0" encoding="utf-8"?>
<p:tagLst xmlns:p="http://schemas.openxmlformats.org/presentationml/2006/main">
  <p:tag name="KSO_WM_DIAGRAM_VIRTUALLY_FRAME" val="{&quot;height&quot;:262.8,&quot;left&quot;:57.6,&quot;top&quot;:154.8,&quot;width&quot;:845.9999212598425}"/>
</p:tagLst>
</file>

<file path=ppt/tags/tag44.xml><?xml version="1.0" encoding="utf-8"?>
<p:tagLst xmlns:p="http://schemas.openxmlformats.org/presentationml/2006/main">
  <p:tag name="KSO_WM_DIAGRAM_VIRTUALLY_FRAME" val="{&quot;height&quot;:262.8,&quot;left&quot;:57.6,&quot;top&quot;:154.8,&quot;width&quot;:845.9999212598425}"/>
</p:tagLst>
</file>

<file path=ppt/tags/tag45.xml><?xml version="1.0" encoding="utf-8"?>
<p:tagLst xmlns:p="http://schemas.openxmlformats.org/presentationml/2006/main">
  <p:tag name="KSO_WM_DIAGRAM_VIRTUALLY_FRAME" val="{&quot;height&quot;:262.8,&quot;left&quot;:57.6,&quot;top&quot;:154.8,&quot;width&quot;:845.9999212598425}"/>
</p:tagLst>
</file>

<file path=ppt/tags/tag46.xml><?xml version="1.0" encoding="utf-8"?>
<p:tagLst xmlns:p="http://schemas.openxmlformats.org/presentationml/2006/main">
  <p:tag name="KSO_WM_DIAGRAM_VIRTUALLY_FRAME" val="{&quot;height&quot;:262.8,&quot;left&quot;:57.6,&quot;top&quot;:154.8,&quot;width&quot;:845.9999212598425}"/>
</p:tagLst>
</file>

<file path=ppt/tags/tag47.xml><?xml version="1.0" encoding="utf-8"?>
<p:tagLst xmlns:p="http://schemas.openxmlformats.org/presentationml/2006/main">
  <p:tag name="KSO_WM_DIAGRAM_VIRTUALLY_FRAME" val="{&quot;height&quot;:262.8,&quot;left&quot;:57.6,&quot;top&quot;:154.8,&quot;width&quot;:845.9999212598425}"/>
</p:tagLst>
</file>

<file path=ppt/tags/tag48.xml><?xml version="1.0" encoding="utf-8"?>
<p:tagLst xmlns:p="http://schemas.openxmlformats.org/presentationml/2006/main">
  <p:tag name="KSO_WM_DIAGRAM_VIRTUALLY_FRAME" val="{&quot;height&quot;:262.8,&quot;left&quot;:57.6,&quot;top&quot;:154.8,&quot;width&quot;:845.9999212598425}"/>
</p:tagLst>
</file>

<file path=ppt/tags/tag49.xml><?xml version="1.0" encoding="utf-8"?>
<p:tagLst xmlns:p="http://schemas.openxmlformats.org/presentationml/2006/main">
  <p:tag name="KSO_WM_DIAGRAM_VIRTUALLY_FRAME" val="{&quot;height&quot;:262.8,&quot;left&quot;:57.6,&quot;top&quot;:154.8,&quot;width&quot;:845.9999212598425}"/>
</p:tagLst>
</file>

<file path=ppt/tags/tag50.xml><?xml version="1.0" encoding="utf-8"?>
<p:tagLst xmlns:p="http://schemas.openxmlformats.org/presentationml/2006/main">
  <p:tag name="KSO_WM_DIAGRAM_VIRTUALLY_FRAME" val="{&quot;height&quot;:262.8,&quot;left&quot;:57.6,&quot;top&quot;:154.8,&quot;width&quot;:845.9999212598425}"/>
</p:tagLst>
</file>

<file path=ppt/tags/tag51.xml><?xml version="1.0" encoding="utf-8"?>
<p:tagLst xmlns:p="http://schemas.openxmlformats.org/presentationml/2006/main">
  <p:tag name="KSO_WM_DIAGRAM_VIRTUALLY_FRAME" val="{&quot;height&quot;:262.8,&quot;left&quot;:57.6,&quot;top&quot;:154.8,&quot;width&quot;:845.9999212598425}"/>
</p:tagLst>
</file>

<file path=ppt/tags/tag52.xml><?xml version="1.0" encoding="utf-8"?>
<p:tagLst xmlns:p="http://schemas.openxmlformats.org/presentationml/2006/main">
  <p:tag name="KSO_WM_DIAGRAM_VIRTUALLY_FRAME" val="{&quot;height&quot;:262.8,&quot;left&quot;:57.6,&quot;top&quot;:154.8,&quot;width&quot;:845.9999212598425}"/>
</p:tagLst>
</file>

<file path=ppt/tags/tag53.xml><?xml version="1.0" encoding="utf-8"?>
<p:tagLst xmlns:p="http://schemas.openxmlformats.org/presentationml/2006/main">
  <p:tag name="KSO_WM_DIAGRAM_VIRTUALLY_FRAME" val="{&quot;height&quot;:262.8,&quot;left&quot;:57.6,&quot;top&quot;:154.8,&quot;width&quot;:845.9999212598425}"/>
</p:tagLst>
</file>

<file path=ppt/tags/tag54.xml><?xml version="1.0" encoding="utf-8"?>
<p:tagLst xmlns:p="http://schemas.openxmlformats.org/presentationml/2006/main">
  <p:tag name="KSO_WM_DIAGRAM_VIRTUALLY_FRAME" val="{&quot;height&quot;:255.6,&quot;left&quot;:57.6,&quot;top&quot;:158.4,&quot;width&quot;:845.9999212598425}"/>
</p:tagLst>
</file>

<file path=ppt/tags/tag55.xml><?xml version="1.0" encoding="utf-8"?>
<p:tagLst xmlns:p="http://schemas.openxmlformats.org/presentationml/2006/main">
  <p:tag name="KSO_WM_DIAGRAM_VIRTUALLY_FRAME" val="{&quot;height&quot;:255.6,&quot;left&quot;:57.6,&quot;top&quot;:158.4,&quot;width&quot;:845.9999212598425}"/>
</p:tagLst>
</file>

<file path=ppt/tags/tag56.xml><?xml version="1.0" encoding="utf-8"?>
<p:tagLst xmlns:p="http://schemas.openxmlformats.org/presentationml/2006/main">
  <p:tag name="KSO_WM_DIAGRAM_VIRTUALLY_FRAME" val="{&quot;height&quot;:255.6,&quot;left&quot;:57.6,&quot;top&quot;:158.4,&quot;width&quot;:845.9999212598425}"/>
</p:tagLst>
</file>

<file path=ppt/tags/tag57.xml><?xml version="1.0" encoding="utf-8"?>
<p:tagLst xmlns:p="http://schemas.openxmlformats.org/presentationml/2006/main">
  <p:tag name="KSO_WM_DIAGRAM_VIRTUALLY_FRAME" val="{&quot;height&quot;:255.6,&quot;left&quot;:57.6,&quot;top&quot;:158.4,&quot;width&quot;:845.9999212598425}"/>
</p:tagLst>
</file>

<file path=ppt/tags/tag58.xml><?xml version="1.0" encoding="utf-8"?>
<p:tagLst xmlns:p="http://schemas.openxmlformats.org/presentationml/2006/main">
  <p:tag name="KSO_WM_DIAGRAM_VIRTUALLY_FRAME" val="{&quot;height&quot;:255.6,&quot;left&quot;:57.6,&quot;top&quot;:158.4,&quot;width&quot;:845.9999212598425}"/>
</p:tagLst>
</file>

<file path=ppt/tags/tag59.xml><?xml version="1.0" encoding="utf-8"?>
<p:tagLst xmlns:p="http://schemas.openxmlformats.org/presentationml/2006/main">
  <p:tag name="KSO_WM_DIAGRAM_VIRTUALLY_FRAME" val="{&quot;height&quot;:255.6,&quot;left&quot;:57.6,&quot;top&quot;:158.4,&quot;width&quot;:845.9999212598425}"/>
</p:tagLst>
</file>

<file path=ppt/tags/tag60.xml><?xml version="1.0" encoding="utf-8"?>
<p:tagLst xmlns:p="http://schemas.openxmlformats.org/presentationml/2006/main">
  <p:tag name="KSO_WM_DIAGRAM_VIRTUALLY_FRAME" val="{&quot;height&quot;:255.6,&quot;left&quot;:57.6,&quot;top&quot;:158.4,&quot;width&quot;:845.9999212598425}"/>
</p:tagLst>
</file>

<file path=ppt/tags/tag61.xml><?xml version="1.0" encoding="utf-8"?>
<p:tagLst xmlns:p="http://schemas.openxmlformats.org/presentationml/2006/main">
  <p:tag name="KSO_WM_DIAGRAM_VIRTUALLY_FRAME" val="{&quot;height&quot;:255.6,&quot;left&quot;:57.6,&quot;top&quot;:158.4,&quot;width&quot;:845.9999212598425}"/>
</p:tagLst>
</file>

<file path=ppt/tags/tag62.xml><?xml version="1.0" encoding="utf-8"?>
<p:tagLst xmlns:p="http://schemas.openxmlformats.org/presentationml/2006/main">
  <p:tag name="KSO_WM_DIAGRAM_VIRTUALLY_FRAME" val="{&quot;height&quot;:255.6,&quot;left&quot;:57.6,&quot;top&quot;:158.4,&quot;width&quot;:845.9999212598425}"/>
</p:tagLst>
</file>

<file path=ppt/tags/tag63.xml><?xml version="1.0" encoding="utf-8"?>
<p:tagLst xmlns:p="http://schemas.openxmlformats.org/presentationml/2006/main">
  <p:tag name="KSO_WM_DIAGRAM_VIRTUALLY_FRAME" val="{&quot;height&quot;:255.6,&quot;left&quot;:57.6,&quot;top&quot;:158.4,&quot;width&quot;:845.9999212598425}"/>
</p:tagLst>
</file>

<file path=ppt/tags/tag64.xml><?xml version="1.0" encoding="utf-8"?>
<p:tagLst xmlns:p="http://schemas.openxmlformats.org/presentationml/2006/main">
  <p:tag name="KSO_WM_DIAGRAM_VIRTUALLY_FRAME" val="{&quot;height&quot;:255.6,&quot;left&quot;:57.6,&quot;top&quot;:158.4,&quot;width&quot;:845.9999212598425}"/>
</p:tagLst>
</file>

<file path=ppt/tags/tag65.xml><?xml version="1.0" encoding="utf-8"?>
<p:tagLst xmlns:p="http://schemas.openxmlformats.org/presentationml/2006/main">
  <p:tag name="KSO_WM_DIAGRAM_VIRTUALLY_FRAME" val="{&quot;height&quot;:255.6,&quot;left&quot;:57.6,&quot;top&quot;:158.4,&quot;width&quot;:845.9999212598425}"/>
</p:tagLst>
</file>

<file path=ppt/tags/tag66.xml><?xml version="1.0" encoding="utf-8"?>
<p:tagLst xmlns:p="http://schemas.openxmlformats.org/presentationml/2006/main">
  <p:tag name="KSO_WM_DIAGRAM_VIRTUALLY_FRAME" val="{&quot;height&quot;:255.6,&quot;left&quot;:57.6,&quot;top&quot;:158.4,&quot;width&quot;:845.9999212598425}"/>
</p:tagLst>
</file>

<file path=ppt/tags/tag67.xml><?xml version="1.0" encoding="utf-8"?>
<p:tagLst xmlns:p="http://schemas.openxmlformats.org/presentationml/2006/main">
  <p:tag name="KSO_WM_DIAGRAM_VIRTUALLY_FRAME" val="{&quot;height&quot;:255.6,&quot;left&quot;:57.6,&quot;top&quot;:158.4,&quot;width&quot;:845.9999212598425}"/>
</p:tagLst>
</file>

<file path=ppt/tags/tag68.xml><?xml version="1.0" encoding="utf-8"?>
<p:tagLst xmlns:p="http://schemas.openxmlformats.org/presentationml/2006/main">
  <p:tag name="KSO_WM_DIAGRAM_VIRTUALLY_FRAME" val="{&quot;height&quot;:255.6,&quot;left&quot;:57.6,&quot;top&quot;:158.4,&quot;width&quot;:845.9999212598425}"/>
</p:tagLst>
</file>

<file path=ppt/tags/tag69.xml><?xml version="1.0" encoding="utf-8"?>
<p:tagLst xmlns:p="http://schemas.openxmlformats.org/presentationml/2006/main">
  <p:tag name="KSO_WM_DIAGRAM_VIRTUALLY_FRAME" val="{&quot;height&quot;:270,&quot;left&quot;:61.2,&quot;top&quot;:154.8,&quot;width&quot;:838.8}"/>
</p:tagLst>
</file>

<file path=ppt/tags/tag70.xml><?xml version="1.0" encoding="utf-8"?>
<p:tagLst xmlns:p="http://schemas.openxmlformats.org/presentationml/2006/main">
  <p:tag name="KSO_WM_DIAGRAM_VIRTUALLY_FRAME" val="{&quot;height&quot;:270,&quot;left&quot;:61.2,&quot;top&quot;:154.8,&quot;width&quot;:838.8}"/>
</p:tagLst>
</file>

<file path=ppt/tags/tag71.xml><?xml version="1.0" encoding="utf-8"?>
<p:tagLst xmlns:p="http://schemas.openxmlformats.org/presentationml/2006/main">
  <p:tag name="KSO_WM_DIAGRAM_VIRTUALLY_FRAME" val="{&quot;height&quot;:270,&quot;left&quot;:61.2,&quot;top&quot;:154.8,&quot;width&quot;:838.8}"/>
</p:tagLst>
</file>

<file path=ppt/tags/tag72.xml><?xml version="1.0" encoding="utf-8"?>
<p:tagLst xmlns:p="http://schemas.openxmlformats.org/presentationml/2006/main">
  <p:tag name="KSO_WM_DIAGRAM_VIRTUALLY_FRAME" val="{&quot;height&quot;:270,&quot;left&quot;:61.2,&quot;top&quot;:154.8,&quot;width&quot;:838.8}"/>
</p:tagLst>
</file>

<file path=ppt/tags/tag73.xml><?xml version="1.0" encoding="utf-8"?>
<p:tagLst xmlns:p="http://schemas.openxmlformats.org/presentationml/2006/main">
  <p:tag name="KSO_WM_DIAGRAM_VIRTUALLY_FRAME" val="{&quot;height&quot;:270,&quot;left&quot;:61.2,&quot;top&quot;:154.8,&quot;width&quot;:838.8}"/>
</p:tagLst>
</file>

<file path=ppt/tags/tag74.xml><?xml version="1.0" encoding="utf-8"?>
<p:tagLst xmlns:p="http://schemas.openxmlformats.org/presentationml/2006/main">
  <p:tag name="KSO_WM_DIAGRAM_VIRTUALLY_FRAME" val="{&quot;height&quot;:270,&quot;left&quot;:61.2,&quot;top&quot;:154.8,&quot;width&quot;:838.8}"/>
</p:tagLst>
</file>

<file path=ppt/tags/tag75.xml><?xml version="1.0" encoding="utf-8"?>
<p:tagLst xmlns:p="http://schemas.openxmlformats.org/presentationml/2006/main">
  <p:tag name="KSO_WM_DIAGRAM_VIRTUALLY_FRAME" val="{&quot;height&quot;:270,&quot;left&quot;:61.2,&quot;top&quot;:154.8,&quot;width&quot;:838.8}"/>
</p:tagLst>
</file>

<file path=ppt/tags/tag76.xml><?xml version="1.0" encoding="utf-8"?>
<p:tagLst xmlns:p="http://schemas.openxmlformats.org/presentationml/2006/main">
  <p:tag name="KSO_WM_DIAGRAM_VIRTUALLY_FRAME" val="{&quot;height&quot;:270,&quot;left&quot;:61.2,&quot;top&quot;:154.8,&quot;width&quot;:838.8}"/>
</p:tagLst>
</file>

<file path=ppt/tags/tag77.xml><?xml version="1.0" encoding="utf-8"?>
<p:tagLst xmlns:p="http://schemas.openxmlformats.org/presentationml/2006/main">
  <p:tag name="KSO_WM_DIAGRAM_VIRTUALLY_FRAME" val="{&quot;height&quot;:270,&quot;left&quot;:61.2,&quot;top&quot;:154.8,&quot;width&quot;:838.8}"/>
</p:tagLst>
</file>

<file path=ppt/tags/tag78.xml><?xml version="1.0" encoding="utf-8"?>
<p:tagLst xmlns:p="http://schemas.openxmlformats.org/presentationml/2006/main">
  <p:tag name="KSO_WM_DIAGRAM_VIRTUALLY_FRAME" val="{&quot;height&quot;:270,&quot;left&quot;:61.2,&quot;top&quot;:154.8,&quot;width&quot;:838.8}"/>
</p:tagLst>
</file>

<file path=ppt/tags/tag79.xml><?xml version="1.0" encoding="utf-8"?>
<p:tagLst xmlns:p="http://schemas.openxmlformats.org/presentationml/2006/main">
  <p:tag name="KSO_WM_DIAGRAM_VIRTUALLY_FRAME" val="{&quot;height&quot;:270,&quot;left&quot;:61.2,&quot;top&quot;:154.8,&quot;width&quot;:838.8}"/>
</p:tagLst>
</file>

<file path=ppt/tags/tag80.xml><?xml version="1.0" encoding="utf-8"?>
<p:tagLst xmlns:p="http://schemas.openxmlformats.org/presentationml/2006/main">
  <p:tag name="KSO_WM_DIAGRAM_VIRTUALLY_FRAME" val="{&quot;height&quot;:270,&quot;left&quot;:61.2,&quot;top&quot;:154.8,&quot;width&quot;:838.8}"/>
</p:tagLst>
</file>

<file path=ppt/tags/tag81.xml><?xml version="1.0" encoding="utf-8"?>
<p:tagLst xmlns:p="http://schemas.openxmlformats.org/presentationml/2006/main">
  <p:tag name="KSO_WM_DIAGRAM_VIRTUALLY_FRAME" val="{&quot;height&quot;:270,&quot;left&quot;:61.2,&quot;top&quot;:154.8,&quot;width&quot;:838.8}"/>
</p:tagLst>
</file>

<file path=ppt/tags/tag82.xml><?xml version="1.0" encoding="utf-8"?>
<p:tagLst xmlns:p="http://schemas.openxmlformats.org/presentationml/2006/main">
  <p:tag name="KSO_WM_DIAGRAM_VIRTUALLY_FRAME" val="{&quot;height&quot;:270,&quot;left&quot;:61.2,&quot;top&quot;:154.8,&quot;width&quot;:838.8}"/>
</p:tagLst>
</file>

<file path=ppt/tags/tag83.xml><?xml version="1.0" encoding="utf-8"?>
<p:tagLst xmlns:p="http://schemas.openxmlformats.org/presentationml/2006/main">
  <p:tag name="KSO_WM_DIAGRAM_VIRTUALLY_FRAME" val="{&quot;height&quot;:270,&quot;left&quot;:61.2,&quot;top&quot;:154.8,&quot;width&quot;:838.8}"/>
</p:tagLst>
</file>

<file path=ppt/tags/tag84.xml><?xml version="1.0" encoding="utf-8"?>
<p:tagLst xmlns:p="http://schemas.openxmlformats.org/presentationml/2006/main">
  <p:tag name="KSO_WM_DIAGRAM_VIRTUALLY_FRAME" val="{&quot;height&quot;:270,&quot;left&quot;:61.2,&quot;top&quot;:154.8,&quot;width&quot;:838.8}"/>
</p:tagLst>
</file>

<file path=ppt/tags/tag85.xml><?xml version="1.0" encoding="utf-8"?>
<p:tagLst xmlns:p="http://schemas.openxmlformats.org/presentationml/2006/main">
  <p:tag name="KSO_WM_DIAGRAM_VIRTUALLY_FRAME" val="{&quot;height&quot;:270,&quot;left&quot;:61.2,&quot;top&quot;:154.8,&quot;width&quot;:838.8}"/>
</p:tagLst>
</file>

<file path=ppt/tags/tag86.xml><?xml version="1.0" encoding="utf-8"?>
<p:tagLst xmlns:p="http://schemas.openxmlformats.org/presentationml/2006/main">
  <p:tag name="KSO_WM_DIAGRAM_VIRTUALLY_FRAME" val="{&quot;height&quot;:270,&quot;left&quot;:61.2,&quot;top&quot;:154.8,&quot;width&quot;:838.8}"/>
</p:tagLst>
</file>

<file path=ppt/tags/tag87.xml><?xml version="1.0" encoding="utf-8"?>
<p:tagLst xmlns:p="http://schemas.openxmlformats.org/presentationml/2006/main">
  <p:tag name="KSO_WM_DIAGRAM_VIRTUALLY_FRAME" val="{&quot;height&quot;:319.0764825218985,&quot;left&quot;:464.4,&quot;top&quot;:147.59989614697292,&quot;width&quot;:444.25}"/>
</p:tagLst>
</file>

<file path=ppt/tags/tag88.xml><?xml version="1.0" encoding="utf-8"?>
<p:tagLst xmlns:p="http://schemas.openxmlformats.org/presentationml/2006/main">
  <p:tag name="KSO_WM_DIAGRAM_VIRTUALLY_FRAME" val="{&quot;height&quot;:319.0764825218985,&quot;left&quot;:464.4,&quot;top&quot;:147.59989614697292,&quot;width&quot;:444.25}"/>
</p:tagLst>
</file>

<file path=ppt/tags/tag89.xml><?xml version="1.0" encoding="utf-8"?>
<p:tagLst xmlns:p="http://schemas.openxmlformats.org/presentationml/2006/main">
  <p:tag name="KSO_WM_DIAGRAM_VIRTUALLY_FRAME" val="{&quot;height&quot;:319.0764825218985,&quot;left&quot;:464.4,&quot;top&quot;:147.59989614697292,&quot;width&quot;:444.25}"/>
</p:tagLst>
</file>

<file path=ppt/tags/tag90.xml><?xml version="1.0" encoding="utf-8"?>
<p:tagLst xmlns:p="http://schemas.openxmlformats.org/presentationml/2006/main">
  <p:tag name="KSO_WM_DIAGRAM_VIRTUALLY_FRAME" val="{&quot;height&quot;:319.0764825218985,&quot;left&quot;:464.4,&quot;top&quot;:147.59989614697292,&quot;width&quot;:444.25}"/>
</p:tagLst>
</file>

<file path=ppt/tags/tag91.xml><?xml version="1.0" encoding="utf-8"?>
<p:tagLst xmlns:p="http://schemas.openxmlformats.org/presentationml/2006/main">
  <p:tag name="KSO_WM_DIAGRAM_VIRTUALLY_FRAME" val="{&quot;height&quot;:319.0764825218985,&quot;left&quot;:464.4,&quot;top&quot;:147.59989614697292,&quot;width&quot;:444.25}"/>
</p:tagLst>
</file>

<file path=ppt/tags/tag92.xml><?xml version="1.0" encoding="utf-8"?>
<p:tagLst xmlns:p="http://schemas.openxmlformats.org/presentationml/2006/main">
  <p:tag name="KSO_WM_DIAGRAM_VIRTUALLY_FRAME" val="{&quot;height&quot;:319.0764825218985,&quot;left&quot;:464.4,&quot;top&quot;:147.59989614697292,&quot;width&quot;:444.25}"/>
</p:tagLst>
</file>

<file path=ppt/tags/tag93.xml><?xml version="1.0" encoding="utf-8"?>
<p:tagLst xmlns:p="http://schemas.openxmlformats.org/presentationml/2006/main">
  <p:tag name="KSO_WM_DIAGRAM_VIRTUALLY_FRAME" val="{&quot;height&quot;:319.0764825218985,&quot;left&quot;:464.4,&quot;top&quot;:147.59989614697292,&quot;width&quot;:444.25}"/>
</p:tagLst>
</file>

<file path=ppt/tags/tag94.xml><?xml version="1.0" encoding="utf-8"?>
<p:tagLst xmlns:p="http://schemas.openxmlformats.org/presentationml/2006/main">
  <p:tag name="KSO_WM_DIAGRAM_VIRTUALLY_FRAME" val="{&quot;height&quot;:319.0764825218985,&quot;left&quot;:464.4,&quot;top&quot;:147.59989614697292,&quot;width&quot;:444.25}"/>
</p:tagLst>
</file>

<file path=ppt/tags/tag95.xml><?xml version="1.0" encoding="utf-8"?>
<p:tagLst xmlns:p="http://schemas.openxmlformats.org/presentationml/2006/main">
  <p:tag name="KSO_WM_DIAGRAM_VIRTUALLY_FRAME" val="{&quot;height&quot;:319.0764825218985,&quot;left&quot;:464.4,&quot;top&quot;:147.59989614697292,&quot;width&quot;:444.25}"/>
</p:tagLst>
</file>

<file path=ppt/tags/tag96.xml><?xml version="1.0" encoding="utf-8"?>
<p:tagLst xmlns:p="http://schemas.openxmlformats.org/presentationml/2006/main">
  <p:tag name="KSO_WM_DIAGRAM_VIRTUALLY_FRAME" val="{&quot;height&quot;:319.0764825218985,&quot;left&quot;:464.4,&quot;top&quot;:147.59989614697292,&quot;width&quot;:444.25}"/>
</p:tagLst>
</file>

<file path=ppt/tags/tag97.xml><?xml version="1.0" encoding="utf-8"?>
<p:tagLst xmlns:p="http://schemas.openxmlformats.org/presentationml/2006/main">
  <p:tag name="KSO_WM_DIAGRAM_VIRTUALLY_FRAME" val="{&quot;height&quot;:319.0764825218985,&quot;left&quot;:464.4,&quot;top&quot;:147.59989614697292,&quot;width&quot;:444.25}"/>
</p:tagLst>
</file>

<file path=ppt/tags/tag98.xml><?xml version="1.0" encoding="utf-8"?>
<p:tagLst xmlns:p="http://schemas.openxmlformats.org/presentationml/2006/main">
  <p:tag name="KSO_WM_DIAGRAM_VIRTUALLY_FRAME" val="{&quot;height&quot;:319.0764825218985,&quot;left&quot;:464.4,&quot;top&quot;:147.59989614697292,&quot;width&quot;:444.25}"/>
</p:tagLst>
</file>

<file path=ppt/tags/tag99.xml><?xml version="1.0" encoding="utf-8"?>
<p:tagLst xmlns:p="http://schemas.openxmlformats.org/presentationml/2006/main">
  <p:tag name="KSO_WM_DIAGRAM_VIRTUALLY_FRAME" val="{&quot;height&quot;:319.0764825218985,&quot;left&quot;:464.4,&quot;top&quot;:147.59989614697292,&quot;width&quot;:444.2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8093</Words>
  <Application>WPS 表格</Application>
  <PresentationFormat>On-screen Show (4:3)</PresentationFormat>
  <Paragraphs>415</Paragraphs>
  <Slides>13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13</vt:i4>
      </vt:variant>
    </vt:vector>
  </HeadingPairs>
  <TitlesOfParts>
    <vt:vector size="32" baseType="lpstr">
      <vt:lpstr>Arial</vt:lpstr>
      <vt:lpstr>宋体</vt:lpstr>
      <vt:lpstr>Wingdings</vt:lpstr>
      <vt:lpstr>Arial</vt:lpstr>
      <vt:lpstr>Aptos</vt:lpstr>
      <vt:lpstr>Helvetica Neue</vt:lpstr>
      <vt:lpstr>Segoe UI</vt:lpstr>
      <vt:lpstr>Aptos Display</vt:lpstr>
      <vt:lpstr>Segoe UI Variable Display</vt:lpstr>
      <vt:lpstr>Times New Roman</vt:lpstr>
      <vt:lpstr>Calibri</vt:lpstr>
      <vt:lpstr>苹方-简</vt:lpstr>
      <vt:lpstr>汉仪书宋二KW</vt:lpstr>
      <vt:lpstr>微软雅黑</vt:lpstr>
      <vt:lpstr>方正雅意黑 GB18030L2</vt:lpstr>
      <vt:lpstr>宋体</vt:lpstr>
      <vt:lpstr>Arial Unicode MS</vt:lpstr>
      <vt:lpstr>Aptos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6G and Beyond: The Prospects for Intelligent Wireless Connectivity</dc:title>
  <dc:creator>OpenAI</dc:creator>
  <cp:keywords>6G, IMT-2030, AI-native networking, ISAC, wireless connectivity</cp:keywords>
  <dc:description>generated using python-pptx</dc:description>
  <dc:subject>Literature-based overview of 6G technologies, applications and challenges</dc:subject>
  <cp:lastModifiedBy>陆子芃</cp:lastModifiedBy>
  <cp:revision>3</cp:revision>
  <dcterms:created xsi:type="dcterms:W3CDTF">2026-10-26T08:37:30Z</dcterms:created>
  <dcterms:modified xsi:type="dcterms:W3CDTF">2026-10-26T08:37:30Z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2052-12.1.28496.28496</vt:lpwstr>
  </property>
  <property fmtid="{D5CDD505-2E9C-101B-9397-08002B2CF9AE}" pid="3" name="ICV">
    <vt:lpwstr>35C9352415F1416AA76770FF4B0D9C63_12</vt:lpwstr>
  </property>
</Properties>
</file>