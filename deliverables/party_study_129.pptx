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3" r:id="rId15"/>
    <p:sldId id="304" r:id="rId16"/>
    <p:sldId id="305" r:id="rId17"/>
    <p:sldId id="306" r:id="rId1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206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1E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213" y="24"/>
      </p:cViewPr>
      <p:guideLst>
        <p:guide orient="horz" pos="2206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4" Type="http://schemas.openxmlformats.org/officeDocument/2006/relationships/tags" Target="tags/tag2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59A0D-C904-41F3-8514-E74E575143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B2BDB-5959-4F7C-9E46-2E445A5E66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讲解提示</a:t>
            </a:r>
          </a:p>
          <a:p>
            <a:r>
              <a:t>领学逻辑：先看历史成就，再看当下任务，最后看世界与国家大局。联系“总结伟大成就、展望光明前景、指明前进方向”的核心要义，强调学原文、悟原理。提问：哪些工作能够体现“锚定目标”与“一步一步扎实往前走”？</a:t>
            </a:r>
          </a:p>
          <a:p/>
          <a:p>
            <a:r>
              <a:t>资料说明：依据用户提供的第129期《组织生活参考》及《文字文稿1》整理；网页正文采用用户上传的提取文本。专业实践方案为研讨建议，尚非已开展活动。</a:t>
            </a:r>
          </a:p>
          <a:p/>
          <a:p>
            <a:r>
              <a:t>参考链接（编号同第129期资料）：</a:t>
            </a:r>
          </a:p>
          <a:p>
            <a:r>
              <a:t>[1] https://www.gov.cn/yaowen/liebiao/202609/content_7082507.htm</a:t>
            </a:r>
          </a:p>
          <a:p>
            <a:r>
              <a:t>[2] https://www.12371.cn/2026/09/30/ARTI1790766069751331.shtml</a:t>
            </a:r>
          </a:p>
          <a:p>
            <a:r>
              <a:t>[4] https://cpc.people.com.cn/n1/2026/0930/c164113-40808470.html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讲解提示</a:t>
            </a:r>
          </a:p>
          <a:p>
            <a:r>
              <a:t>纲要共18篇62章。主要目标涵盖高质量发展、科技自立自强、深化改革、社会文明、人民生活、美丽中国和国家安全。可补充原文指标帮助理解：全社会研发经费投入年均增长7%以上；单位国内生产总值二氧化碳排放降低17%；地级及以上城市PM2.5浓度降至27微克/立方米以下。上述均为上传文稿中的规划目标，不作为已经完成的成效。强调规划任务之间相互联系，避免只看与本专业直接相关的单一章节。</a:t>
            </a:r>
          </a:p>
          <a:p/>
          <a:p>
            <a:r>
              <a:t>资料说明：依据用户提供的第129期《组织生活参考》及《文字文稿1》整理；网页正文采用用户上传的提取文本。专业实践方案为研讨建议，尚非已开展活动。</a:t>
            </a:r>
          </a:p>
          <a:p/>
          <a:p>
            <a:r>
              <a:t>参考链接（编号同第129期资料）：</a:t>
            </a:r>
          </a:p>
          <a:p>
            <a:r>
              <a:t>[3] https://www.gov.cn/yaowen/liebiao/202603/content_7062633.htm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讲解提示</a:t>
            </a:r>
          </a:p>
          <a:p>
            <a:r>
              <a:t>参考资料⑤以科研攻关、社区民生、工程建设等案例说明“实干”的具体内涵。其中西安交通大学科研团队提出“国家所需，就是科研所向”，可引导学生把论文选题与现实需求结合。资料⑥提出筑牢政治忠诚、坚定理想信念、锤炼务实品格，强调人民立场、正确政绩观与求真务实。这里列出的学科项目均为供支部讨论的建议，并不表示支部已实施或已取得成果。讨论时明确问题、服务对象、方法、责任人和成果评价标准。</a:t>
            </a:r>
          </a:p>
          <a:p/>
          <a:p>
            <a:r>
              <a:t>资料说明：依据用户提供的第129期《组织生活参考》及《文字文稿1》整理；网页正文采用用户上传的提取文本。专业实践方案为研讨建议，尚非已开展活动。</a:t>
            </a:r>
          </a:p>
          <a:p/>
          <a:p>
            <a:r>
              <a:t>参考链接（编号同第129期资料）：</a:t>
            </a:r>
          </a:p>
          <a:p>
            <a:r>
              <a:t>[3] https://www.gov.cn/yaowen/liebiao/202603/content_7062633.htm</a:t>
            </a:r>
          </a:p>
          <a:p>
            <a:r>
              <a:t>[5] https://www.gov.cn/yaowen/liebiao/202610/content_7082575.htm</a:t>
            </a:r>
          </a:p>
          <a:p>
            <a:r>
              <a:t>[6] http://theory.people.com.cn/n1/2026/0216/c40531-40666650.html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讲解提示</a:t>
            </a:r>
          </a:p>
          <a:p>
            <a:r>
              <a:t>本页是组织生活实施安排，不是已经完成的活动记录。各支部可按实际议程推进，不虚构出勤、发言、成果或上传记录。资料⑦同时说明：常规实践项目需产出至少1篇通讯稿及5张代表性照片，实践结束后一周内发送至校团委实践部，相关要求以结项通知为准；“千企百巷”重点考察成果质量与实际价值，不要求常规通讯稿、vlog等材料。两类项目材料要求应区分。常规申报截止日期已过，PPT按2026年10月学习使用场景如实标注；如有后续调整以院系及校团委通知为准。会议结束后由支部按要求及时上传1925。</a:t>
            </a:r>
          </a:p>
          <a:p/>
          <a:p>
            <a:r>
              <a:t>资料说明：依据用户提供的第129期《组织生活参考》及《文字文稿1》整理；网页正文采用用户上传的提取文本。专业实践方案为研讨建议，尚非已开展活动。</a:t>
            </a:r>
          </a:p>
          <a:p/>
          <a:p>
            <a:r>
              <a:t>参考链接（编号同第129期资料）：</a:t>
            </a:r>
          </a:p>
          <a:p>
            <a:r>
              <a:t>[7] https://mp.weixin.qq.com/s/Xcuu-X0WfVLxV3Cw1ospWg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Slide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jpeg"/><Relationship Id="rId14" Type="http://schemas.openxmlformats.org/officeDocument/2006/relationships/image" Target="../media/image2.pn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86" t="11111" r="24692" b="361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0" cy="6919913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0" t="7189" r="2796" b="78333"/>
          <a:stretch>
            <a:fillRect/>
          </a:stretch>
        </p:blipFill>
        <p:spPr>
          <a:xfrm>
            <a:off x="0" y="5067300"/>
            <a:ext cx="12192000" cy="18526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ags" Target="../tags/tag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ags" Target="../tags/tag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ags" Target="../tags/tag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ags" Target="../tags/tag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03300" y="131804"/>
            <a:ext cx="10515600" cy="681990"/>
          </a:xfrm>
        </p:spPr>
        <p:txBody>
          <a:bodyPr>
            <a:spAutoFit/>
          </a:bodyPr>
          <a:lstStyle/>
          <a:p/>
        </p:txBody>
      </p:sp>
      <p:sp>
        <p:nvSpPr>
          <p:cNvPr id="3" name="星形: 五角 2"/>
          <p:cNvSpPr/>
          <p:nvPr/>
        </p:nvSpPr>
        <p:spPr>
          <a:xfrm>
            <a:off x="485322" y="322535"/>
            <a:ext cx="487136" cy="461226"/>
          </a:xfrm>
          <a:prstGeom prst="star5">
            <a:avLst/>
          </a:prstGeom>
          <a:solidFill>
            <a:srgbClr val="D81E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003300" y="783761"/>
            <a:ext cx="10724243" cy="0"/>
          </a:xfrm>
          <a:prstGeom prst="line">
            <a:avLst/>
          </a:prstGeom>
          <a:ln w="28575">
            <a:solidFill>
              <a:srgbClr val="D81E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5978" y="0"/>
            <a:ext cx="3536022" cy="7072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" y="256032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294"/>
              </a:lnSpc>
              <a:spcAft>
                <a:spcPts val="400"/>
              </a:spcAft>
              <a:defRPr sz="2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实干奋进“十五五”开局新征程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95097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44"/>
              </a:lnSpc>
              <a:spcAft>
                <a:spcPts val="400"/>
              </a:spcAft>
              <a:defRPr sz="1430" b="0">
                <a:solidFill>
                  <a:srgbClr val="74625B"/>
                </a:solidFill>
                <a:latin typeface="Noto Sans CJK SC"/>
              </a:defRPr>
            </a:pPr>
            <a:r>
              <a:rPr>
                <a:ea typeface="Noto Sans CJK SC"/>
              </a:rPr>
              <a:t>第129期组织生活专题学习  ·  2026年10月  ·  学习习近平总书记国庆招待会重要讲话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342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01 /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444752"/>
            <a:ext cx="10991088" cy="658368"/>
          </a:xfrm>
          <a:prstGeom prst="roundRect">
            <a:avLst>
              <a:gd name="adj" fmla="val 6000"/>
            </a:avLst>
          </a:prstGeom>
          <a:solidFill>
            <a:srgbClr val="B82020"/>
          </a:solidFill>
          <a:ln w="8255">
            <a:solidFill>
              <a:srgbClr val="B8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572768"/>
            <a:ext cx="10469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806"/>
              </a:lnSpc>
              <a:spcAft>
                <a:spcPts val="4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“坚定信心、锚定目标，一步一步扎实往前走”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7685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74"/>
              </a:lnSpc>
              <a:spcAft>
                <a:spcPts val="400"/>
              </a:spcAft>
              <a:defRPr sz="170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2026年是中国共产党成立105周年、“十五五”开局之年。把讲话学习与规划纲要学习相贯通，理解发展成就、把握战略任务，将个人理想融入党和国家发展大局。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944368"/>
            <a:ext cx="3529584" cy="249631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099816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96"/>
              </a:lnSpc>
              <a:spcAft>
                <a:spcPts val="400"/>
              </a:spcAft>
              <a:defRPr sz="18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01  从伟大成就中坚定信心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75304"/>
            <a:ext cx="32004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93"/>
              </a:lnSpc>
              <a:spcAft>
                <a:spcPts val="400"/>
              </a:spcAft>
              <a:defRPr sz="147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77年来，党团结带领人民创造经济快速发展和社会长期稳定两大奇迹，实现全面建成小康社会的第一个百年奋斗目标。</a:t>
            </a:r>
          </a:p>
          <a:p>
            <a:pPr>
              <a:lnSpc>
                <a:spcPts val="1793"/>
              </a:lnSpc>
              <a:spcAft>
                <a:spcPts val="400"/>
              </a:spcAft>
              <a:defRPr sz="147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深刻认识中国特色社会主义制度优势，对中国式现代化的光明前景充满信心，朝着第二个百年奋斗目标接续奋斗。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2944368"/>
            <a:ext cx="3529584" cy="249631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3099816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96"/>
              </a:lnSpc>
              <a:spcAft>
                <a:spcPts val="400"/>
              </a:spcAft>
              <a:defRPr sz="18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02  以高质量发展实现开局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575304"/>
            <a:ext cx="32004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93"/>
              </a:lnSpc>
              <a:spcAft>
                <a:spcPts val="400"/>
              </a:spcAft>
              <a:defRPr sz="147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坚持稳中求进工作总基调，完整准确全面贯彻新发展理念，加快构建新发展格局，进一步深化改革开放。</a:t>
            </a:r>
          </a:p>
          <a:p>
            <a:pPr>
              <a:lnSpc>
                <a:spcPts val="1793"/>
              </a:lnSpc>
              <a:spcAft>
                <a:spcPts val="400"/>
              </a:spcAft>
              <a:defRPr sz="147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更好统筹发展和安全，推动经济持续向新向优向好发展，切实保障和改善民生，努力完成全年目标任务。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2944368"/>
            <a:ext cx="3529584" cy="249631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099816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96"/>
              </a:lnSpc>
              <a:spcAft>
                <a:spcPts val="400"/>
              </a:spcAft>
              <a:defRPr sz="18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03  在国家大局中找准方向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75304"/>
            <a:ext cx="32004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93"/>
              </a:lnSpc>
              <a:spcAft>
                <a:spcPts val="400"/>
              </a:spcAft>
              <a:defRPr sz="147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坚定不移贯彻“一国两制”，支持港澳融入和服务国家发展大局；深化两岸交流合作，推进祖国统一大业。</a:t>
            </a:r>
          </a:p>
          <a:p>
            <a:pPr>
              <a:lnSpc>
                <a:spcPts val="1793"/>
              </a:lnSpc>
              <a:spcAft>
                <a:spcPts val="400"/>
              </a:spcAft>
              <a:defRPr sz="147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坚持独立自主的和平外交政策，推动落实四大全球倡议、构建人类命运共同体，在复杂形势中保持战略定力。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65099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81"/>
              </a:lnSpc>
              <a:spcAft>
                <a:spcPts val="400"/>
              </a:spcAft>
              <a:defRPr sz="1050" b="0">
                <a:solidFill>
                  <a:srgbClr val="74625B"/>
                </a:solidFill>
                <a:latin typeface="Noto Sans CJK SC"/>
              </a:defRPr>
            </a:pPr>
            <a:r>
              <a:rPr>
                <a:ea typeface="Noto Sans CJK SC"/>
              </a:rPr>
              <a:t>学习依据：第129期《组织生活参考》；参考资料①讲话全文、②会议报道、④“时习之”解读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03300" y="131804"/>
            <a:ext cx="10515600" cy="681990"/>
          </a:xfrm>
        </p:spPr>
        <p:txBody>
          <a:bodyPr>
            <a:spAutoFit/>
          </a:bodyPr>
          <a:lstStyle/>
          <a:p/>
        </p:txBody>
      </p:sp>
      <p:sp>
        <p:nvSpPr>
          <p:cNvPr id="3" name="星形: 五角 2"/>
          <p:cNvSpPr/>
          <p:nvPr/>
        </p:nvSpPr>
        <p:spPr>
          <a:xfrm>
            <a:off x="485322" y="322535"/>
            <a:ext cx="487136" cy="461226"/>
          </a:xfrm>
          <a:prstGeom prst="star5">
            <a:avLst/>
          </a:prstGeom>
          <a:solidFill>
            <a:srgbClr val="D81E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003300" y="783761"/>
            <a:ext cx="10724243" cy="0"/>
          </a:xfrm>
          <a:prstGeom prst="line">
            <a:avLst/>
          </a:prstGeom>
          <a:ln w="28575">
            <a:solidFill>
              <a:srgbClr val="D81E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5978" y="0"/>
            <a:ext cx="3536022" cy="7072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" y="256032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294"/>
              </a:lnSpc>
              <a:spcAft>
                <a:spcPts val="400"/>
              </a:spcAft>
              <a:defRPr sz="2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读懂“十五五”规划纲要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95097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44"/>
              </a:lnSpc>
              <a:spcAft>
                <a:spcPts val="400"/>
              </a:spcAft>
              <a:defRPr sz="1430" b="0">
                <a:solidFill>
                  <a:srgbClr val="74625B"/>
                </a:solidFill>
                <a:latin typeface="Noto Sans CJK SC"/>
              </a:defRPr>
            </a:pPr>
            <a:r>
              <a:rPr>
                <a:ea typeface="Noto Sans CJK SC"/>
              </a:rPr>
              <a:t>把握战略定位、指导原则与重点部署，理解专业学习服务国家发展的方向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342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02 /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435608"/>
            <a:ext cx="10991088" cy="557784"/>
          </a:xfrm>
          <a:prstGeom prst="roundRect">
            <a:avLst>
              <a:gd name="adj" fmla="val 6000"/>
            </a:avLst>
          </a:prstGeom>
          <a:solidFill>
            <a:srgbClr val="F8E9D9"/>
          </a:solidFill>
          <a:ln w="8255">
            <a:solidFill>
              <a:srgbClr val="E6C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53619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96"/>
              </a:lnSpc>
              <a:spcAft>
                <a:spcPts val="400"/>
              </a:spcAft>
              <a:defRPr sz="18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2026—2030年：夯实基础、全面发力的关键时期   →   2035年：基本实现社会主义现代化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194560"/>
            <a:ext cx="3401568" cy="3191256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591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318"/>
              </a:lnSpc>
              <a:spcAft>
                <a:spcPts val="400"/>
              </a:spcAft>
              <a:defRPr sz="19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一条主线 · 六项原则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16352"/>
            <a:ext cx="304495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13"/>
              </a:lnSpc>
              <a:spcAft>
                <a:spcPts val="400"/>
              </a:spcAft>
              <a:defRPr sz="165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主线：推动高质量发展。</a:t>
            </a:r>
          </a:p>
          <a:p>
            <a:pPr>
              <a:lnSpc>
                <a:spcPts val="2013"/>
              </a:lnSpc>
              <a:spcAft>
                <a:spcPts val="400"/>
              </a:spcAft>
              <a:defRPr sz="165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动力：改革创新。</a:t>
            </a:r>
          </a:p>
          <a:p>
            <a:pPr>
              <a:lnSpc>
                <a:spcPts val="2013"/>
              </a:lnSpc>
              <a:spcAft>
                <a:spcPts val="400"/>
              </a:spcAft>
              <a:defRPr sz="165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目的：满足人民美好生活需要。</a:t>
            </a:r>
          </a:p>
          <a:p>
            <a:pPr>
              <a:lnSpc>
                <a:spcPts val="2013"/>
              </a:lnSpc>
              <a:spcAft>
                <a:spcPts val="400"/>
              </a:spcAft>
              <a:defRPr sz="165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保障：全面从严治党。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2"/>
            <a:ext cx="3044952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66"/>
              </a:lnSpc>
              <a:spcAft>
                <a:spcPts val="400"/>
              </a:spcAft>
              <a:defRPr sz="153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坚持党的全面领导、人民至上、高质量发展、全面深化改革、有效市场和有为政府相结合、统筹发展和安全。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2194560"/>
            <a:ext cx="3639312" cy="10515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2276856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74"/>
              </a:lnSpc>
              <a:spcAft>
                <a:spcPts val="400"/>
              </a:spcAft>
              <a:defRPr sz="1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科技创新与现代产业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542032"/>
            <a:ext cx="33558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32"/>
              </a:lnSpc>
              <a:spcAft>
                <a:spcPts val="400"/>
              </a:spcAft>
              <a:defRPr sz="142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加强原始创新和关键核心技术攻关；一体推进教育科技人才发展，深化拓展“人工智能+”。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194560"/>
            <a:ext cx="3639312" cy="10515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276856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74"/>
              </a:lnSpc>
              <a:spcAft>
                <a:spcPts val="400"/>
              </a:spcAft>
              <a:defRPr sz="1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改革开放与强大内需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542032"/>
            <a:ext cx="33558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32"/>
              </a:lnSpc>
              <a:spcAft>
                <a:spcPts val="400"/>
              </a:spcAft>
              <a:defRPr sz="142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纵深推进全国统一大市场；扩大高水平开放，提振消费、扩大有效投资，畅通国内国际双循环。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7952" y="3282696"/>
            <a:ext cx="3639312" cy="10515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3364991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74"/>
              </a:lnSpc>
              <a:spcAft>
                <a:spcPts val="400"/>
              </a:spcAft>
              <a:defRPr sz="1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民生改善与共同富裕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630168"/>
            <a:ext cx="33558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32"/>
              </a:lnSpc>
              <a:spcAft>
                <a:spcPts val="400"/>
              </a:spcAft>
              <a:defRPr sz="142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促进高质量充分就业，完善收入分配和社会保障；推动教育、健康、养老托育等服务提质。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282696"/>
            <a:ext cx="3639312" cy="10515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364991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74"/>
              </a:lnSpc>
              <a:spcAft>
                <a:spcPts val="400"/>
              </a:spcAft>
              <a:defRPr sz="1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城乡协调与文化繁荣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630168"/>
            <a:ext cx="33558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32"/>
              </a:lnSpc>
              <a:spcAft>
                <a:spcPts val="400"/>
              </a:spcAft>
              <a:defRPr sz="142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推进乡村全面振兴和区域协调发展；弘扬社会主义核心价值观，激发文化创新创造活力。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87952" y="4370831"/>
            <a:ext cx="3639312" cy="10515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4453127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74"/>
              </a:lnSpc>
              <a:spcAft>
                <a:spcPts val="400"/>
              </a:spcAft>
              <a:defRPr sz="1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绿色转型与安全保障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4718303"/>
            <a:ext cx="33558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32"/>
              </a:lnSpc>
              <a:spcAft>
                <a:spcPts val="400"/>
              </a:spcAft>
              <a:defRPr sz="142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协同推进降碳、减污、扩绿、增长；统筹发展和安全，提高公共安全与自然灾害防御能力。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370831"/>
            <a:ext cx="3639312" cy="10515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453127"/>
            <a:ext cx="3364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74"/>
              </a:lnSpc>
              <a:spcAft>
                <a:spcPts val="400"/>
              </a:spcAft>
              <a:defRPr sz="1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目标落实与实施保障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718303"/>
            <a:ext cx="33558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32"/>
              </a:lnSpc>
              <a:spcAft>
                <a:spcPts val="400"/>
              </a:spcAft>
              <a:defRPr sz="142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坚持党中央集中统一领导，健全规划实施全周期推进机制，把战略部署转化为具体任务与成效。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65099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81"/>
              </a:lnSpc>
              <a:spcAft>
                <a:spcPts val="400"/>
              </a:spcAft>
              <a:defRPr sz="1050" b="0">
                <a:solidFill>
                  <a:srgbClr val="74625B"/>
                </a:solidFill>
                <a:latin typeface="Noto Sans CJK SC"/>
              </a:defRPr>
            </a:pPr>
            <a:r>
              <a:rPr>
                <a:ea typeface="Noto Sans CJK SC"/>
              </a:rPr>
              <a:t>学习依据：参考资料③《“十五五”规划纲要》第一篇及各专项部署；更多原文与链接见备注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03300" y="131804"/>
            <a:ext cx="10515600" cy="681990"/>
          </a:xfrm>
        </p:spPr>
        <p:txBody>
          <a:bodyPr>
            <a:spAutoFit/>
          </a:bodyPr>
          <a:lstStyle/>
          <a:p/>
        </p:txBody>
      </p:sp>
      <p:sp>
        <p:nvSpPr>
          <p:cNvPr id="3" name="星形: 五角 2"/>
          <p:cNvSpPr/>
          <p:nvPr/>
        </p:nvSpPr>
        <p:spPr>
          <a:xfrm>
            <a:off x="485322" y="322535"/>
            <a:ext cx="487136" cy="461226"/>
          </a:xfrm>
          <a:prstGeom prst="star5">
            <a:avLst/>
          </a:prstGeom>
          <a:solidFill>
            <a:srgbClr val="D81E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003300" y="783761"/>
            <a:ext cx="10724243" cy="0"/>
          </a:xfrm>
          <a:prstGeom prst="line">
            <a:avLst/>
          </a:prstGeom>
          <a:ln w="28575">
            <a:solidFill>
              <a:srgbClr val="D81E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5978" y="0"/>
            <a:ext cx="3536022" cy="7072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" y="256032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294"/>
              </a:lnSpc>
              <a:spcAft>
                <a:spcPts val="400"/>
              </a:spcAft>
              <a:defRPr sz="2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把国家所需转化为专业所长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95097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44"/>
              </a:lnSpc>
              <a:spcAft>
                <a:spcPts val="400"/>
              </a:spcAft>
              <a:defRPr sz="1430" b="0">
                <a:solidFill>
                  <a:srgbClr val="74625B"/>
                </a:solidFill>
                <a:latin typeface="Noto Sans CJK SC"/>
              </a:defRPr>
            </a:pPr>
            <a:r>
              <a:rPr>
                <a:ea typeface="Noto Sans CJK SC"/>
              </a:rPr>
              <a:t>立足大气学科特色与专业优势，围绕绿色发展、生态环境与防灾减灾开展专题研讨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342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03 /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26464"/>
            <a:ext cx="109270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96"/>
              </a:lnSpc>
              <a:spcAft>
                <a:spcPts val="400"/>
              </a:spcAft>
              <a:defRPr sz="18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从“国家所需，就是科研所向”到基层一线办实事：以理论学习明确方向，以调查研究发现问题，以专业能力形成可检验、可应用的成果。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286000"/>
            <a:ext cx="3529584" cy="2697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43230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96"/>
              </a:lnSpc>
              <a:spcAft>
                <a:spcPts val="400"/>
              </a:spcAft>
              <a:defRPr sz="18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绿色低碳与气候应对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89504"/>
            <a:ext cx="3200400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20"/>
              </a:lnSpc>
              <a:spcAft>
                <a:spcPts val="400"/>
              </a:spcAft>
              <a:defRPr sz="14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纲要依据｜第47章：坚持减缓与适应并重，完善碳排放统计核算和动态监测，提升气候变化风险评估能力。</a:t>
            </a:r>
          </a:p>
          <a:p>
            <a:pPr>
              <a:lnSpc>
                <a:spcPts val="1720"/>
              </a:lnSpc>
              <a:spcAft>
                <a:spcPts val="400"/>
              </a:spcAft>
              <a:defRPr sz="14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研讨切口：校园或社区碳排放、极端高温适应：如何把气候数据转化为可执行的低碳建议？</a:t>
            </a:r>
          </a:p>
          <a:p>
            <a:pPr>
              <a:lnSpc>
                <a:spcPts val="1720"/>
              </a:lnSpc>
              <a:spcAft>
                <a:spcPts val="400"/>
              </a:spcAft>
              <a:defRPr sz="14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拟议产出：碳排放核算案例、气候风险分析或面向公众的科普微课。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2286000"/>
            <a:ext cx="3529584" cy="2697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43230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96"/>
              </a:lnSpc>
              <a:spcAft>
                <a:spcPts val="400"/>
              </a:spcAft>
              <a:defRPr sz="18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大气环境与健康民生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889504"/>
            <a:ext cx="3200400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20"/>
              </a:lnSpc>
              <a:spcAft>
                <a:spcPts val="400"/>
              </a:spcAft>
              <a:defRPr sz="14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纲要依据｜第48章：强化PM2.5控制、挥发性有机物源头治理，推进减污降碳与多污染物协同控制。</a:t>
            </a:r>
          </a:p>
          <a:p>
            <a:pPr>
              <a:lnSpc>
                <a:spcPts val="1720"/>
              </a:lnSpc>
              <a:spcAft>
                <a:spcPts val="400"/>
              </a:spcAft>
              <a:defRPr sz="14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研讨切口：结合长三角空气质量与社区需求，分析典型污染过程，识别治理与科普中的具体问题。</a:t>
            </a:r>
          </a:p>
          <a:p>
            <a:pPr>
              <a:lnSpc>
                <a:spcPts val="1720"/>
              </a:lnSpc>
              <a:spcAft>
                <a:spcPts val="400"/>
              </a:spcAft>
              <a:defRPr sz="14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拟议产出：空气质量调研报告、污染成因分析或面向社区的健康防护建议。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286000"/>
            <a:ext cx="3529584" cy="2697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243230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96"/>
              </a:lnSpc>
              <a:spcAft>
                <a:spcPts val="400"/>
              </a:spcAft>
              <a:defRPr sz="18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极端天气与城市韧性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889504"/>
            <a:ext cx="3200400" cy="1984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20"/>
              </a:lnSpc>
              <a:spcAft>
                <a:spcPts val="400"/>
              </a:spcAft>
              <a:defRPr sz="14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纲要依据｜第53章：推动公共安全治理向事前预防转型，提高灾害监测预报预警和防灾减灾救灾能力。</a:t>
            </a:r>
          </a:p>
          <a:p>
            <a:pPr>
              <a:lnSpc>
                <a:spcPts val="1720"/>
              </a:lnSpc>
              <a:spcAft>
                <a:spcPts val="400"/>
              </a:spcAft>
              <a:defRPr sz="14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研讨切口：聚焦暴雨、高温等风险，了解社区预警信息触达和居民避险需求，寻找服务短板。</a:t>
            </a:r>
          </a:p>
          <a:p>
            <a:pPr>
              <a:lnSpc>
                <a:spcPts val="1720"/>
              </a:lnSpc>
              <a:spcAft>
                <a:spcPts val="400"/>
              </a:spcAft>
              <a:defRPr sz="14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拟议产出：风险点位清单、预警传播评估或面向社区、中小学的防灾科普。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093208"/>
            <a:ext cx="10991088" cy="429768"/>
          </a:xfrm>
          <a:prstGeom prst="roundRect">
            <a:avLst>
              <a:gd name="adj" fmla="val 6000"/>
            </a:avLst>
          </a:prstGeom>
          <a:solidFill>
            <a:srgbClr val="F8E9D9"/>
          </a:solidFill>
          <a:ln w="8255">
            <a:solidFill>
              <a:srgbClr val="E6CF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516636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13"/>
              </a:lnSpc>
              <a:spcAft>
                <a:spcPts val="400"/>
              </a:spcAft>
              <a:defRPr sz="165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研讨问题：我的课题回应哪项国家需求？本学期能交付什么成果？如何避免只留痕、重形式？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65099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81"/>
              </a:lnSpc>
              <a:spcAft>
                <a:spcPts val="400"/>
              </a:spcAft>
              <a:defRPr sz="1050" b="0">
                <a:solidFill>
                  <a:srgbClr val="74625B"/>
                </a:solidFill>
                <a:latin typeface="Noto Sans CJK SC"/>
              </a:defRPr>
            </a:pPr>
            <a:r>
              <a:rPr>
                <a:ea typeface="Noto Sans CJK SC"/>
              </a:rPr>
              <a:t>学习依据：参考资料③规划纲要、⑤各界反响、⑥《确保“十五五”开好局、起好步》；实践切口为建议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03300" y="131804"/>
            <a:ext cx="10515600" cy="681990"/>
          </a:xfrm>
        </p:spPr>
        <p:txBody>
          <a:bodyPr>
            <a:spAutoFit/>
          </a:bodyPr>
          <a:lstStyle/>
          <a:p/>
        </p:txBody>
      </p:sp>
      <p:sp>
        <p:nvSpPr>
          <p:cNvPr id="3" name="星形: 五角 2"/>
          <p:cNvSpPr/>
          <p:nvPr/>
        </p:nvSpPr>
        <p:spPr>
          <a:xfrm>
            <a:off x="485322" y="322535"/>
            <a:ext cx="487136" cy="461226"/>
          </a:xfrm>
          <a:prstGeom prst="star5">
            <a:avLst/>
          </a:prstGeom>
          <a:solidFill>
            <a:srgbClr val="D81E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003300" y="783761"/>
            <a:ext cx="10724243" cy="0"/>
          </a:xfrm>
          <a:prstGeom prst="line">
            <a:avLst/>
          </a:prstGeom>
          <a:ln w="28575">
            <a:solidFill>
              <a:srgbClr val="D81E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5978" y="0"/>
            <a:ext cx="3536022" cy="7072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" y="256032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294"/>
              </a:lnSpc>
              <a:spcAft>
                <a:spcPts val="400"/>
              </a:spcAft>
              <a:defRPr sz="270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学思用贯通，知信行统一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95097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44"/>
              </a:lnSpc>
              <a:spcAft>
                <a:spcPts val="400"/>
              </a:spcAft>
              <a:defRPr sz="1430" b="0">
                <a:solidFill>
                  <a:srgbClr val="74625B"/>
                </a:solidFill>
                <a:latin typeface="Noto Sans CJK SC"/>
              </a:defRPr>
            </a:pPr>
            <a:r>
              <a:rPr>
                <a:ea typeface="Noto Sans CJK SC"/>
              </a:rPr>
              <a:t>把组织生活学习成果转化为理论宣讲、社会调研和服务社会的实际行动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342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04 /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435608"/>
            <a:ext cx="5349240" cy="4032504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44768" y="1435608"/>
            <a:ext cx="5449824" cy="4032504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8255">
            <a:solidFill>
              <a:srgbClr val="EA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600200"/>
            <a:ext cx="49651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57"/>
              </a:lnSpc>
              <a:spcAft>
                <a:spcPts val="400"/>
              </a:spcAft>
              <a:defRPr sz="185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学习组织：领学 → 研讨 → 实践 → 复盘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12264"/>
            <a:ext cx="4937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49"/>
              </a:lnSpc>
              <a:spcAft>
                <a:spcPts val="400"/>
              </a:spcAft>
              <a:defRPr sz="168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学原文、悟原理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50592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64"/>
              </a:lnSpc>
              <a:spcAft>
                <a:spcPts val="400"/>
              </a:spcAft>
              <a:defRPr sz="16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书记领学、小组研学、个人自学相结合；可开展支部联学、师生共建，对照讲话与规划梳理学习体会。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00400"/>
            <a:ext cx="4937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49"/>
              </a:lnSpc>
              <a:spcAft>
                <a:spcPts val="400"/>
              </a:spcAft>
              <a:defRPr sz="168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讲理论、察实情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538728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64"/>
              </a:lnSpc>
              <a:spcAft>
                <a:spcPts val="400"/>
              </a:spcAft>
              <a:defRPr sz="16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打磨理论微课，走进社区、中小学开展宣讲，讲好“四史”故事；结合专业走访基层、企业，找准真实需求。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88536"/>
            <a:ext cx="4937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49"/>
              </a:lnSpc>
              <a:spcAft>
                <a:spcPts val="400"/>
              </a:spcAft>
              <a:defRPr sz="168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出成果、促转化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4892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64"/>
              </a:lnSpc>
              <a:spcAft>
                <a:spcPts val="400"/>
              </a:spcAft>
              <a:defRPr sz="161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形成调研报告、政策建议或技术解决方案；学期末在支部、班级交流，推动优秀成果融入支部实践品牌。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600200"/>
            <a:ext cx="50017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57"/>
              </a:lnSpc>
              <a:spcAft>
                <a:spcPts val="400"/>
              </a:spcAft>
              <a:defRPr sz="185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实践安排与会后落实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112264"/>
            <a:ext cx="49834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400"/>
              </a:spcAft>
              <a:defRPr sz="150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秋季实践（2026年9—12月）：结合“千企百巷”科创实践或“强国之路”先锋实践团，围绕技术攻关、基层治理等选题。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97180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3"/>
              </a:lnSpc>
              <a:spcAft>
                <a:spcPts val="400"/>
              </a:spcAft>
              <a:defRPr sz="156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申报提示：常规项目申报已于10月13日截止；“千企百巷”秋季学期内可申报，每院系限2项，同一项目不得同时申报两个主题。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904487"/>
            <a:ext cx="49834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3"/>
              </a:lnSpc>
              <a:spcAft>
                <a:spcPts val="400"/>
              </a:spcAft>
              <a:defRPr sz="1560" b="0">
                <a:solidFill>
                  <a:srgbClr val="382E2B"/>
                </a:solidFill>
                <a:latin typeface="Noto Sans CJK SC"/>
              </a:defRPr>
            </a:pPr>
            <a:r>
              <a:rPr>
                <a:ea typeface="Noto Sans CJK SC"/>
              </a:rPr>
              <a:t>活动组织：明确选题、责任分工、服务对象与成果形式；线下实践提前购买保险，留存真实过程材料，结项要求以通知为准。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773168"/>
            <a:ext cx="49834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64"/>
              </a:lnSpc>
              <a:spcAft>
                <a:spcPts val="400"/>
              </a:spcAft>
              <a:defRPr sz="1610" b="1">
                <a:solidFill>
                  <a:srgbClr val="B82020"/>
                </a:solidFill>
                <a:latin typeface="Noto Sans CJK SC"/>
              </a:defRPr>
            </a:pPr>
            <a:r>
              <a:rPr>
                <a:ea typeface="Noto Sans CJK SC"/>
              </a:rPr>
              <a:t>会后落实：汇总学习记录、交流要点与行动安排，及时上传1925；学期末交流实践成效。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65099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81"/>
              </a:lnSpc>
              <a:spcAft>
                <a:spcPts val="400"/>
              </a:spcAft>
              <a:defRPr sz="1050" b="0">
                <a:solidFill>
                  <a:srgbClr val="74625B"/>
                </a:solidFill>
                <a:latin typeface="Noto Sans CJK SC"/>
              </a:defRPr>
            </a:pPr>
            <a:r>
              <a:rPr>
                <a:ea typeface="Noto Sans CJK SC"/>
              </a:rPr>
              <a:t>学习依据：第129期《组织生活参考》、参考资料⑦秋季社会实践通知；1925上传要求据活动通知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3dcee89e-f438-470e-9907-01a8e1a35bd8"/>
</p:tagLst>
</file>

<file path=ppt/tags/tag2.xml><?xml version="1.0" encoding="utf-8"?>
<p:tagLst xmlns:p="http://schemas.openxmlformats.org/presentationml/2006/main">
  <p:tag name="resource_record_key" val="{&quot;19&quot;:[20348560]}"/>
</p:tagLst>
</file>

<file path=ppt/theme/theme1.xml><?xml version="1.0" encoding="utf-8"?>
<a:theme xmlns:a="http://schemas.openxmlformats.org/drawingml/2006/main" name="WPS">
  <a:themeElements>
    <a:clrScheme name="自定义 14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81E04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d639691-1ad0-4dcf-adda-95183cfa26de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WPS 表格</Application>
  <PresentationFormat>宽屏</PresentationFormat>
  <Paragraphs>10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9" baseType="lpstr">
      <vt:lpstr>Arial</vt:lpstr>
      <vt:lpstr>宋体</vt:lpstr>
      <vt:lpstr>Wingdings</vt:lpstr>
      <vt:lpstr>华文行楷</vt:lpstr>
      <vt:lpstr>方正粗黑宋简体</vt:lpstr>
      <vt:lpstr>微软雅黑</vt:lpstr>
      <vt:lpstr>思源黑体 CN Normal</vt:lpstr>
      <vt:lpstr>汉仪中黑KW</vt:lpstr>
      <vt:lpstr>宋体</vt:lpstr>
      <vt:lpstr>汉仪书宋二KW</vt:lpstr>
      <vt:lpstr>Arial Unicode MS</vt:lpstr>
      <vt:lpstr>等线</vt:lpstr>
      <vt:lpstr>Calibri</vt:lpstr>
      <vt:lpstr>Helvetica Neue</vt:lpstr>
      <vt:lpstr>微软雅黑</vt:lpstr>
      <vt:lpstr>WPS</vt:lpstr>
      <vt:lpstr>云天传信，瀚海连心</vt:lpstr>
      <vt:lpstr>主题说明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实干奋进“十五五”开局新征程｜第129期组织生活专题学习</dc:title>
  <dc:creator/>
  <cp:lastModifiedBy>thelu</cp:lastModifiedBy>
  <cp:revision>37</cp:revision>
  <dcterms:created xsi:type="dcterms:W3CDTF">2026-10-22T12:37:42Z</dcterms:created>
  <dcterms:modified xsi:type="dcterms:W3CDTF">2026-10-22T12:37:42Z</dcterms:modified>
  <dc:subject>国庆招待会重要讲话、“十五五”规划纲要与学生党员实践</dc:subject>
  <cp:keywords>组织生活;第129期;十五五;专题学习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870CCDE3F268C7578903DA6A8E0147B7_43</vt:lpwstr>
  </property>
</Properties>
</file>