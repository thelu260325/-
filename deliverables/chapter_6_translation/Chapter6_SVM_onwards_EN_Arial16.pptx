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113"/>
  </p:notesMasterIdLst>
  <p:sldIdLst>
    <p:sldId id="732" r:id="rId2"/>
    <p:sldId id="728" r:id="rId3"/>
    <p:sldId id="4539" r:id="rId4"/>
    <p:sldId id="729" r:id="rId5"/>
    <p:sldId id="755" r:id="rId6"/>
    <p:sldId id="666" r:id="rId7"/>
    <p:sldId id="757" r:id="rId8"/>
    <p:sldId id="4510" r:id="rId9"/>
    <p:sldId id="4427" r:id="rId10"/>
    <p:sldId id="4449" r:id="rId11"/>
    <p:sldId id="4512" r:id="rId12"/>
    <p:sldId id="4513" r:id="rId13"/>
    <p:sldId id="4514" r:id="rId14"/>
    <p:sldId id="4515" r:id="rId15"/>
    <p:sldId id="4428" r:id="rId16"/>
    <p:sldId id="758" r:id="rId17"/>
    <p:sldId id="4430" r:id="rId18"/>
    <p:sldId id="4448" r:id="rId19"/>
    <p:sldId id="4540" r:id="rId20"/>
    <p:sldId id="4467" r:id="rId21"/>
    <p:sldId id="4431" r:id="rId22"/>
    <p:sldId id="4432" r:id="rId23"/>
    <p:sldId id="4433" r:id="rId24"/>
    <p:sldId id="4434" r:id="rId25"/>
    <p:sldId id="4562" r:id="rId26"/>
    <p:sldId id="4564" r:id="rId27"/>
    <p:sldId id="4565" r:id="rId28"/>
    <p:sldId id="4566" r:id="rId29"/>
    <p:sldId id="4559" r:id="rId30"/>
    <p:sldId id="4567" r:id="rId31"/>
    <p:sldId id="4568" r:id="rId32"/>
    <p:sldId id="4569" r:id="rId33"/>
    <p:sldId id="4570" r:id="rId34"/>
    <p:sldId id="4571" r:id="rId35"/>
    <p:sldId id="4575" r:id="rId36"/>
    <p:sldId id="759" r:id="rId37"/>
    <p:sldId id="4574" r:id="rId38"/>
    <p:sldId id="4572" r:id="rId39"/>
    <p:sldId id="760" r:id="rId40"/>
    <p:sldId id="762" r:id="rId41"/>
    <p:sldId id="763" r:id="rId42"/>
    <p:sldId id="764" r:id="rId43"/>
    <p:sldId id="4573" r:id="rId44"/>
    <p:sldId id="766" r:id="rId45"/>
    <p:sldId id="4556" r:id="rId46"/>
    <p:sldId id="4450" r:id="rId47"/>
    <p:sldId id="4555" r:id="rId48"/>
    <p:sldId id="4522" r:id="rId49"/>
    <p:sldId id="4542" r:id="rId50"/>
    <p:sldId id="4458" r:id="rId51"/>
    <p:sldId id="4459" r:id="rId52"/>
    <p:sldId id="4460" r:id="rId53"/>
    <p:sldId id="4461" r:id="rId54"/>
    <p:sldId id="4468" r:id="rId55"/>
    <p:sldId id="4529" r:id="rId56"/>
    <p:sldId id="4526" r:id="rId57"/>
    <p:sldId id="4530" r:id="rId58"/>
    <p:sldId id="4531" r:id="rId59"/>
    <p:sldId id="4462" r:id="rId60"/>
    <p:sldId id="4532" r:id="rId61"/>
    <p:sldId id="4463" r:id="rId62"/>
    <p:sldId id="4553" r:id="rId63"/>
    <p:sldId id="4534" r:id="rId64"/>
    <p:sldId id="4535" r:id="rId65"/>
    <p:sldId id="4536" r:id="rId66"/>
    <p:sldId id="4538" r:id="rId67"/>
    <p:sldId id="4519" r:id="rId68"/>
    <p:sldId id="4520" r:id="rId69"/>
    <p:sldId id="4541" r:id="rId70"/>
    <p:sldId id="4546" r:id="rId71"/>
    <p:sldId id="4549" r:id="rId72"/>
    <p:sldId id="4547" r:id="rId73"/>
    <p:sldId id="4552" r:id="rId74"/>
    <p:sldId id="4517" r:id="rId75"/>
    <p:sldId id="4525" r:id="rId76"/>
    <p:sldId id="811" r:id="rId77"/>
    <p:sldId id="789" r:id="rId78"/>
    <p:sldId id="790" r:id="rId79"/>
    <p:sldId id="791" r:id="rId80"/>
    <p:sldId id="4475" r:id="rId81"/>
    <p:sldId id="4476" r:id="rId82"/>
    <p:sldId id="4469" r:id="rId83"/>
    <p:sldId id="4470" r:id="rId84"/>
    <p:sldId id="4471" r:id="rId85"/>
    <p:sldId id="4511" r:id="rId86"/>
    <p:sldId id="4473" r:id="rId87"/>
    <p:sldId id="4452" r:id="rId88"/>
    <p:sldId id="4453" r:id="rId89"/>
    <p:sldId id="4454" r:id="rId90"/>
    <p:sldId id="4455" r:id="rId91"/>
    <p:sldId id="4456" r:id="rId92"/>
    <p:sldId id="4457" r:id="rId93"/>
    <p:sldId id="4509" r:id="rId94"/>
    <p:sldId id="4523" r:id="rId95"/>
    <p:sldId id="4558" r:id="rId96"/>
    <p:sldId id="4560" r:id="rId97"/>
    <p:sldId id="4561" r:id="rId98"/>
    <p:sldId id="4557" r:id="rId99"/>
    <p:sldId id="4554" r:id="rId100"/>
    <p:sldId id="4492" r:id="rId101"/>
    <p:sldId id="4493" r:id="rId102"/>
    <p:sldId id="4494" r:id="rId103"/>
    <p:sldId id="4495" r:id="rId104"/>
    <p:sldId id="4496" r:id="rId105"/>
    <p:sldId id="4497" r:id="rId106"/>
    <p:sldId id="4499" r:id="rId107"/>
    <p:sldId id="4501" r:id="rId108"/>
    <p:sldId id="4502" r:id="rId109"/>
    <p:sldId id="4563" r:id="rId110"/>
    <p:sldId id="4442" r:id="rId111"/>
    <p:sldId id="4443" r:id="rId112"/>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84">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FF"/>
    <a:srgbClr val="16754D"/>
    <a:srgbClr val="669900"/>
    <a:srgbClr val="457460"/>
    <a:srgbClr val="009999"/>
    <a:srgbClr val="9900FF"/>
    <a:srgbClr val="0066FF"/>
    <a:srgbClr val="99CC00"/>
    <a:srgbClr val="CC3399"/>
    <a:srgbClr val="6600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891"/>
    <p:restoredTop sz="92866" autoAdjust="0"/>
  </p:normalViewPr>
  <p:slideViewPr>
    <p:cSldViewPr snapToGrid="0">
      <p:cViewPr varScale="1">
        <p:scale>
          <a:sx n="95" d="100"/>
          <a:sy n="95" d="100"/>
        </p:scale>
        <p:origin x="423" y="60"/>
      </p:cViewPr>
      <p:guideLst>
        <p:guide orient="horz" pos="2084"/>
        <p:guide pos="2880"/>
      </p:guideLst>
    </p:cSldViewPr>
  </p:slideViewPr>
  <p:notesTextViewPr>
    <p:cViewPr>
      <p:scale>
        <a:sx n="1" d="1"/>
        <a:sy n="1" d="1"/>
      </p:scale>
      <p:origin x="0" y="0"/>
    </p:cViewPr>
  </p:notesTextViewPr>
  <p:sorterViewPr>
    <p:cViewPr>
      <p:scale>
        <a:sx n="100" d="100"/>
        <a:sy n="100" d="100"/>
      </p:scale>
      <p:origin x="0" y="6372"/>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schemas.openxmlformats.org/officeDocument/2006/relationships/tableStyles" Target="tableStyles.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notesMaster" Target="notesMasters/notesMaster1.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heme" Target="theme/theme1.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2F37CF0-5B85-4F82-8895-487FD940EFF8}" type="datetimeFigureOut">
              <a:rPr lang="zh-CN" altLang="en-US" smtClean="0"/>
              <a:t>2025/11/18</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7161C67-365B-455B-8333-B2F385616053}" type="slidenum">
              <a:rPr lang="zh-CN" altLang="en-US" smtClean="0"/>
              <a:t>‹#›</a:t>
            </a:fld>
            <a:endParaRPr lang="zh-CN" altLang="en-US"/>
          </a:p>
        </p:txBody>
      </p:sp>
    </p:spTree>
    <p:extLst>
      <p:ext uri="{BB962C8B-B14F-4D97-AF65-F5344CB8AC3E}">
        <p14:creationId xmlns:p14="http://schemas.microsoft.com/office/powerpoint/2010/main" val="382650554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8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106.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10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1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2</a:t>
            </a:fld>
            <a:endParaRPr lang="zh-CN" altLang="en-US"/>
          </a:p>
        </p:txBody>
      </p:sp>
    </p:spTree>
    <p:extLst>
      <p:ext uri="{BB962C8B-B14F-4D97-AF65-F5344CB8AC3E}">
        <p14:creationId xmlns:p14="http://schemas.microsoft.com/office/powerpoint/2010/main" val="174968387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16905820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6</a:t>
            </a:fld>
            <a:endParaRPr lang="zh-CN" altLang="en-US"/>
          </a:p>
        </p:txBody>
      </p:sp>
    </p:spTree>
    <p:extLst>
      <p:ext uri="{BB962C8B-B14F-4D97-AF65-F5344CB8AC3E}">
        <p14:creationId xmlns:p14="http://schemas.microsoft.com/office/powerpoint/2010/main" val="1488987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6" name="Slide Image Placeholder 1"/>
          <p:cNvSpPr>
            <a:spLocks noGrp="1" noRot="1" noChangeAspect="1" noTextEdit="1"/>
          </p:cNvSpPr>
          <p:nvPr>
            <p:ph type="sldImg"/>
          </p:nvPr>
        </p:nvSpPr>
        <p:spPr>
          <a:xfrm>
            <a:off x="1143000" y="685800"/>
            <a:ext cx="4572000" cy="3429000"/>
          </a:xfrm>
        </p:spPr>
      </p:sp>
      <p:sp>
        <p:nvSpPr>
          <p:cNvPr id="118787" name="Notes Placeholder 2"/>
          <p:cNvSpPr>
            <a:spLocks noGrp="1"/>
          </p:cNvSpPr>
          <p:nvPr>
            <p:ph type="body" idx="1"/>
          </p:nvPr>
        </p:nvSpPr>
        <p:spPr bwMode="auto">
          <a:xfrm>
            <a:off x="685801" y="4343400"/>
            <a:ext cx="5486400" cy="4114800"/>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zh-CN" dirty="0"/>
          </a:p>
        </p:txBody>
      </p:sp>
      <p:sp>
        <p:nvSpPr>
          <p:cNvPr id="118788" name="Slide Number Placeholder 3"/>
          <p:cNvSpPr>
            <a:spLocks noGrp="1"/>
          </p:cNvSpPr>
          <p:nvPr>
            <p:ph type="sldNum" sz="quarter" idx="5"/>
          </p:nvPr>
        </p:nvSpPr>
        <p:spPr>
          <a:noFill/>
          <a:extLst>
            <a:ext uri="{91240B29-F687-4F45-9708-019B960494DF}">
              <a14:hiddenLine xmlns:a14="http://schemas.microsoft.com/office/drawing/2010/main" w="9525">
                <a:solidFill>
                  <a:srgbClr val="000000"/>
                </a:solidFill>
                <a:miter lim="800000"/>
                <a:headEnd/>
                <a:tailEnd/>
              </a14:hiddenLine>
            </a:ext>
          </a:extLst>
        </p:spPr>
        <p:txBody>
          <a:bodyPr/>
          <a:lstStyle>
            <a:lvl1pPr>
              <a:defRPr sz="2800">
                <a:solidFill>
                  <a:schemeClr val="tx1"/>
                </a:solidFill>
                <a:latin typeface="Verdana" panose="020B0604030504040204" pitchFamily="34" charset="0"/>
                <a:ea typeface="宋体" panose="02010600030101010101" pitchFamily="2" charset="-122"/>
              </a:defRPr>
            </a:lvl1pPr>
            <a:lvl2pPr marL="742950" indent="-285750">
              <a:defRPr sz="2800">
                <a:solidFill>
                  <a:schemeClr val="tx1"/>
                </a:solidFill>
                <a:latin typeface="Verdana" panose="020B0604030504040204" pitchFamily="34" charset="0"/>
                <a:ea typeface="宋体" panose="02010600030101010101" pitchFamily="2" charset="-122"/>
              </a:defRPr>
            </a:lvl2pPr>
            <a:lvl3pPr marL="1143000" indent="-228600">
              <a:defRPr sz="2800">
                <a:solidFill>
                  <a:schemeClr val="tx1"/>
                </a:solidFill>
                <a:latin typeface="Verdana" panose="020B0604030504040204" pitchFamily="34" charset="0"/>
                <a:ea typeface="宋体" panose="02010600030101010101" pitchFamily="2" charset="-122"/>
              </a:defRPr>
            </a:lvl3pPr>
            <a:lvl4pPr marL="1600200" indent="-228600">
              <a:defRPr sz="2800">
                <a:solidFill>
                  <a:schemeClr val="tx1"/>
                </a:solidFill>
                <a:latin typeface="Verdana" panose="020B0604030504040204" pitchFamily="34" charset="0"/>
                <a:ea typeface="宋体" panose="02010600030101010101" pitchFamily="2" charset="-122"/>
              </a:defRPr>
            </a:lvl4pPr>
            <a:lvl5pPr marL="2057400" indent="-228600">
              <a:defRPr sz="2800">
                <a:solidFill>
                  <a:schemeClr val="tx1"/>
                </a:solidFill>
                <a:latin typeface="Verdana" panose="020B060403050404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sz="2800">
                <a:solidFill>
                  <a:schemeClr val="tx1"/>
                </a:solidFill>
                <a:latin typeface="Verdana" panose="020B0604030504040204" pitchFamily="34" charset="0"/>
                <a:ea typeface="宋体" panose="02010600030101010101" pitchFamily="2" charset="-122"/>
              </a:defRPr>
            </a:lvl9pPr>
          </a:lstStyle>
          <a:p>
            <a:pPr marL="0" marR="0" lvl="0" indent="0" algn="r" defTabSz="914400" rtl="0" eaLnBrk="1" fontAlgn="auto" latinLnBrk="0" hangingPunct="1">
              <a:lnSpc>
                <a:spcPct val="100000"/>
              </a:lnSpc>
              <a:spcBef>
                <a:spcPts val="0"/>
              </a:spcBef>
              <a:spcAft>
                <a:spcPts val="0"/>
              </a:spcAft>
              <a:buClrTx/>
              <a:buSzTx/>
              <a:buFontTx/>
              <a:buNone/>
              <a:tabLst/>
              <a:defRPr/>
            </a:pPr>
            <a:fld id="{7F41F2F9-585D-48FB-A43B-9B4A6039C5FD}" type="slidenum">
              <a:rPr kumimoji="0" lang="en-US" altLang="zh-CN" sz="2800" b="0" i="0" u="none" strike="noStrike" kern="1200" cap="none" spc="0" normalizeH="0" baseline="0" noProof="0" smtClean="0">
                <a:ln>
                  <a:noFill/>
                </a:ln>
                <a:solidFill>
                  <a:prstClr val="black"/>
                </a:solidFill>
                <a:effectLst/>
                <a:uLnTx/>
                <a:uFillTx/>
                <a:latin typeface="Verdana" panose="020B0604030504040204" pitchFamily="34" charset="0"/>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US" altLang="zh-CN" sz="2800" b="0" i="0" u="none" strike="noStrike" kern="1200" cap="none" spc="0" normalizeH="0" baseline="0" noProof="0" dirty="0">
              <a:ln>
                <a:noFill/>
              </a:ln>
              <a:solidFill>
                <a:prstClr val="black"/>
              </a:solidFill>
              <a:effectLst/>
              <a:uLnTx/>
              <a:uFillTx/>
              <a:latin typeface="Verdana" panose="020B0604030504040204" pitchFamily="34" charset="0"/>
              <a:ea typeface="宋体" panose="02010600030101010101" pitchFamily="2" charset="-122"/>
              <a:cs typeface="+mn-cs"/>
            </a:endParaRPr>
          </a:p>
        </p:txBody>
      </p:sp>
    </p:spTree>
    <p:extLst>
      <p:ext uri="{BB962C8B-B14F-4D97-AF65-F5344CB8AC3E}">
        <p14:creationId xmlns:p14="http://schemas.microsoft.com/office/powerpoint/2010/main" val="125421986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14</a:t>
            </a:fld>
            <a:endParaRPr lang="zh-CN" altLang="en-US"/>
          </a:p>
        </p:txBody>
      </p:sp>
    </p:spTree>
    <p:extLst>
      <p:ext uri="{BB962C8B-B14F-4D97-AF65-F5344CB8AC3E}">
        <p14:creationId xmlns:p14="http://schemas.microsoft.com/office/powerpoint/2010/main" val="261074509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18</a:t>
            </a:fld>
            <a:endParaRPr lang="zh-CN" altLang="en-US"/>
          </a:p>
        </p:txBody>
      </p:sp>
    </p:spTree>
    <p:extLst>
      <p:ext uri="{BB962C8B-B14F-4D97-AF65-F5344CB8AC3E}">
        <p14:creationId xmlns:p14="http://schemas.microsoft.com/office/powerpoint/2010/main" val="30091295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48</a:t>
            </a:fld>
            <a:endParaRPr lang="zh-CN" altLang="en-US"/>
          </a:p>
        </p:txBody>
      </p:sp>
    </p:spTree>
    <p:extLst>
      <p:ext uri="{BB962C8B-B14F-4D97-AF65-F5344CB8AC3E}">
        <p14:creationId xmlns:p14="http://schemas.microsoft.com/office/powerpoint/2010/main" val="374200598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53</a:t>
            </a:fld>
            <a:endParaRPr lang="zh-CN" altLang="en-US"/>
          </a:p>
        </p:txBody>
      </p:sp>
    </p:spTree>
    <p:extLst>
      <p:ext uri="{BB962C8B-B14F-4D97-AF65-F5344CB8AC3E}">
        <p14:creationId xmlns:p14="http://schemas.microsoft.com/office/powerpoint/2010/main" val="381820694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备注占位符 2"/>
              <p:cNvSpPr>
                <a:spLocks noGrp="1"/>
              </p:cNvSpPr>
              <p:nvPr>
                <p:ph type="body" idx="1"/>
              </p:nvPr>
            </p:nvSpPr>
            <p:spPr/>
            <p:txBody>
              <a:bodyPr/>
              <a:lstStyle/>
              <a:p>
                <a:r>
                  <a:rPr lang="zh-CN" altLang="en-US" dirty="0"/>
                  <a:t>通常情形下</a:t>
                </a:r>
                <a:r>
                  <a:rPr lang="en-US" altLang="zh-CN" dirty="0"/>
                  <a:t>, </a:t>
                </a:r>
                <a:r>
                  <a:rPr lang="zh-CN" altLang="en-US" dirty="0"/>
                  <a:t>由于训练集规模有限</a:t>
                </a:r>
                <a:r>
                  <a:rPr lang="en-US" altLang="zh-CN" dirty="0"/>
                  <a:t>, </a:t>
                </a:r>
                <a:r>
                  <a:rPr lang="zh-CN" altLang="en-US" dirty="0"/>
                  <a:t>假设空间 </a:t>
                </a:r>
                <a14:m>
                  <m:oMath xmlns:m="http://schemas.openxmlformats.org/officeDocument/2006/math">
                    <m:r>
                      <a:rPr kumimoji="0" lang="en-US" altLang="zh-CN" sz="1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lang="zh-CN" altLang="en-US" dirty="0"/>
                  <a:t> 中可能存在不止一个与 </a:t>
                </a:r>
                <a14:m>
                  <m:oMath xmlns:m="http://schemas.openxmlformats.org/officeDocument/2006/math">
                    <m:r>
                      <a:rPr lang="en-US" altLang="zh-CN" b="0" i="1" smtClean="0">
                        <a:latin typeface="Cambria Math" panose="02040503050406030204" pitchFamily="18" charset="0"/>
                      </a:rPr>
                      <m:t>𝐷</m:t>
                    </m:r>
                  </m:oMath>
                </a14:m>
                <a:r>
                  <a:rPr lang="zh-CN" altLang="en-US" dirty="0"/>
                  <a:t> 一致的“等效”假设</a:t>
                </a:r>
                <a:r>
                  <a:rPr lang="en-US" altLang="zh-CN" dirty="0"/>
                  <a:t>, </a:t>
                </a:r>
                <a:r>
                  <a:rPr lang="zh-CN" altLang="en-US" dirty="0"/>
                  <a:t>对这些假等效假设</a:t>
                </a:r>
                <a:r>
                  <a:rPr lang="en-US" altLang="zh-CN" dirty="0"/>
                  <a:t>, </a:t>
                </a:r>
                <a:r>
                  <a:rPr lang="zh-CN" altLang="en-US" dirty="0"/>
                  <a:t>无法根据 </a:t>
                </a:r>
                <a14:m>
                  <m:oMath xmlns:m="http://schemas.openxmlformats.org/officeDocument/2006/math">
                    <m:r>
                      <a:rPr lang="en-US" altLang="zh-CN" b="0" i="1" smtClean="0">
                        <a:latin typeface="Cambria Math" panose="02040503050406030204" pitchFamily="18" charset="0"/>
                      </a:rPr>
                      <m:t>𝐷</m:t>
                    </m:r>
                  </m:oMath>
                </a14:m>
                <a:r>
                  <a:rPr lang="zh-CN" altLang="en-US" dirty="0"/>
                  <a:t> 来对它们的有优劣做进一步区分</a:t>
                </a:r>
                <a:r>
                  <a:rPr lang="en-US" altLang="zh-CN" dirty="0"/>
                  <a:t>.</a:t>
                </a:r>
              </a:p>
              <a:p>
                <a:endParaRPr lang="zh-CN" altLang="en-US" dirty="0"/>
              </a:p>
            </p:txBody>
          </p:sp>
        </mc:Choice>
        <mc:Fallback xmlns="">
          <p:sp>
            <p:nvSpPr>
              <p:cNvPr id="3" name="备注占位符 2"/>
              <p:cNvSpPr>
                <a:spLocks noGrp="1"/>
              </p:cNvSpPr>
              <p:nvPr>
                <p:ph type="body" idx="1"/>
              </p:nvPr>
            </p:nvSpPr>
            <p:spPr/>
            <p:txBody>
              <a:bodyPr/>
              <a:lstStyle/>
              <a:p>
                <a:r>
                  <a:rPr lang="zh-CN" altLang="en-US" dirty="0"/>
                  <a:t>通常情形下</a:t>
                </a:r>
                <a:r>
                  <a:rPr lang="en-US" altLang="zh-CN" dirty="0"/>
                  <a:t>, </a:t>
                </a:r>
                <a:r>
                  <a:rPr lang="zh-CN" altLang="en-US" dirty="0"/>
                  <a:t>由于训练集规模有限</a:t>
                </a:r>
                <a:r>
                  <a:rPr lang="en-US" altLang="zh-CN" dirty="0"/>
                  <a:t>, </a:t>
                </a:r>
                <a:r>
                  <a:rPr lang="zh-CN" altLang="en-US" dirty="0"/>
                  <a:t>假设空间 </a:t>
                </a:r>
                <a:r>
                  <a:rPr kumimoji="0" lang="en-US" altLang="zh-CN" sz="1200" b="0" i="0"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rPr>
                  <a:t>ℋ</a:t>
                </a:r>
                <a:r>
                  <a:rPr lang="zh-CN" altLang="en-US" dirty="0"/>
                  <a:t> 中可能存在不止一个与 </a:t>
                </a:r>
                <a:r>
                  <a:rPr lang="en-US" altLang="zh-CN" b="0" i="0">
                    <a:latin typeface="Cambria Math" panose="02040503050406030204" pitchFamily="18" charset="0"/>
                  </a:rPr>
                  <a:t>𝐷</a:t>
                </a:r>
                <a:r>
                  <a:rPr lang="zh-CN" altLang="en-US" dirty="0"/>
                  <a:t> 一致的“等效”假设</a:t>
                </a:r>
                <a:r>
                  <a:rPr lang="en-US" altLang="zh-CN" dirty="0"/>
                  <a:t>, </a:t>
                </a:r>
                <a:r>
                  <a:rPr lang="zh-CN" altLang="en-US" dirty="0"/>
                  <a:t>对这些假等效假设</a:t>
                </a:r>
                <a:r>
                  <a:rPr lang="en-US" altLang="zh-CN" dirty="0"/>
                  <a:t>, </a:t>
                </a:r>
                <a:r>
                  <a:rPr lang="zh-CN" altLang="en-US" dirty="0"/>
                  <a:t>无法根据 </a:t>
                </a:r>
                <a:r>
                  <a:rPr lang="en-US" altLang="zh-CN" b="0" i="0">
                    <a:latin typeface="Cambria Math" panose="02040503050406030204" pitchFamily="18" charset="0"/>
                  </a:rPr>
                  <a:t>𝐷</a:t>
                </a:r>
                <a:r>
                  <a:rPr lang="zh-CN" altLang="en-US" dirty="0"/>
                  <a:t> 来对它们的有优劣做进一步区分</a:t>
                </a:r>
                <a:r>
                  <a:rPr lang="en-US" altLang="zh-CN" dirty="0"/>
                  <a:t>.</a:t>
                </a:r>
              </a:p>
              <a:p>
                <a:endParaRPr lang="zh-CN" altLang="en-US" dirty="0"/>
              </a:p>
            </p:txBody>
          </p:sp>
        </mc:Fallback>
      </mc:AlternateContent>
      <p:sp>
        <p:nvSpPr>
          <p:cNvPr id="4" name="灯片编号占位符 3"/>
          <p:cNvSpPr>
            <a:spLocks noGrp="1"/>
          </p:cNvSpPr>
          <p:nvPr>
            <p:ph type="sldNum" sz="quarter" idx="5"/>
          </p:nvPr>
        </p:nvSpPr>
        <p:spPr/>
        <p:txBody>
          <a:bodyPr/>
          <a:lstStyle/>
          <a:p>
            <a:fld id="{17161C67-365B-455B-8333-B2F385616053}" type="slidenum">
              <a:rPr lang="zh-CN" altLang="en-US" smtClean="0"/>
              <a:t>58</a:t>
            </a:fld>
            <a:endParaRPr lang="zh-CN" altLang="en-US"/>
          </a:p>
        </p:txBody>
      </p:sp>
    </p:spTree>
    <p:extLst>
      <p:ext uri="{BB962C8B-B14F-4D97-AF65-F5344CB8AC3E}">
        <p14:creationId xmlns:p14="http://schemas.microsoft.com/office/powerpoint/2010/main" val="421143049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60</a:t>
            </a:fld>
            <a:endParaRPr lang="zh-CN" altLang="en-US"/>
          </a:p>
        </p:txBody>
      </p:sp>
    </p:spTree>
    <p:extLst>
      <p:ext uri="{BB962C8B-B14F-4D97-AF65-F5344CB8AC3E}">
        <p14:creationId xmlns:p14="http://schemas.microsoft.com/office/powerpoint/2010/main" val="180055928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4415146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9080180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77</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6022040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78</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20554398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228600" indent="-228600">
              <a:buFont typeface="+mj-lt"/>
              <a:buAutoNum type="arabicPeriod"/>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79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406714704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82</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67925228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83</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7977122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84</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1220208650"/>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85</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5177048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1144588" y="687388"/>
            <a:ext cx="4568825" cy="3427412"/>
          </a:xfrm>
        </p:spPr>
      </p:sp>
      <p:sp>
        <p:nvSpPr>
          <p:cNvPr id="3" name="备注占位符 2"/>
          <p:cNvSpPr>
            <a:spLocks noGrp="1"/>
          </p:cNvSpPr>
          <p:nvPr>
            <p:ph type="body" idx="1"/>
          </p:nvPr>
        </p:nvSpPr>
        <p:spPr/>
        <p:txBody>
          <a:bodyPr>
            <a:normAutofit/>
          </a:bodyPr>
          <a:lstStyle/>
          <a:p>
            <a:pPr marL="0" indent="0">
              <a:buFont typeface="+mj-lt"/>
              <a:buNone/>
            </a:pPr>
            <a:endParaRPr lang="zh-CN" altLang="en-US" dirty="0"/>
          </a:p>
        </p:txBody>
      </p:sp>
      <p:sp>
        <p:nvSpPr>
          <p:cNvPr id="4" name="灯片编号占位符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644EAE1A-43E9-4723-AFAD-5A3E57A0C007}"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86</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204547455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99</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359376120"/>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17161C67-365B-455B-8333-B2F385616053}" type="slidenum">
              <a:rPr lang="zh-CN" altLang="en-US" smtClean="0"/>
              <a:t>106</a:t>
            </a:fld>
            <a:endParaRPr lang="zh-CN" altLang="en-US"/>
          </a:p>
        </p:txBody>
      </p:sp>
    </p:spTree>
    <p:extLst>
      <p:ext uri="{BB962C8B-B14F-4D97-AF65-F5344CB8AC3E}">
        <p14:creationId xmlns:p14="http://schemas.microsoft.com/office/powerpoint/2010/main" val="278038088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A20FE4-244A-4A51-1C85-BCB36902FD90}"/>
            </a:ext>
          </a:extLst>
        </p:cNvPr>
        <p:cNvGrpSpPr/>
        <p:nvPr/>
      </p:nvGrpSpPr>
      <p:grpSpPr>
        <a:xfrm>
          <a:off x="0" y="0"/>
          <a:ext cx="0" cy="0"/>
          <a:chOff x="0" y="0"/>
          <a:chExt cx="0" cy="0"/>
        </a:xfrm>
      </p:grpSpPr>
      <p:sp>
        <p:nvSpPr>
          <p:cNvPr id="2" name="幻灯片图像占位符 1">
            <a:extLst>
              <a:ext uri="{FF2B5EF4-FFF2-40B4-BE49-F238E27FC236}">
                <a16:creationId xmlns:a16="http://schemas.microsoft.com/office/drawing/2014/main" id="{30C4A56A-974D-F56C-4DD8-4685D5748DBB}"/>
              </a:ext>
            </a:extLst>
          </p:cNvPr>
          <p:cNvSpPr>
            <a:spLocks noGrp="1" noRot="1" noChangeAspect="1"/>
          </p:cNvSpPr>
          <p:nvPr>
            <p:ph type="sldImg"/>
          </p:nvPr>
        </p:nvSpPr>
        <p:spPr/>
      </p:sp>
      <p:sp>
        <p:nvSpPr>
          <p:cNvPr id="3" name="备注占位符 2">
            <a:extLst>
              <a:ext uri="{FF2B5EF4-FFF2-40B4-BE49-F238E27FC236}">
                <a16:creationId xmlns:a16="http://schemas.microsoft.com/office/drawing/2014/main" id="{CEFA5FCA-CE45-DA41-FCCB-1DE6F1F8714C}"/>
              </a:ext>
            </a:extLst>
          </p:cNvPr>
          <p:cNvSpPr>
            <a:spLocks noGrp="1"/>
          </p:cNvSpPr>
          <p:nvPr>
            <p:ph type="body" idx="1"/>
          </p:nvPr>
        </p:nvSpPr>
        <p:spPr/>
        <p:txBody>
          <a:bodyPr/>
          <a:lstStyle/>
          <a:p>
            <a:endParaRPr lang="zh-CN" altLang="en-US" dirty="0"/>
          </a:p>
        </p:txBody>
      </p:sp>
      <p:sp>
        <p:nvSpPr>
          <p:cNvPr id="4" name="灯片编号占位符 3">
            <a:extLst>
              <a:ext uri="{FF2B5EF4-FFF2-40B4-BE49-F238E27FC236}">
                <a16:creationId xmlns:a16="http://schemas.microsoft.com/office/drawing/2014/main" id="{58C1C57A-E771-6DAB-7B2D-0B4D1078460B}"/>
              </a:ext>
            </a:extLst>
          </p:cNvPr>
          <p:cNvSpPr>
            <a:spLocks noGrp="1"/>
          </p:cNvSpPr>
          <p:nvPr>
            <p:ph type="sldNum" sz="quarter" idx="5"/>
          </p:nvPr>
        </p:nvSpPr>
        <p:spPr/>
        <p:txBody>
          <a:bodyPr/>
          <a:lstStyle/>
          <a:p>
            <a:fld id="{17161C67-365B-455B-8333-B2F385616053}" type="slidenum">
              <a:rPr lang="zh-CN" altLang="en-US" smtClean="0"/>
              <a:t>109</a:t>
            </a:fld>
            <a:endParaRPr lang="zh-CN" altLang="en-US"/>
          </a:p>
        </p:txBody>
      </p:sp>
    </p:spTree>
    <p:extLst>
      <p:ext uri="{BB962C8B-B14F-4D97-AF65-F5344CB8AC3E}">
        <p14:creationId xmlns:p14="http://schemas.microsoft.com/office/powerpoint/2010/main" val="390363944"/>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17161C67-365B-455B-8333-B2F385616053}" type="slidenum">
              <a:rPr kumimoji="0" lang="zh-CN" altLang="en-US" sz="1200" b="0" i="0" u="none" strike="noStrike" kern="1200" cap="none" spc="0" normalizeH="0" baseline="0" noProof="0" smtClean="0">
                <a:ln>
                  <a:noFill/>
                </a:ln>
                <a:solidFill>
                  <a:prstClr val="black"/>
                </a:solidFill>
                <a:effectLst/>
                <a:uLnTx/>
                <a:uFillTx/>
                <a:latin typeface="Calibri"/>
                <a:ea typeface="宋体" panose="02010600030101010101" pitchFamily="2" charset="-122"/>
                <a:cs typeface="+mn-cs"/>
              </a:rPr>
              <a:pPr marL="0" marR="0" lvl="0" indent="0" algn="r" defTabSz="914400" rtl="0" eaLnBrk="1" fontAlgn="auto" latinLnBrk="0" hangingPunct="1">
                <a:lnSpc>
                  <a:spcPct val="100000"/>
                </a:lnSpc>
                <a:spcBef>
                  <a:spcPts val="0"/>
                </a:spcBef>
                <a:spcAft>
                  <a:spcPts val="0"/>
                </a:spcAft>
                <a:buClrTx/>
                <a:buSzTx/>
                <a:buFontTx/>
                <a:buNone/>
                <a:tabLst/>
                <a:defRPr/>
              </a:pPr>
              <a:t>111</a:t>
            </a:fld>
            <a:endParaRPr kumimoji="0" lang="zh-CN" altLang="en-US" sz="1200" b="0" i="0" u="none" strike="noStrike" kern="1200" cap="none" spc="0" normalizeH="0" baseline="0" noProof="0">
              <a:ln>
                <a:noFill/>
              </a:ln>
              <a:solidFill>
                <a:prstClr val="black"/>
              </a:solidFill>
              <a:effectLst/>
              <a:uLnTx/>
              <a:uFillTx/>
              <a:latin typeface="Calibri"/>
              <a:ea typeface="宋体" panose="02010600030101010101" pitchFamily="2" charset="-122"/>
              <a:cs typeface="+mn-cs"/>
            </a:endParaRPr>
          </a:p>
        </p:txBody>
      </p:sp>
    </p:spTree>
    <p:extLst>
      <p:ext uri="{BB962C8B-B14F-4D97-AF65-F5344CB8AC3E}">
        <p14:creationId xmlns:p14="http://schemas.microsoft.com/office/powerpoint/2010/main" val="745208472"/>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702578" y="1057014"/>
            <a:ext cx="7772400" cy="1535184"/>
          </a:xfrm>
        </p:spPr>
        <p:txBody>
          <a:bodyPr anchor="b">
            <a:normAutofit/>
          </a:bodyPr>
          <a:lstStyle>
            <a:lvl1pPr algn="ctr">
              <a:defRPr sz="4800"/>
            </a:lvl1pPr>
          </a:lstStyle>
          <a:p>
            <a:r>
              <a:rPr lang="zh-CN" altLang="en-US"/>
              <a:t>单击此处编辑母版标题样式</a:t>
            </a:r>
            <a:endParaRPr lang="en-US" dirty="0"/>
          </a:p>
        </p:txBody>
      </p:sp>
      <p:sp>
        <p:nvSpPr>
          <p:cNvPr id="3" name="Subtitle 2"/>
          <p:cNvSpPr>
            <a:spLocks noGrp="1"/>
          </p:cNvSpPr>
          <p:nvPr>
            <p:ph type="subTitle" idx="1"/>
          </p:nvPr>
        </p:nvSpPr>
        <p:spPr>
          <a:xfrm>
            <a:off x="1159778" y="402987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en-US" dirty="0"/>
          </a:p>
        </p:txBody>
      </p:sp>
      <p:sp>
        <p:nvSpPr>
          <p:cNvPr id="4" name="Date Placeholder 3"/>
          <p:cNvSpPr>
            <a:spLocks noGrp="1"/>
          </p:cNvSpPr>
          <p:nvPr>
            <p:ph type="dt" sz="half" idx="10"/>
          </p:nvPr>
        </p:nvSpPr>
        <p:spPr/>
        <p:txBody>
          <a:bodyPr/>
          <a:lstStyle/>
          <a:p>
            <a:fld id="{D95AFABB-F632-4F91-92AF-0E2D2EA81731}"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E03C160-1CF6-4197-853C-5DD8144FA9BE}"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699389" y="1057014"/>
            <a:ext cx="7772400" cy="1533600"/>
          </a:xfrm>
        </p:spPr>
        <p:txBody>
          <a:bodyPr anchor="b"/>
          <a:lstStyle>
            <a:lvl1pPr>
              <a:defRPr sz="4800"/>
            </a:lvl1pPr>
          </a:lstStyle>
          <a:p>
            <a:r>
              <a:rPr lang="zh-CN" altLang="en-US"/>
              <a:t>单击此处编辑母版标题样式</a:t>
            </a:r>
            <a:endParaRPr lang="en-US" dirty="0"/>
          </a:p>
        </p:txBody>
      </p:sp>
      <p:sp>
        <p:nvSpPr>
          <p:cNvPr id="3" name="Text Placeholder 2"/>
          <p:cNvSpPr>
            <a:spLocks noGrp="1"/>
          </p:cNvSpPr>
          <p:nvPr>
            <p:ph type="body" idx="1"/>
          </p:nvPr>
        </p:nvSpPr>
        <p:spPr>
          <a:xfrm>
            <a:off x="1164978" y="4027400"/>
            <a:ext cx="6858000" cy="1656000"/>
          </a:xfrm>
        </p:spPr>
        <p:txBody>
          <a:bodyPr/>
          <a:lstStyle>
            <a:lvl1pPr marL="0" indent="0" algn="ctr">
              <a:buNone/>
              <a:defRPr sz="2400">
                <a:solidFill>
                  <a:srgbClr val="002060"/>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p>
        </p:txBody>
      </p:sp>
      <p:sp>
        <p:nvSpPr>
          <p:cNvPr id="4" name="Date Placeholder 3"/>
          <p:cNvSpPr>
            <a:spLocks noGrp="1"/>
          </p:cNvSpPr>
          <p:nvPr>
            <p:ph type="dt" sz="half" idx="10"/>
          </p:nvPr>
        </p:nvSpPr>
        <p:spPr/>
        <p:txBody>
          <a:bodyPr/>
          <a:lstStyle/>
          <a:p>
            <a:fld id="{A42E54B1-0884-4633-8327-893DAA1E511F}"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Date Placeholder 4"/>
          <p:cNvSpPr>
            <a:spLocks noGrp="1"/>
          </p:cNvSpPr>
          <p:nvPr>
            <p:ph type="dt" sz="half" idx="10"/>
          </p:nvPr>
        </p:nvSpPr>
        <p:spPr/>
        <p:txBody>
          <a:bodyPr/>
          <a:lstStyle/>
          <a:p>
            <a:fld id="{0A1650BB-E4E8-4483-82DA-D58DEBC4998C}"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7" name="Date Placeholder 6"/>
          <p:cNvSpPr>
            <a:spLocks noGrp="1"/>
          </p:cNvSpPr>
          <p:nvPr>
            <p:ph type="dt" sz="half" idx="10"/>
          </p:nvPr>
        </p:nvSpPr>
        <p:spPr/>
        <p:txBody>
          <a:bodyPr/>
          <a:lstStyle/>
          <a:p>
            <a:fld id="{26604BCF-E610-4FCE-ADC3-9F4D58E19C5C}" type="datetime1">
              <a:rPr lang="zh-CN" altLang="en-US" smtClean="0"/>
              <a:t>2025/11/18</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Date Placeholder 2"/>
          <p:cNvSpPr>
            <a:spLocks noGrp="1"/>
          </p:cNvSpPr>
          <p:nvPr>
            <p:ph type="dt" sz="half" idx="10"/>
          </p:nvPr>
        </p:nvSpPr>
        <p:spPr/>
        <p:txBody>
          <a:bodyPr/>
          <a:lstStyle/>
          <a:p>
            <a:fld id="{ACBA7D6D-E156-4C2B-9FF2-B27706CE389A}" type="datetime1">
              <a:rPr lang="zh-CN" altLang="en-US" smtClean="0"/>
              <a:t>2025/11/18</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6C0FCEF-073A-4FC7-8BAD-A662F97179A2}" type="datetime1">
              <a:rPr lang="zh-CN" altLang="en-US" smtClean="0"/>
              <a:t>2025/11/18</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845B6709-067F-4154-9C9A-D56718F28438}"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p>
        </p:txBody>
      </p:sp>
      <p:sp>
        <p:nvSpPr>
          <p:cNvPr id="5" name="Date Placeholder 4"/>
          <p:cNvSpPr>
            <a:spLocks noGrp="1"/>
          </p:cNvSpPr>
          <p:nvPr>
            <p:ph type="dt" sz="half" idx="10"/>
          </p:nvPr>
        </p:nvSpPr>
        <p:spPr/>
        <p:txBody>
          <a:bodyPr/>
          <a:lstStyle/>
          <a:p>
            <a:fld id="{5D8D4C65-E77B-45F2-BD81-CFF9643C0CCF}" type="datetime1">
              <a:rPr lang="zh-CN" altLang="en-US" smtClean="0"/>
              <a:t>2025/11/18</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AF906368-F392-4465-AD91-AE646936C52B}"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endParaRPr lang="en-US" dirty="0"/>
          </a:p>
        </p:txBody>
      </p:sp>
      <p:sp>
        <p:nvSpPr>
          <p:cNvPr id="4" name="Date Placeholder 3"/>
          <p:cNvSpPr>
            <a:spLocks noGrp="1"/>
          </p:cNvSpPr>
          <p:nvPr>
            <p:ph type="dt" sz="half" idx="10"/>
          </p:nvPr>
        </p:nvSpPr>
        <p:spPr/>
        <p:txBody>
          <a:bodyPr/>
          <a:lstStyle/>
          <a:p>
            <a:fld id="{813AE443-EA00-4061-899C-73E3EB4E23B9}" type="datetime1">
              <a:rPr lang="zh-CN" altLang="en-US" smtClean="0"/>
              <a:t>2025/11/18</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AD84F5B-1672-4D3F-9FEC-5DF89A7B7912}" type="slidenum">
              <a:rPr lang="zh-CN" altLang="en-US" smtClean="0"/>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0" y="4399"/>
            <a:ext cx="9144000" cy="817721"/>
          </a:xfrm>
          <a:prstGeom prst="rect">
            <a:avLst/>
          </a:prstGeom>
        </p:spPr>
        <p:txBody>
          <a:bodyPr vert="horz" lIns="91440" tIns="144000" rIns="91440" bIns="45720" rtlCol="0" anchor="ctr">
            <a:noAutofit/>
          </a:bodyPr>
          <a:lstStyle/>
          <a:p>
            <a:r>
              <a:rPr lang="zh-CN" altLang="en-US" dirty="0"/>
              <a:t>单击此处编辑母版标题样式</a:t>
            </a:r>
            <a:endParaRPr lang="en-US" dirty="0"/>
          </a:p>
        </p:txBody>
      </p:sp>
      <p:sp>
        <p:nvSpPr>
          <p:cNvPr id="3" name="Text Placeholder 2"/>
          <p:cNvSpPr>
            <a:spLocks noGrp="1"/>
          </p:cNvSpPr>
          <p:nvPr>
            <p:ph type="body" idx="1"/>
          </p:nvPr>
        </p:nvSpPr>
        <p:spPr>
          <a:xfrm>
            <a:off x="134223" y="906011"/>
            <a:ext cx="8883941" cy="5637402"/>
          </a:xfrm>
          <a:prstGeom prst="rect">
            <a:avLst/>
          </a:prstGeom>
        </p:spPr>
        <p:txBody>
          <a:bodyPr vert="horz" lIns="91440" tIns="45720" rIns="91440" bIns="45720" rtlCol="0">
            <a:no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endParaRPr lang="en-US" dirty="0"/>
          </a:p>
        </p:txBody>
      </p:sp>
      <p:sp>
        <p:nvSpPr>
          <p:cNvPr id="4" name="Date Placeholder 3"/>
          <p:cNvSpPr>
            <a:spLocks noGrp="1"/>
          </p:cNvSpPr>
          <p:nvPr>
            <p:ph type="dt" sz="half" idx="2"/>
          </p:nvPr>
        </p:nvSpPr>
        <p:spPr>
          <a:xfrm>
            <a:off x="-525" y="6660859"/>
            <a:ext cx="2057400" cy="197140"/>
          </a:xfrm>
          <a:prstGeom prst="rect">
            <a:avLst/>
          </a:prstGeom>
        </p:spPr>
        <p:txBody>
          <a:bodyPr vert="horz" lIns="91440" tIns="36000" rIns="91440" bIns="45720" rtlCol="0" anchor="ctr"/>
          <a:lstStyle>
            <a:lvl1pPr algn="l">
              <a:defRPr sz="1200" b="1">
                <a:solidFill>
                  <a:srgbClr val="002060"/>
                </a:solidFill>
              </a:defRPr>
            </a:lvl1pPr>
          </a:lstStyle>
          <a:p>
            <a:fld id="{7181A378-AD84-4E06-B1B5-6D5F5ACB78AE}" type="datetime1">
              <a:rPr lang="zh-CN" altLang="en-US" smtClean="0"/>
              <a:t>2025/11/18</a:t>
            </a:fld>
            <a:endParaRPr lang="zh-CN" altLang="en-US"/>
          </a:p>
        </p:txBody>
      </p:sp>
      <p:sp>
        <p:nvSpPr>
          <p:cNvPr id="5" name="Footer Placeholder 4"/>
          <p:cNvSpPr>
            <a:spLocks noGrp="1"/>
          </p:cNvSpPr>
          <p:nvPr>
            <p:ph type="ftr" sz="quarter" idx="3"/>
          </p:nvPr>
        </p:nvSpPr>
        <p:spPr>
          <a:xfrm>
            <a:off x="2273417" y="6660859"/>
            <a:ext cx="4597165" cy="197140"/>
          </a:xfrm>
          <a:prstGeom prst="rect">
            <a:avLst/>
          </a:prstGeom>
        </p:spPr>
        <p:txBody>
          <a:bodyPr vert="horz" lIns="91440" tIns="36000" rIns="91440" bIns="45720" rtlCol="0" anchor="ctr"/>
          <a:lstStyle>
            <a:lvl1pPr algn="ctr">
              <a:defRPr sz="1200" b="0">
                <a:solidFill>
                  <a:srgbClr val="002060"/>
                </a:solidFill>
              </a:defRPr>
            </a:lvl1pPr>
          </a:lstStyle>
          <a:p>
            <a:endParaRPr lang="zh-CN" altLang="en-US"/>
          </a:p>
        </p:txBody>
      </p:sp>
      <p:sp>
        <p:nvSpPr>
          <p:cNvPr id="6" name="Slide Number Placeholder 5"/>
          <p:cNvSpPr>
            <a:spLocks noGrp="1"/>
          </p:cNvSpPr>
          <p:nvPr>
            <p:ph type="sldNum" sz="quarter" idx="4"/>
          </p:nvPr>
        </p:nvSpPr>
        <p:spPr>
          <a:xfrm>
            <a:off x="7086600" y="6660859"/>
            <a:ext cx="2057400" cy="197140"/>
          </a:xfrm>
          <a:prstGeom prst="rect">
            <a:avLst/>
          </a:prstGeom>
        </p:spPr>
        <p:txBody>
          <a:bodyPr vert="horz" lIns="91440" tIns="36000" rIns="91440" bIns="45720" rtlCol="0" anchor="ctr"/>
          <a:lstStyle>
            <a:lvl1pPr algn="r">
              <a:defRPr sz="1200" b="1">
                <a:solidFill>
                  <a:srgbClr val="002060"/>
                </a:solidFill>
              </a:defRPr>
            </a:lvl1pPr>
          </a:lstStyle>
          <a:p>
            <a:fld id="{5AD84F5B-1672-4D3F-9FEC-5DF89A7B7912}" type="slidenum">
              <a:rPr lang="zh-CN" altLang="en-US" smtClean="0"/>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p:titleStyle>
    <p:bodyStyle>
      <a:lvl1pPr marL="360680" indent="-360680" algn="l" defTabSz="914400" rtl="0" eaLnBrk="1" latinLnBrk="0" hangingPunct="1">
        <a:lnSpc>
          <a:spcPct val="130000"/>
        </a:lnSpc>
        <a:spcBef>
          <a:spcPts val="1000"/>
        </a:spcBef>
        <a:buSzPct val="85000"/>
        <a:buFont typeface="Wingdings" panose="05000000000000000000" pitchFamily="2" charset="2"/>
        <a:buChar char="n"/>
        <a:defRPr sz="2400" kern="1200">
          <a:solidFill>
            <a:srgbClr val="002060"/>
          </a:solidFill>
          <a:latin typeface="+mn-lt"/>
          <a:ea typeface="+mn-ea"/>
          <a:cs typeface="+mn-cs"/>
        </a:defRPr>
      </a:lvl1pPr>
      <a:lvl2pPr marL="720725" indent="-360680" algn="l" defTabSz="914400" rtl="0" eaLnBrk="1" latinLnBrk="0" hangingPunct="1">
        <a:lnSpc>
          <a:spcPct val="130000"/>
        </a:lnSpc>
        <a:spcBef>
          <a:spcPts val="500"/>
        </a:spcBef>
        <a:buSzPct val="85000"/>
        <a:buFont typeface="Wingdings" panose="05000000000000000000" pitchFamily="2" charset="2"/>
        <a:buChar char="u"/>
        <a:defRPr sz="2000" kern="1200">
          <a:solidFill>
            <a:srgbClr val="002060"/>
          </a:solidFill>
          <a:latin typeface="+mn-lt"/>
          <a:ea typeface="+mn-ea"/>
          <a:cs typeface="+mn-cs"/>
        </a:defRPr>
      </a:lvl2pPr>
      <a:lvl3pPr marL="990600" indent="-269875" algn="l" defTabSz="914400" rtl="0" eaLnBrk="1" latinLnBrk="0" hangingPunct="1">
        <a:lnSpc>
          <a:spcPct val="130000"/>
        </a:lnSpc>
        <a:spcBef>
          <a:spcPts val="500"/>
        </a:spcBef>
        <a:buSzPct val="85000"/>
        <a:buFont typeface="Wingdings" panose="05000000000000000000" pitchFamily="2" charset="2"/>
        <a:buChar char="l"/>
        <a:defRPr sz="1800" kern="1200">
          <a:solidFill>
            <a:srgbClr val="002060"/>
          </a:solidFill>
          <a:latin typeface="+mn-lt"/>
          <a:ea typeface="+mn-ea"/>
          <a:cs typeface="+mn-cs"/>
        </a:defRPr>
      </a:lvl3pPr>
      <a:lvl4pPr marL="1259205" indent="-268605" algn="l" defTabSz="914400" rtl="0" eaLnBrk="1" latinLnBrk="0" hangingPunct="1">
        <a:lnSpc>
          <a:spcPct val="130000"/>
        </a:lnSpc>
        <a:spcBef>
          <a:spcPts val="500"/>
        </a:spcBef>
        <a:buSzPct val="85000"/>
        <a:buFont typeface="Wingdings" panose="05000000000000000000" pitchFamily="2" charset="2"/>
        <a:buChar char="p"/>
        <a:defRPr sz="1600" kern="1200">
          <a:solidFill>
            <a:srgbClr val="002060"/>
          </a:solidFill>
          <a:latin typeface="+mn-lt"/>
          <a:ea typeface="+mn-ea"/>
          <a:cs typeface="+mn-cs"/>
        </a:defRPr>
      </a:lvl4pPr>
      <a:lvl5pPr marL="1527175" indent="-268605" algn="l" defTabSz="914400" rtl="0" eaLnBrk="1" latinLnBrk="0" hangingPunct="1">
        <a:lnSpc>
          <a:spcPct val="130000"/>
        </a:lnSpc>
        <a:spcBef>
          <a:spcPts val="500"/>
        </a:spcBef>
        <a:buSzPct val="85000"/>
        <a:buFont typeface="Wingdings" panose="05000000000000000000" pitchFamily="2" charset="2"/>
        <a:buChar char="Ø"/>
        <a:defRPr sz="1600" kern="1200">
          <a:solidFill>
            <a:srgbClr val="002060"/>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4.jpeg"/><Relationship Id="rId7" Type="http://schemas.openxmlformats.org/officeDocument/2006/relationships/image" Target="../media/image13.png"/><Relationship Id="rId2" Type="http://schemas.openxmlformats.org/officeDocument/2006/relationships/image" Target="../media/image4.png"/><Relationship Id="rId1" Type="http://schemas.openxmlformats.org/officeDocument/2006/relationships/slideLayout" Target="../slideLayouts/slideLayout2.xml"/><Relationship Id="rId6" Type="http://schemas.openxmlformats.org/officeDocument/2006/relationships/image" Target="../media/image12.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image" Target="../media/image10.jpeg"/><Relationship Id="rId5" Type="http://schemas.openxmlformats.org/officeDocument/2006/relationships/image" Target="../media/image9.png"/><Relationship Id="rId4" Type="http://schemas.openxmlformats.org/officeDocument/2006/relationships/image" Target="../media/image8.png"/></Relationships>
</file>

<file path=ppt/slides/_rels/slide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12.jpeg"/></Relationships>
</file>

<file path=ppt/slides/_rels/slide1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19.png"/><Relationship Id="rId1" Type="http://schemas.openxmlformats.org/officeDocument/2006/relationships/slideLayout" Target="../slideLayouts/slideLayout2.xml"/><Relationship Id="rId5" Type="http://schemas.openxmlformats.org/officeDocument/2006/relationships/image" Target="../media/image26.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 Id="rId4" Type="http://schemas.openxmlformats.org/officeDocument/2006/relationships/image" Target="../media/image29.png"/></Relationships>
</file>

<file path=ppt/slides/_rels/slide1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1.png"/></Relationships>
</file>

<file path=ppt/slides/_rels/slide14.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5.png"/><Relationship Id="rId5" Type="http://schemas.openxmlformats.org/officeDocument/2006/relationships/image" Target="../media/image34.png"/><Relationship Id="rId4" Type="http://schemas.openxmlformats.org/officeDocument/2006/relationships/image" Target="../media/image33.png"/></Relationships>
</file>

<file path=ppt/slides/_rels/slide15.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260.png"/><Relationship Id="rId1" Type="http://schemas.openxmlformats.org/officeDocument/2006/relationships/slideLayout" Target="../slideLayouts/slideLayout2.xml"/><Relationship Id="rId5" Type="http://schemas.openxmlformats.org/officeDocument/2006/relationships/image" Target="../media/image290.png"/><Relationship Id="rId4" Type="http://schemas.openxmlformats.org/officeDocument/2006/relationships/image" Target="../media/image280.png"/></Relationships>
</file>

<file path=ppt/slides/_rels/slide16.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5.png"/><Relationship Id="rId7" Type="http://schemas.openxmlformats.org/officeDocument/2006/relationships/image" Target="../media/image40.png"/><Relationship Id="rId2" Type="http://schemas.openxmlformats.org/officeDocument/2006/relationships/image" Target="../media/image23.png"/><Relationship Id="rId1" Type="http://schemas.openxmlformats.org/officeDocument/2006/relationships/slideLayout" Target="../slideLayouts/slideLayout2.xml"/><Relationship Id="rId6" Type="http://schemas.openxmlformats.org/officeDocument/2006/relationships/image" Target="../media/image230.png"/><Relationship Id="rId5" Type="http://schemas.openxmlformats.org/officeDocument/2006/relationships/image" Target="../media/image227.png"/><Relationship Id="rId4" Type="http://schemas.openxmlformats.org/officeDocument/2006/relationships/image" Target="../media/image30.png"/></Relationships>
</file>

<file path=ppt/slides/_rels/slide18.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image" Target="../media/image32.jpe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image" Target="../media/image42.png"/><Relationship Id="rId1" Type="http://schemas.openxmlformats.org/officeDocument/2006/relationships/slideLayout" Target="../slideLayouts/slideLayout2.xml"/><Relationship Id="rId4" Type="http://schemas.openxmlformats.org/officeDocument/2006/relationships/image" Target="../media/image32.jpeg"/></Relationships>
</file>

<file path=ppt/slides/_rels/slide21.xml.rels><?xml version="1.0" encoding="UTF-8" standalone="yes"?>
<Relationships xmlns="http://schemas.openxmlformats.org/package/2006/relationships"><Relationship Id="rId3" Type="http://schemas.openxmlformats.org/officeDocument/2006/relationships/image" Target="../media/image371.png"/><Relationship Id="rId2" Type="http://schemas.openxmlformats.org/officeDocument/2006/relationships/image" Target="../media/image46.png"/><Relationship Id="rId1" Type="http://schemas.openxmlformats.org/officeDocument/2006/relationships/slideLayout" Target="../slideLayouts/slideLayout2.xml"/><Relationship Id="rId5" Type="http://schemas.openxmlformats.org/officeDocument/2006/relationships/image" Target="../media/image390.png"/><Relationship Id="rId4" Type="http://schemas.openxmlformats.org/officeDocument/2006/relationships/image" Target="../media/image380.png"/></Relationships>
</file>

<file path=ppt/slides/_rels/slide22.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image" Target="../media/image47.png"/><Relationship Id="rId1" Type="http://schemas.openxmlformats.org/officeDocument/2006/relationships/slideLayout" Target="../slideLayouts/slideLayout2.xml"/><Relationship Id="rId5" Type="http://schemas.openxmlformats.org/officeDocument/2006/relationships/image" Target="../media/image430.png"/><Relationship Id="rId4" Type="http://schemas.openxmlformats.org/officeDocument/2006/relationships/image" Target="../media/image420.png"/></Relationships>
</file>

<file path=ppt/slides/_rels/slide23.xml.rels><?xml version="1.0" encoding="UTF-8" standalone="yes"?>
<Relationships xmlns="http://schemas.openxmlformats.org/package/2006/relationships"><Relationship Id="rId3" Type="http://schemas.openxmlformats.org/officeDocument/2006/relationships/image" Target="../media/image450.png"/><Relationship Id="rId2" Type="http://schemas.openxmlformats.org/officeDocument/2006/relationships/image" Target="../media/image440.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470.png"/><Relationship Id="rId2" Type="http://schemas.openxmlformats.org/officeDocument/2006/relationships/image" Target="../media/image460.png"/><Relationship Id="rId1" Type="http://schemas.openxmlformats.org/officeDocument/2006/relationships/slideLayout" Target="../slideLayouts/slideLayout2.xml"/><Relationship Id="rId4" Type="http://schemas.openxmlformats.org/officeDocument/2006/relationships/image" Target="../media/image480.png"/></Relationships>
</file>

<file path=ppt/slides/_rels/slide25.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410.png"/><Relationship Id="rId2" Type="http://schemas.openxmlformats.org/officeDocument/2006/relationships/image" Target="../media/image310.png"/><Relationship Id="rId1" Type="http://schemas.openxmlformats.org/officeDocument/2006/relationships/slideLayout" Target="../slideLayouts/slideLayout2.xml"/><Relationship Id="rId4" Type="http://schemas.openxmlformats.org/officeDocument/2006/relationships/image" Target="../media/image511.png"/></Relationships>
</file>

<file path=ppt/slides/_rels/slide27.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5.png"/><Relationship Id="rId1" Type="http://schemas.openxmlformats.org/officeDocument/2006/relationships/slideLayout" Target="../slideLayouts/slideLayout2.xml"/><Relationship Id="rId5" Type="http://schemas.openxmlformats.org/officeDocument/2006/relationships/image" Target="../media/image911.png"/><Relationship Id="rId4" Type="http://schemas.openxmlformats.org/officeDocument/2006/relationships/image" Target="../media/image50.png"/></Relationships>
</file>

<file path=ppt/slides/_rels/slide28.xml.rels><?xml version="1.0" encoding="UTF-8" standalone="yes"?>
<Relationships xmlns="http://schemas.openxmlformats.org/package/2006/relationships"><Relationship Id="rId3" Type="http://schemas.openxmlformats.org/officeDocument/2006/relationships/image" Target="../media/image1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2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1411.png"/><Relationship Id="rId2" Type="http://schemas.openxmlformats.org/officeDocument/2006/relationships/image" Target="../media/image51.emf"/><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53.png"/><Relationship Id="rId2" Type="http://schemas.openxmlformats.org/officeDocument/2006/relationships/image" Target="../media/image51.emf"/><Relationship Id="rId1" Type="http://schemas.openxmlformats.org/officeDocument/2006/relationships/slideLayout" Target="../slideLayouts/slideLayout2.xml"/><Relationship Id="rId5" Type="http://schemas.openxmlformats.org/officeDocument/2006/relationships/image" Target="../media/image170.png"/><Relationship Id="rId4" Type="http://schemas.openxmlformats.org/officeDocument/2006/relationships/image" Target="../media/image160.png"/></Relationships>
</file>

<file path=ppt/slides/_rels/slide32.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image" Target="../media/image187.png"/><Relationship Id="rId1" Type="http://schemas.openxmlformats.org/officeDocument/2006/relationships/slideLayout" Target="../slideLayouts/slideLayout2.xml"/><Relationship Id="rId4" Type="http://schemas.openxmlformats.org/officeDocument/2006/relationships/image" Target="../media/image200.png"/></Relationships>
</file>

<file path=ppt/slides/_rels/slide33.xml.rels><?xml version="1.0" encoding="UTF-8" standalone="yes"?>
<Relationships xmlns="http://schemas.openxmlformats.org/package/2006/relationships"><Relationship Id="rId3" Type="http://schemas.openxmlformats.org/officeDocument/2006/relationships/image" Target="../media/image224.png"/><Relationship Id="rId2" Type="http://schemas.openxmlformats.org/officeDocument/2006/relationships/image" Target="../media/image210.png"/><Relationship Id="rId1" Type="http://schemas.openxmlformats.org/officeDocument/2006/relationships/slideLayout" Target="../slideLayouts/slideLayout2.xml"/><Relationship Id="rId4" Type="http://schemas.openxmlformats.org/officeDocument/2006/relationships/image" Target="../media/image231.png"/></Relationships>
</file>

<file path=ppt/slides/_rels/slide34.xml.rels><?xml version="1.0" encoding="UTF-8" standalone="yes"?>
<Relationships xmlns="http://schemas.openxmlformats.org/package/2006/relationships"><Relationship Id="rId3" Type="http://schemas.openxmlformats.org/officeDocument/2006/relationships/image" Target="../media/image250.png"/><Relationship Id="rId2" Type="http://schemas.openxmlformats.org/officeDocument/2006/relationships/image" Target="../media/image240.png"/><Relationship Id="rId1" Type="http://schemas.openxmlformats.org/officeDocument/2006/relationships/slideLayout" Target="../slideLayouts/slideLayout2.xml"/><Relationship Id="rId5" Type="http://schemas.openxmlformats.org/officeDocument/2006/relationships/image" Target="../media/image52.png"/><Relationship Id="rId4" Type="http://schemas.openxmlformats.org/officeDocument/2006/relationships/image" Target="../media/image261.png"/></Relationships>
</file>

<file path=ppt/slides/_rels/slide35.xml.rels><?xml version="1.0" encoding="UTF-8" standalone="yes"?>
<Relationships xmlns="http://schemas.openxmlformats.org/package/2006/relationships"><Relationship Id="rId8" Type="http://schemas.openxmlformats.org/officeDocument/2006/relationships/image" Target="../media/image2000.png"/><Relationship Id="rId3" Type="http://schemas.openxmlformats.org/officeDocument/2006/relationships/image" Target="../media/image54.png"/><Relationship Id="rId7" Type="http://schemas.openxmlformats.org/officeDocument/2006/relationships/image" Target="../media/image1900.png"/><Relationship Id="rId2" Type="http://schemas.openxmlformats.org/officeDocument/2006/relationships/image" Target="../media/image53.png"/><Relationship Id="rId1" Type="http://schemas.openxmlformats.org/officeDocument/2006/relationships/slideLayout" Target="../slideLayouts/slideLayout2.xml"/><Relationship Id="rId6" Type="http://schemas.openxmlformats.org/officeDocument/2006/relationships/image" Target="../media/image55.png"/><Relationship Id="rId5" Type="http://schemas.openxmlformats.org/officeDocument/2006/relationships/image" Target="../media/image1700.png"/><Relationship Id="rId4" Type="http://schemas.openxmlformats.org/officeDocument/2006/relationships/image" Target="../media/image1600.png"/><Relationship Id="rId9" Type="http://schemas.openxmlformats.org/officeDocument/2006/relationships/image" Target="../media/image211.png"/></Relationships>
</file>

<file path=ppt/slides/_rels/slide36.xml.rels><?xml version="1.0" encoding="UTF-8" standalone="yes"?>
<Relationships xmlns="http://schemas.openxmlformats.org/package/2006/relationships"><Relationship Id="rId8" Type="http://schemas.openxmlformats.org/officeDocument/2006/relationships/image" Target="../media/image58.png"/><Relationship Id="rId13" Type="http://schemas.openxmlformats.org/officeDocument/2006/relationships/image" Target="../media/image330.png"/><Relationship Id="rId3" Type="http://schemas.openxmlformats.org/officeDocument/2006/relationships/image" Target="../media/image56.png"/><Relationship Id="rId7" Type="http://schemas.openxmlformats.org/officeDocument/2006/relationships/image" Target="../media/image57.png"/><Relationship Id="rId12" Type="http://schemas.openxmlformats.org/officeDocument/2006/relationships/image" Target="../media/image320.png"/><Relationship Id="rId17" Type="http://schemas.openxmlformats.org/officeDocument/2006/relationships/image" Target="../media/image372.png"/><Relationship Id="rId2" Type="http://schemas.openxmlformats.org/officeDocument/2006/relationships/image" Target="../media/image2210.png"/><Relationship Id="rId16" Type="http://schemas.openxmlformats.org/officeDocument/2006/relationships/image" Target="../media/image360.png"/><Relationship Id="rId1" Type="http://schemas.openxmlformats.org/officeDocument/2006/relationships/slideLayout" Target="../slideLayouts/slideLayout2.xml"/><Relationship Id="rId6" Type="http://schemas.openxmlformats.org/officeDocument/2006/relationships/image" Target="../media/image2610.png"/><Relationship Id="rId11" Type="http://schemas.openxmlformats.org/officeDocument/2006/relationships/image" Target="../media/image59.png"/><Relationship Id="rId5" Type="http://schemas.openxmlformats.org/officeDocument/2006/relationships/image" Target="../media/image2500.png"/><Relationship Id="rId15" Type="http://schemas.openxmlformats.org/officeDocument/2006/relationships/image" Target="../media/image351.png"/><Relationship Id="rId10" Type="http://schemas.openxmlformats.org/officeDocument/2006/relationships/image" Target="../media/image300.png"/><Relationship Id="rId4" Type="http://schemas.openxmlformats.org/officeDocument/2006/relationships/image" Target="../media/image2400.png"/><Relationship Id="rId9" Type="http://schemas.openxmlformats.org/officeDocument/2006/relationships/image" Target="../media/image291.png"/><Relationship Id="rId14" Type="http://schemas.openxmlformats.org/officeDocument/2006/relationships/image" Target="../media/image340.png"/></Relationships>
</file>

<file path=ppt/slides/_rels/slide37.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image" Target="../media/image110.png"/><Relationship Id="rId1" Type="http://schemas.openxmlformats.org/officeDocument/2006/relationships/slideLayout" Target="../slideLayouts/slideLayout2.xml"/><Relationship Id="rId4" Type="http://schemas.openxmlformats.org/officeDocument/2006/relationships/image" Target="../media/image61.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501.png"/><Relationship Id="rId2" Type="http://schemas.openxmlformats.org/officeDocument/2006/relationships/image" Target="../media/image491.png"/><Relationship Id="rId1" Type="http://schemas.openxmlformats.org/officeDocument/2006/relationships/slideLayout" Target="../slideLayouts/slideLayout2.xml"/><Relationship Id="rId6" Type="http://schemas.openxmlformats.org/officeDocument/2006/relationships/image" Target="../media/image63.png"/><Relationship Id="rId5" Type="http://schemas.openxmlformats.org/officeDocument/2006/relationships/image" Target="../media/image62.png"/><Relationship Id="rId4" Type="http://schemas.openxmlformats.org/officeDocument/2006/relationships/image" Target="../media/image51.png"/></Relationships>
</file>

<file path=ppt/slides/_rels/slide40.xml.rels><?xml version="1.0" encoding="UTF-8" standalone="yes"?>
<Relationships xmlns="http://schemas.openxmlformats.org/package/2006/relationships"><Relationship Id="rId3" Type="http://schemas.openxmlformats.org/officeDocument/2006/relationships/image" Target="../media/image1110.png"/><Relationship Id="rId2" Type="http://schemas.openxmlformats.org/officeDocument/2006/relationships/image" Target="../media/image106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07.png"/><Relationship Id="rId2" Type="http://schemas.openxmlformats.org/officeDocument/2006/relationships/image" Target="../media/image105.png"/><Relationship Id="rId1" Type="http://schemas.openxmlformats.org/officeDocument/2006/relationships/slideLayout" Target="../slideLayouts/slideLayout2.xml"/><Relationship Id="rId6" Type="http://schemas.openxmlformats.org/officeDocument/2006/relationships/image" Target="../media/image65.png"/><Relationship Id="rId5" Type="http://schemas.openxmlformats.org/officeDocument/2006/relationships/image" Target="../media/image64.png"/><Relationship Id="rId4" Type="http://schemas.openxmlformats.org/officeDocument/2006/relationships/image" Target="../media/image112.png"/></Relationships>
</file>

<file path=ppt/slides/_rels/slide42.xml.rels><?xml version="1.0" encoding="UTF-8" standalone="yes"?>
<Relationships xmlns="http://schemas.openxmlformats.org/package/2006/relationships"><Relationship Id="rId3" Type="http://schemas.openxmlformats.org/officeDocument/2006/relationships/image" Target="../media/image561.png"/><Relationship Id="rId2" Type="http://schemas.openxmlformats.org/officeDocument/2006/relationships/image" Target="../media/image115.png"/><Relationship Id="rId1" Type="http://schemas.openxmlformats.org/officeDocument/2006/relationships/slideLayout" Target="../slideLayouts/slideLayout2.xml"/><Relationship Id="rId6" Type="http://schemas.openxmlformats.org/officeDocument/2006/relationships/image" Target="../media/image591.png"/><Relationship Id="rId5" Type="http://schemas.openxmlformats.org/officeDocument/2006/relationships/image" Target="../media/image581.png"/><Relationship Id="rId4" Type="http://schemas.openxmlformats.org/officeDocument/2006/relationships/image" Target="../media/image571.png"/></Relationships>
</file>

<file path=ppt/slides/_rels/slide43.xml.rels><?xml version="1.0" encoding="UTF-8" standalone="yes"?>
<Relationships xmlns="http://schemas.openxmlformats.org/package/2006/relationships"><Relationship Id="rId3" Type="http://schemas.openxmlformats.org/officeDocument/2006/relationships/image" Target="../media/image610.png"/><Relationship Id="rId7" Type="http://schemas.openxmlformats.org/officeDocument/2006/relationships/image" Target="../media/image651.png"/><Relationship Id="rId2" Type="http://schemas.openxmlformats.org/officeDocument/2006/relationships/image" Target="../media/image601.png"/><Relationship Id="rId1" Type="http://schemas.openxmlformats.org/officeDocument/2006/relationships/slideLayout" Target="../slideLayouts/slideLayout2.xml"/><Relationship Id="rId6" Type="http://schemas.openxmlformats.org/officeDocument/2006/relationships/image" Target="../media/image641.png"/><Relationship Id="rId5" Type="http://schemas.openxmlformats.org/officeDocument/2006/relationships/image" Target="../media/image631.png"/><Relationship Id="rId4" Type="http://schemas.openxmlformats.org/officeDocument/2006/relationships/image" Target="../media/image622.png"/></Relationships>
</file>

<file path=ppt/slides/_rels/slide44.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66.png"/><Relationship Id="rId1" Type="http://schemas.openxmlformats.org/officeDocument/2006/relationships/slideLayout" Target="../slideLayouts/slideLayout2.xml"/><Relationship Id="rId4" Type="http://schemas.openxmlformats.org/officeDocument/2006/relationships/image" Target="../media/image68.png"/></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3" Type="http://schemas.openxmlformats.org/officeDocument/2006/relationships/image" Target="../media/image500.png"/><Relationship Id="rId2" Type="http://schemas.openxmlformats.org/officeDocument/2006/relationships/image" Target="../media/image490.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510.png"/><Relationship Id="rId1" Type="http://schemas.openxmlformats.org/officeDocument/2006/relationships/slideLayout" Target="../slideLayouts/slideLayout2.xml"/><Relationship Id="rId6" Type="http://schemas.openxmlformats.org/officeDocument/2006/relationships/image" Target="../media/image550.png"/><Relationship Id="rId5" Type="http://schemas.openxmlformats.org/officeDocument/2006/relationships/image" Target="../media/image540.png"/><Relationship Id="rId4" Type="http://schemas.openxmlformats.org/officeDocument/2006/relationships/image" Target="../media/image70.png"/></Relationships>
</file>

<file path=ppt/slides/_rels/slide52.xml.rels><?xml version="1.0" encoding="UTF-8" standalone="yes"?>
<Relationships xmlns="http://schemas.openxmlformats.org/package/2006/relationships"><Relationship Id="rId2" Type="http://schemas.openxmlformats.org/officeDocument/2006/relationships/image" Target="../media/image7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570.pn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590.png"/><Relationship Id="rId4" Type="http://schemas.openxmlformats.org/officeDocument/2006/relationships/image" Target="../media/image580.png"/></Relationships>
</file>

<file path=ppt/slides/_rels/slide54.xml.rels><?xml version="1.0" encoding="UTF-8" standalone="yes"?>
<Relationships xmlns="http://schemas.openxmlformats.org/package/2006/relationships"><Relationship Id="rId3" Type="http://schemas.openxmlformats.org/officeDocument/2006/relationships/image" Target="../media/image600.png"/><Relationship Id="rId2" Type="http://schemas.openxmlformats.org/officeDocument/2006/relationships/image" Target="../media/image560.png"/><Relationship Id="rId1" Type="http://schemas.openxmlformats.org/officeDocument/2006/relationships/slideLayout" Target="../slideLayouts/slideLayout2.xml"/><Relationship Id="rId4" Type="http://schemas.openxmlformats.org/officeDocument/2006/relationships/image" Target="../media/image611.png"/></Relationships>
</file>

<file path=ppt/slides/_rels/slide55.xml.rels><?xml version="1.0" encoding="UTF-8" standalone="yes"?>
<Relationships xmlns="http://schemas.openxmlformats.org/package/2006/relationships"><Relationship Id="rId3" Type="http://schemas.openxmlformats.org/officeDocument/2006/relationships/image" Target="../media/image640.png"/><Relationship Id="rId2" Type="http://schemas.openxmlformats.org/officeDocument/2006/relationships/image" Target="../media/image621.png"/><Relationship Id="rId1" Type="http://schemas.openxmlformats.org/officeDocument/2006/relationships/slideLayout" Target="../slideLayouts/slideLayout2.xml"/><Relationship Id="rId4" Type="http://schemas.openxmlformats.org/officeDocument/2006/relationships/image" Target="../media/image630.png"/></Relationships>
</file>

<file path=ppt/slides/_rels/slide56.xml.rels><?xml version="1.0" encoding="UTF-8" standalone="yes"?>
<Relationships xmlns="http://schemas.openxmlformats.org/package/2006/relationships"><Relationship Id="rId3" Type="http://schemas.openxmlformats.org/officeDocument/2006/relationships/image" Target="../media/image670.png"/><Relationship Id="rId2" Type="http://schemas.openxmlformats.org/officeDocument/2006/relationships/image" Target="../media/image660.pn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3" Type="http://schemas.openxmlformats.org/officeDocument/2006/relationships/image" Target="../media/image690.png"/><Relationship Id="rId2" Type="http://schemas.openxmlformats.org/officeDocument/2006/relationships/image" Target="../media/image680.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700.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73.png"/><Relationship Id="rId5" Type="http://schemas.openxmlformats.org/officeDocument/2006/relationships/image" Target="../media/image711.png"/><Relationship Id="rId4" Type="http://schemas.openxmlformats.org/officeDocument/2006/relationships/image" Target="../media/image620.png"/></Relationships>
</file>

<file path=ppt/slides/_rels/slide59.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650.png"/><Relationship Id="rId4" Type="http://schemas.openxmlformats.org/officeDocument/2006/relationships/image" Target="../media/image76.png"/></Relationships>
</file>

<file path=ppt/slides/_rels/slide60.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78.png"/><Relationship Id="rId4" Type="http://schemas.openxmlformats.org/officeDocument/2006/relationships/image" Target="../media/image77.png"/></Relationships>
</file>

<file path=ppt/slides/_rels/slide61.xml.rels><?xml version="1.0" encoding="UTF-8" standalone="yes"?>
<Relationships xmlns="http://schemas.openxmlformats.org/package/2006/relationships"><Relationship Id="rId3" Type="http://schemas.openxmlformats.org/officeDocument/2006/relationships/image" Target="../media/image81.png"/><Relationship Id="rId2" Type="http://schemas.openxmlformats.org/officeDocument/2006/relationships/image" Target="../media/image750.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3" Type="http://schemas.openxmlformats.org/officeDocument/2006/relationships/image" Target="../media/image84.png"/><Relationship Id="rId2" Type="http://schemas.openxmlformats.org/officeDocument/2006/relationships/image" Target="../media/image82.png"/><Relationship Id="rId1" Type="http://schemas.openxmlformats.org/officeDocument/2006/relationships/slideLayout" Target="../slideLayouts/slideLayout2.xml"/><Relationship Id="rId4" Type="http://schemas.openxmlformats.org/officeDocument/2006/relationships/image" Target="../media/image79.png"/></Relationships>
</file>

<file path=ppt/slides/_rels/slide63.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image" Target="../media/image86.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88.png"/><Relationship Id="rId1" Type="http://schemas.openxmlformats.org/officeDocument/2006/relationships/slideLayout" Target="../slideLayouts/slideLayout2.xml"/><Relationship Id="rId4" Type="http://schemas.openxmlformats.org/officeDocument/2006/relationships/image" Target="../media/image80.png"/></Relationships>
</file>

<file path=ppt/slides/_rels/slide65.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image" Target="../media/image91.png"/><Relationship Id="rId1" Type="http://schemas.openxmlformats.org/officeDocument/2006/relationships/slideLayout" Target="../slideLayouts/slideLayout2.xml"/><Relationship Id="rId4" Type="http://schemas.openxmlformats.org/officeDocument/2006/relationships/image" Target="../media/image83.png"/></Relationships>
</file>

<file path=ppt/slides/_rels/slide66.xml.rels><?xml version="1.0" encoding="UTF-8" standalone="yes"?>
<Relationships xmlns="http://schemas.openxmlformats.org/package/2006/relationships"><Relationship Id="rId3" Type="http://schemas.openxmlformats.org/officeDocument/2006/relationships/image" Target="../media/image95.png"/><Relationship Id="rId2" Type="http://schemas.openxmlformats.org/officeDocument/2006/relationships/image" Target="../media/image94.png"/><Relationship Id="rId1" Type="http://schemas.openxmlformats.org/officeDocument/2006/relationships/slideLayout" Target="../slideLayouts/slideLayout2.xml"/><Relationship Id="rId5" Type="http://schemas.openxmlformats.org/officeDocument/2006/relationships/image" Target="../media/image97.png"/><Relationship Id="rId4" Type="http://schemas.openxmlformats.org/officeDocument/2006/relationships/image" Target="../media/image96.png"/></Relationships>
</file>

<file path=ppt/slides/_rels/slide67.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image" Target="../media/image90.png"/><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920.png"/><Relationship Id="rId2" Type="http://schemas.openxmlformats.org/officeDocument/2006/relationships/image" Target="../media/image910.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980.png"/><Relationship Id="rId2" Type="http://schemas.openxmlformats.org/officeDocument/2006/relationships/image" Target="../media/image940.png"/><Relationship Id="rId1" Type="http://schemas.openxmlformats.org/officeDocument/2006/relationships/slideLayout" Target="../slideLayouts/slideLayout2.xml"/><Relationship Id="rId4" Type="http://schemas.openxmlformats.org/officeDocument/2006/relationships/image" Target="../media/image990.png"/></Relationships>
</file>

<file path=ppt/slides/_rels/slide70.xml.rels><?xml version="1.0" encoding="UTF-8" standalone="yes"?>
<Relationships xmlns="http://schemas.openxmlformats.org/package/2006/relationships"><Relationship Id="rId3" Type="http://schemas.openxmlformats.org/officeDocument/2006/relationships/image" Target="../media/image101.png"/><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103.png"/><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3" Type="http://schemas.openxmlformats.org/officeDocument/2006/relationships/image" Target="../media/image104.png"/><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3" Type="http://schemas.openxmlformats.org/officeDocument/2006/relationships/image" Target="../media/image106.png"/><Relationship Id="rId2" Type="http://schemas.openxmlformats.org/officeDocument/2006/relationships/image" Target="../media/image1050.png"/><Relationship Id="rId1" Type="http://schemas.openxmlformats.org/officeDocument/2006/relationships/slideLayout" Target="../slideLayouts/slideLayout2.xml"/><Relationship Id="rId5" Type="http://schemas.openxmlformats.org/officeDocument/2006/relationships/image" Target="../media/image114.png"/><Relationship Id="rId4" Type="http://schemas.openxmlformats.org/officeDocument/2006/relationships/image" Target="../media/image1070.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120.png"/></Relationships>
</file>

<file path=ppt/slides/_rels/slide77.xml.rels><?xml version="1.0" encoding="UTF-8" standalone="yes"?>
<Relationships xmlns="http://schemas.openxmlformats.org/package/2006/relationships"><Relationship Id="rId3" Type="http://schemas.openxmlformats.org/officeDocument/2006/relationships/image" Target="../media/image93.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108.png"/><Relationship Id="rId4" Type="http://schemas.openxmlformats.org/officeDocument/2006/relationships/image" Target="../media/image181.png"/></Relationships>
</file>

<file path=ppt/slides/_rels/slide78.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image" Target="../media/image119.png"/><Relationship Id="rId5" Type="http://schemas.openxmlformats.org/officeDocument/2006/relationships/image" Target="../media/image93.png"/><Relationship Id="rId4" Type="http://schemas.openxmlformats.org/officeDocument/2006/relationships/image" Target="../media/image118.png"/></Relationships>
</file>

<file path=ppt/slides/_rels/slide79.xml.rels><?xml version="1.0" encoding="UTF-8" standalone="yes"?>
<Relationships xmlns="http://schemas.openxmlformats.org/package/2006/relationships"><Relationship Id="rId3" Type="http://schemas.openxmlformats.org/officeDocument/2006/relationships/image" Target="../media/image156.png"/><Relationship Id="rId2" Type="http://schemas.openxmlformats.org/officeDocument/2006/relationships/notesSlide" Target="../notesSlides/notesSlide15.xml"/><Relationship Id="rId1" Type="http://schemas.openxmlformats.org/officeDocument/2006/relationships/slideLayout" Target="../slideLayouts/slideLayout2.xml"/><Relationship Id="rId5" Type="http://schemas.openxmlformats.org/officeDocument/2006/relationships/image" Target="../media/image158.png"/><Relationship Id="rId4" Type="http://schemas.openxmlformats.org/officeDocument/2006/relationships/image" Target="../media/image1160.png"/></Relationships>
</file>

<file path=ppt/slides/_rels/slide80.xml.rels><?xml version="1.0" encoding="UTF-8" standalone="yes"?>
<Relationships xmlns="http://schemas.openxmlformats.org/package/2006/relationships"><Relationship Id="rId3" Type="http://schemas.openxmlformats.org/officeDocument/2006/relationships/image" Target="../media/image113.png"/><Relationship Id="rId2" Type="http://schemas.openxmlformats.org/officeDocument/2006/relationships/image" Target="../media/image109.png"/><Relationship Id="rId1" Type="http://schemas.openxmlformats.org/officeDocument/2006/relationships/slideLayout" Target="../slideLayouts/slideLayout2.xml"/><Relationship Id="rId5" Type="http://schemas.openxmlformats.org/officeDocument/2006/relationships/image" Target="../media/image1180.png"/><Relationship Id="rId4" Type="http://schemas.openxmlformats.org/officeDocument/2006/relationships/image" Target="../media/image121.png"/></Relationships>
</file>

<file path=ppt/slides/_rels/slide81.xml.rels><?xml version="1.0" encoding="UTF-8" standalone="yes"?>
<Relationships xmlns="http://schemas.openxmlformats.org/package/2006/relationships"><Relationship Id="rId8" Type="http://schemas.openxmlformats.org/officeDocument/2006/relationships/oleObject" Target="../embeddings/oleObject1.bin"/><Relationship Id="rId13" Type="http://schemas.openxmlformats.org/officeDocument/2006/relationships/image" Target="../media/image116.wmf"/><Relationship Id="rId18" Type="http://schemas.openxmlformats.org/officeDocument/2006/relationships/oleObject" Target="../embeddings/oleObject6.bin"/><Relationship Id="rId3" Type="http://schemas.openxmlformats.org/officeDocument/2006/relationships/image" Target="../media/image1200.png"/><Relationship Id="rId7" Type="http://schemas.openxmlformats.org/officeDocument/2006/relationships/image" Target="../media/image1190.png"/><Relationship Id="rId12" Type="http://schemas.openxmlformats.org/officeDocument/2006/relationships/oleObject" Target="../embeddings/oleObject3.bin"/><Relationship Id="rId17" Type="http://schemas.openxmlformats.org/officeDocument/2006/relationships/image" Target="../media/image118.wmf"/><Relationship Id="rId2" Type="http://schemas.openxmlformats.org/officeDocument/2006/relationships/image" Target="../media/image1191.png"/><Relationship Id="rId16" Type="http://schemas.openxmlformats.org/officeDocument/2006/relationships/oleObject" Target="../embeddings/oleObject5.bin"/><Relationship Id="rId20" Type="http://schemas.openxmlformats.org/officeDocument/2006/relationships/image" Target="../media/image129.png"/><Relationship Id="rId1" Type="http://schemas.openxmlformats.org/officeDocument/2006/relationships/slideLayout" Target="../slideLayouts/slideLayout2.xml"/><Relationship Id="rId11" Type="http://schemas.openxmlformats.org/officeDocument/2006/relationships/image" Target="../media/image115.wmf"/><Relationship Id="rId5" Type="http://schemas.openxmlformats.org/officeDocument/2006/relationships/image" Target="../media/image122.png"/><Relationship Id="rId15" Type="http://schemas.openxmlformats.org/officeDocument/2006/relationships/image" Target="../media/image117.wmf"/><Relationship Id="rId10" Type="http://schemas.openxmlformats.org/officeDocument/2006/relationships/oleObject" Target="../embeddings/oleObject2.bin"/><Relationship Id="rId19" Type="http://schemas.openxmlformats.org/officeDocument/2006/relationships/image" Target="../media/image119.wmf"/><Relationship Id="rId4" Type="http://schemas.openxmlformats.org/officeDocument/2006/relationships/image" Target="../media/image1210.png"/><Relationship Id="rId9" Type="http://schemas.openxmlformats.org/officeDocument/2006/relationships/image" Target="../media/image114.wmf"/><Relationship Id="rId14" Type="http://schemas.openxmlformats.org/officeDocument/2006/relationships/oleObject" Target="../embeddings/oleObject4.bin"/></Relationships>
</file>

<file path=ppt/slides/_rels/slide82.xml.rels><?xml version="1.0" encoding="UTF-8" standalone="yes"?>
<Relationships xmlns="http://schemas.openxmlformats.org/package/2006/relationships"><Relationship Id="rId3" Type="http://schemas.openxmlformats.org/officeDocument/2006/relationships/image" Target="../media/image130.png"/><Relationship Id="rId2" Type="http://schemas.openxmlformats.org/officeDocument/2006/relationships/notesSlide" Target="../notesSlides/notesSlide16.xml"/><Relationship Id="rId1" Type="http://schemas.openxmlformats.org/officeDocument/2006/relationships/slideLayout" Target="../slideLayouts/slideLayout2.xml"/><Relationship Id="rId5" Type="http://schemas.openxmlformats.org/officeDocument/2006/relationships/image" Target="../media/image132.png"/><Relationship Id="rId4" Type="http://schemas.openxmlformats.org/officeDocument/2006/relationships/image" Target="../media/image131.png"/></Relationships>
</file>

<file path=ppt/slides/_rels/slide83.xml.rels><?xml version="1.0" encoding="UTF-8" standalone="yes"?>
<Relationships xmlns="http://schemas.openxmlformats.org/package/2006/relationships"><Relationship Id="rId3" Type="http://schemas.openxmlformats.org/officeDocument/2006/relationships/image" Target="../media/image127.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28.png"/><Relationship Id="rId4" Type="http://schemas.openxmlformats.org/officeDocument/2006/relationships/image" Target="../media/image134.png"/></Relationships>
</file>

<file path=ppt/slides/_rels/slide84.xml.rels><?xml version="1.0" encoding="UTF-8" standalone="yes"?>
<Relationships xmlns="http://schemas.openxmlformats.org/package/2006/relationships"><Relationship Id="rId8" Type="http://schemas.openxmlformats.org/officeDocument/2006/relationships/image" Target="../media/image139.png"/><Relationship Id="rId3" Type="http://schemas.openxmlformats.org/officeDocument/2006/relationships/image" Target="../media/image133.png"/><Relationship Id="rId7" Type="http://schemas.openxmlformats.org/officeDocument/2006/relationships/image" Target="../media/image138.png"/><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image" Target="../media/image137.png"/><Relationship Id="rId5" Type="http://schemas.openxmlformats.org/officeDocument/2006/relationships/image" Target="../media/image136.png"/><Relationship Id="rId4" Type="http://schemas.openxmlformats.org/officeDocument/2006/relationships/image" Target="../media/image135.png"/></Relationships>
</file>

<file path=ppt/slides/_rels/slide85.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1201.png"/><Relationship Id="rId4" Type="http://schemas.openxmlformats.org/officeDocument/2006/relationships/image" Target="../media/image141.png"/></Relationships>
</file>

<file path=ppt/slides/_rels/slide86.xml.rels><?xml version="1.0" encoding="UTF-8" standalone="yes"?>
<Relationships xmlns="http://schemas.openxmlformats.org/package/2006/relationships"><Relationship Id="rId8" Type="http://schemas.openxmlformats.org/officeDocument/2006/relationships/image" Target="../media/image1430.png"/><Relationship Id="rId13" Type="http://schemas.openxmlformats.org/officeDocument/2006/relationships/oleObject" Target="../embeddings/oleObject9.bin"/><Relationship Id="rId18" Type="http://schemas.openxmlformats.org/officeDocument/2006/relationships/image" Target="../media/image124.wmf"/><Relationship Id="rId3" Type="http://schemas.openxmlformats.org/officeDocument/2006/relationships/image" Target="../media/image143.png"/><Relationship Id="rId7" Type="http://schemas.openxmlformats.org/officeDocument/2006/relationships/image" Target="../media/image1410.png"/><Relationship Id="rId12" Type="http://schemas.openxmlformats.org/officeDocument/2006/relationships/image" Target="../media/image121.wmf"/><Relationship Id="rId17" Type="http://schemas.openxmlformats.org/officeDocument/2006/relationships/oleObject" Target="../embeddings/oleObject11.bin"/><Relationship Id="rId2" Type="http://schemas.openxmlformats.org/officeDocument/2006/relationships/notesSlide" Target="../notesSlides/notesSlide20.xml"/><Relationship Id="rId16" Type="http://schemas.openxmlformats.org/officeDocument/2006/relationships/image" Target="../media/image123.wmf"/><Relationship Id="rId1" Type="http://schemas.openxmlformats.org/officeDocument/2006/relationships/slideLayout" Target="../slideLayouts/slideLayout2.xml"/><Relationship Id="rId6" Type="http://schemas.openxmlformats.org/officeDocument/2006/relationships/image" Target="../media/image1420.png"/><Relationship Id="rId11" Type="http://schemas.openxmlformats.org/officeDocument/2006/relationships/oleObject" Target="../embeddings/oleObject8.bin"/><Relationship Id="rId5" Type="http://schemas.openxmlformats.org/officeDocument/2006/relationships/image" Target="../media/image1360.png"/><Relationship Id="rId15" Type="http://schemas.openxmlformats.org/officeDocument/2006/relationships/oleObject" Target="../embeddings/oleObject10.bin"/><Relationship Id="rId10" Type="http://schemas.openxmlformats.org/officeDocument/2006/relationships/image" Target="../media/image120.wmf"/><Relationship Id="rId19" Type="http://schemas.openxmlformats.org/officeDocument/2006/relationships/image" Target="../media/image154.png"/><Relationship Id="rId4" Type="http://schemas.openxmlformats.org/officeDocument/2006/relationships/image" Target="../media/image1450.png"/><Relationship Id="rId9" Type="http://schemas.openxmlformats.org/officeDocument/2006/relationships/oleObject" Target="../embeddings/oleObject7.bin"/><Relationship Id="rId14" Type="http://schemas.openxmlformats.org/officeDocument/2006/relationships/image" Target="../media/image122.wmf"/></Relationships>
</file>

<file path=ppt/slides/_rels/slide87.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image" Target="../media/image125.png"/><Relationship Id="rId1" Type="http://schemas.openxmlformats.org/officeDocument/2006/relationships/slideLayout" Target="../slideLayouts/slideLayout2.xml"/><Relationship Id="rId4" Type="http://schemas.openxmlformats.org/officeDocument/2006/relationships/image" Target="../media/image126.wmf"/></Relationships>
</file>

<file path=ppt/slides/_rels/slide88.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142.png"/><Relationship Id="rId1" Type="http://schemas.openxmlformats.org/officeDocument/2006/relationships/slideLayout" Target="../slideLayouts/slideLayout2.xml"/><Relationship Id="rId5" Type="http://schemas.openxmlformats.org/officeDocument/2006/relationships/image" Target="../media/image145.png"/><Relationship Id="rId4" Type="http://schemas.openxmlformats.org/officeDocument/2006/relationships/image" Target="../media/image220.png"/></Relationships>
</file>

<file path=ppt/slides/_rels/slide89.xml.rels><?xml version="1.0" encoding="UTF-8" standalone="yes"?>
<Relationships xmlns="http://schemas.openxmlformats.org/package/2006/relationships"><Relationship Id="rId3" Type="http://schemas.openxmlformats.org/officeDocument/2006/relationships/image" Target="../media/image146.png"/><Relationship Id="rId2" Type="http://schemas.openxmlformats.org/officeDocument/2006/relationships/image" Target="../media/image222.png"/><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148.png"/><Relationship Id="rId2" Type="http://schemas.openxmlformats.org/officeDocument/2006/relationships/image" Target="../media/image147.png"/><Relationship Id="rId1" Type="http://schemas.openxmlformats.org/officeDocument/2006/relationships/slideLayout" Target="../slideLayouts/slideLayout2.xml"/><Relationship Id="rId4" Type="http://schemas.openxmlformats.org/officeDocument/2006/relationships/image" Target="../media/image149.png"/></Relationships>
</file>

<file path=ppt/slides/_rels/slide91.xml.rels><?xml version="1.0" encoding="UTF-8" standalone="yes"?>
<Relationships xmlns="http://schemas.openxmlformats.org/package/2006/relationships"><Relationship Id="rId2" Type="http://schemas.openxmlformats.org/officeDocument/2006/relationships/image" Target="../media/image150.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image" Target="../media/image162.png"/><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164.png"/><Relationship Id="rId2" Type="http://schemas.openxmlformats.org/officeDocument/2006/relationships/image" Target="../media/image163.png"/><Relationship Id="rId1" Type="http://schemas.openxmlformats.org/officeDocument/2006/relationships/slideLayout" Target="../slideLayouts/slideLayout2.xml"/><Relationship Id="rId4" Type="http://schemas.openxmlformats.org/officeDocument/2006/relationships/image" Target="../media/image155.png"/></Relationships>
</file>

<file path=ppt/slides/_rels/slide94.xml.rels><?xml version="1.0" encoding="UTF-8" standalone="yes"?>
<Relationships xmlns="http://schemas.openxmlformats.org/package/2006/relationships"><Relationship Id="rId2" Type="http://schemas.openxmlformats.org/officeDocument/2006/relationships/image" Target="../media/image166.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168.png"/><Relationship Id="rId2" Type="http://schemas.openxmlformats.org/officeDocument/2006/relationships/image" Target="../media/image151.png"/><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3" Type="http://schemas.openxmlformats.org/officeDocument/2006/relationships/image" Target="../media/image1681.png"/><Relationship Id="rId2" Type="http://schemas.openxmlformats.org/officeDocument/2006/relationships/image" Target="../media/image152.png"/><Relationship Id="rId1" Type="http://schemas.openxmlformats.org/officeDocument/2006/relationships/slideLayout" Target="../slideLayouts/slideLayout2.xml"/><Relationship Id="rId4" Type="http://schemas.openxmlformats.org/officeDocument/2006/relationships/image" Target="../media/image1691.png"/></Relationships>
</file>

<file path=ppt/slides/_rels/slide97.xml.rels><?xml version="1.0" encoding="UTF-8" standalone="yes"?>
<Relationships xmlns="http://schemas.openxmlformats.org/package/2006/relationships"><Relationship Id="rId3" Type="http://schemas.openxmlformats.org/officeDocument/2006/relationships/image" Target="../media/image157.png"/><Relationship Id="rId2" Type="http://schemas.openxmlformats.org/officeDocument/2006/relationships/image" Target="../media/image1690.png"/><Relationship Id="rId1" Type="http://schemas.openxmlformats.org/officeDocument/2006/relationships/slideLayout" Target="../slideLayouts/slideLayout2.xml"/><Relationship Id="rId6" Type="http://schemas.openxmlformats.org/officeDocument/2006/relationships/image" Target="../media/image174.png"/><Relationship Id="rId5" Type="http://schemas.openxmlformats.org/officeDocument/2006/relationships/image" Target="../media/image172.png"/><Relationship Id="rId4" Type="http://schemas.openxmlformats.org/officeDocument/2006/relationships/image" Target="../media/image1710.png"/></Relationships>
</file>

<file path=ppt/slides/_rels/slide98.xml.rels><?xml version="1.0" encoding="UTF-8" standalone="yes"?>
<Relationships xmlns="http://schemas.openxmlformats.org/package/2006/relationships"><Relationship Id="rId3" Type="http://schemas.openxmlformats.org/officeDocument/2006/relationships/image" Target="../media/image1670.png"/><Relationship Id="rId2" Type="http://schemas.openxmlformats.org/officeDocument/2006/relationships/image" Target="../media/image1660.png"/><Relationship Id="rId1" Type="http://schemas.openxmlformats.org/officeDocument/2006/relationships/slideLayout" Target="../slideLayouts/slideLayout2.xml"/><Relationship Id="rId4" Type="http://schemas.openxmlformats.org/officeDocument/2006/relationships/image" Target="../media/image1680.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image" Target="../media/image159.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14.png"/><Relationship Id="rId2" Type="http://schemas.openxmlformats.org/officeDocument/2006/relationships/image" Target="../media/image1750.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160.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3" Type="http://schemas.openxmlformats.org/officeDocument/2006/relationships/image" Target="../media/image178.png"/><Relationship Id="rId2" Type="http://schemas.openxmlformats.org/officeDocument/2006/relationships/image" Target="../media/image177.png"/><Relationship Id="rId1" Type="http://schemas.openxmlformats.org/officeDocument/2006/relationships/slideLayout" Target="../slideLayouts/slideLayout2.xml"/><Relationship Id="rId5" Type="http://schemas.openxmlformats.org/officeDocument/2006/relationships/image" Target="../media/image180.png"/><Relationship Id="rId4" Type="http://schemas.openxmlformats.org/officeDocument/2006/relationships/image" Target="../media/image179.png"/></Relationships>
</file>

<file path=ppt/slides/_rels/slide105.xml.rels><?xml version="1.0" encoding="UTF-8" standalone="yes"?>
<Relationships xmlns="http://schemas.openxmlformats.org/package/2006/relationships"><Relationship Id="rId3" Type="http://schemas.openxmlformats.org/officeDocument/2006/relationships/image" Target="../media/image183.png"/><Relationship Id="rId2" Type="http://schemas.openxmlformats.org/officeDocument/2006/relationships/image" Target="../media/image18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3" Type="http://schemas.openxmlformats.org/officeDocument/2006/relationships/image" Target="../media/image223.png"/><Relationship Id="rId2" Type="http://schemas.openxmlformats.org/officeDocument/2006/relationships/notesSlide" Target="../notesSlides/notesSlide22.xml"/><Relationship Id="rId1" Type="http://schemas.openxmlformats.org/officeDocument/2006/relationships/slideLayout" Target="../slideLayouts/slideLayout2.xml"/><Relationship Id="rId4" Type="http://schemas.openxmlformats.org/officeDocument/2006/relationships/image" Target="../media/image184.png"/></Relationships>
</file>

<file path=ppt/slides/_rels/slide107.xml.rels><?xml version="1.0" encoding="UTF-8" standalone="yes"?>
<Relationships xmlns="http://schemas.openxmlformats.org/package/2006/relationships"><Relationship Id="rId2" Type="http://schemas.openxmlformats.org/officeDocument/2006/relationships/image" Target="../media/image185.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186.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350.png"/><Relationship Id="rId2" Type="http://schemas.openxmlformats.org/officeDocument/2006/relationships/image" Target="../media/image1400.png"/><Relationship Id="rId1" Type="http://schemas.openxmlformats.org/officeDocument/2006/relationships/slideLayout" Target="../slideLayouts/slideLayout2.xml"/><Relationship Id="rId6" Type="http://schemas.openxmlformats.org/officeDocument/2006/relationships/image" Target="../media/image165.png"/><Relationship Id="rId5" Type="http://schemas.openxmlformats.org/officeDocument/2006/relationships/image" Target="../media/image370.png"/><Relationship Id="rId4" Type="http://schemas.openxmlformats.org/officeDocument/2006/relationships/image" Target="../media/image161.png"/></Relationships>
</file>

<file path=ppt/slides/_rels/slide111.xml.rels><?xml version="1.0" encoding="UTF-8" standalone="yes"?>
<Relationships xmlns="http://schemas.openxmlformats.org/package/2006/relationships"><Relationship Id="rId8" Type="http://schemas.openxmlformats.org/officeDocument/2006/relationships/image" Target="../media/image167.emf"/><Relationship Id="rId3" Type="http://schemas.openxmlformats.org/officeDocument/2006/relationships/image" Target="../media/image1460.png"/><Relationship Id="rId7" Type="http://schemas.openxmlformats.org/officeDocument/2006/relationships/image" Target="../media/image166.emf"/><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image" Target="../media/image173.png"/><Relationship Id="rId5" Type="http://schemas.openxmlformats.org/officeDocument/2006/relationships/image" Target="../media/image1490.png"/><Relationship Id="rId4" Type="http://schemas.openxmlformats.org/officeDocument/2006/relationships/image" Target="../media/image1480.png"/><Relationship Id="rId9" Type="http://schemas.openxmlformats.org/officeDocument/2006/relationships/image" Target="../media/image1520.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 name="标题 14">
            <a:extLst>
              <a:ext uri="{FF2B5EF4-FFF2-40B4-BE49-F238E27FC236}">
                <a16:creationId xmlns:a16="http://schemas.microsoft.com/office/drawing/2014/main" id="{5380A4DD-2C3D-4BA7-8A34-E39DF1600ACD}"/>
              </a:ext>
            </a:extLst>
          </p:cNvPr>
          <p:cNvSpPr>
            <a:spLocks noGrp="1"/>
          </p:cNvSpPr>
          <p:nvPr>
            <p:ph type="ctrTitle"/>
          </p:nvPr>
        </p:nvSpPr>
        <p:spPr/>
        <p:txBody>
          <a:bodyPr/>
          <a:lstStyle/>
          <a:p>
            <a:r>
              <a:rPr lang="zh-CN" altLang="en-US" b="1" dirty="0">
                <a:latin typeface="Arial" panose="020B0604020202020204" pitchFamily="34" charset="0"/>
                <a:ea typeface="黑体" panose="02010609060101010101" pitchFamily="49" charset="-122"/>
              </a:rPr>
              <a:t>第</a:t>
            </a:r>
            <a:r>
              <a:rPr lang="en-US" altLang="zh-CN" b="1" dirty="0">
                <a:latin typeface="Arial" panose="020B0604020202020204" pitchFamily="34" charset="0"/>
                <a:ea typeface="黑体" panose="02010609060101010101" pitchFamily="49" charset="-122"/>
              </a:rPr>
              <a:t>6</a:t>
            </a:r>
            <a:r>
              <a:rPr lang="zh-CN" altLang="en-US" b="1" dirty="0">
                <a:latin typeface="Arial" panose="020B0604020202020204" pitchFamily="34" charset="0"/>
                <a:ea typeface="黑体" panose="02010609060101010101" pitchFamily="49" charset="-122"/>
              </a:rPr>
              <a:t>章 机器学习</a:t>
            </a:r>
          </a:p>
        </p:txBody>
      </p:sp>
      <p:sp>
        <p:nvSpPr>
          <p:cNvPr id="17" name="矩形 16">
            <a:extLst>
              <a:ext uri="{FF2B5EF4-FFF2-40B4-BE49-F238E27FC236}">
                <a16:creationId xmlns:a16="http://schemas.microsoft.com/office/drawing/2014/main" id="{F1EDBD45-96C7-438F-AF57-F7C9688CEA0D}"/>
              </a:ext>
            </a:extLst>
          </p:cNvPr>
          <p:cNvSpPr/>
          <p:nvPr/>
        </p:nvSpPr>
        <p:spPr>
          <a:xfrm>
            <a:off x="6196071" y="230042"/>
            <a:ext cx="2236510"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a:t>
            </a:r>
            <a:r>
              <a:rPr kumimoji="0" lang="zh-CN" altLang="en-US" sz="2000" b="0" i="0" u="none" strike="noStrike" kern="1200" cap="none" spc="0" normalizeH="0" baseline="0" noProof="0" dirty="0">
                <a:ln>
                  <a:noFill/>
                </a:ln>
                <a:solidFill>
                  <a:prstClr val="black"/>
                </a:solidFill>
                <a:effectLst/>
                <a:uLnTx/>
                <a:uFillTx/>
                <a:latin typeface="Times New Roman"/>
                <a:ea typeface="黑体"/>
                <a:cs typeface="+mn-cs"/>
              </a:rPr>
              <a:t>人工智能导论</a:t>
            </a: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a:t>
            </a:r>
            <a:endParaRPr kumimoji="0" lang="zh-CN" altLang="en-US" sz="2000" b="0" i="0" u="none" strike="noStrike" kern="1200" cap="none" spc="0" normalizeH="0" baseline="0" noProof="0" dirty="0">
              <a:ln>
                <a:noFill/>
              </a:ln>
              <a:solidFill>
                <a:prstClr val="black"/>
              </a:solidFill>
              <a:effectLst/>
              <a:uLnTx/>
              <a:uFillTx/>
              <a:latin typeface="Times New Roman"/>
              <a:ea typeface="黑体"/>
              <a:cs typeface="+mn-cs"/>
            </a:endParaRPr>
          </a:p>
        </p:txBody>
      </p:sp>
      <p:sp>
        <p:nvSpPr>
          <p:cNvPr id="5" name="副标题 15">
            <a:extLst>
              <a:ext uri="{FF2B5EF4-FFF2-40B4-BE49-F238E27FC236}">
                <a16:creationId xmlns:a16="http://schemas.microsoft.com/office/drawing/2014/main" id="{6FD5478F-2F82-4B9B-1820-D6A49F9B027F}"/>
              </a:ext>
            </a:extLst>
          </p:cNvPr>
          <p:cNvSpPr>
            <a:spLocks noGrp="1"/>
          </p:cNvSpPr>
          <p:nvPr>
            <p:ph type="subTitle" idx="1"/>
          </p:nvPr>
        </p:nvSpPr>
        <p:spPr>
          <a:xfrm>
            <a:off x="1159778" y="4029879"/>
            <a:ext cx="6858000" cy="992215"/>
          </a:xfrm>
        </p:spPr>
        <p:txBody>
          <a:bodyPr/>
          <a:lstStyle/>
          <a:p>
            <a:pPr>
              <a:lnSpc>
                <a:spcPct val="100000"/>
              </a:lnSpc>
              <a:spcBef>
                <a:spcPts val="600"/>
              </a:spcBef>
            </a:pPr>
            <a:r>
              <a:rPr lang="zh-CN" altLang="en-US" dirty="0">
                <a:solidFill>
                  <a:schemeClr val="tx1"/>
                </a:solidFill>
                <a:latin typeface="Arial" panose="020B0604020202020204" pitchFamily="34" charset="0"/>
                <a:ea typeface="黑体" panose="02010609060101010101" pitchFamily="49" charset="-122"/>
              </a:rPr>
              <a:t>南京信息工程大学</a:t>
            </a:r>
            <a:endParaRPr lang="en-US" altLang="zh-CN" dirty="0">
              <a:solidFill>
                <a:schemeClr val="tx1"/>
              </a:solidFill>
              <a:latin typeface="Arial" panose="020B0604020202020204" pitchFamily="34" charset="0"/>
              <a:ea typeface="黑体" panose="02010609060101010101" pitchFamily="49" charset="-122"/>
            </a:endParaRPr>
          </a:p>
          <a:p>
            <a:pPr>
              <a:lnSpc>
                <a:spcPct val="100000"/>
              </a:lnSpc>
              <a:spcBef>
                <a:spcPts val="600"/>
              </a:spcBef>
            </a:pPr>
            <a:r>
              <a:rPr lang="zh-CN" altLang="en-US" dirty="0">
                <a:solidFill>
                  <a:schemeClr val="tx1"/>
                </a:solidFill>
                <a:latin typeface="Arial" panose="020B0604020202020204" pitchFamily="34" charset="0"/>
                <a:ea typeface="黑体" panose="02010609060101010101" pitchFamily="49" charset="-122"/>
              </a:rPr>
              <a:t>计算机学院</a:t>
            </a:r>
          </a:p>
        </p:txBody>
      </p:sp>
      <p:sp>
        <p:nvSpPr>
          <p:cNvPr id="6" name="副标题 2">
            <a:extLst>
              <a:ext uri="{FF2B5EF4-FFF2-40B4-BE49-F238E27FC236}">
                <a16:creationId xmlns:a16="http://schemas.microsoft.com/office/drawing/2014/main" id="{309147CD-E4A2-236E-DB5C-2BFE1AF40FD9}"/>
              </a:ext>
            </a:extLst>
          </p:cNvPr>
          <p:cNvSpPr txBox="1">
            <a:spLocks/>
          </p:cNvSpPr>
          <p:nvPr/>
        </p:nvSpPr>
        <p:spPr>
          <a:xfrm>
            <a:off x="1185921" y="5073789"/>
            <a:ext cx="6858000" cy="950912"/>
          </a:xfrm>
          <a:prstGeom prst="rect">
            <a:avLst/>
          </a:prstGeom>
        </p:spPr>
        <p:txBody>
          <a:bodyPr vert="horz" lIns="91440" tIns="45720" rIns="91440" bIns="45720" rtlCol="0">
            <a:noAutofit/>
          </a:bodyPr>
          <a:lstStyle>
            <a:lvl1pPr marL="0" indent="0" algn="ctr" defTabSz="914400" rtl="0" eaLnBrk="1" latinLnBrk="0" hangingPunct="1">
              <a:lnSpc>
                <a:spcPct val="130000"/>
              </a:lnSpc>
              <a:spcBef>
                <a:spcPts val="1000"/>
              </a:spcBef>
              <a:buSzPct val="85000"/>
              <a:buFont typeface="Wingdings" panose="05000000000000000000" pitchFamily="2" charset="2"/>
              <a:buNone/>
              <a:defRPr sz="2400" kern="1200">
                <a:solidFill>
                  <a:srgbClr val="002060"/>
                </a:solidFill>
                <a:latin typeface="+mn-lt"/>
                <a:ea typeface="+mn-ea"/>
                <a:cs typeface="+mn-cs"/>
              </a:defRPr>
            </a:lvl1pPr>
            <a:lvl2pPr marL="457200" indent="0" algn="ctr" defTabSz="914400" rtl="0" eaLnBrk="1" latinLnBrk="0" hangingPunct="1">
              <a:lnSpc>
                <a:spcPct val="130000"/>
              </a:lnSpc>
              <a:spcBef>
                <a:spcPts val="500"/>
              </a:spcBef>
              <a:buSzPct val="85000"/>
              <a:buFont typeface="Wingdings" panose="05000000000000000000" pitchFamily="2" charset="2"/>
              <a:buNone/>
              <a:defRPr sz="2000" kern="1200">
                <a:solidFill>
                  <a:srgbClr val="002060"/>
                </a:solidFill>
                <a:latin typeface="+mn-lt"/>
                <a:ea typeface="+mn-ea"/>
                <a:cs typeface="+mn-cs"/>
              </a:defRPr>
            </a:lvl2pPr>
            <a:lvl3pPr marL="914400" indent="0" algn="ctr" defTabSz="914400" rtl="0" eaLnBrk="1" latinLnBrk="0" hangingPunct="1">
              <a:lnSpc>
                <a:spcPct val="130000"/>
              </a:lnSpc>
              <a:spcBef>
                <a:spcPts val="500"/>
              </a:spcBef>
              <a:buSzPct val="85000"/>
              <a:buFont typeface="Wingdings" panose="05000000000000000000" pitchFamily="2" charset="2"/>
              <a:buNone/>
              <a:defRPr sz="1800" kern="1200">
                <a:solidFill>
                  <a:srgbClr val="002060"/>
                </a:solidFill>
                <a:latin typeface="+mn-lt"/>
                <a:ea typeface="+mn-ea"/>
                <a:cs typeface="+mn-cs"/>
              </a:defRPr>
            </a:lvl3pPr>
            <a:lvl4pPr marL="1371600" indent="0" algn="ctr" defTabSz="914400" rtl="0" eaLnBrk="1" latinLnBrk="0" hangingPunct="1">
              <a:lnSpc>
                <a:spcPct val="130000"/>
              </a:lnSpc>
              <a:spcBef>
                <a:spcPts val="500"/>
              </a:spcBef>
              <a:buSzPct val="85000"/>
              <a:buFont typeface="Wingdings" panose="05000000000000000000" pitchFamily="2" charset="2"/>
              <a:buNone/>
              <a:defRPr sz="1600" kern="1200">
                <a:solidFill>
                  <a:srgbClr val="002060"/>
                </a:solidFill>
                <a:latin typeface="+mn-lt"/>
                <a:ea typeface="+mn-ea"/>
                <a:cs typeface="+mn-cs"/>
              </a:defRPr>
            </a:lvl4pPr>
            <a:lvl5pPr marL="1828800" indent="0" algn="ctr" defTabSz="914400" rtl="0" eaLnBrk="1" latinLnBrk="0" hangingPunct="1">
              <a:lnSpc>
                <a:spcPct val="130000"/>
              </a:lnSpc>
              <a:spcBef>
                <a:spcPts val="500"/>
              </a:spcBef>
              <a:buSzPct val="85000"/>
              <a:buFont typeface="Wingdings" panose="05000000000000000000" pitchFamily="2" charset="2"/>
              <a:buNone/>
              <a:defRPr sz="1600" kern="1200">
                <a:solidFill>
                  <a:srgbClr val="002060"/>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nSpc>
                <a:spcPct val="120000"/>
              </a:lnSpc>
              <a:spcBef>
                <a:spcPts val="0"/>
              </a:spcBef>
            </a:pPr>
            <a:r>
              <a:rPr lang="zh-CN" altLang="en-US" dirty="0">
                <a:latin typeface="Arial" panose="020B0604020202020204" pitchFamily="34" charset="0"/>
                <a:ea typeface="黑体" panose="02010609060101010101" pitchFamily="49" charset="-122"/>
                <a:cs typeface="微软雅黑" panose="020B0503020204020204" pitchFamily="34" charset="-122"/>
              </a:rPr>
              <a:t>应龙 </a:t>
            </a:r>
            <a:endParaRPr lang="en-US" altLang="zh-CN" dirty="0">
              <a:latin typeface="Arial" panose="020B0604020202020204" pitchFamily="34" charset="0"/>
              <a:ea typeface="黑体" panose="02010609060101010101" pitchFamily="49" charset="-122"/>
              <a:cs typeface="微软雅黑" panose="020B0503020204020204" pitchFamily="34" charset="-122"/>
            </a:endParaRPr>
          </a:p>
          <a:p>
            <a:pPr>
              <a:lnSpc>
                <a:spcPct val="120000"/>
              </a:lnSpc>
              <a:spcBef>
                <a:spcPts val="0"/>
              </a:spcBef>
            </a:pPr>
            <a:r>
              <a:rPr lang="en-US" altLang="zh-CN" dirty="0">
                <a:latin typeface="Arial" panose="020B0604020202020204" pitchFamily="34" charset="0"/>
                <a:ea typeface="黑体" panose="02010609060101010101" pitchFamily="49" charset="-122"/>
                <a:cs typeface="微软雅黑" panose="020B0503020204020204" pitchFamily="34" charset="-122"/>
              </a:rPr>
              <a:t>2025</a:t>
            </a:r>
            <a:r>
              <a:rPr lang="zh-CN" altLang="en-US" dirty="0">
                <a:latin typeface="Arial" panose="020B0604020202020204" pitchFamily="34" charset="0"/>
                <a:ea typeface="黑体" panose="02010609060101010101" pitchFamily="49" charset="-122"/>
                <a:cs typeface="微软雅黑" panose="020B0503020204020204" pitchFamily="34" charset="-122"/>
              </a:rPr>
              <a:t>年秋季</a:t>
            </a:r>
          </a:p>
        </p:txBody>
      </p:sp>
    </p:spTree>
    <p:extLst>
      <p:ext uri="{BB962C8B-B14F-4D97-AF65-F5344CB8AC3E}">
        <p14:creationId xmlns:p14="http://schemas.microsoft.com/office/powerpoint/2010/main" val="179256676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09352" y="5348534"/>
            <a:ext cx="8513624" cy="1107996"/>
          </a:xfrm>
          <a:prstGeom prst="rect">
            <a:avLst/>
          </a:prstGeom>
        </p:spPr>
        <p:txBody>
          <a:bodyPr wrap="square" lIns="0" tIns="0" rIns="0" bIns="0">
            <a:spAutoFit/>
          </a:bodyPr>
          <a:lstStyle/>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[1] </a:t>
            </a:r>
            <a:r>
              <a:rPr lang="zh-CN" altLang="en-US" dirty="0">
                <a:solidFill>
                  <a:prstClr val="black"/>
                </a:solidFill>
                <a:latin typeface="Arial" panose="020B0604020202020204" pitchFamily="34" charset="0"/>
                <a:ea typeface="黑体" panose="02010609060101010101" pitchFamily="49" charset="-122"/>
              </a:rPr>
              <a:t>周志华</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a:t>
            </a:r>
            <a:r>
              <a:rPr lang="en-US" altLang="zh-CN" dirty="0">
                <a:solidFill>
                  <a:prstClr val="black"/>
                </a:solidFill>
                <a:latin typeface="Arial" panose="020B0604020202020204" pitchFamily="34" charset="0"/>
                <a:ea typeface="黑体" panose="02010609060101010101" pitchFamily="49" charset="-122"/>
              </a:rPr>
              <a:t>”, 2016,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[2] </a:t>
            </a:r>
            <a:r>
              <a:rPr lang="zh-CN" altLang="en-US" dirty="0">
                <a:solidFill>
                  <a:prstClr val="black"/>
                </a:solidFill>
                <a:latin typeface="Arial" panose="020B0604020202020204" pitchFamily="34" charset="0"/>
                <a:ea typeface="黑体" panose="02010609060101010101" pitchFamily="49" charset="-122"/>
              </a:rPr>
              <a:t>李航</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机器学习方法</a:t>
            </a:r>
            <a:r>
              <a:rPr lang="en-US" altLang="zh-CN" dirty="0">
                <a:solidFill>
                  <a:prstClr val="black"/>
                </a:solidFill>
                <a:latin typeface="Arial" panose="020B0604020202020204" pitchFamily="34" charset="0"/>
                <a:ea typeface="黑体" panose="02010609060101010101" pitchFamily="49" charset="-122"/>
              </a:rPr>
              <a:t>”,</a:t>
            </a:r>
            <a:r>
              <a:rPr lang="zh-CN" altLang="en-US" dirty="0">
                <a:solidFill>
                  <a:prstClr val="black"/>
                </a:solidFill>
                <a:latin typeface="Arial" panose="020B0604020202020204" pitchFamily="34" charset="0"/>
                <a:ea typeface="黑体" panose="02010609060101010101" pitchFamily="49" charset="-122"/>
              </a:rPr>
              <a:t> </a:t>
            </a:r>
            <a:r>
              <a:rPr lang="en-US" altLang="zh-CN" dirty="0">
                <a:solidFill>
                  <a:prstClr val="black"/>
                </a:solidFill>
                <a:latin typeface="Arial" panose="020B0604020202020204" pitchFamily="34" charset="0"/>
                <a:ea typeface="黑体" panose="02010609060101010101" pitchFamily="49" charset="-122"/>
              </a:rPr>
              <a:t>2021,</a:t>
            </a:r>
            <a:r>
              <a:rPr lang="zh-CN" altLang="en-US" dirty="0">
                <a:solidFill>
                  <a:prstClr val="black"/>
                </a:solidFill>
                <a:latin typeface="Arial" panose="020B0604020202020204" pitchFamily="34" charset="0"/>
                <a:ea typeface="黑体" panose="02010609060101010101" pitchFamily="49" charset="-122"/>
              </a:rPr>
              <a:t> 清华大学出版社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[3] </a:t>
            </a:r>
            <a:r>
              <a:rPr lang="zh-CN" altLang="en-US" dirty="0">
                <a:solidFill>
                  <a:prstClr val="black"/>
                </a:solidFill>
                <a:latin typeface="Arial" panose="020B0604020202020204" pitchFamily="34" charset="0"/>
                <a:ea typeface="黑体" panose="02010609060101010101" pitchFamily="49" charset="-122"/>
              </a:rPr>
              <a:t>吴飞编著</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人工智能导论：模型与算法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高等教育出版社</a:t>
            </a:r>
            <a:r>
              <a:rPr lang="en-US" altLang="zh-CN" dirty="0">
                <a:solidFill>
                  <a:prstClr val="black"/>
                </a:solidFill>
                <a:latin typeface="Arial" panose="020B0604020202020204" pitchFamily="34" charset="0"/>
                <a:ea typeface="黑体" panose="02010609060101010101" pitchFamily="49" charset="-122"/>
              </a:rPr>
              <a:t>.</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[4] </a:t>
            </a:r>
            <a:r>
              <a:rPr lang="zh-CN" altLang="en-US" dirty="0">
                <a:solidFill>
                  <a:prstClr val="black"/>
                </a:solidFill>
                <a:latin typeface="Arial" panose="020B0604020202020204" pitchFamily="34" charset="0"/>
                <a:ea typeface="黑体" panose="02010609060101010101" pitchFamily="49" charset="-122"/>
              </a:rPr>
              <a:t>周志华等</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机器学习理论导引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机械工业出版社</a:t>
            </a:r>
            <a:r>
              <a:rPr lang="en-US" altLang="zh-CN" dirty="0">
                <a:solidFill>
                  <a:prstClr val="black"/>
                </a:solidFill>
                <a:latin typeface="Arial" panose="020B0604020202020204" pitchFamily="34" charset="0"/>
                <a:ea typeface="黑体" panose="02010609060101010101" pitchFamily="49" charset="-122"/>
              </a:rPr>
              <a:t>.</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8"/>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2.</a:t>
            </a:r>
            <a:r>
              <a:rPr kumimoji="0" lang="zh-CN" altLang="en-US" sz="2800" b="1" dirty="0">
                <a:solidFill>
                  <a:srgbClr val="C00000"/>
                </a:solidFill>
                <a:ea typeface="黑体" panose="02010609060101010101" pitchFamily="49" charset="-122"/>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kumimoji="0" lang="en-US" altLang="zh-CN" sz="2800" b="1" dirty="0">
                <a:solidFill>
                  <a:srgbClr val="C00000"/>
                </a:solidFill>
                <a:ea typeface="黑体" panose="02010609060101010101" pitchFamily="49" charset="-122"/>
              </a:rPr>
              <a:t>1.</a:t>
            </a:r>
            <a:r>
              <a:rPr kumimoji="0" lang="zh-CN" altLang="en-US" sz="2800" b="1" dirty="0">
                <a:solidFill>
                  <a:srgbClr val="C00000"/>
                </a:solidFill>
                <a:ea typeface="黑体" panose="02010609060101010101" pitchFamily="49" charset="-122"/>
              </a:rPr>
              <a:t> 机器学习基本概念</a:t>
            </a:r>
          </a:p>
        </p:txBody>
      </p:sp>
      <p:sp>
        <p:nvSpPr>
          <p:cNvPr id="10" name="矩形 9">
            <a:extLst>
              <a:ext uri="{FF2B5EF4-FFF2-40B4-BE49-F238E27FC236}">
                <a16:creationId xmlns:a16="http://schemas.microsoft.com/office/drawing/2014/main" id="{218A8C9B-B10E-3821-1213-E4316655C35E}"/>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1" name="矩形 10">
            <a:extLst>
              <a:ext uri="{FF2B5EF4-FFF2-40B4-BE49-F238E27FC236}">
                <a16:creationId xmlns:a16="http://schemas.microsoft.com/office/drawing/2014/main" id="{8F36020B-28EF-E1C4-BDC3-CC88CD7AB743}"/>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2" name="矩形 11">
            <a:extLst>
              <a:ext uri="{FF2B5EF4-FFF2-40B4-BE49-F238E27FC236}">
                <a16:creationId xmlns:a16="http://schemas.microsoft.com/office/drawing/2014/main" id="{B4D4D97E-8B2D-F634-27FB-D87625E2E501}"/>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7.</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Expectation Maximization*</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6.</a:t>
            </a:r>
            <a:r>
              <a:rPr kumimoji="0" lang="zh-CN" altLang="en-US" sz="2800" b="1" dirty="0">
                <a:solidFill>
                  <a:srgbClr val="C00000"/>
                </a:solidFill>
                <a:ea typeface="黑体" panose="02010609060101010101" pitchFamily="49" charset="-122"/>
                <a:sym typeface="Calibri" panose="020F0502020204030204" pitchFamily="34" charset="0"/>
              </a:rPr>
              <a:t> 主成分分析</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15003758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09352" y="5348534"/>
            <a:ext cx="8513624" cy="830997"/>
          </a:xfrm>
          <a:prstGeom prst="rect">
            <a:avLst/>
          </a:prstGeom>
        </p:spPr>
        <p:txBody>
          <a:bodyPr wrap="square" lIns="0" tIns="0" rIns="0" bIns="0">
            <a:spAutoFit/>
          </a:bodyPr>
          <a:lstStyle/>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[1]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周志华</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机器学习</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2016,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清华大学出版社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Ch 1</a:t>
            </a:r>
          </a:p>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[2]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李航</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机器学习方法</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2021,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清华大学出版社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Ch 1, Ch 13</a:t>
            </a:r>
          </a:p>
          <a:p>
            <a:pPr marR="0" lvl="0" algn="l" defTabSz="1097280" rtl="0" eaLnBrk="1" fontAlgn="base" latinLnBrk="0" hangingPunct="1">
              <a:lnSpc>
                <a:spcPct val="100000"/>
              </a:lnSpc>
              <a:spcBef>
                <a:spcPct val="0"/>
              </a:spcBef>
              <a:spcAft>
                <a:spcPct val="0"/>
              </a:spcAft>
              <a:buClr>
                <a:srgbClr val="0070C0"/>
              </a:buClr>
              <a:buSzTx/>
              <a:tabLst/>
              <a:defRPr/>
            </a:pP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[3]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吴飞编著</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人工智能导论：模型与算法</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2020,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高等教育出版社</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7"/>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2.</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00B0F0"/>
                </a:solidFill>
                <a:effectLst/>
                <a:uLnTx/>
                <a:uFillTx/>
                <a:latin typeface="Arial" panose="020B0604020202020204" pitchFamily="34" charset="0"/>
                <a:ea typeface="黑体" panose="02010609060101010101" pitchFamily="49" charset="-122"/>
                <a:cs typeface="+mn-cs"/>
              </a:rPr>
              <a:t>1.</a:t>
            </a:r>
            <a:r>
              <a:rPr kumimoji="0" lang="zh-CN" altLang="en-US" sz="2800" b="1" i="0" u="none" strike="noStrike" kern="1200" cap="none" spc="0" normalizeH="0" baseline="0" noProof="0" dirty="0">
                <a:ln>
                  <a:noFill/>
                </a:ln>
                <a:solidFill>
                  <a:srgbClr val="00B0F0"/>
                </a:solidFill>
                <a:effectLst/>
                <a:uLnTx/>
                <a:uFillTx/>
                <a:latin typeface="Arial" panose="020B0604020202020204" pitchFamily="34" charset="0"/>
                <a:ea typeface="黑体" panose="02010609060101010101" pitchFamily="49" charset="-122"/>
                <a:cs typeface="+mn-cs"/>
              </a:rPr>
              <a:t> 机器学习基本概念</a:t>
            </a:r>
          </a:p>
        </p:txBody>
      </p:sp>
      <p:sp>
        <p:nvSpPr>
          <p:cNvPr id="10" name="矩形 9">
            <a:extLst>
              <a:ext uri="{FF2B5EF4-FFF2-40B4-BE49-F238E27FC236}">
                <a16:creationId xmlns:a16="http://schemas.microsoft.com/office/drawing/2014/main" id="{218A8C9B-B10E-3821-1213-E4316655C35E}"/>
              </a:ext>
            </a:extLst>
          </p:cNvPr>
          <p:cNvSpPr>
            <a:spLocks noChangeArrowheads="1"/>
          </p:cNvSpPr>
          <p:nvPr/>
        </p:nvSpPr>
        <p:spPr bwMode="auto">
          <a:xfrm>
            <a:off x="233846" y="3450025"/>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5.</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Ada Boost*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1" name="矩形 10">
            <a:extLst>
              <a:ext uri="{FF2B5EF4-FFF2-40B4-BE49-F238E27FC236}">
                <a16:creationId xmlns:a16="http://schemas.microsoft.com/office/drawing/2014/main" id="{8F36020B-28EF-E1C4-BDC3-CC88CD7AB743}"/>
              </a:ext>
            </a:extLst>
          </p:cNvPr>
          <p:cNvSpPr>
            <a:spLocks noChangeArrowheads="1"/>
          </p:cNvSpPr>
          <p:nvPr/>
        </p:nvSpPr>
        <p:spPr bwMode="auto">
          <a:xfrm>
            <a:off x="233846" y="2836549"/>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4.</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Support vector machine</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2" name="矩形 11">
            <a:extLst>
              <a:ext uri="{FF2B5EF4-FFF2-40B4-BE49-F238E27FC236}">
                <a16:creationId xmlns:a16="http://schemas.microsoft.com/office/drawing/2014/main" id="{B4D4D97E-8B2D-F634-27FB-D87625E2E501}"/>
              </a:ext>
            </a:extLst>
          </p:cNvPr>
          <p:cNvSpPr>
            <a:spLocks noChangeArrowheads="1"/>
          </p:cNvSpPr>
          <p:nvPr/>
        </p:nvSpPr>
        <p:spPr bwMode="auto">
          <a:xfrm>
            <a:off x="233846" y="222307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3.</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生成式方法</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7.</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Expectation Maximization*</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6.</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主成分分析</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5" name="矩形 4">
            <a:extLst>
              <a:ext uri="{FF2B5EF4-FFF2-40B4-BE49-F238E27FC236}">
                <a16:creationId xmlns:a16="http://schemas.microsoft.com/office/drawing/2014/main" id="{B8173A12-358F-2A5B-E27F-B3EFE5D94344}"/>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6" name="矩形 5">
            <a:extLst>
              <a:ext uri="{FF2B5EF4-FFF2-40B4-BE49-F238E27FC236}">
                <a16:creationId xmlns:a16="http://schemas.microsoft.com/office/drawing/2014/main" id="{D1D79D5F-E563-3C98-2315-6B22D916E152}"/>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3" name="矩形 12">
            <a:extLst>
              <a:ext uri="{FF2B5EF4-FFF2-40B4-BE49-F238E27FC236}">
                <a16:creationId xmlns:a16="http://schemas.microsoft.com/office/drawing/2014/main" id="{88DBBEB3-1835-E8C2-8115-12C4238C5556}"/>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397976678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灯片编号占位符 3">
            <a:extLst>
              <a:ext uri="{FF2B5EF4-FFF2-40B4-BE49-F238E27FC236}">
                <a16:creationId xmlns:a16="http://schemas.microsoft.com/office/drawing/2014/main" id="{716DD3DA-B16D-6085-9CF1-3818C8777F7C}"/>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5" name="标题 1">
            <a:extLst>
              <a:ext uri="{FF2B5EF4-FFF2-40B4-BE49-F238E27FC236}">
                <a16:creationId xmlns:a16="http://schemas.microsoft.com/office/drawing/2014/main" id="{043FA5DC-77E4-2EFB-B3A1-26D1857A972B}"/>
              </a:ext>
            </a:extLst>
          </p:cNvPr>
          <p:cNvSpPr>
            <a:spLocks noGrp="1"/>
          </p:cNvSpPr>
          <p:nvPr>
            <p:ph type="title"/>
          </p:nvPr>
        </p:nvSpPr>
        <p:spPr>
          <a:xfrm>
            <a:off x="0" y="4399"/>
            <a:ext cx="9144000" cy="817721"/>
          </a:xfrm>
        </p:spPr>
        <p:txBody>
          <a:bodyPr/>
          <a:lstStyle/>
          <a:p>
            <a:r>
              <a:rPr lang="zh-CN" altLang="en-US" sz="3200" dirty="0">
                <a:latin typeface="Arial" panose="020B0604020202020204" pitchFamily="34" charset="0"/>
                <a:ea typeface="黑体" panose="02010609060101010101" pitchFamily="49" charset="-122"/>
              </a:rPr>
              <a:t>智能体的结构</a:t>
            </a:r>
          </a:p>
        </p:txBody>
      </p:sp>
      <p:pic>
        <p:nvPicPr>
          <p:cNvPr id="6" name="图片 5">
            <a:extLst>
              <a:ext uri="{FF2B5EF4-FFF2-40B4-BE49-F238E27FC236}">
                <a16:creationId xmlns:a16="http://schemas.microsoft.com/office/drawing/2014/main" id="{9093C277-E37D-5721-8A3F-349E0A9B8B11}"/>
              </a:ext>
            </a:extLst>
          </p:cNvPr>
          <p:cNvPicPr>
            <a:picLocks noChangeAspect="1"/>
          </p:cNvPicPr>
          <p:nvPr/>
        </p:nvPicPr>
        <p:blipFill>
          <a:blip r:embed="rId2"/>
          <a:stretch>
            <a:fillRect/>
          </a:stretch>
        </p:blipFill>
        <p:spPr>
          <a:xfrm>
            <a:off x="588287" y="2551259"/>
            <a:ext cx="4692818" cy="3276000"/>
          </a:xfrm>
          <a:prstGeom prst="rect">
            <a:avLst/>
          </a:prstGeom>
        </p:spPr>
      </p:pic>
      <p:sp>
        <p:nvSpPr>
          <p:cNvPr id="7" name="文本框 6">
            <a:extLst>
              <a:ext uri="{FF2B5EF4-FFF2-40B4-BE49-F238E27FC236}">
                <a16:creationId xmlns:a16="http://schemas.microsoft.com/office/drawing/2014/main" id="{B1657F63-5AD5-095D-E3A3-B6C5FF057F28}"/>
              </a:ext>
            </a:extLst>
          </p:cNvPr>
          <p:cNvSpPr txBox="1"/>
          <p:nvPr/>
        </p:nvSpPr>
        <p:spPr>
          <a:xfrm>
            <a:off x="249319" y="1179653"/>
            <a:ext cx="8785613" cy="1384995"/>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已经给出了使用各种方法选择下一步行动的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程序。还没有说明这些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程序是如何形成的。</a:t>
            </a:r>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学习元件负责改进提高， 而性能元件负责选择外部行动。</a:t>
            </a:r>
            <a:r>
              <a:rPr kumimoji="0" lang="zh-CN" altLang="en-US" sz="1800" b="1" i="0" u="none" strike="noStrike" kern="1200" cap="none" spc="0" normalizeH="0" baseline="0" noProof="0" dirty="0">
                <a:ln>
                  <a:noFill/>
                </a:ln>
                <a:solidFill>
                  <a:srgbClr val="CC3399"/>
                </a:solidFill>
                <a:effectLst/>
                <a:uLnTx/>
                <a:uFillTx/>
                <a:latin typeface="Arial" panose="020B0604020202020204" pitchFamily="34" charset="0"/>
                <a:ea typeface="黑体" panose="02010609060101010101" pitchFamily="49" charset="-122"/>
                <a:cs typeface="+mn-cs"/>
              </a:rPr>
              <a:t>性能元件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是我们前面考虑的整个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，它接受感知信息并决策。 </a:t>
            </a:r>
            <a:r>
              <a:rPr kumimoji="0" lang="zh-CN" altLang="en-US" sz="1800" b="1" i="0" u="none" strike="noStrike" kern="1200" cap="none" spc="0" normalizeH="0" baseline="0" noProof="0" dirty="0">
                <a:ln>
                  <a:noFill/>
                </a:ln>
                <a:solidFill>
                  <a:srgbClr val="99CC00"/>
                </a:solidFill>
                <a:effectLst/>
                <a:uLnTx/>
                <a:uFillTx/>
                <a:latin typeface="Arial" panose="020B0604020202020204" pitchFamily="34" charset="0"/>
                <a:ea typeface="黑体" panose="02010609060101010101" pitchFamily="49" charset="-122"/>
                <a:cs typeface="+mn-cs"/>
              </a:rPr>
              <a:t>学习元件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利用来自</a:t>
            </a:r>
            <a:r>
              <a:rPr kumimoji="0" lang="zh-CN" altLang="en-US" sz="1800" b="0" i="0" u="none" strike="noStrike" kern="1200" cap="none" spc="0" normalizeH="0" baseline="0" noProof="0" dirty="0">
                <a:ln>
                  <a:noFill/>
                </a:ln>
                <a:solidFill>
                  <a:srgbClr val="0000FF"/>
                </a:solidFill>
                <a:effectLst/>
                <a:uLnTx/>
                <a:uFillTx/>
                <a:latin typeface="Arial" panose="020B0604020202020204" pitchFamily="34" charset="0"/>
                <a:ea typeface="黑体" panose="02010609060101010101" pitchFamily="49" charset="-122"/>
                <a:cs typeface="+mn-cs"/>
              </a:rPr>
              <a:t>评判元件</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的反馈评价</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做得如何， 并确定应该如何修改执行元件以便将来做得更好。</a:t>
            </a:r>
          </a:p>
        </p:txBody>
      </p:sp>
      <p:sp>
        <p:nvSpPr>
          <p:cNvPr id="8" name="文本框 7">
            <a:extLst>
              <a:ext uri="{FF2B5EF4-FFF2-40B4-BE49-F238E27FC236}">
                <a16:creationId xmlns:a16="http://schemas.microsoft.com/office/drawing/2014/main" id="{7C84057A-4EA0-A85E-2EDB-D5CD901C55A4}"/>
              </a:ext>
            </a:extLst>
          </p:cNvPr>
          <p:cNvSpPr txBox="1"/>
          <p:nvPr/>
        </p:nvSpPr>
        <p:spPr>
          <a:xfrm>
            <a:off x="5533309" y="4756313"/>
            <a:ext cx="3255090"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的最后一个组件是问题产生器。它负责建议探索性行动，得到新的和有信息的经验。</a:t>
            </a:r>
          </a:p>
        </p:txBody>
      </p:sp>
      <p:sp>
        <p:nvSpPr>
          <p:cNvPr id="9" name="文本框 8">
            <a:extLst>
              <a:ext uri="{FF2B5EF4-FFF2-40B4-BE49-F238E27FC236}">
                <a16:creationId xmlns:a16="http://schemas.microsoft.com/office/drawing/2014/main" id="{49A99F61-4459-6643-23E2-3D96392F3F30}"/>
              </a:ext>
            </a:extLst>
          </p:cNvPr>
          <p:cNvSpPr txBox="1"/>
          <p:nvPr/>
        </p:nvSpPr>
        <p:spPr>
          <a:xfrm>
            <a:off x="5533308" y="2771619"/>
            <a:ext cx="3255091" cy="1107996"/>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学习元件的设计很大程度上依赖于性能元件的设计。对于给定的</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设计， 可以构造学习机制来改进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的各个部分。</a:t>
            </a:r>
          </a:p>
        </p:txBody>
      </p:sp>
      <p:sp>
        <p:nvSpPr>
          <p:cNvPr id="10" name="文本框 9">
            <a:extLst>
              <a:ext uri="{FF2B5EF4-FFF2-40B4-BE49-F238E27FC236}">
                <a16:creationId xmlns:a16="http://schemas.microsoft.com/office/drawing/2014/main" id="{559A25E0-AA22-E22A-03F8-60F94C52087D}"/>
              </a:ext>
            </a:extLst>
          </p:cNvPr>
          <p:cNvSpPr txBox="1"/>
          <p:nvPr/>
        </p:nvSpPr>
        <p:spPr>
          <a:xfrm>
            <a:off x="227729" y="5827259"/>
            <a:ext cx="8668821"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学习元件可以更改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结构图中的任何“知识”组件。最简单的情况包括直接从感知序列学习。观察环境的后继状态可以让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学到“世界是如何发展的”，而观察行动的结果可以让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学到“我的行动做了什么”。</a:t>
            </a:r>
          </a:p>
        </p:txBody>
      </p:sp>
      <p:sp>
        <p:nvSpPr>
          <p:cNvPr id="11" name="文本框 10">
            <a:extLst>
              <a:ext uri="{FF2B5EF4-FFF2-40B4-BE49-F238E27FC236}">
                <a16:creationId xmlns:a16="http://schemas.microsoft.com/office/drawing/2014/main" id="{15447BA8-E4B2-1445-6E88-3907CA4000E2}"/>
              </a:ext>
            </a:extLst>
          </p:cNvPr>
          <p:cNvSpPr txBox="1"/>
          <p:nvPr/>
        </p:nvSpPr>
        <p:spPr>
          <a:xfrm>
            <a:off x="5518474" y="3980794"/>
            <a:ext cx="3318742" cy="553998"/>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评判元件根据固定的性能标准告诉学习元件 </a:t>
            </a:r>
            <a:r>
              <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Agent </a:t>
            </a: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的运转情况。 </a:t>
            </a:r>
          </a:p>
        </p:txBody>
      </p:sp>
      <p:sp>
        <p:nvSpPr>
          <p:cNvPr id="12" name="文本框 11">
            <a:extLst>
              <a:ext uri="{FF2B5EF4-FFF2-40B4-BE49-F238E27FC236}">
                <a16:creationId xmlns:a16="http://schemas.microsoft.com/office/drawing/2014/main" id="{89DF7010-FF3C-7080-DAD7-1DCD3AE5CA6F}"/>
              </a:ext>
            </a:extLst>
          </p:cNvPr>
          <p:cNvSpPr txBox="1"/>
          <p:nvPr/>
        </p:nvSpPr>
        <p:spPr>
          <a:xfrm>
            <a:off x="60439" y="862736"/>
            <a:ext cx="3881641" cy="307777"/>
          </a:xfrm>
          <a:prstGeom prst="rect">
            <a:avLst/>
          </a:prstGeom>
          <a:noFill/>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2000" b="1" i="0" u="none" strike="noStrike" kern="1200" cap="none" spc="0" normalizeH="0" baseline="0" noProof="0" dirty="0">
                <a:ln>
                  <a:noFill/>
                </a:ln>
                <a:solidFill>
                  <a:srgbClr val="99CC00"/>
                </a:solidFill>
                <a:effectLst/>
                <a:uLnTx/>
                <a:uFillTx/>
                <a:latin typeface="Arial" panose="020B0604020202020204" pitchFamily="34" charset="0"/>
                <a:ea typeface="黑体" panose="02010609060101010101" pitchFamily="49" charset="-122"/>
                <a:cs typeface="+mn-cs"/>
              </a:rPr>
              <a:t>Learning agents</a:t>
            </a:r>
          </a:p>
        </p:txBody>
      </p:sp>
    </p:spTree>
    <p:extLst>
      <p:ext uri="{BB962C8B-B14F-4D97-AF65-F5344CB8AC3E}">
        <p14:creationId xmlns:p14="http://schemas.microsoft.com/office/powerpoint/2010/main" val="285766750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1" name="矩形 10"/>
              <p:cNvSpPr/>
              <p:nvPr/>
            </p:nvSpPr>
            <p:spPr>
              <a:xfrm>
                <a:off x="6009966" y="4030984"/>
                <a:ext cx="2996874" cy="1852233"/>
              </a:xfrm>
              <a:prstGeom prst="rect">
                <a:avLst/>
              </a:prstGeom>
            </p:spPr>
            <p:txBody>
              <a:bodyPr wrap="square" lIns="0" tIns="0" rIns="0" bIns="0">
                <a:spAutoFit/>
              </a:bodyPr>
              <a:lstStyle/>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从原始数据中提取特征</a:t>
                </a:r>
              </a:p>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学习映射函数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oMath>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600"/>
                  </a:spcBef>
                  <a:spcAft>
                    <a:spcPts val="0"/>
                  </a:spcAft>
                  <a:buClrTx/>
                  <a:buSzTx/>
                  <a:buFont typeface="Wingdings" panose="05000000000000000000" pitchFamily="2" charset="2"/>
                  <a:buChar char="Ø"/>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通过映射函数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将原始数据映射到语义任务空间，即寻找数据和任务目标之间的关系</a:t>
                </a:r>
              </a:p>
            </p:txBody>
          </p:sp>
        </mc:Choice>
        <mc:Fallback xmlns="">
          <p:sp>
            <p:nvSpPr>
              <p:cNvPr id="11" name="矩形 10"/>
              <p:cNvSpPr>
                <a:spLocks noRot="1" noChangeAspect="1" noMove="1" noResize="1" noEditPoints="1" noAdjustHandles="1" noChangeArrowheads="1" noChangeShapeType="1" noTextEdit="1"/>
              </p:cNvSpPr>
              <p:nvPr/>
            </p:nvSpPr>
            <p:spPr>
              <a:xfrm>
                <a:off x="6009966" y="4030984"/>
                <a:ext cx="2996874" cy="1852233"/>
              </a:xfrm>
              <a:prstGeom prst="rect">
                <a:avLst/>
              </a:prstGeom>
              <a:blipFill>
                <a:blip r:embed="rId2"/>
                <a:stretch>
                  <a:fillRect l="-4472" t="-4934" r="-7520" b="-4276"/>
                </a:stretch>
              </a:blipFill>
            </p:spPr>
            <p:txBody>
              <a:bodyPr/>
              <a:lstStyle/>
              <a:p>
                <a:r>
                  <a:rPr lang="zh-CN" altLang="en-US">
                    <a:noFill/>
                  </a:rPr>
                  <a:t> </a:t>
                </a:r>
              </a:p>
            </p:txBody>
          </p:sp>
        </mc:Fallback>
      </mc:AlternateContent>
      <p:grpSp>
        <p:nvGrpSpPr>
          <p:cNvPr id="13" name="组合 12">
            <a:extLst>
              <a:ext uri="{FF2B5EF4-FFF2-40B4-BE49-F238E27FC236}">
                <a16:creationId xmlns:a16="http://schemas.microsoft.com/office/drawing/2014/main" id="{7E70C31F-B112-0D7C-AB55-F713D0AD3796}"/>
              </a:ext>
            </a:extLst>
          </p:cNvPr>
          <p:cNvGrpSpPr/>
          <p:nvPr/>
        </p:nvGrpSpPr>
        <p:grpSpPr>
          <a:xfrm>
            <a:off x="57648" y="1068230"/>
            <a:ext cx="5868992" cy="5323076"/>
            <a:chOff x="57648" y="1068230"/>
            <a:chExt cx="5868992" cy="5323076"/>
          </a:xfrm>
        </p:grpSpPr>
        <p:sp>
          <p:nvSpPr>
            <p:cNvPr id="21" name="圆角矩形 20"/>
            <p:cNvSpPr/>
            <p:nvPr/>
          </p:nvSpPr>
          <p:spPr bwMode="auto">
            <a:xfrm>
              <a:off x="350436" y="3139802"/>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图像数据</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23" name="图片 17" descr="semantic gap.jpg"/>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57649" y="1422997"/>
              <a:ext cx="1768056" cy="131597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 name="圆角矩形 24"/>
            <p:cNvSpPr/>
            <p:nvPr/>
          </p:nvSpPr>
          <p:spPr bwMode="auto">
            <a:xfrm>
              <a:off x="350435" y="6070819"/>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文本数据</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648" y="4329851"/>
              <a:ext cx="2020072" cy="15097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 name="右箭头 1"/>
            <p:cNvSpPr/>
            <p:nvPr/>
          </p:nvSpPr>
          <p:spPr>
            <a:xfrm>
              <a:off x="1996439" y="2080986"/>
              <a:ext cx="2549725" cy="424965"/>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3" name="圆角矩形 2"/>
            <p:cNvSpPr/>
            <p:nvPr/>
          </p:nvSpPr>
          <p:spPr>
            <a:xfrm>
              <a:off x="4672553" y="1232093"/>
              <a:ext cx="1254087" cy="179788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Person</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Dog</a:t>
              </a: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pic>
          <p:nvPicPr>
            <p:cNvPr id="1027" name="Picture 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751098" y="1103563"/>
              <a:ext cx="1005882" cy="901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下箭头 5"/>
            <p:cNvSpPr/>
            <p:nvPr/>
          </p:nvSpPr>
          <p:spPr>
            <a:xfrm rot="3227203">
              <a:off x="1911860" y="1418212"/>
              <a:ext cx="414317" cy="434391"/>
            </a:xfrm>
            <a:prstGeom prst="down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6" name="下箭头 25"/>
            <p:cNvSpPr/>
            <p:nvPr/>
          </p:nvSpPr>
          <p:spPr>
            <a:xfrm rot="3125064">
              <a:off x="1916834" y="4426873"/>
              <a:ext cx="414317" cy="370023"/>
            </a:xfrm>
            <a:prstGeom prst="down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7" name="矩形 6"/>
                <p:cNvSpPr/>
                <p:nvPr/>
              </p:nvSpPr>
              <p:spPr>
                <a:xfrm>
                  <a:off x="2246942" y="4059841"/>
                  <a:ext cx="2492781" cy="42094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en-US" altLang="zh-CN" sz="2800" b="0" i="1" u="none" strike="noStrike" kern="1200" cap="none" spc="0" normalizeH="0" noProof="0" smtClean="0">
                          <a:ln>
                            <a:noFill/>
                          </a:ln>
                          <a:solidFill>
                            <a:prstClr val="black"/>
                          </a:solidFill>
                          <a:effectLst/>
                          <a:uLnTx/>
                          <a:uFillTx/>
                          <a:latin typeface="Cambria Math"/>
                          <a:cs typeface="Times New Roman" panose="02020603050405020304" pitchFamily="18" charset="0"/>
                        </a:rPr>
                        <m:t>𝑓</m:t>
                      </m:r>
                    </m:oMath>
                  </a14:m>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{car, money, drive,…}</a:t>
                  </a:r>
                  <a:endParaRPr kumimoji="0" lang="zh-CN"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矩形 6"/>
                <p:cNvSpPr>
                  <a:spLocks noRot="1" noChangeAspect="1" noMove="1" noResize="1" noEditPoints="1" noAdjustHandles="1" noChangeArrowheads="1" noChangeShapeType="1" noTextEdit="1"/>
                </p:cNvSpPr>
                <p:nvPr/>
              </p:nvSpPr>
              <p:spPr>
                <a:xfrm>
                  <a:off x="2246942" y="4059841"/>
                  <a:ext cx="2492781" cy="420949"/>
                </a:xfrm>
                <a:prstGeom prst="rect">
                  <a:avLst/>
                </a:prstGeom>
                <a:blipFill>
                  <a:blip r:embed="rId6"/>
                  <a:stretch>
                    <a:fillRect l="-244" r="-1467" b="-26087"/>
                  </a:stretch>
                </a:blipFill>
              </p:spPr>
              <p:txBody>
                <a:bodyPr/>
                <a:lstStyle/>
                <a:p>
                  <a:r>
                    <a:rPr lang="zh-CN" altLang="en-US">
                      <a:noFill/>
                    </a:rPr>
                    <a:t> </a:t>
                  </a:r>
                </a:p>
              </p:txBody>
            </p:sp>
          </mc:Fallback>
        </mc:AlternateContent>
        <p:sp>
          <p:nvSpPr>
            <p:cNvPr id="27" name="右箭头 26"/>
            <p:cNvSpPr/>
            <p:nvPr/>
          </p:nvSpPr>
          <p:spPr>
            <a:xfrm>
              <a:off x="2118360" y="4877214"/>
              <a:ext cx="2427805" cy="424965"/>
            </a:xfrm>
            <a:prstGeom prst="rightArrow">
              <a:avLst/>
            </a:prstGeom>
            <a:solidFill>
              <a:srgbClr val="92D050"/>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8" name="圆角矩形 27"/>
            <p:cNvSpPr/>
            <p:nvPr/>
          </p:nvSpPr>
          <p:spPr>
            <a:xfrm>
              <a:off x="4651022" y="4116540"/>
              <a:ext cx="1254087" cy="1797881"/>
            </a:xfrm>
            <a:prstGeom prst="roundRect">
              <a:avLst/>
            </a:prstGeom>
            <a:noFill/>
            <a:ln>
              <a:solidFill>
                <a:srgbClr val="FF0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喜悦</a:t>
              </a:r>
              <a:endPar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愤怒</a:t>
              </a:r>
              <a:endPar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9" name="圆角矩形 28"/>
            <p:cNvSpPr/>
            <p:nvPr/>
          </p:nvSpPr>
          <p:spPr bwMode="auto">
            <a:xfrm>
              <a:off x="4741943" y="3204813"/>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类别分类</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30" name="圆角矩形 29"/>
            <p:cNvSpPr/>
            <p:nvPr/>
          </p:nvSpPr>
          <p:spPr bwMode="auto">
            <a:xfrm>
              <a:off x="4775534" y="6052477"/>
              <a:ext cx="1048123" cy="320487"/>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0" tIns="0" rIns="0"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情感分类</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9" name="矩形 8"/>
                <p:cNvSpPr/>
                <p:nvPr/>
              </p:nvSpPr>
              <p:spPr>
                <a:xfrm>
                  <a:off x="2221900" y="1076882"/>
                  <a:ext cx="535403" cy="55399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3600" b="0" i="1" u="none" strike="noStrike" kern="1200" cap="none" spc="0" normalizeH="0" noProof="0">
                            <a:ln>
                              <a:noFill/>
                            </a:ln>
                            <a:solidFill>
                              <a:prstClr val="black"/>
                            </a:solidFill>
                            <a:effectLst/>
                            <a:uLnTx/>
                            <a:uFillTx/>
                            <a:latin typeface="Cambria Math"/>
                            <a:cs typeface="Times New Roman" panose="02020603050405020304" pitchFamily="18" charset="0"/>
                          </a:rPr>
                          <m:t>𝑓</m:t>
                        </m:r>
                        <m:r>
                          <m:rPr>
                            <m:nor/>
                          </m:rPr>
                          <a:rPr kumimoji="0" lang="en-US" altLang="zh-CN"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m:t>{</m:t>
                        </m:r>
                      </m:oMath>
                    </m:oMathPara>
                  </a14:m>
                  <a:endParaRPr kumimoji="0" lang="zh-CN" altLang="en-US"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矩形 8"/>
                <p:cNvSpPr>
                  <a:spLocks noRot="1" noChangeAspect="1" noMove="1" noResize="1" noEditPoints="1" noAdjustHandles="1" noChangeArrowheads="1" noChangeShapeType="1" noTextEdit="1"/>
                </p:cNvSpPr>
                <p:nvPr/>
              </p:nvSpPr>
              <p:spPr>
                <a:xfrm>
                  <a:off x="2221900" y="1076882"/>
                  <a:ext cx="535403" cy="553998"/>
                </a:xfrm>
                <a:prstGeom prst="rect">
                  <a:avLst/>
                </a:prstGeom>
                <a:blipFill>
                  <a:blip r:embed="rId7"/>
                  <a:stretch>
                    <a:fillRect/>
                  </a:stretch>
                </a:blipFill>
              </p:spPr>
              <p:txBody>
                <a:bodyPr/>
                <a:lstStyle/>
                <a:p>
                  <a:r>
                    <a:rPr lang="zh-CN" altLang="en-US">
                      <a:noFill/>
                    </a:rPr>
                    <a:t> </a:t>
                  </a:r>
                </a:p>
              </p:txBody>
            </p:sp>
          </mc:Fallback>
        </mc:AlternateContent>
        <p:sp>
          <p:nvSpPr>
            <p:cNvPr id="4" name="矩形 3"/>
            <p:cNvSpPr/>
            <p:nvPr/>
          </p:nvSpPr>
          <p:spPr>
            <a:xfrm>
              <a:off x="3795204" y="1068230"/>
              <a:ext cx="153888" cy="55399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zh-CN" altLang="en-US" sz="36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DAE1DCE1-13D0-4FF0-EBD9-B0812B3B271C}"/>
                </a:ext>
              </a:extLst>
            </p:cNvPr>
            <p:cNvSpPr/>
            <p:nvPr/>
          </p:nvSpPr>
          <p:spPr>
            <a:xfrm>
              <a:off x="698798" y="3825542"/>
              <a:ext cx="4565151" cy="11279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a:latin typeface="Arial" panose="020B0604020202020204" pitchFamily="34" charset="0"/>
                <a:ea typeface="黑体" panose="02010609060101010101" pitchFamily="49" charset="-122"/>
              </a:endParaRPr>
            </a:p>
          </p:txBody>
        </p:sp>
      </p:grpSp>
      <p:sp>
        <p:nvSpPr>
          <p:cNvPr id="15" name="文本框 14">
            <a:extLst>
              <a:ext uri="{FF2B5EF4-FFF2-40B4-BE49-F238E27FC236}">
                <a16:creationId xmlns:a16="http://schemas.microsoft.com/office/drawing/2014/main" id="{12E4F439-3CCC-741C-199E-C7E5CE29275E}"/>
              </a:ext>
            </a:extLst>
          </p:cNvPr>
          <p:cNvSpPr txBox="1"/>
          <p:nvPr/>
        </p:nvSpPr>
        <p:spPr>
          <a:xfrm>
            <a:off x="21816" y="840261"/>
            <a:ext cx="2635023" cy="400110"/>
          </a:xfrm>
          <a:prstGeom prst="rect">
            <a:avLst/>
          </a:prstGeom>
          <a:noFill/>
        </p:spPr>
        <p:txBody>
          <a:bodyPr wrap="square">
            <a:spAutoFit/>
          </a:bodyPr>
          <a:lstStyle/>
          <a:p>
            <a:pPr marL="342900" indent="-342900">
              <a:buFont typeface="Wingdings" panose="05000000000000000000" pitchFamily="2" charset="2"/>
              <a:buChar char="u"/>
            </a:pPr>
            <a:r>
              <a:rPr kumimoji="0" lang="zh-CN" altLang="en-US" sz="2000" b="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从数据中学习知识</a:t>
            </a:r>
            <a:endParaRPr lang="zh-CN" altLang="en-US" sz="1600" dirty="0">
              <a:solidFill>
                <a:schemeClr val="accent6">
                  <a:lumMod val="75000"/>
                </a:schemeClr>
              </a:solidFill>
              <a:latin typeface="Arial" panose="020B0604020202020204" pitchFamily="34" charset="0"/>
              <a:ea typeface="黑体" panose="02010609060101010101" pitchFamily="49" charset="-122"/>
            </a:endParaRPr>
          </a:p>
        </p:txBody>
      </p:sp>
      <p:sp>
        <p:nvSpPr>
          <p:cNvPr id="17" name="标题 16">
            <a:extLst>
              <a:ext uri="{FF2B5EF4-FFF2-40B4-BE49-F238E27FC236}">
                <a16:creationId xmlns:a16="http://schemas.microsoft.com/office/drawing/2014/main" id="{AA247130-18C6-CCE3-8902-E758D5806CD9}"/>
              </a:ext>
            </a:extLst>
          </p:cNvPr>
          <p:cNvSpPr>
            <a:spLocks noGrp="1"/>
          </p:cNvSpPr>
          <p:nvPr>
            <p:ph type="title"/>
          </p:nvPr>
        </p:nvSpPr>
        <p:spPr/>
        <p:txBody>
          <a:bodyPr/>
          <a:lstStyle/>
          <a:p>
            <a:r>
              <a:rPr lang="zh-CN" altLang="en-US" dirty="0"/>
              <a:t>机器学习的基本概念</a:t>
            </a:r>
          </a:p>
        </p:txBody>
      </p:sp>
      <p:sp>
        <p:nvSpPr>
          <p:cNvPr id="5" name="文本框 4">
            <a:extLst>
              <a:ext uri="{FF2B5EF4-FFF2-40B4-BE49-F238E27FC236}">
                <a16:creationId xmlns:a16="http://schemas.microsoft.com/office/drawing/2014/main" id="{AFCA626B-9CCD-EEF2-EA3E-815E811C97E6}"/>
              </a:ext>
            </a:extLst>
          </p:cNvPr>
          <p:cNvSpPr txBox="1"/>
          <p:nvPr/>
        </p:nvSpPr>
        <p:spPr>
          <a:xfrm>
            <a:off x="6119598" y="1170032"/>
            <a:ext cx="2780562" cy="2246769"/>
          </a:xfrm>
          <a:prstGeom prst="rect">
            <a:avLst/>
          </a:prstGeom>
          <a:noFill/>
        </p:spPr>
        <p:txBody>
          <a:bodyPr wrap="square" lIns="0" tIns="0" rIns="0" bIns="0" rtlCol="0">
            <a:spAutoFit/>
          </a:bodyPr>
          <a:lstStyle/>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样本 </a:t>
            </a:r>
            <a:r>
              <a:rPr lang="en-US" altLang="zh-CN" dirty="0">
                <a:latin typeface="Arial" panose="020B0604020202020204" pitchFamily="34" charset="0"/>
                <a:ea typeface="黑体" panose="02010609060101010101" pitchFamily="49" charset="-122"/>
              </a:rPr>
              <a:t>(sample) </a:t>
            </a:r>
            <a:r>
              <a:rPr lang="zh-CN" altLang="en-US" dirty="0">
                <a:latin typeface="Arial" panose="020B0604020202020204" pitchFamily="34" charset="0"/>
                <a:ea typeface="黑体" panose="02010609060101010101" pitchFamily="49" charset="-122"/>
              </a:rPr>
              <a:t>示例 </a:t>
            </a:r>
            <a:r>
              <a:rPr lang="en-US" altLang="zh-CN" dirty="0">
                <a:latin typeface="Arial" panose="020B0604020202020204" pitchFamily="34" charset="0"/>
                <a:ea typeface="黑体" panose="02010609060101010101" pitchFamily="49" charset="-122"/>
              </a:rPr>
              <a:t>(instance)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特征 </a:t>
            </a:r>
            <a:r>
              <a:rPr lang="en-US" altLang="zh-CN" dirty="0">
                <a:latin typeface="Arial" panose="020B0604020202020204" pitchFamily="34" charset="0"/>
                <a:ea typeface="黑体" panose="02010609060101010101" pitchFamily="49" charset="-122"/>
              </a:rPr>
              <a:t>(feature)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样本空间</a:t>
            </a:r>
            <a:r>
              <a:rPr lang="en-US" altLang="zh-CN" dirty="0">
                <a:latin typeface="Arial" panose="020B0604020202020204" pitchFamily="34" charset="0"/>
                <a:ea typeface="黑体" panose="02010609060101010101" pitchFamily="49" charset="-122"/>
              </a:rPr>
              <a:t> (sample space)</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输入空间 </a:t>
            </a:r>
            <a:r>
              <a:rPr lang="en-US" altLang="zh-CN" dirty="0">
                <a:latin typeface="Arial" panose="020B0604020202020204" pitchFamily="34" charset="0"/>
                <a:ea typeface="黑体" panose="02010609060101010101" pitchFamily="49" charset="-122"/>
              </a:rPr>
              <a:t>(input space) </a:t>
            </a:r>
          </a:p>
          <a:p>
            <a:pPr marL="285750" indent="-285750">
              <a:spcBef>
                <a:spcPts val="600"/>
              </a:spcBef>
              <a:buFont typeface="Wingdings" panose="05000000000000000000" pitchFamily="2" charset="2"/>
              <a:buChar char="Ø"/>
            </a:pPr>
            <a:r>
              <a:rPr lang="zh-CN" altLang="en-US" dirty="0">
                <a:latin typeface="Arial" panose="020B0604020202020204" pitchFamily="34" charset="0"/>
                <a:ea typeface="黑体" panose="02010609060101010101" pitchFamily="49" charset="-122"/>
              </a:rPr>
              <a:t>标记空间 </a:t>
            </a:r>
            <a:r>
              <a:rPr lang="en-US" altLang="zh-CN" dirty="0">
                <a:latin typeface="Arial" panose="020B0604020202020204" pitchFamily="34" charset="0"/>
                <a:ea typeface="黑体" panose="02010609060101010101" pitchFamily="49" charset="-122"/>
              </a:rPr>
              <a:t>(label space)</a:t>
            </a:r>
            <a:r>
              <a:rPr lang="zh-CN" altLang="en-US" dirty="0">
                <a:latin typeface="Arial" panose="020B0604020202020204" pitchFamily="34" charset="0"/>
                <a:ea typeface="黑体" panose="02010609060101010101" pitchFamily="49" charset="-122"/>
              </a:rPr>
              <a:t>输出空间</a:t>
            </a:r>
            <a:r>
              <a:rPr lang="en-US" altLang="zh-CN" dirty="0">
                <a:latin typeface="Arial" panose="020B0604020202020204" pitchFamily="34" charset="0"/>
                <a:ea typeface="黑体" panose="02010609060101010101" pitchFamily="49" charset="-122"/>
              </a:rPr>
              <a:t> (output space)</a:t>
            </a:r>
          </a:p>
        </p:txBody>
      </p:sp>
      <p:sp>
        <p:nvSpPr>
          <p:cNvPr id="8" name="文本框 7">
            <a:extLst>
              <a:ext uri="{FF2B5EF4-FFF2-40B4-BE49-F238E27FC236}">
                <a16:creationId xmlns:a16="http://schemas.microsoft.com/office/drawing/2014/main" id="{ACB02A76-1708-0B38-32CD-5ED1D121D856}"/>
              </a:ext>
            </a:extLst>
          </p:cNvPr>
          <p:cNvSpPr txBox="1"/>
          <p:nvPr/>
        </p:nvSpPr>
        <p:spPr>
          <a:xfrm>
            <a:off x="1354635" y="5914421"/>
            <a:ext cx="3191530" cy="646331"/>
          </a:xfrm>
          <a:prstGeom prst="rect">
            <a:avLst/>
          </a:prstGeom>
          <a:noFill/>
        </p:spPr>
        <p:txBody>
          <a:bodyPr wrap="square" rtlCol="0">
            <a:spAutoFit/>
          </a:bodyPr>
          <a:lstStyle/>
          <a:p>
            <a:r>
              <a:rPr lang="zh-CN" altLang="en-US" dirty="0">
                <a:latin typeface="Arial" panose="020B0604020202020204" pitchFamily="34" charset="0"/>
                <a:ea typeface="黑体" panose="02010609060101010101" pitchFamily="49" charset="-122"/>
              </a:rPr>
              <a:t>单词码</a:t>
            </a:r>
            <a:endParaRPr lang="en-US" altLang="zh-CN" dirty="0">
              <a:latin typeface="Arial" panose="020B0604020202020204" pitchFamily="34" charset="0"/>
              <a:ea typeface="黑体" panose="02010609060101010101" pitchFamily="49" charset="-122"/>
            </a:endParaRPr>
          </a:p>
          <a:p>
            <a:r>
              <a:rPr lang="zh-CN" altLang="en-US" dirty="0">
                <a:latin typeface="Arial" panose="020B0604020202020204" pitchFamily="34" charset="0"/>
                <a:ea typeface="黑体" panose="02010609060101010101" pitchFamily="49" charset="-122"/>
              </a:rPr>
              <a:t>根据词典表示为 </a:t>
            </a:r>
            <a:r>
              <a:rPr lang="en-US" altLang="zh-CN" dirty="0">
                <a:latin typeface="Arial" panose="020B0604020202020204" pitchFamily="34" charset="0"/>
                <a:ea typeface="黑体" panose="02010609060101010101" pitchFamily="49" charset="-122"/>
              </a:rPr>
              <a:t>one-hot </a:t>
            </a:r>
            <a:r>
              <a:rPr lang="zh-CN" altLang="en-US" dirty="0">
                <a:latin typeface="Arial" panose="020B0604020202020204" pitchFamily="34" charset="0"/>
                <a:ea typeface="黑体" panose="02010609060101010101" pitchFamily="49" charset="-122"/>
              </a:rPr>
              <a:t>向量</a:t>
            </a:r>
          </a:p>
        </p:txBody>
      </p:sp>
      <p:sp>
        <p:nvSpPr>
          <p:cNvPr id="10" name="文本框 9">
            <a:extLst>
              <a:ext uri="{FF2B5EF4-FFF2-40B4-BE49-F238E27FC236}">
                <a16:creationId xmlns:a16="http://schemas.microsoft.com/office/drawing/2014/main" id="{4CC80E65-C77B-E275-8AB7-BDB52E682909}"/>
              </a:ext>
            </a:extLst>
          </p:cNvPr>
          <p:cNvSpPr txBox="1"/>
          <p:nvPr/>
        </p:nvSpPr>
        <p:spPr>
          <a:xfrm>
            <a:off x="1434698" y="3099990"/>
            <a:ext cx="1574404" cy="369332"/>
          </a:xfrm>
          <a:prstGeom prst="rect">
            <a:avLst/>
          </a:prstGeom>
          <a:noFill/>
        </p:spPr>
        <p:txBody>
          <a:bodyPr wrap="square" rtlCol="0">
            <a:spAutoFit/>
          </a:bodyPr>
          <a:lstStyle/>
          <a:p>
            <a:r>
              <a:rPr lang="zh-CN" altLang="en-US" dirty="0">
                <a:latin typeface="Arial" panose="020B0604020202020204" pitchFamily="34" charset="0"/>
                <a:ea typeface="黑体" panose="02010609060101010101" pitchFamily="49" charset="-122"/>
              </a:rPr>
              <a:t>数字化图像</a:t>
            </a:r>
          </a:p>
        </p:txBody>
      </p:sp>
    </p:spTree>
    <p:extLst>
      <p:ext uri="{BB962C8B-B14F-4D97-AF65-F5344CB8AC3E}">
        <p14:creationId xmlns:p14="http://schemas.microsoft.com/office/powerpoint/2010/main" val="410420269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rotWithShape="1">
          <a:blip r:embed="rId3">
            <a:extLst>
              <a:ext uri="{28A0092B-C50C-407E-A947-70E740481C1C}">
                <a14:useLocalDpi xmlns:a14="http://schemas.microsoft.com/office/drawing/2010/main" val="0"/>
              </a:ext>
            </a:extLst>
          </a:blip>
          <a:srcRect l="27117"/>
          <a:stretch/>
        </p:blipFill>
        <p:spPr bwMode="auto">
          <a:xfrm>
            <a:off x="1681781" y="4427709"/>
            <a:ext cx="2663460" cy="15367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8856" y="4384271"/>
            <a:ext cx="857250"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8"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240628" y="4442171"/>
            <a:ext cx="1914526" cy="14605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26" name="圆角矩形 25"/>
          <p:cNvSpPr/>
          <p:nvPr/>
        </p:nvSpPr>
        <p:spPr bwMode="auto">
          <a:xfrm>
            <a:off x="358907" y="5953473"/>
            <a:ext cx="582586" cy="453672"/>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图像</a:t>
            </a:r>
            <a:endParaRPr lang="en-US" altLang="zh-CN" sz="1400"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7" name="圆角矩形 26"/>
          <p:cNvSpPr/>
          <p:nvPr/>
        </p:nvSpPr>
        <p:spPr bwMode="auto">
          <a:xfrm>
            <a:off x="1721279" y="584477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稠密</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信息点</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8" name="圆角矩形 27"/>
          <p:cNvSpPr/>
          <p:nvPr/>
        </p:nvSpPr>
        <p:spPr bwMode="auto">
          <a:xfrm>
            <a:off x="2699608"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信息点</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表达</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9" name="圆角矩形 28"/>
          <p:cNvSpPr/>
          <p:nvPr/>
        </p:nvSpPr>
        <p:spPr bwMode="auto">
          <a:xfrm>
            <a:off x="3568354"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视觉</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词典</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0" name="圆角矩形 29"/>
          <p:cNvSpPr/>
          <p:nvPr/>
        </p:nvSpPr>
        <p:spPr bwMode="auto">
          <a:xfrm>
            <a:off x="4435111"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视觉</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单词</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1" name="圆角矩形 30"/>
          <p:cNvSpPr/>
          <p:nvPr/>
        </p:nvSpPr>
        <p:spPr bwMode="auto">
          <a:xfrm>
            <a:off x="5310729"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金字塔</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模型</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35" name="圆角矩形 34"/>
          <p:cNvSpPr/>
          <p:nvPr/>
        </p:nvSpPr>
        <p:spPr bwMode="auto">
          <a:xfrm>
            <a:off x="6255250" y="5849051"/>
            <a:ext cx="780521" cy="713315"/>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algn="ctr" defTabSz="914364">
              <a:defRPr/>
            </a:pPr>
            <a:r>
              <a:rPr lang="zh-CN" altLang="en-US" sz="1400" b="1" dirty="0">
                <a:solidFill>
                  <a:prstClr val="black"/>
                </a:solidFill>
                <a:latin typeface="Times New Roman" panose="02020603050405020304" pitchFamily="18" charset="0"/>
                <a:ea typeface="微软雅黑" pitchFamily="34" charset="-122"/>
                <a:cs typeface="Times New Roman" panose="02020603050405020304" pitchFamily="18" charset="0"/>
              </a:rPr>
              <a:t>直方图</a:t>
            </a:r>
            <a:endParaRPr lang="en-US" altLang="zh-CN" sz="1400" b="1" dirty="0">
              <a:solidFill>
                <a:prstClr val="black"/>
              </a:solidFill>
              <a:latin typeface="Times New Roman" panose="02020603050405020304" pitchFamily="18" charset="0"/>
              <a:ea typeface="微软雅黑" pitchFamily="34" charset="-122"/>
              <a:cs typeface="Times New Roman" panose="02020603050405020304" pitchFamily="18" charset="0"/>
            </a:endParaRPr>
          </a:p>
        </p:txBody>
      </p:sp>
      <p:sp>
        <p:nvSpPr>
          <p:cNvPr id="2" name="右箭头 1"/>
          <p:cNvSpPr/>
          <p:nvPr/>
        </p:nvSpPr>
        <p:spPr>
          <a:xfrm>
            <a:off x="7097292" y="4943819"/>
            <a:ext cx="473603" cy="40640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914364"/>
            <a:endParaRPr lang="zh-CN" altLang="en-US" dirty="0">
              <a:solidFill>
                <a:prstClr val="black"/>
              </a:solidFill>
              <a:latin typeface="Times New Roman"/>
              <a:ea typeface="黑体" pitchFamily="49" charset="-122"/>
            </a:endParaRPr>
          </a:p>
        </p:txBody>
      </p:sp>
      <p:sp>
        <p:nvSpPr>
          <p:cNvPr id="38" name="圆角矩形 37"/>
          <p:cNvSpPr/>
          <p:nvPr/>
        </p:nvSpPr>
        <p:spPr bwMode="auto">
          <a:xfrm>
            <a:off x="7636628" y="4275430"/>
            <a:ext cx="1288933" cy="181561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相似度计算</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分类</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聚类</a:t>
            </a:r>
          </a:p>
        </p:txBody>
      </p:sp>
      <p:sp>
        <p:nvSpPr>
          <p:cNvPr id="4" name="标题 16">
            <a:extLst>
              <a:ext uri="{FF2B5EF4-FFF2-40B4-BE49-F238E27FC236}">
                <a16:creationId xmlns:a16="http://schemas.microsoft.com/office/drawing/2014/main" id="{59EE276A-846A-337D-14C0-981CA942EF21}"/>
              </a:ext>
            </a:extLst>
          </p:cNvPr>
          <p:cNvSpPr>
            <a:spLocks noGrp="1"/>
          </p:cNvSpPr>
          <p:nvPr>
            <p:ph type="title"/>
          </p:nvPr>
        </p:nvSpPr>
        <p:spPr>
          <a:xfrm>
            <a:off x="0" y="4399"/>
            <a:ext cx="9144000" cy="817721"/>
          </a:xfrm>
        </p:spPr>
        <p:txBody>
          <a:bodyPr/>
          <a:lstStyle/>
          <a:p>
            <a:r>
              <a:rPr lang="zh-CN" altLang="en-US" dirty="0"/>
              <a:t>机器学习的基本概念</a:t>
            </a:r>
          </a:p>
        </p:txBody>
      </p:sp>
      <p:pic>
        <p:nvPicPr>
          <p:cNvPr id="5" name="Picture 2">
            <a:extLst>
              <a:ext uri="{FF2B5EF4-FFF2-40B4-BE49-F238E27FC236}">
                <a16:creationId xmlns:a16="http://schemas.microsoft.com/office/drawing/2014/main" id="{05BEEF56-C8E2-0901-92A2-2544A1D340C2}"/>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t="25952" r="68772" b="8587"/>
          <a:stretch/>
        </p:blipFill>
        <p:spPr bwMode="auto">
          <a:xfrm>
            <a:off x="-4757" y="1806101"/>
            <a:ext cx="1561600" cy="1841340"/>
          </a:xfrm>
          <a:prstGeom prst="rect">
            <a:avLst/>
          </a:prstGeom>
          <a:noFill/>
          <a:extLst>
            <a:ext uri="{909E8E84-426E-40DD-AFC4-6F175D3DCCD1}">
              <a14:hiddenFill xmlns:a14="http://schemas.microsoft.com/office/drawing/2010/main">
                <a:solidFill>
                  <a:srgbClr val="FFFFFF"/>
                </a:solidFill>
              </a14:hiddenFill>
            </a:ext>
          </a:extLst>
        </p:spPr>
      </p:pic>
      <p:sp>
        <p:nvSpPr>
          <p:cNvPr id="6" name="右箭头 1">
            <a:extLst>
              <a:ext uri="{FF2B5EF4-FFF2-40B4-BE49-F238E27FC236}">
                <a16:creationId xmlns:a16="http://schemas.microsoft.com/office/drawing/2014/main" id="{195D921B-D3EC-927C-BA75-7AA99F065B83}"/>
              </a:ext>
            </a:extLst>
          </p:cNvPr>
          <p:cNvSpPr/>
          <p:nvPr/>
        </p:nvSpPr>
        <p:spPr>
          <a:xfrm>
            <a:off x="7111389" y="2090370"/>
            <a:ext cx="473603" cy="406400"/>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algn="ctr" defTabSz="914364"/>
            <a:endParaRPr lang="zh-CN" altLang="en-US" dirty="0">
              <a:solidFill>
                <a:prstClr val="black"/>
              </a:solidFill>
              <a:latin typeface="Times New Roman"/>
              <a:ea typeface="黑体" pitchFamily="49" charset="-122"/>
            </a:endParaRPr>
          </a:p>
        </p:txBody>
      </p:sp>
      <p:sp>
        <p:nvSpPr>
          <p:cNvPr id="7" name="圆角矩形 37">
            <a:extLst>
              <a:ext uri="{FF2B5EF4-FFF2-40B4-BE49-F238E27FC236}">
                <a16:creationId xmlns:a16="http://schemas.microsoft.com/office/drawing/2014/main" id="{052200A7-B485-B04D-46EF-EB5FE677A605}"/>
              </a:ext>
            </a:extLst>
          </p:cNvPr>
          <p:cNvSpPr/>
          <p:nvPr/>
        </p:nvSpPr>
        <p:spPr bwMode="auto">
          <a:xfrm>
            <a:off x="7636628" y="1385762"/>
            <a:ext cx="1288933" cy="181561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相似度计算</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分类</a:t>
            </a:r>
            <a:endParaRPr lang="en-US" altLang="zh-CN" kern="0" dirty="0">
              <a:solidFill>
                <a:srgbClr val="000000"/>
              </a:solidFill>
              <a:latin typeface="黑体" panose="02010609060101010101" pitchFamily="49" charset="-122"/>
              <a:ea typeface="黑体" panose="02010609060101010101" pitchFamily="49" charset="-122"/>
              <a:cs typeface="Times New Roman" panose="02020603050405020304" pitchFamily="18" charset="0"/>
            </a:endParaRPr>
          </a:p>
          <a:p>
            <a:pPr marL="0" lvl="1" algn="ctr" defTabSz="914364" fontAlgn="base">
              <a:lnSpc>
                <a:spcPct val="150000"/>
              </a:lnSpc>
              <a:spcBef>
                <a:spcPct val="0"/>
              </a:spcBef>
              <a:spcAft>
                <a:spcPct val="0"/>
              </a:spcAft>
              <a:buClr>
                <a:srgbClr val="FF0000"/>
              </a:buClr>
              <a:defRPr/>
            </a:pPr>
            <a:r>
              <a:rPr lang="zh-CN" altLang="en-US" kern="0" dirty="0">
                <a:solidFill>
                  <a:srgbClr val="000000"/>
                </a:solidFill>
                <a:latin typeface="黑体" panose="02010609060101010101" pitchFamily="49" charset="-122"/>
                <a:ea typeface="黑体" panose="02010609060101010101" pitchFamily="49" charset="-122"/>
                <a:cs typeface="Times New Roman" panose="02020603050405020304" pitchFamily="18" charset="0"/>
              </a:rPr>
              <a:t>聚类</a:t>
            </a:r>
          </a:p>
        </p:txBody>
      </p:sp>
      <p:sp>
        <p:nvSpPr>
          <p:cNvPr id="9" name="矩形 8">
            <a:extLst>
              <a:ext uri="{FF2B5EF4-FFF2-40B4-BE49-F238E27FC236}">
                <a16:creationId xmlns:a16="http://schemas.microsoft.com/office/drawing/2014/main" id="{EB35C014-C6FA-056D-95F6-8F60BD4DD03A}"/>
              </a:ext>
            </a:extLst>
          </p:cNvPr>
          <p:cNvSpPr/>
          <p:nvPr/>
        </p:nvSpPr>
        <p:spPr>
          <a:xfrm>
            <a:off x="551444" y="3941911"/>
            <a:ext cx="7913158" cy="139151"/>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文本框 10">
            <a:extLst>
              <a:ext uri="{FF2B5EF4-FFF2-40B4-BE49-F238E27FC236}">
                <a16:creationId xmlns:a16="http://schemas.microsoft.com/office/drawing/2014/main" id="{81B6F862-A386-E055-B5E5-DBE59A8446F5}"/>
              </a:ext>
            </a:extLst>
          </p:cNvPr>
          <p:cNvSpPr txBox="1"/>
          <p:nvPr/>
        </p:nvSpPr>
        <p:spPr>
          <a:xfrm>
            <a:off x="17214" y="985677"/>
            <a:ext cx="1610768" cy="830997"/>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单词码</a:t>
            </a:r>
            <a:endParaRPr lang="en-US" altLang="zh-CN" dirty="0">
              <a:latin typeface="Arial" panose="020B0604020202020204" pitchFamily="34" charset="0"/>
              <a:ea typeface="黑体" panose="02010609060101010101" pitchFamily="49" charset="-122"/>
            </a:endParaRPr>
          </a:p>
          <a:p>
            <a:r>
              <a:rPr lang="zh-CN" altLang="en-US" dirty="0">
                <a:latin typeface="Arial" panose="020B0604020202020204" pitchFamily="34" charset="0"/>
                <a:ea typeface="黑体" panose="02010609060101010101" pitchFamily="49" charset="-122"/>
              </a:rPr>
              <a:t>根据词典表示为 </a:t>
            </a:r>
            <a:r>
              <a:rPr lang="en-US" altLang="zh-CN" dirty="0">
                <a:latin typeface="Arial" panose="020B0604020202020204" pitchFamily="34" charset="0"/>
                <a:ea typeface="黑体" panose="02010609060101010101" pitchFamily="49" charset="-122"/>
              </a:rPr>
              <a:t>one-hot </a:t>
            </a:r>
            <a:r>
              <a:rPr lang="zh-CN" altLang="en-US" dirty="0">
                <a:latin typeface="Arial" panose="020B0604020202020204" pitchFamily="34" charset="0"/>
                <a:ea typeface="黑体" panose="02010609060101010101" pitchFamily="49" charset="-122"/>
              </a:rPr>
              <a:t>向量</a:t>
            </a:r>
          </a:p>
        </p:txBody>
      </p:sp>
      <p:sp>
        <p:nvSpPr>
          <p:cNvPr id="12" name="文本框 11">
            <a:extLst>
              <a:ext uri="{FF2B5EF4-FFF2-40B4-BE49-F238E27FC236}">
                <a16:creationId xmlns:a16="http://schemas.microsoft.com/office/drawing/2014/main" id="{47FA27C3-8C1D-6A06-4392-26057BD0DFBE}"/>
              </a:ext>
            </a:extLst>
          </p:cNvPr>
          <p:cNvSpPr txBox="1"/>
          <p:nvPr/>
        </p:nvSpPr>
        <p:spPr>
          <a:xfrm>
            <a:off x="26145" y="4161468"/>
            <a:ext cx="1338828" cy="369332"/>
          </a:xfrm>
          <a:prstGeom prst="rect">
            <a:avLst/>
          </a:prstGeom>
          <a:noFill/>
        </p:spPr>
        <p:txBody>
          <a:bodyPr wrap="none" rtlCol="0">
            <a:spAutoFit/>
          </a:bodyPr>
          <a:lstStyle/>
          <a:p>
            <a:r>
              <a:rPr lang="zh-CN" altLang="en-US" dirty="0"/>
              <a:t>数字化图像</a:t>
            </a:r>
          </a:p>
        </p:txBody>
      </p:sp>
      <p:sp>
        <p:nvSpPr>
          <p:cNvPr id="14" name="矩形: 圆角 13">
            <a:extLst>
              <a:ext uri="{FF2B5EF4-FFF2-40B4-BE49-F238E27FC236}">
                <a16:creationId xmlns:a16="http://schemas.microsoft.com/office/drawing/2014/main" id="{363A58BB-E61C-2D88-DBDC-8E8A966E242D}"/>
              </a:ext>
            </a:extLst>
          </p:cNvPr>
          <p:cNvSpPr/>
          <p:nvPr/>
        </p:nvSpPr>
        <p:spPr>
          <a:xfrm>
            <a:off x="7475313" y="955330"/>
            <a:ext cx="1579880" cy="5365456"/>
          </a:xfrm>
          <a:prstGeom prst="roundRect">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endParaRPr lang="zh-CN" altLang="en-US" dirty="0">
              <a:solidFill>
                <a:schemeClr val="accent3">
                  <a:lumMod val="75000"/>
                </a:schemeClr>
              </a:solidFill>
            </a:endParaRPr>
          </a:p>
        </p:txBody>
      </p:sp>
      <p:pic>
        <p:nvPicPr>
          <p:cNvPr id="16" name="Picture 2">
            <a:extLst>
              <a:ext uri="{FF2B5EF4-FFF2-40B4-BE49-F238E27FC236}">
                <a16:creationId xmlns:a16="http://schemas.microsoft.com/office/drawing/2014/main" id="{86BF6058-CBA6-60DC-EF5C-B2F81FC7CB4A}"/>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73127" t="16149" b="6453"/>
          <a:stretch/>
        </p:blipFill>
        <p:spPr bwMode="auto">
          <a:xfrm>
            <a:off x="5592888" y="1188645"/>
            <a:ext cx="1343834" cy="2177126"/>
          </a:xfrm>
          <a:prstGeom prst="rect">
            <a:avLst/>
          </a:prstGeom>
          <a:noFill/>
          <a:extLst>
            <a:ext uri="{909E8E84-426E-40DD-AFC4-6F175D3DCCD1}">
              <a14:hiddenFill xmlns:a14="http://schemas.microsoft.com/office/drawing/2010/main">
                <a:solidFill>
                  <a:srgbClr val="FFFFFF"/>
                </a:solidFill>
              </a14:hiddenFill>
            </a:ext>
          </a:extLst>
        </p:spPr>
      </p:pic>
      <p:sp>
        <p:nvSpPr>
          <p:cNvPr id="17" name="文本框 16">
            <a:extLst>
              <a:ext uri="{FF2B5EF4-FFF2-40B4-BE49-F238E27FC236}">
                <a16:creationId xmlns:a16="http://schemas.microsoft.com/office/drawing/2014/main" id="{CB60D75C-9F34-A2F6-A19D-09826595AE7C}"/>
              </a:ext>
            </a:extLst>
          </p:cNvPr>
          <p:cNvSpPr txBox="1"/>
          <p:nvPr/>
        </p:nvSpPr>
        <p:spPr>
          <a:xfrm>
            <a:off x="1899037" y="4152067"/>
            <a:ext cx="4941737" cy="276999"/>
          </a:xfrm>
          <a:prstGeom prst="rect">
            <a:avLst/>
          </a:prstGeom>
          <a:noFill/>
        </p:spPr>
        <p:txBody>
          <a:bodyPr wrap="none" lIns="0" tIns="0" rIns="0" bIns="0" rtlCol="0">
            <a:spAutoFit/>
          </a:bodyPr>
          <a:lstStyle/>
          <a:p>
            <a:r>
              <a:rPr lang="en-US" altLang="zh-CN" dirty="0">
                <a:latin typeface="Arial" panose="020B0604020202020204" pitchFamily="34" charset="0"/>
                <a:ea typeface="黑体" panose="02010609060101010101" pitchFamily="49" charset="-122"/>
              </a:rPr>
              <a:t>The Bag of Visual Words (BOW) Representation</a:t>
            </a:r>
            <a:endParaRPr lang="zh-CN" altLang="en-US" dirty="0">
              <a:latin typeface="Arial" panose="020B0604020202020204" pitchFamily="34" charset="0"/>
              <a:ea typeface="黑体" panose="02010609060101010101" pitchFamily="49" charset="-122"/>
            </a:endParaRPr>
          </a:p>
        </p:txBody>
      </p:sp>
      <p:pic>
        <p:nvPicPr>
          <p:cNvPr id="18" name="Picture 2">
            <a:extLst>
              <a:ext uri="{FF2B5EF4-FFF2-40B4-BE49-F238E27FC236}">
                <a16:creationId xmlns:a16="http://schemas.microsoft.com/office/drawing/2014/main" id="{6B0B1123-B2C5-4937-C0DD-991AD4C34440}"/>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3299" r="72928" b="10717"/>
          <a:stretch/>
        </p:blipFill>
        <p:spPr bwMode="auto">
          <a:xfrm>
            <a:off x="226772" y="4482327"/>
            <a:ext cx="868796" cy="137200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19" name="矩形: 圆角 18">
            <a:extLst>
              <a:ext uri="{FF2B5EF4-FFF2-40B4-BE49-F238E27FC236}">
                <a16:creationId xmlns:a16="http://schemas.microsoft.com/office/drawing/2014/main" id="{24842CDA-1B34-137C-3E82-E66581471E85}"/>
              </a:ext>
            </a:extLst>
          </p:cNvPr>
          <p:cNvSpPr/>
          <p:nvPr/>
        </p:nvSpPr>
        <p:spPr>
          <a:xfrm>
            <a:off x="1649952" y="893591"/>
            <a:ext cx="5439467" cy="5767916"/>
          </a:xfrm>
          <a:prstGeom prst="roundRect">
            <a:avLst>
              <a:gd name="adj" fmla="val 6208"/>
            </a:avLst>
          </a:prstGeom>
          <a:noFill/>
          <a:ln>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en-US" altLang="zh-CN" dirty="0">
              <a:solidFill>
                <a:srgbClr val="339966"/>
              </a:solidFill>
            </a:endParaRPr>
          </a:p>
          <a:p>
            <a:pPr algn="ctr"/>
            <a:endParaRPr lang="zh-CN" altLang="en-US" dirty="0">
              <a:solidFill>
                <a:srgbClr val="339966"/>
              </a:solidFill>
            </a:endParaRPr>
          </a:p>
        </p:txBody>
      </p:sp>
      <p:pic>
        <p:nvPicPr>
          <p:cNvPr id="20" name="Picture 2">
            <a:extLst>
              <a:ext uri="{FF2B5EF4-FFF2-40B4-BE49-F238E27FC236}">
                <a16:creationId xmlns:a16="http://schemas.microsoft.com/office/drawing/2014/main" id="{4D8EA9DA-5AD1-3D10-4087-95A1A35B57D8}"/>
              </a:ext>
            </a:extLst>
          </p:cNvPr>
          <p:cNvPicPr>
            <a:picLocks noChangeAspect="1" noChangeArrowheads="1"/>
          </p:cNvPicPr>
          <p:nvPr/>
        </p:nvPicPr>
        <p:blipFill rotWithShape="1">
          <a:blip r:embed="rId6">
            <a:extLst>
              <a:ext uri="{28A0092B-C50C-407E-A947-70E740481C1C}">
                <a14:useLocalDpi xmlns:a14="http://schemas.microsoft.com/office/drawing/2010/main" val="0"/>
              </a:ext>
            </a:extLst>
          </a:blip>
          <a:srcRect l="31228" t="16149" r="27379" b="6453"/>
          <a:stretch/>
        </p:blipFill>
        <p:spPr bwMode="auto">
          <a:xfrm>
            <a:off x="2586437" y="1243476"/>
            <a:ext cx="2069966" cy="2177126"/>
          </a:xfrm>
          <a:prstGeom prst="rect">
            <a:avLst/>
          </a:prstGeom>
          <a:noFill/>
          <a:extLst>
            <a:ext uri="{909E8E84-426E-40DD-AFC4-6F175D3DCCD1}">
              <a14:hiddenFill xmlns:a14="http://schemas.microsoft.com/office/drawing/2010/main">
                <a:solidFill>
                  <a:srgbClr val="FFFFFF"/>
                </a:solidFill>
              </a14:hiddenFill>
            </a:ext>
          </a:extLst>
        </p:spPr>
      </p:pic>
      <p:sp>
        <p:nvSpPr>
          <p:cNvPr id="21" name="文本框 20">
            <a:extLst>
              <a:ext uri="{FF2B5EF4-FFF2-40B4-BE49-F238E27FC236}">
                <a16:creationId xmlns:a16="http://schemas.microsoft.com/office/drawing/2014/main" id="{46256C23-A9F9-1382-4B4A-BA4A7B9C63D1}"/>
              </a:ext>
            </a:extLst>
          </p:cNvPr>
          <p:cNvSpPr txBox="1"/>
          <p:nvPr/>
        </p:nvSpPr>
        <p:spPr>
          <a:xfrm>
            <a:off x="156062" y="3599137"/>
            <a:ext cx="1107996" cy="369332"/>
          </a:xfrm>
          <a:prstGeom prst="rect">
            <a:avLst/>
          </a:prstGeom>
          <a:noFill/>
        </p:spPr>
        <p:txBody>
          <a:bodyPr wrap="none" rtlCol="0">
            <a:spAutoFit/>
          </a:bodyPr>
          <a:lstStyle/>
          <a:p>
            <a:r>
              <a:rPr lang="zh-CN" altLang="en-US" dirty="0">
                <a:solidFill>
                  <a:srgbClr val="7030A0"/>
                </a:solidFill>
              </a:rPr>
              <a:t>原始数据</a:t>
            </a:r>
          </a:p>
        </p:txBody>
      </p:sp>
      <p:sp>
        <p:nvSpPr>
          <p:cNvPr id="23" name="文本框 22">
            <a:extLst>
              <a:ext uri="{FF2B5EF4-FFF2-40B4-BE49-F238E27FC236}">
                <a16:creationId xmlns:a16="http://schemas.microsoft.com/office/drawing/2014/main" id="{919DB5FA-CE24-FAD2-9403-D121A0CA127B}"/>
              </a:ext>
            </a:extLst>
          </p:cNvPr>
          <p:cNvSpPr txBox="1"/>
          <p:nvPr/>
        </p:nvSpPr>
        <p:spPr>
          <a:xfrm>
            <a:off x="5839442" y="3372453"/>
            <a:ext cx="1677448" cy="646331"/>
          </a:xfrm>
          <a:prstGeom prst="rect">
            <a:avLst/>
          </a:prstGeom>
          <a:noFill/>
        </p:spPr>
        <p:txBody>
          <a:bodyPr wrap="square">
            <a:spAutoFit/>
          </a:bodyPr>
          <a:lstStyle/>
          <a:p>
            <a:r>
              <a:rPr kumimoji="0" lang="zh-CN" altLang="en-US"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mn-cs"/>
              </a:rPr>
              <a:t>特征空间 </a:t>
            </a:r>
            <a:r>
              <a:rPr kumimoji="0" lang="en-US" altLang="zh-CN" sz="1800" b="0" i="0" u="none" strike="noStrike" kern="120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mn-cs"/>
              </a:rPr>
              <a:t>(feature space) </a:t>
            </a:r>
            <a:endParaRPr lang="zh-CN" altLang="en-US" dirty="0">
              <a:solidFill>
                <a:schemeClr val="accent6">
                  <a:lumMod val="75000"/>
                </a:schemeClr>
              </a:solidFill>
            </a:endParaRPr>
          </a:p>
        </p:txBody>
      </p:sp>
      <p:sp>
        <p:nvSpPr>
          <p:cNvPr id="8" name="文本框 7">
            <a:extLst>
              <a:ext uri="{FF2B5EF4-FFF2-40B4-BE49-F238E27FC236}">
                <a16:creationId xmlns:a16="http://schemas.microsoft.com/office/drawing/2014/main" id="{D8444065-545B-49FD-5F8B-41E482ADA59A}"/>
              </a:ext>
            </a:extLst>
          </p:cNvPr>
          <p:cNvSpPr txBox="1"/>
          <p:nvPr/>
        </p:nvSpPr>
        <p:spPr>
          <a:xfrm>
            <a:off x="2182366" y="924422"/>
            <a:ext cx="4253408" cy="276999"/>
          </a:xfrm>
          <a:prstGeom prst="rect">
            <a:avLst/>
          </a:prstGeom>
          <a:noFill/>
        </p:spPr>
        <p:txBody>
          <a:bodyPr wrap="none" lIns="0" tIns="0" rIns="0" bIns="0" rtlCol="0">
            <a:spAutoFit/>
          </a:bodyPr>
          <a:lstStyle/>
          <a:p>
            <a:r>
              <a:rPr lang="en-US" altLang="zh-CN" dirty="0">
                <a:latin typeface="Arial" panose="020B0604020202020204" pitchFamily="34" charset="0"/>
                <a:ea typeface="黑体" panose="02010609060101010101" pitchFamily="49" charset="-122"/>
              </a:rPr>
              <a:t>The Bag of Words (BOW) Representation</a:t>
            </a:r>
            <a:endParaRPr lang="zh-CN" altLang="en-US" dirty="0">
              <a:latin typeface="Arial" panose="020B0604020202020204" pitchFamily="34" charset="0"/>
              <a:ea typeface="黑体" panose="02010609060101010101" pitchFamily="49" charset="-122"/>
            </a:endParaRPr>
          </a:p>
        </p:txBody>
      </p:sp>
      <p:sp>
        <p:nvSpPr>
          <p:cNvPr id="25" name="文本框 24">
            <a:extLst>
              <a:ext uri="{FF2B5EF4-FFF2-40B4-BE49-F238E27FC236}">
                <a16:creationId xmlns:a16="http://schemas.microsoft.com/office/drawing/2014/main" id="{D5CA3429-9268-C15B-F364-25A744584611}"/>
              </a:ext>
            </a:extLst>
          </p:cNvPr>
          <p:cNvSpPr txBox="1"/>
          <p:nvPr/>
        </p:nvSpPr>
        <p:spPr>
          <a:xfrm>
            <a:off x="3630351" y="3542448"/>
            <a:ext cx="1371798"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339966"/>
                </a:solidFill>
                <a:effectLst/>
                <a:uLnTx/>
                <a:uFillTx/>
                <a:latin typeface="Times New Roman"/>
                <a:ea typeface="黑体"/>
                <a:cs typeface="+mn-cs"/>
              </a:rPr>
              <a:t>特征提取</a:t>
            </a:r>
          </a:p>
        </p:txBody>
      </p:sp>
      <p:sp>
        <p:nvSpPr>
          <p:cNvPr id="34" name="文本框 33">
            <a:extLst>
              <a:ext uri="{FF2B5EF4-FFF2-40B4-BE49-F238E27FC236}">
                <a16:creationId xmlns:a16="http://schemas.microsoft.com/office/drawing/2014/main" id="{638972B5-0169-FF34-644E-FB93189311B4}"/>
              </a:ext>
            </a:extLst>
          </p:cNvPr>
          <p:cNvSpPr txBox="1"/>
          <p:nvPr/>
        </p:nvSpPr>
        <p:spPr>
          <a:xfrm>
            <a:off x="7480759" y="3541939"/>
            <a:ext cx="1579880" cy="369332"/>
          </a:xfrm>
          <a:prstGeom prst="rect">
            <a:avLst/>
          </a:prstGeom>
          <a:noFill/>
        </p:spPr>
        <p:txBody>
          <a:bodyPr wrap="square">
            <a:spAutoFit/>
          </a:bodyPr>
          <a:lstStyle/>
          <a:p>
            <a:pPr algn="ctr"/>
            <a:r>
              <a:rPr lang="zh-CN" altLang="en-US" dirty="0">
                <a:solidFill>
                  <a:schemeClr val="accent3">
                    <a:lumMod val="75000"/>
                  </a:schemeClr>
                </a:solidFill>
                <a:latin typeface="Arial" panose="020B0604020202020204" pitchFamily="34" charset="0"/>
                <a:ea typeface="黑体" panose="02010609060101010101" pitchFamily="49" charset="-122"/>
              </a:rPr>
              <a:t>机器学习模型</a:t>
            </a:r>
          </a:p>
        </p:txBody>
      </p:sp>
      <p:sp>
        <p:nvSpPr>
          <p:cNvPr id="36" name="文本框 35">
            <a:extLst>
              <a:ext uri="{FF2B5EF4-FFF2-40B4-BE49-F238E27FC236}">
                <a16:creationId xmlns:a16="http://schemas.microsoft.com/office/drawing/2014/main" id="{C6073CBE-CF45-6A79-F81B-8DABDFF87502}"/>
              </a:ext>
            </a:extLst>
          </p:cNvPr>
          <p:cNvSpPr txBox="1"/>
          <p:nvPr/>
        </p:nvSpPr>
        <p:spPr>
          <a:xfrm>
            <a:off x="1587659" y="3314892"/>
            <a:ext cx="1677448" cy="646331"/>
          </a:xfrm>
          <a:prstGeom prst="rect">
            <a:avLst/>
          </a:prstGeom>
          <a:noFill/>
        </p:spPr>
        <p:txBody>
          <a:bodyPr wrap="square">
            <a:spAutoFit/>
          </a:bodyPr>
          <a:lstStyle/>
          <a:p>
            <a:r>
              <a:rPr lang="zh-CN" altLang="en-US" dirty="0">
                <a:solidFill>
                  <a:srgbClr val="7030A0"/>
                </a:solidFill>
                <a:latin typeface="Arial" panose="020B0604020202020204" pitchFamily="34" charset="0"/>
                <a:ea typeface="黑体" panose="02010609060101010101" pitchFamily="49" charset="-122"/>
              </a:rPr>
              <a:t>样本</a:t>
            </a:r>
            <a:r>
              <a:rPr kumimoji="0" lang="zh-CN" altLang="en-US"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空间 </a:t>
            </a:r>
            <a:r>
              <a:rPr kumimoji="0" lang="en-US" altLang="zh-CN"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a:t>
            </a:r>
            <a:r>
              <a:rPr lang="en-US" altLang="zh-CN" dirty="0">
                <a:solidFill>
                  <a:srgbClr val="7030A0"/>
                </a:solidFill>
                <a:latin typeface="Arial" panose="020B0604020202020204" pitchFamily="34" charset="0"/>
                <a:ea typeface="黑体" panose="02010609060101010101" pitchFamily="49" charset="-122"/>
              </a:rPr>
              <a:t>sample</a:t>
            </a:r>
            <a:r>
              <a:rPr kumimoji="0" lang="en-US" altLang="zh-CN" sz="1800" b="0" i="0" u="none" strike="noStrike" kern="120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mn-cs"/>
              </a:rPr>
              <a:t> space) </a:t>
            </a:r>
            <a:endParaRPr lang="zh-CN" altLang="en-US" dirty="0">
              <a:solidFill>
                <a:srgbClr val="7030A0"/>
              </a:solidFill>
            </a:endParaRPr>
          </a:p>
        </p:txBody>
      </p:sp>
    </p:spTree>
    <p:extLst>
      <p:ext uri="{BB962C8B-B14F-4D97-AF65-F5344CB8AC3E}">
        <p14:creationId xmlns:p14="http://schemas.microsoft.com/office/powerpoint/2010/main" val="14741392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表格 2"/>
          <p:cNvGraphicFramePr>
            <a:graphicFrameLocks noGrp="1"/>
          </p:cNvGraphicFramePr>
          <p:nvPr>
            <p:extLst>
              <p:ext uri="{D42A27DB-BD31-4B8C-83A1-F6EECF244321}">
                <p14:modId xmlns:p14="http://schemas.microsoft.com/office/powerpoint/2010/main" val="1509211231"/>
              </p:ext>
            </p:extLst>
          </p:nvPr>
        </p:nvGraphicFramePr>
        <p:xfrm>
          <a:off x="79469" y="1655305"/>
          <a:ext cx="3102383" cy="3839359"/>
        </p:xfrm>
        <a:graphic>
          <a:graphicData uri="http://schemas.openxmlformats.org/drawingml/2006/table">
            <a:tbl>
              <a:tblPr firstRow="1" bandRow="1">
                <a:tableStyleId>{5C22544A-7EE6-4342-B048-85BDC9FD1C3A}</a:tableStyleId>
              </a:tblPr>
              <a:tblGrid>
                <a:gridCol w="986453">
                  <a:extLst>
                    <a:ext uri="{9D8B030D-6E8A-4147-A177-3AD203B41FA5}">
                      <a16:colId xmlns:a16="http://schemas.microsoft.com/office/drawing/2014/main" val="20000"/>
                    </a:ext>
                  </a:extLst>
                </a:gridCol>
                <a:gridCol w="525643">
                  <a:extLst>
                    <a:ext uri="{9D8B030D-6E8A-4147-A177-3AD203B41FA5}">
                      <a16:colId xmlns:a16="http://schemas.microsoft.com/office/drawing/2014/main" val="20001"/>
                    </a:ext>
                  </a:extLst>
                </a:gridCol>
                <a:gridCol w="509217">
                  <a:extLst>
                    <a:ext uri="{9D8B030D-6E8A-4147-A177-3AD203B41FA5}">
                      <a16:colId xmlns:a16="http://schemas.microsoft.com/office/drawing/2014/main" val="20002"/>
                    </a:ext>
                  </a:extLst>
                </a:gridCol>
                <a:gridCol w="531119">
                  <a:extLst>
                    <a:ext uri="{9D8B030D-6E8A-4147-A177-3AD203B41FA5}">
                      <a16:colId xmlns:a16="http://schemas.microsoft.com/office/drawing/2014/main" val="20003"/>
                    </a:ext>
                  </a:extLst>
                </a:gridCol>
                <a:gridCol w="549951">
                  <a:extLst>
                    <a:ext uri="{9D8B030D-6E8A-4147-A177-3AD203B41FA5}">
                      <a16:colId xmlns:a16="http://schemas.microsoft.com/office/drawing/2014/main" val="20004"/>
                    </a:ext>
                  </a:extLst>
                </a:gridCol>
              </a:tblGrid>
              <a:tr h="853440">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人员</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数学好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身体好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会编程</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嗓门大</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442341">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412124">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作家</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450761">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B</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r h="379927">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431442">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医生</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5"/>
                  </a:ext>
                </a:extLst>
              </a:tr>
              <a:tr h="418588">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C</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r h="450736">
                <a:tc>
                  <a:txBody>
                    <a:bodyPr/>
                    <a:lstStyle/>
                    <a:p>
                      <a:pPr algn="ct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程序员</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D</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Yes</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No</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7"/>
                  </a:ext>
                </a:extLst>
              </a:tr>
            </a:tbl>
          </a:graphicData>
        </a:graphic>
      </p:graphicFrame>
      <p:sp>
        <p:nvSpPr>
          <p:cNvPr id="4" name="右箭头 3"/>
          <p:cNvSpPr/>
          <p:nvPr/>
        </p:nvSpPr>
        <p:spPr>
          <a:xfrm>
            <a:off x="3295695" y="3399349"/>
            <a:ext cx="914413" cy="605054"/>
          </a:xfrm>
          <a:prstGeom prst="right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6" name="圆角矩形 5"/>
          <p:cNvSpPr/>
          <p:nvPr/>
        </p:nvSpPr>
        <p:spPr bwMode="auto">
          <a:xfrm>
            <a:off x="3270811" y="2523677"/>
            <a:ext cx="843897" cy="745094"/>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从数据</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中学习</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8" name="椭圆 7"/>
          <p:cNvSpPr/>
          <p:nvPr/>
        </p:nvSpPr>
        <p:spPr>
          <a:xfrm>
            <a:off x="4265791" y="3399348"/>
            <a:ext cx="306210" cy="605055"/>
          </a:xfrm>
          <a:prstGeom prst="ellipse">
            <a:avLst/>
          </a:prstGeom>
          <a:solidFill>
            <a:srgbClr val="FFFF00">
              <a:alpha val="37000"/>
            </a:srgbClr>
          </a:solidFill>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cxnSp>
        <p:nvCxnSpPr>
          <p:cNvPr id="10" name="直接箭头连接符 9"/>
          <p:cNvCxnSpPr/>
          <p:nvPr/>
        </p:nvCxnSpPr>
        <p:spPr>
          <a:xfrm flipH="1">
            <a:off x="4813352" y="2393100"/>
            <a:ext cx="415633" cy="10062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13" name="矩形 12"/>
          <p:cNvSpPr/>
          <p:nvPr/>
        </p:nvSpPr>
        <p:spPr>
          <a:xfrm>
            <a:off x="4853422" y="1836811"/>
            <a:ext cx="1025922"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a:t>
            </a:r>
          </a:p>
        </p:txBody>
      </p:sp>
      <p:sp>
        <p:nvSpPr>
          <p:cNvPr id="14" name="矩形 13"/>
          <p:cNvSpPr/>
          <p:nvPr/>
        </p:nvSpPr>
        <p:spPr>
          <a:xfrm>
            <a:off x="6687804" y="2355659"/>
            <a:ext cx="1380186"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模式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pattern</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cxnSp>
        <p:nvCxnSpPr>
          <p:cNvPr id="15" name="直接箭头连接符 14"/>
          <p:cNvCxnSpPr/>
          <p:nvPr/>
        </p:nvCxnSpPr>
        <p:spPr>
          <a:xfrm flipH="1">
            <a:off x="6835329" y="2864787"/>
            <a:ext cx="542569" cy="72404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17" name="直接箭头连接符 16"/>
          <p:cNvCxnSpPr/>
          <p:nvPr/>
        </p:nvCxnSpPr>
        <p:spPr>
          <a:xfrm flipH="1" flipV="1">
            <a:off x="6835329" y="4594461"/>
            <a:ext cx="184149" cy="760019"/>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矩形 19"/>
          <p:cNvSpPr/>
          <p:nvPr/>
        </p:nvSpPr>
        <p:spPr>
          <a:xfrm>
            <a:off x="6670922" y="5414437"/>
            <a:ext cx="512961" cy="30777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类别</a:t>
            </a:r>
          </a:p>
        </p:txBody>
      </p:sp>
      <p:sp>
        <p:nvSpPr>
          <p:cNvPr id="21" name="圆角矩形 20"/>
          <p:cNvSpPr/>
          <p:nvPr/>
        </p:nvSpPr>
        <p:spPr bwMode="auto">
          <a:xfrm>
            <a:off x="859719" y="5736587"/>
            <a:ext cx="1814936" cy="384052"/>
          </a:xfrm>
          <a:prstGeom prst="roundRect">
            <a:avLst/>
          </a:prstGeom>
          <a:solidFill>
            <a:srgbClr val="FFFF00"/>
          </a:solidFill>
          <a:ln>
            <a:solidFill>
              <a:srgbClr val="C00000"/>
            </a:solidFill>
            <a:headEnd type="none" w="med" len="med"/>
            <a:tailEnd type="none" w="med" len="med"/>
          </a:ln>
        </p:spPr>
        <p:style>
          <a:lnRef idx="1">
            <a:schemeClr val="accent6"/>
          </a:lnRef>
          <a:fillRef idx="2">
            <a:schemeClr val="accent6"/>
          </a:fillRef>
          <a:effectRef idx="1">
            <a:schemeClr val="accent6"/>
          </a:effectRef>
          <a:fontRef idx="minor">
            <a:schemeClr val="dk1"/>
          </a:fontRef>
        </p:style>
        <p:txBody>
          <a:bodyPr wrap="none" lIns="72823" tIns="0" rIns="72823" bIns="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标签数据</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6" name="TextBox 6">
                <a:extLst>
                  <a:ext uri="{FF2B5EF4-FFF2-40B4-BE49-F238E27FC236}">
                    <a16:creationId xmlns:a16="http://schemas.microsoft.com/office/drawing/2014/main" id="{E8158A14-EDE1-4C7E-BA01-041362A28970}"/>
                  </a:ext>
                </a:extLst>
              </p:cNvPr>
              <p:cNvSpPr txBox="1"/>
              <p:nvPr/>
            </p:nvSpPr>
            <p:spPr>
              <a:xfrm>
                <a:off x="4323951" y="3543123"/>
                <a:ext cx="4821851" cy="922560"/>
              </a:xfrm>
              <a:prstGeom prst="rect">
                <a:avLst/>
              </a:prstGeom>
              <a:noFill/>
            </p:spPr>
            <p:txBody>
              <a:bodyPr wrap="square" lIns="0" tIns="0" rIns="0" bIns="0" rtlCol="0">
                <a:spAutoFit/>
              </a:bodyPr>
              <a:lstStyle/>
              <a:p>
                <a:pPr lvl="0">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  (</m:t>
                      </m:r>
                      <m:r>
                        <a:rPr lang="zh-CN" altLang="en-US" sz="2000" i="1">
                          <a:solidFill>
                            <a:prstClr val="black"/>
                          </a:solidFill>
                          <a:latin typeface="Cambria Math"/>
                          <a:ea typeface="黑体" pitchFamily="49" charset="-122"/>
                        </a:rPr>
                        <m:t>数学好</m:t>
                      </m:r>
                      <m:r>
                        <a:rPr lang="en-US" altLang="zh-CN" sz="2000" i="1">
                          <a:solidFill>
                            <a:prstClr val="black"/>
                          </a:solidFill>
                          <a:latin typeface="Cambria Math"/>
                          <a:ea typeface="黑体" pitchFamily="49" charset="-122"/>
                        </a:rPr>
                        <m:t>=</m:t>
                      </m:r>
                      <m:r>
                        <m:rPr>
                          <m:sty m:val="p"/>
                        </m:rPr>
                        <a:rPr lang="en-US" altLang="zh-CN" sz="2000" i="1">
                          <a:solidFill>
                            <a:prstClr val="black"/>
                          </a:solidFill>
                          <a:latin typeface="Cambria Math"/>
                          <a:ea typeface="黑体" pitchFamily="49" charset="-122"/>
                        </a:rPr>
                        <m:t>Yes</m:t>
                      </m:r>
                      <m:r>
                        <a:rPr lang="en-US" altLang="zh-CN" sz="2000" i="1">
                          <a:solidFill>
                            <a:prstClr val="black"/>
                          </a:solidFill>
                          <a:latin typeface="Cambria Math"/>
                          <a:ea typeface="黑体" pitchFamily="49" charset="-122"/>
                        </a:rPr>
                        <m:t>, </m:t>
                      </m:r>
                      <m:r>
                        <a:rPr lang="zh-CN" altLang="en-US" sz="2000" i="1">
                          <a:solidFill>
                            <a:prstClr val="black"/>
                          </a:solidFill>
                          <a:latin typeface="Cambria Math"/>
                          <a:ea typeface="黑体" pitchFamily="49" charset="-122"/>
                        </a:rPr>
                        <m:t>会编程</m:t>
                      </m:r>
                      <m:r>
                        <a:rPr lang="en-US" altLang="zh-CN" sz="2000" i="1">
                          <a:solidFill>
                            <a:prstClr val="black"/>
                          </a:solidFill>
                          <a:latin typeface="Cambria Math"/>
                          <a:ea typeface="黑体" pitchFamily="49" charset="-122"/>
                        </a:rPr>
                        <m:t>=</m:t>
                      </m:r>
                      <m:r>
                        <m:rPr>
                          <m:sty m:val="p"/>
                        </m:rPr>
                        <a:rPr lang="en-US" altLang="zh-CN" sz="2000" i="1">
                          <a:solidFill>
                            <a:prstClr val="black"/>
                          </a:solidFill>
                          <a:latin typeface="Cambria Math"/>
                          <a:ea typeface="黑体" pitchFamily="49" charset="-122"/>
                        </a:rPr>
                        <m:t>Yes</m:t>
                      </m:r>
                      <m:r>
                        <a:rPr lang="en-US" altLang="zh-CN" sz="2000" i="1">
                          <a:solidFill>
                            <a:prstClr val="black"/>
                          </a:solidFill>
                          <a:latin typeface="Cambria Math"/>
                          <a:ea typeface="黑体" pitchFamily="49" charset="-122"/>
                        </a:rPr>
                        <m:t>, </m:t>
                      </m:r>
                      <m:r>
                        <a:rPr lang="zh-CN" altLang="en-US" sz="2000" i="1">
                          <a:solidFill>
                            <a:prstClr val="black"/>
                          </a:solidFill>
                          <a:latin typeface="Cambria Math"/>
                          <a:ea typeface="黑体" pitchFamily="49" charset="-122"/>
                        </a:rPr>
                        <m:t>身体好</m:t>
                      </m:r>
                      <m:r>
                        <a:rPr lang="en-US" altLang="zh-CN" sz="2000" i="1">
                          <a:solidFill>
                            <a:prstClr val="black"/>
                          </a:solidFill>
                          <a:latin typeface="Cambria Math"/>
                          <a:ea typeface="黑体" pitchFamily="49" charset="-122"/>
                        </a:rPr>
                        <m:t>=?</m:t>
                      </m:r>
                      <m:r>
                        <a:rPr lang="en-US" altLang="zh-CN" sz="2000" i="1">
                          <a:solidFill>
                            <a:prstClr val="black"/>
                          </a:solidFill>
                          <a:latin typeface="Cambria Math" panose="02040503050406030204" pitchFamily="18" charset="0"/>
                          <a:ea typeface="黑体" pitchFamily="49" charset="-122"/>
                        </a:rPr>
                        <m:t>, </m:t>
                      </m:r>
                    </m:oMath>
                  </m:oMathPara>
                </a14:m>
                <a:endParaRPr lang="en-US" altLang="zh-CN" sz="2000" i="1" dirty="0">
                  <a:solidFill>
                    <a:prstClr val="black"/>
                  </a:solidFill>
                  <a:latin typeface="Arial" panose="020B0604020202020204" pitchFamily="34" charset="0"/>
                  <a:ea typeface="黑体" pitchFamily="49" charset="-122"/>
                </a:endParaRPr>
              </a:p>
              <a:p>
                <a:pPr lvl="0">
                  <a:defRPr/>
                </a:pPr>
                <a:r>
                  <a:rPr lang="zh-CN" altLang="en-US" sz="2000" dirty="0">
                    <a:solidFill>
                      <a:prstClr val="black"/>
                    </a:solidFill>
                    <a:latin typeface="Arial" panose="020B0604020202020204" pitchFamily="34" charset="0"/>
                    <a:ea typeface="黑体" pitchFamily="49" charset="-122"/>
                  </a:rPr>
                  <a:t>      </a:t>
                </a:r>
                <a14:m>
                  <m:oMath xmlns:m="http://schemas.openxmlformats.org/officeDocument/2006/math">
                    <m:r>
                      <a:rPr lang="zh-CN" altLang="en-US" sz="2000" i="1">
                        <a:solidFill>
                          <a:prstClr val="black"/>
                        </a:solidFill>
                        <a:latin typeface="Cambria Math"/>
                        <a:ea typeface="黑体" pitchFamily="49" charset="-122"/>
                      </a:rPr>
                      <m:t>嗓门大</m:t>
                    </m:r>
                    <m:r>
                      <a:rPr lang="en-US" altLang="zh-CN" sz="2000" i="1">
                        <a:solidFill>
                          <a:prstClr val="black"/>
                        </a:solidFill>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m:t>
                    </m:r>
                  </m:oMath>
                </a14:m>
                <a:endParaRPr kumimoji="0" lang="en-US" altLang="zh-CN" sz="2000" b="0" i="1" u="none" strike="noStrike" kern="1200" cap="none" spc="0" normalizeH="0" noProof="0" dirty="0">
                  <a:ln>
                    <a:noFill/>
                  </a:ln>
                  <a:solidFill>
                    <a:prstClr val="black"/>
                  </a:solidFill>
                  <a:effectLst/>
                  <a:uLnTx/>
                  <a:uFillTx/>
                  <a:latin typeface="Arial" panose="020B0604020202020204" pitchFamily="34" charset="0"/>
                  <a:ea typeface="黑体" pitchFamily="49" charset="-122"/>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程序员</m:t>
                      </m:r>
                    </m:oMath>
                  </m:oMathPara>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6">
                <a:extLst>
                  <a:ext uri="{FF2B5EF4-FFF2-40B4-BE49-F238E27FC236}">
                    <a16:creationId xmlns:a16="http://schemas.microsoft.com/office/drawing/2014/main" id="{E8158A14-EDE1-4C7E-BA01-041362A28970}"/>
                  </a:ext>
                </a:extLst>
              </p:cNvPr>
              <p:cNvSpPr txBox="1">
                <a:spLocks noRot="1" noChangeAspect="1" noMove="1" noResize="1" noEditPoints="1" noAdjustHandles="1" noChangeArrowheads="1" noChangeShapeType="1" noTextEdit="1"/>
              </p:cNvSpPr>
              <p:nvPr/>
            </p:nvSpPr>
            <p:spPr>
              <a:xfrm>
                <a:off x="4323951" y="3543123"/>
                <a:ext cx="4821851" cy="922560"/>
              </a:xfrm>
              <a:prstGeom prst="rect">
                <a:avLst/>
              </a:prstGeom>
              <a:blipFill>
                <a:blip r:embed="rId2"/>
                <a:stretch>
                  <a:fillRect l="-1896" t="-2632" b="-9868"/>
                </a:stretch>
              </a:blipFill>
            </p:spPr>
            <p:txBody>
              <a:bodyPr/>
              <a:lstStyle/>
              <a:p>
                <a:r>
                  <a:rPr lang="zh-CN" altLang="en-US">
                    <a:noFill/>
                  </a:rPr>
                  <a:t> </a:t>
                </a:r>
              </a:p>
            </p:txBody>
          </p:sp>
        </mc:Fallback>
      </mc:AlternateContent>
      <p:sp>
        <p:nvSpPr>
          <p:cNvPr id="9" name="标题 16">
            <a:extLst>
              <a:ext uri="{FF2B5EF4-FFF2-40B4-BE49-F238E27FC236}">
                <a16:creationId xmlns:a16="http://schemas.microsoft.com/office/drawing/2014/main" id="{06860745-6B4D-4210-D8D3-C5ABEC10ECD3}"/>
              </a:ext>
            </a:extLst>
          </p:cNvPr>
          <p:cNvSpPr>
            <a:spLocks noGrp="1"/>
          </p:cNvSpPr>
          <p:nvPr>
            <p:ph type="title"/>
          </p:nvPr>
        </p:nvSpPr>
        <p:spPr>
          <a:xfrm>
            <a:off x="0" y="4399"/>
            <a:ext cx="9144000" cy="817721"/>
          </a:xfrm>
        </p:spPr>
        <p:txBody>
          <a:bodyPr/>
          <a:lstStyle/>
          <a:p>
            <a:r>
              <a:rPr lang="zh-CN" altLang="en-US" dirty="0"/>
              <a:t>机器学习的基本概念</a:t>
            </a:r>
          </a:p>
        </p:txBody>
      </p:sp>
      <p:sp>
        <p:nvSpPr>
          <p:cNvPr id="11" name="文本框 10">
            <a:extLst>
              <a:ext uri="{FF2B5EF4-FFF2-40B4-BE49-F238E27FC236}">
                <a16:creationId xmlns:a16="http://schemas.microsoft.com/office/drawing/2014/main" id="{87122EC1-6CE3-DC97-ED45-4DF7D3BD8EF9}"/>
              </a:ext>
            </a:extLst>
          </p:cNvPr>
          <p:cNvSpPr txBox="1"/>
          <p:nvPr/>
        </p:nvSpPr>
        <p:spPr>
          <a:xfrm>
            <a:off x="92991" y="840261"/>
            <a:ext cx="3102384" cy="307777"/>
          </a:xfrm>
          <a:prstGeom prst="rect">
            <a:avLst/>
          </a:prstGeom>
          <a:noFill/>
        </p:spPr>
        <p:txBody>
          <a:bodyPr wrap="square" lIns="0" tIns="0" rIns="0" bIns="0">
            <a:spAutoFit/>
          </a:bodyPr>
          <a:lstStyle/>
          <a:p>
            <a:pPr marL="324000" indent="-324000">
              <a:buFont typeface="Wingdings" panose="05000000000000000000" pitchFamily="2" charset="2"/>
              <a:buChar char="l"/>
            </a:pPr>
            <a:r>
              <a:rPr lang="zh-CN" altLang="en-US" sz="200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基于属性的分类模型</a:t>
            </a:r>
            <a:endParaRPr lang="zh-CN" altLang="en-US" sz="16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69326264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B472ED7F-8CDF-A3BF-E7C3-93D70FE3CA5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5FC86FA7-5220-9633-EA26-87A7DD52E112}"/>
                  </a:ext>
                </a:extLst>
              </p:cNvPr>
              <p:cNvSpPr txBox="1">
                <a:spLocks/>
              </p:cNvSpPr>
              <p:nvPr/>
            </p:nvSpPr>
            <p:spPr bwMode="auto">
              <a:xfrm>
                <a:off x="70644" y="983298"/>
                <a:ext cx="9002712" cy="30356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fontAlgn="auto">
                  <a:lnSpc>
                    <a:spcPct val="100000"/>
                  </a:lnSpc>
                  <a:spcBef>
                    <a:spcPts val="0"/>
                  </a:spcBef>
                  <a:spcAft>
                    <a:spcPts val="0"/>
                  </a:spcAft>
                  <a:buClr>
                    <a:srgbClr val="16754D"/>
                  </a:buClr>
                  <a:buFont typeface="Wingdings" panose="05000000000000000000" pitchFamily="2" charset="2"/>
                  <a:buChar char="l"/>
                  <a:defRPr/>
                </a:pPr>
                <a:r>
                  <a:rPr lang="zh-CN" altLang="en-US" sz="2000" dirty="0">
                    <a:latin typeface="Arial" panose="020B0604020202020204" pitchFamily="34" charset="0"/>
                    <a:ea typeface="黑体" panose="02010609060101010101" pitchFamily="49" charset="-122"/>
                  </a:rPr>
                  <a:t>概念 </a:t>
                </a:r>
                <a:r>
                  <a:rPr lang="en-US" altLang="zh-CN" sz="2000" dirty="0">
                    <a:latin typeface="Arial" panose="020B0604020202020204" pitchFamily="34" charset="0"/>
                    <a:ea typeface="黑体" panose="02010609060101010101" pitchFamily="49" charset="-122"/>
                  </a:rPr>
                  <a:t>(concept)       </a:t>
                </a:r>
                <a:r>
                  <a:rPr lang="zh-CN" altLang="en-US" sz="2000" dirty="0">
                    <a:solidFill>
                      <a:srgbClr val="669900"/>
                    </a:solidFill>
                    <a:latin typeface="Arial" panose="020B0604020202020204" pitchFamily="34" charset="0"/>
                    <a:ea typeface="黑体" panose="02010609060101010101" pitchFamily="49" charset="-122"/>
                  </a:rPr>
                  <a:t>一种</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映射</a:t>
                </a:r>
                <a:endParaRPr lang="en-US" altLang="zh-CN" sz="2000" dirty="0">
                  <a:solidFill>
                    <a:srgbClr val="669900"/>
                  </a:solidFill>
                  <a:latin typeface="Arial" panose="020B0604020202020204" pitchFamily="34" charset="0"/>
                  <a:ea typeface="黑体" panose="02010609060101010101" pitchFamily="49" charset="-122"/>
                </a:endParaRPr>
              </a:p>
              <a:p>
                <a:pPr marL="324000" indent="0" fontAlgn="auto">
                  <a:lnSpc>
                    <a:spcPct val="100000"/>
                  </a:lnSpc>
                  <a:spcBef>
                    <a:spcPts val="0"/>
                  </a:spcBef>
                  <a:spcAft>
                    <a:spcPts val="0"/>
                  </a:spcAft>
                  <a:buFont typeface="Wingdings" panose="05000000000000000000" pitchFamily="2" charset="2"/>
                  <a:buNone/>
                  <a:defRPr/>
                </a:pPr>
                <a:r>
                  <a:rPr lang="zh-CN" altLang="en-US" sz="2000" dirty="0">
                    <a:latin typeface="Arial" panose="020B0604020202020204" pitchFamily="34" charset="0"/>
                    <a:ea typeface="黑体" panose="02010609060101010101" pitchFamily="49" charset="-122"/>
                  </a:rPr>
                  <a:t>概念是从样本空间 </a:t>
                </a:r>
                <a14:m>
                  <m:oMath xmlns:m="http://schemas.openxmlformats.org/officeDocument/2006/math">
                    <m:r>
                      <a:rPr lang="zh-CN" altLang="en-US" sz="2000" i="1">
                        <a:latin typeface="Cambria Math" panose="02040503050406030204" pitchFamily="18" charset="0"/>
                      </a:rPr>
                      <m:t>𝒳</m:t>
                    </m:r>
                  </m:oMath>
                </a14:m>
                <a:r>
                  <a:rPr lang="zh-CN" altLang="en-US" sz="2000" dirty="0">
                    <a:latin typeface="Arial" panose="020B0604020202020204" pitchFamily="34" charset="0"/>
                    <a:ea typeface="黑体" panose="02010609060101010101" pitchFamily="49" charset="-122"/>
                  </a:rPr>
                  <a:t> 到标记空间 </a:t>
                </a:r>
                <a14:m>
                  <m:oMath xmlns:m="http://schemas.openxmlformats.org/officeDocument/2006/math">
                    <m:r>
                      <a:rPr lang="zh-CN" altLang="en-US" sz="2000" i="1">
                        <a:latin typeface="Cambria Math" panose="02040503050406030204" pitchFamily="18" charset="0"/>
                      </a:rPr>
                      <m:t>𝒴</m:t>
                    </m:r>
                    <m:r>
                      <a:rPr lang="zh-CN" altLang="en-US" sz="2000" i="1" smtClean="0">
                        <a:latin typeface="Cambria Math" panose="02040503050406030204" pitchFamily="18" charset="0"/>
                      </a:rPr>
                      <m:t>∈</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1</m:t>
                    </m:r>
                    <m:r>
                      <a:rPr lang="en-US" altLang="zh-CN" sz="2000" b="0" i="1" smtClean="0">
                        <a:latin typeface="Cambria Math" panose="02040503050406030204" pitchFamily="18" charset="0"/>
                      </a:rPr>
                      <m:t>}</m:t>
                    </m:r>
                  </m:oMath>
                </a14:m>
                <a:r>
                  <a:rPr lang="zh-CN" altLang="en-US" sz="2000" dirty="0">
                    <a:latin typeface="Arial" panose="020B0604020202020204" pitchFamily="34" charset="0"/>
                    <a:ea typeface="黑体" panose="02010609060101010101" pitchFamily="49" charset="-122"/>
                  </a:rPr>
                  <a:t> 的</a:t>
                </a:r>
                <a:r>
                  <a:rPr lang="zh-CN" altLang="en-US" sz="2000" dirty="0">
                    <a:solidFill>
                      <a:srgbClr val="669900"/>
                    </a:solidFill>
                    <a:latin typeface="Arial" panose="020B0604020202020204" pitchFamily="34" charset="0"/>
                    <a:ea typeface="黑体" panose="02010609060101010101" pitchFamily="49" charset="-122"/>
                  </a:rPr>
                  <a:t>映射</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它决定示例 </a:t>
                </a:r>
                <a14:m>
                  <m:oMath xmlns:m="http://schemas.openxmlformats.org/officeDocument/2006/math">
                    <m:r>
                      <a:rPr lang="zh-CN" altLang="en-US" sz="2000" b="1" i="1">
                        <a:latin typeface="Cambria Math" panose="02040503050406030204" pitchFamily="18" charset="0"/>
                      </a:rPr>
                      <m:t>𝒙</m:t>
                    </m:r>
                  </m:oMath>
                </a14:m>
                <a:r>
                  <a:rPr lang="zh-CN" altLang="en-US" sz="2000" dirty="0">
                    <a:latin typeface="Arial" panose="020B0604020202020204" pitchFamily="34" charset="0"/>
                    <a:ea typeface="黑体" panose="02010609060101010101" pitchFamily="49" charset="-122"/>
                  </a:rPr>
                  <a:t> 的真实标记 </a:t>
                </a:r>
                <a14:m>
                  <m:oMath xmlns:m="http://schemas.openxmlformats.org/officeDocument/2006/math">
                    <m:r>
                      <a:rPr lang="zh-CN" altLang="en-US" sz="2000" i="1">
                        <a:latin typeface="Cambria Math" panose="02040503050406030204" pitchFamily="18" charset="0"/>
                      </a:rPr>
                      <m:t>𝑦</m:t>
                    </m:r>
                  </m:oMath>
                </a14:m>
                <a:r>
                  <a:rPr lang="en-US" altLang="zh-CN" sz="2000" dirty="0">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Wingdings" panose="05000000000000000000" pitchFamily="2" charset="2"/>
                  <a:buChar char="Ø"/>
                  <a:defRPr/>
                </a:pPr>
                <a:r>
                  <a:rPr lang="zh-CN" altLang="en-US" dirty="0">
                    <a:latin typeface="Arial" panose="020B0604020202020204" pitchFamily="34" charset="0"/>
                    <a:ea typeface="黑体" panose="02010609060101010101" pitchFamily="49" charset="-122"/>
                  </a:rPr>
                  <a:t>目标概念</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如果对任何样例 </a:t>
                </a:r>
                <a14:m>
                  <m:oMath xmlns:m="http://schemas.openxmlformats.org/officeDocument/2006/math">
                    <m:r>
                      <a:rPr lang="en-US" altLang="zh-CN" i="1" smtClean="0">
                        <a:latin typeface="Cambria Math" panose="02040503050406030204" pitchFamily="18" charset="0"/>
                      </a:rPr>
                      <m:t>(</m:t>
                    </m:r>
                    <m:r>
                      <a:rPr lang="zh-CN" altLang="en-US" b="1" i="1" smtClean="0">
                        <a:latin typeface="Cambria Math" panose="02040503050406030204" pitchFamily="18" charset="0"/>
                      </a:rPr>
                      <m:t>𝒙</m:t>
                    </m:r>
                    <m:r>
                      <a:rPr lang="en-US" altLang="zh-CN" i="1" smtClean="0">
                        <a:latin typeface="Cambria Math" panose="02040503050406030204" pitchFamily="18" charset="0"/>
                      </a:rPr>
                      <m:t>,</m:t>
                    </m:r>
                    <m:r>
                      <a:rPr lang="zh-CN" altLang="en-US" i="1" smtClean="0">
                        <a:latin typeface="Cambria Math" panose="02040503050406030204" pitchFamily="18" charset="0"/>
                      </a:rPr>
                      <m:t>𝑦</m:t>
                    </m:r>
                    <m:r>
                      <a:rPr lang="en-US" altLang="zh-CN" i="1" smtClean="0">
                        <a:latin typeface="Cambria Math" panose="02040503050406030204" pitchFamily="18" charset="0"/>
                      </a:rPr>
                      <m:t>)</m:t>
                    </m:r>
                  </m:oMath>
                </a14:m>
                <a:r>
                  <a:rPr lang="zh-CN" altLang="en-US" dirty="0">
                    <a:latin typeface="Arial" panose="020B0604020202020204" pitchFamily="34" charset="0"/>
                    <a:ea typeface="黑体" panose="02010609060101010101" pitchFamily="49" charset="-122"/>
                  </a:rPr>
                  <a:t> 均有 </a:t>
                </a:r>
                <a14:m>
                  <m:oMath xmlns:m="http://schemas.openxmlformats.org/officeDocument/2006/math">
                    <m:r>
                      <a:rPr lang="zh-CN" altLang="en-US" i="1" smtClean="0">
                        <a:latin typeface="Cambria Math" panose="02040503050406030204" pitchFamily="18" charset="0"/>
                      </a:rPr>
                      <m:t>𝒸</m:t>
                    </m:r>
                    <m:d>
                      <m:dPr>
                        <m:ctrlPr>
                          <a:rPr lang="zh-CN" altLang="en-US" i="1" smtClean="0">
                            <a:latin typeface="Cambria Math" panose="02040503050406030204" pitchFamily="18" charset="0"/>
                          </a:rPr>
                        </m:ctrlPr>
                      </m:dPr>
                      <m:e>
                        <m:r>
                          <a:rPr lang="zh-CN" altLang="en-US" b="1" i="1" smtClean="0">
                            <a:latin typeface="Cambria Math" panose="02040503050406030204" pitchFamily="18" charset="0"/>
                          </a:rPr>
                          <m:t>𝒙</m:t>
                        </m:r>
                      </m:e>
                    </m:d>
                    <m:r>
                      <a:rPr lang="en-US" altLang="zh-CN" i="1" smtClean="0">
                        <a:latin typeface="Cambria Math" panose="02040503050406030204" pitchFamily="18" charset="0"/>
                      </a:rPr>
                      <m:t>=</m:t>
                    </m:r>
                    <m:r>
                      <a:rPr lang="zh-CN" altLang="en-US" i="1" smtClean="0">
                        <a:latin typeface="Cambria Math" panose="02040503050406030204" pitchFamily="18" charset="0"/>
                      </a:rPr>
                      <m:t>𝑦</m:t>
                    </m:r>
                  </m:oMath>
                </a14:m>
                <a:r>
                  <a:rPr lang="zh-CN" altLang="en-US" dirty="0">
                    <a:latin typeface="Arial" panose="020B0604020202020204" pitchFamily="34" charset="0"/>
                    <a:ea typeface="黑体" panose="02010609060101010101" pitchFamily="49" charset="-122"/>
                  </a:rPr>
                  <a:t> 成立</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则称 </a:t>
                </a:r>
                <a14:m>
                  <m:oMath xmlns:m="http://schemas.openxmlformats.org/officeDocument/2006/math">
                    <m:r>
                      <a:rPr lang="zh-CN" altLang="en-US" i="1" smtClean="0">
                        <a:latin typeface="Cambria Math" panose="02040503050406030204" pitchFamily="18" charset="0"/>
                      </a:rPr>
                      <m:t>𝒸</m:t>
                    </m:r>
                  </m:oMath>
                </a14:m>
                <a:r>
                  <a:rPr lang="zh-CN" altLang="en-US" dirty="0">
                    <a:latin typeface="Arial" panose="020B0604020202020204" pitchFamily="34" charset="0"/>
                    <a:ea typeface="黑体" panose="02010609060101010101" pitchFamily="49" charset="-122"/>
                  </a:rPr>
                  <a:t> 为目标概念</a:t>
                </a:r>
                <a:r>
                  <a:rPr lang="en-US" altLang="zh-CN" dirty="0">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Wingdings" panose="05000000000000000000" pitchFamily="2" charset="2"/>
                  <a:buChar char="Ø"/>
                  <a:defRPr/>
                </a:pPr>
                <a:r>
                  <a:rPr lang="zh-CN" altLang="en-US" dirty="0">
                    <a:latin typeface="Arial" panose="020B0604020202020204" pitchFamily="34" charset="0"/>
                    <a:ea typeface="黑体" panose="02010609060101010101" pitchFamily="49" charset="-122"/>
                  </a:rPr>
                  <a:t>概念类 </a:t>
                </a:r>
                <a:r>
                  <a:rPr lang="en-US" altLang="zh-CN" dirty="0">
                    <a:latin typeface="Arial" panose="020B0604020202020204" pitchFamily="34" charset="0"/>
                    <a:ea typeface="黑体" panose="02010609060101010101" pitchFamily="49" charset="-122"/>
                  </a:rPr>
                  <a:t>(concept class):</a:t>
                </a:r>
                <a:r>
                  <a:rPr lang="zh-CN" altLang="en-US" dirty="0">
                    <a:latin typeface="Arial" panose="020B0604020202020204" pitchFamily="34" charset="0"/>
                    <a:ea typeface="黑体" panose="02010609060101010101" pitchFamily="49" charset="-122"/>
                  </a:rPr>
                  <a:t> 所有我们希望学得的目标概念所构成的集合称为“概念类”</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用符号 </a:t>
                </a:r>
                <a14:m>
                  <m:oMath xmlns:m="http://schemas.openxmlformats.org/officeDocument/2006/math">
                    <m:r>
                      <a:rPr lang="zh-CN" altLang="en-US" i="1" smtClean="0">
                        <a:latin typeface="Cambria Math" panose="02040503050406030204" pitchFamily="18" charset="0"/>
                      </a:rPr>
                      <m:t>𝒞</m:t>
                    </m:r>
                  </m:oMath>
                </a14:m>
                <a:r>
                  <a:rPr lang="zh-CN" altLang="en-US" dirty="0">
                    <a:latin typeface="Arial" panose="020B0604020202020204" pitchFamily="34" charset="0"/>
                    <a:ea typeface="黑体" panose="02010609060101010101" pitchFamily="49" charset="-122"/>
                  </a:rPr>
                  <a:t> 表示</a:t>
                </a:r>
                <a:r>
                  <a:rPr lang="en-US" altLang="zh-CN" dirty="0">
                    <a:latin typeface="Arial" panose="020B0604020202020204" pitchFamily="34" charset="0"/>
                    <a:ea typeface="黑体" panose="02010609060101010101" pitchFamily="49" charset="-122"/>
                  </a:rPr>
                  <a:t>.</a:t>
                </a:r>
              </a:p>
              <a:p>
                <a:pPr marL="324000" lvl="1" indent="0" fontAlgn="auto">
                  <a:lnSpc>
                    <a:spcPct val="100000"/>
                  </a:lnSpc>
                  <a:spcBef>
                    <a:spcPts val="600"/>
                  </a:spcBef>
                  <a:spcAft>
                    <a:spcPts val="0"/>
                  </a:spcAft>
                  <a:buFont typeface="Wingdings" panose="05000000000000000000" pitchFamily="2" charset="2"/>
                  <a:buNone/>
                  <a:defRPr/>
                </a:pPr>
                <a:r>
                  <a:rPr lang="zh-CN" altLang="en-US" dirty="0">
                    <a:latin typeface="Arial" panose="020B0604020202020204" pitchFamily="34" charset="0"/>
                    <a:ea typeface="黑体" panose="02010609060101010101" pitchFamily="49" charset="-122"/>
                  </a:rPr>
                  <a:t>例如，目标概念“三角形”将把所有的三角形映射为</a:t>
                </a:r>
                <a:r>
                  <a:rPr lang="en-US" altLang="zh-CN" dirty="0">
                    <a:latin typeface="Arial" panose="020B0604020202020204" pitchFamily="34" charset="0"/>
                    <a:ea typeface="黑体" panose="02010609060101010101" pitchFamily="49" charset="-122"/>
                  </a:rPr>
                  <a:t>1,</a:t>
                </a:r>
                <a:r>
                  <a:rPr lang="zh-CN" altLang="en-US" dirty="0">
                    <a:latin typeface="Arial" panose="020B0604020202020204" pitchFamily="34" charset="0"/>
                    <a:ea typeface="黑体" panose="02010609060101010101" pitchFamily="49" charset="-122"/>
                  </a:rPr>
                  <a:t> 把其它图形映射为</a:t>
                </a:r>
                <a:r>
                  <a:rPr lang="en-US" altLang="zh-CN" dirty="0">
                    <a:latin typeface="Arial" panose="020B0604020202020204" pitchFamily="34" charset="0"/>
                    <a:ea typeface="黑体" panose="02010609060101010101" pitchFamily="49" charset="-122"/>
                  </a:rPr>
                  <a:t>-1.</a:t>
                </a:r>
                <a:r>
                  <a:rPr lang="zh-CN" altLang="en-US" dirty="0">
                    <a:latin typeface="Arial" panose="020B0604020202020204" pitchFamily="34" charset="0"/>
                    <a:ea typeface="黑体" panose="02010609060101010101" pitchFamily="49" charset="-122"/>
                  </a:rPr>
                  <a:t>如果在学习任务中考虑“三角形”“四边形”“五边形”这三种概念</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则它们组成的集合就是该任务的概念类</a:t>
                </a:r>
                <a:r>
                  <a:rPr lang="en-US" altLang="zh-CN" dirty="0">
                    <a:latin typeface="Arial" panose="020B0604020202020204" pitchFamily="34" charset="0"/>
                    <a:ea typeface="黑体" panose="02010609060101010101" pitchFamily="49" charset="-122"/>
                  </a:rPr>
                  <a:t>.</a:t>
                </a:r>
              </a:p>
            </p:txBody>
          </p:sp>
        </mc:Choice>
        <mc:Fallback xmlns="">
          <p:sp>
            <p:nvSpPr>
              <p:cNvPr id="5" name="内容占位符 2">
                <a:extLst>
                  <a:ext uri="{FF2B5EF4-FFF2-40B4-BE49-F238E27FC236}">
                    <a16:creationId xmlns:a16="http://schemas.microsoft.com/office/drawing/2014/main" id="{5FC86FA7-5220-9633-EA26-87A7DD52E112}"/>
                  </a:ext>
                </a:extLst>
              </p:cNvPr>
              <p:cNvSpPr txBox="1">
                <a:spLocks noRot="1" noChangeAspect="1" noMove="1" noResize="1" noEditPoints="1" noAdjustHandles="1" noChangeArrowheads="1" noChangeShapeType="1" noTextEdit="1"/>
              </p:cNvSpPr>
              <p:nvPr/>
            </p:nvSpPr>
            <p:spPr bwMode="auto">
              <a:xfrm>
                <a:off x="70644" y="983298"/>
                <a:ext cx="9002712" cy="3035682"/>
              </a:xfrm>
              <a:prstGeom prst="rect">
                <a:avLst/>
              </a:prstGeom>
              <a:blipFill>
                <a:blip r:embed="rId2"/>
                <a:stretch>
                  <a:fillRect l="-1626" t="-3012" r="-68" b="-16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内容占位符 2">
                <a:extLst>
                  <a:ext uri="{FF2B5EF4-FFF2-40B4-BE49-F238E27FC236}">
                    <a16:creationId xmlns:a16="http://schemas.microsoft.com/office/drawing/2014/main" id="{BD5B8B4A-5AE8-D856-1CC7-07BCE729C4C9}"/>
                  </a:ext>
                </a:extLst>
              </p:cNvPr>
              <p:cNvSpPr txBox="1">
                <a:spLocks/>
              </p:cNvSpPr>
              <p:nvPr/>
            </p:nvSpPr>
            <p:spPr bwMode="auto">
              <a:xfrm>
                <a:off x="70644" y="4258296"/>
                <a:ext cx="8898890" cy="225748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indent="-342900" fontAlgn="auto">
                  <a:lnSpc>
                    <a:spcPct val="100000"/>
                  </a:lnSpc>
                  <a:spcBef>
                    <a:spcPts val="0"/>
                  </a:spcBef>
                  <a:spcAft>
                    <a:spcPts val="0"/>
                  </a:spcAft>
                  <a:buClr>
                    <a:srgbClr val="16754D"/>
                  </a:buClr>
                  <a:buFont typeface="Wingdings" panose="05000000000000000000" pitchFamily="2" charset="2"/>
                  <a:buChar char="l"/>
                  <a:defRPr/>
                </a:pPr>
                <a:r>
                  <a:rPr sz="2000" dirty="0">
                    <a:solidFill>
                      <a:prstClr val="black"/>
                    </a:solidFill>
                    <a:latin typeface="Arial" panose="020B0604020202020204" pitchFamily="34" charset="0"/>
                    <a:ea typeface="黑体" panose="02010609060101010101" pitchFamily="49" charset="-122"/>
                  </a:rPr>
                  <a:t>假设空间 </a:t>
                </a:r>
                <a:r>
                  <a:rPr lang="en-US" altLang="zh-CN" sz="2000" dirty="0">
                    <a:solidFill>
                      <a:prstClr val="black"/>
                    </a:solidFill>
                    <a:latin typeface="Arial" panose="020B0604020202020204" pitchFamily="34" charset="0"/>
                    <a:ea typeface="黑体" panose="02010609060101010101" pitchFamily="49" charset="-122"/>
                  </a:rPr>
                  <a:t>(hypothesis space)</a:t>
                </a:r>
                <a:endParaRPr sz="2000" dirty="0">
                  <a:solidFill>
                    <a:prstClr val="black"/>
                  </a:solidFill>
                  <a:latin typeface="Arial" panose="020B0604020202020204" pitchFamily="34" charset="0"/>
                  <a:ea typeface="黑体" panose="02010609060101010101" pitchFamily="49" charset="-122"/>
                </a:endParaRPr>
              </a:p>
              <a:p>
                <a:pPr marL="324000" indent="0" fontAlgn="auto">
                  <a:lnSpc>
                    <a:spcPct val="100000"/>
                  </a:lnSpc>
                  <a:spcBef>
                    <a:spcPts val="0"/>
                  </a:spcBef>
                  <a:spcAft>
                    <a:spcPts val="0"/>
                  </a:spcAft>
                  <a:buClr>
                    <a:srgbClr val="16754D"/>
                  </a:buClr>
                  <a:buFont typeface="Wingdings" panose="05000000000000000000" pitchFamily="2" charset="2"/>
                  <a:buNone/>
                  <a:defRPr/>
                </a:pPr>
                <a:r>
                  <a:rPr sz="2000" dirty="0">
                    <a:solidFill>
                      <a:prstClr val="black"/>
                    </a:solidFill>
                    <a:latin typeface="Arial" panose="020B0604020202020204" pitchFamily="34" charset="0"/>
                    <a:ea typeface="黑体" panose="02010609060101010101" pitchFamily="49" charset="-122"/>
                  </a:rPr>
                  <a:t>给定学习算法 </a:t>
                </a:r>
                <a14:m>
                  <m:oMath xmlns:m="http://schemas.openxmlformats.org/officeDocument/2006/math">
                    <m:r>
                      <a:rPr lang="zh-CN" altLang="en-US" sz="2000" i="1" smtClean="0">
                        <a:solidFill>
                          <a:prstClr val="black"/>
                        </a:solidFill>
                        <a:latin typeface="Cambria Math" panose="02040503050406030204" pitchFamily="18" charset="0"/>
                        <a:ea typeface="Cambria Math" panose="02040503050406030204" pitchFamily="18" charset="0"/>
                      </a:rPr>
                      <m:t>𝔏</m:t>
                    </m:r>
                  </m:oMath>
                </a14:m>
                <a:r>
                  <a:rPr lang="en-US" altLang="zh-CN" sz="2000" dirty="0">
                    <a:solidFill>
                      <a:prstClr val="black"/>
                    </a:solidFill>
                    <a:latin typeface="Arial" panose="020B0604020202020204" pitchFamily="34" charset="0"/>
                    <a:ea typeface="黑体" panose="02010609060101010101" pitchFamily="49" charset="-122"/>
                  </a:rPr>
                  <a:t>, </a:t>
                </a:r>
                <a:r>
                  <a:rPr sz="2000" dirty="0">
                    <a:solidFill>
                      <a:prstClr val="black"/>
                    </a:solidFill>
                    <a:latin typeface="Arial" panose="020B0604020202020204" pitchFamily="34" charset="0"/>
                    <a:ea typeface="黑体" panose="02010609060101010101" pitchFamily="49" charset="-122"/>
                  </a:rPr>
                  <a:t>它所考虑的所有可能概念的集合</a:t>
                </a:r>
                <a:r>
                  <a:rPr lang="en-US" altLang="zh-CN" sz="2000" dirty="0">
                    <a:solidFill>
                      <a:prstClr val="black"/>
                    </a:solidFill>
                    <a:latin typeface="Arial" panose="020B0604020202020204" pitchFamily="34" charset="0"/>
                    <a:ea typeface="黑体" panose="02010609060101010101" pitchFamily="49" charset="-122"/>
                  </a:rPr>
                  <a:t>, </a:t>
                </a:r>
                <a:r>
                  <a:rPr sz="2000" dirty="0">
                    <a:solidFill>
                      <a:prstClr val="black"/>
                    </a:solidFill>
                    <a:latin typeface="Arial" panose="020B0604020202020204" pitchFamily="34" charset="0"/>
                    <a:ea typeface="黑体" panose="02010609060101010101" pitchFamily="49" charset="-122"/>
                  </a:rPr>
                  <a:t>用符号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sz="2000" dirty="0">
                    <a:solidFill>
                      <a:prstClr val="black"/>
                    </a:solidFill>
                    <a:latin typeface="Arial" panose="020B0604020202020204" pitchFamily="34" charset="0"/>
                    <a:ea typeface="黑体" panose="02010609060101010101" pitchFamily="49" charset="-122"/>
                  </a:rPr>
                  <a:t> 表示</a:t>
                </a:r>
                <a:r>
                  <a:rPr lang="en-US" altLang="zh-CN" sz="2000"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由于学习算法事先并不知道概念类的真实存在</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因此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solidFill>
                      <a:prstClr val="black"/>
                    </a:solidFill>
                    <a:latin typeface="Arial" panose="020B0604020202020204" pitchFamily="34" charset="0"/>
                    <a:ea typeface="黑体" panose="02010609060101010101" pitchFamily="49" charset="-122"/>
                  </a:rPr>
                  <a:t> 和 </a:t>
                </a:r>
                <a14:m>
                  <m:oMath xmlns:m="http://schemas.openxmlformats.org/officeDocument/2006/math">
                    <m:r>
                      <a:rPr lang="zh-CN" altLang="en-US" i="1" smtClean="0">
                        <a:solidFill>
                          <a:prstClr val="black"/>
                        </a:solidFill>
                        <a:latin typeface="Cambria Math" panose="02040503050406030204" pitchFamily="18" charset="0"/>
                      </a:rPr>
                      <m:t>𝒞</m:t>
                    </m:r>
                  </m:oMath>
                </a14:m>
                <a:r>
                  <a:rPr lang="zh-CN" altLang="en-US" dirty="0">
                    <a:solidFill>
                      <a:prstClr val="black"/>
                    </a:solidFill>
                    <a:latin typeface="Arial" panose="020B0604020202020204" pitchFamily="34" charset="0"/>
                    <a:ea typeface="黑体" panose="02010609060101010101" pitchFamily="49" charset="-122"/>
                  </a:rPr>
                  <a:t> 通常是不同的</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学习算法会把自认为可能的目标概念集中起来构成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en-US" altLang="zh-CN"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对于 </a:t>
                </a:r>
                <a14:m>
                  <m:oMath xmlns:m="http://schemas.openxmlformats.org/officeDocument/2006/math">
                    <m:r>
                      <a:rPr lang="en-US" altLang="zh-CN" i="1" smtClean="0">
                        <a:solidFill>
                          <a:prstClr val="black"/>
                        </a:solidFill>
                        <a:latin typeface="Cambria Math" panose="02040503050406030204" pitchFamily="18" charset="0"/>
                        <a:ea typeface="黑体" panose="02010609060101010101" pitchFamily="49" charset="-122"/>
                      </a:rPr>
                      <m:t>h</m:t>
                    </m:r>
                    <m:r>
                      <a:rPr lang="en-US" altLang="zh-CN" i="1" smtClean="0">
                        <a:solidFill>
                          <a:prstClr val="black"/>
                        </a:solidFill>
                        <a:latin typeface="Cambria Math" panose="02040503050406030204" pitchFamily="18" charset="0"/>
                        <a:ea typeface="Cambria Math" panose="02040503050406030204" pitchFamily="18" charset="0"/>
                      </a:rPr>
                      <m:t>∈</m:t>
                    </m:r>
                    <m:r>
                      <a:rPr lang="en-US" altLang="zh-CN" i="1" smtClean="0">
                        <a:solidFill>
                          <a:prstClr val="black"/>
                        </a:solidFill>
                        <a:latin typeface="Cambria Math" panose="02040503050406030204" pitchFamily="18" charset="0"/>
                        <a:ea typeface="Cambria Math" panose="02040503050406030204" pitchFamily="18" charset="0"/>
                      </a:rPr>
                      <m:t>ℋ</m:t>
                    </m:r>
                  </m:oMath>
                </a14:m>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由于并不能确定它是否真的是目标概念</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因此称为“假设” </a:t>
                </a:r>
                <a:r>
                  <a:rPr lang="en-US" altLang="zh-CN" dirty="0">
                    <a:solidFill>
                      <a:prstClr val="black"/>
                    </a:solidFill>
                    <a:latin typeface="Arial" panose="020B0604020202020204" pitchFamily="34" charset="0"/>
                    <a:ea typeface="黑体" panose="02010609060101010101" pitchFamily="49" charset="-122"/>
                  </a:rPr>
                  <a:t>(hypothesis). </a:t>
                </a:r>
                <a:r>
                  <a:rPr lang="zh-CN" altLang="en-US" dirty="0">
                    <a:solidFill>
                      <a:prstClr val="black"/>
                    </a:solidFill>
                    <a:latin typeface="Arial" panose="020B0604020202020204" pitchFamily="34" charset="0"/>
                    <a:ea typeface="黑体" panose="02010609060101010101" pitchFamily="49" charset="-122"/>
                  </a:rPr>
                  <a:t>显然</a:t>
                </a:r>
                <a:r>
                  <a:rPr lang="en-US" altLang="zh-CN"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rPr>
                      <m:t>h</m:t>
                    </m:r>
                  </m:oMath>
                </a14:m>
                <a:r>
                  <a:rPr lang="zh-CN" altLang="en-US" dirty="0">
                    <a:solidFill>
                      <a:prstClr val="black"/>
                    </a:solidFill>
                    <a:latin typeface="Arial" panose="020B0604020202020204" pitchFamily="34" charset="0"/>
                    <a:ea typeface="黑体" panose="02010609060101010101" pitchFamily="49" charset="-122"/>
                  </a:rPr>
                  <a:t> 也是从样本空间</a:t>
                </a:r>
                <a:r>
                  <a:rPr lang="zh-CN" altLang="en-US" spc="-6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zh-CN" altLang="en-US" i="1" spc="-60" smtClean="0">
                        <a:solidFill>
                          <a:prstClr val="black"/>
                        </a:solidFill>
                        <a:latin typeface="Cambria Math" panose="02040503050406030204" pitchFamily="18" charset="0"/>
                      </a:rPr>
                      <m:t>𝒳</m:t>
                    </m:r>
                  </m:oMath>
                </a14:m>
                <a:r>
                  <a:rPr lang="zh-CN" altLang="en-US" spc="-60"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到标记空间 </a:t>
                </a:r>
                <a14:m>
                  <m:oMath xmlns:m="http://schemas.openxmlformats.org/officeDocument/2006/math">
                    <m:r>
                      <a:rPr lang="zh-CN" altLang="en-US" i="1" smtClean="0">
                        <a:solidFill>
                          <a:prstClr val="black"/>
                        </a:solidFill>
                        <a:latin typeface="Cambria Math" panose="02040503050406030204" pitchFamily="18" charset="0"/>
                      </a:rPr>
                      <m:t>𝒴</m:t>
                    </m:r>
                  </m:oMath>
                </a14:m>
                <a:r>
                  <a:rPr lang="zh-CN" altLang="en-US" dirty="0">
                    <a:solidFill>
                      <a:prstClr val="black"/>
                    </a:solidFill>
                    <a:latin typeface="Arial" panose="020B0604020202020204" pitchFamily="34" charset="0"/>
                    <a:ea typeface="黑体" panose="02010609060101010101" pitchFamily="49" charset="-122"/>
                  </a:rPr>
                  <a:t> 的映射</a:t>
                </a:r>
                <a:r>
                  <a:rPr lang="en-US" altLang="zh-CN" dirty="0">
                    <a:solidFill>
                      <a:prstClr val="black"/>
                    </a:solidFill>
                    <a:latin typeface="Arial" panose="020B0604020202020204" pitchFamily="34" charset="0"/>
                    <a:ea typeface="黑体" panose="02010609060101010101" pitchFamily="49" charset="-122"/>
                  </a:rPr>
                  <a:t>.</a:t>
                </a:r>
              </a:p>
              <a:p>
                <a:pPr marL="648000" lvl="1" indent="-324000" fontAlgn="auto">
                  <a:lnSpc>
                    <a:spcPct val="100000"/>
                  </a:lnSpc>
                  <a:spcBef>
                    <a:spcPts val="400"/>
                  </a:spcBef>
                  <a:spcAft>
                    <a:spcPts val="0"/>
                  </a:spcAft>
                  <a:buClr>
                    <a:srgbClr val="16754D"/>
                  </a:buClr>
                  <a:buFont typeface="Arial" panose="020B0604020202020204" pitchFamily="34" charset="0"/>
                  <a:buChar char="•"/>
                  <a:defRPr/>
                </a:pPr>
                <a:r>
                  <a:rPr lang="zh-CN" altLang="en-US" dirty="0">
                    <a:solidFill>
                      <a:prstClr val="black"/>
                    </a:solidFill>
                    <a:latin typeface="Arial" panose="020B0604020202020204" pitchFamily="34" charset="0"/>
                    <a:ea typeface="黑体" panose="02010609060101010101" pitchFamily="49" charset="-122"/>
                  </a:rPr>
                  <a:t>学习过程可以视为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ℒ</m:t>
                    </m:r>
                  </m:oMath>
                </a14:m>
                <a:r>
                  <a:rPr lang="zh-CN" altLang="en-US" dirty="0">
                    <a:solidFill>
                      <a:prstClr val="black"/>
                    </a:solidFill>
                    <a:latin typeface="Arial" panose="020B0604020202020204" pitchFamily="34" charset="0"/>
                    <a:ea typeface="黑体" panose="02010609060101010101" pitchFamily="49" charset="-122"/>
                  </a:rPr>
                  <a:t> 在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solidFill>
                      <a:prstClr val="black"/>
                    </a:solidFill>
                    <a:latin typeface="Arial" panose="020B0604020202020204" pitchFamily="34" charset="0"/>
                    <a:ea typeface="黑体" panose="02010609060101010101" pitchFamily="49" charset="-122"/>
                  </a:rPr>
                  <a:t> 中进行的搜索过程。</a:t>
                </a:r>
              </a:p>
            </p:txBody>
          </p:sp>
        </mc:Choice>
        <mc:Fallback xmlns="">
          <p:sp>
            <p:nvSpPr>
              <p:cNvPr id="6" name="内容占位符 2">
                <a:extLst>
                  <a:ext uri="{FF2B5EF4-FFF2-40B4-BE49-F238E27FC236}">
                    <a16:creationId xmlns:a16="http://schemas.microsoft.com/office/drawing/2014/main" id="{BD5B8B4A-5AE8-D856-1CC7-07BCE729C4C9}"/>
                  </a:ext>
                </a:extLst>
              </p:cNvPr>
              <p:cNvSpPr txBox="1">
                <a:spLocks noRot="1" noChangeAspect="1" noMove="1" noResize="1" noEditPoints="1" noAdjustHandles="1" noChangeArrowheads="1" noChangeShapeType="1" noTextEdit="1"/>
              </p:cNvSpPr>
              <p:nvPr/>
            </p:nvSpPr>
            <p:spPr bwMode="auto">
              <a:xfrm>
                <a:off x="70644" y="4258296"/>
                <a:ext cx="8898890" cy="2257485"/>
              </a:xfrm>
              <a:prstGeom prst="rect">
                <a:avLst/>
              </a:prstGeom>
              <a:blipFill>
                <a:blip r:embed="rId3"/>
                <a:stretch>
                  <a:fillRect l="-1645" t="-4054" r="-4112" b="-783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23603710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矩形 2">
            <a:extLst>
              <a:ext uri="{FF2B5EF4-FFF2-40B4-BE49-F238E27FC236}">
                <a16:creationId xmlns:a16="http://schemas.microsoft.com/office/drawing/2014/main" id="{A221FE89-9A64-42A0-803B-C26B860F1F99}"/>
              </a:ext>
            </a:extLst>
          </p:cNvPr>
          <p:cNvSpPr/>
          <p:nvPr/>
        </p:nvSpPr>
        <p:spPr>
          <a:xfrm>
            <a:off x="116291" y="880711"/>
            <a:ext cx="8877873" cy="1440651"/>
          </a:xfrm>
          <a:prstGeom prst="rect">
            <a:avLst/>
          </a:prstGeom>
        </p:spPr>
        <p:txBody>
          <a:bodyPr wrap="square" lIns="0" tIns="0" rIns="0" bIns="0">
            <a:spAutoFit/>
          </a:bodyPr>
          <a:lstStyle/>
          <a:p>
            <a:pPr marL="0" marR="0" lvl="0" indent="0" algn="l" defTabSz="914400" rtl="0" eaLnBrk="1" fontAlgn="auto" latinLnBrk="0" hangingPunct="1">
              <a:lnSpc>
                <a:spcPct val="120000"/>
              </a:lnSpc>
              <a:spcBef>
                <a:spcPts val="0"/>
              </a:spcBef>
              <a:spcAft>
                <a:spcPts val="0"/>
              </a:spcAft>
              <a:buClrTx/>
              <a:buSzTx/>
              <a:buFontTx/>
              <a:buNone/>
              <a:tabLst/>
              <a:defRPr/>
            </a:pP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机器学习是一种</a:t>
            </a:r>
            <a:r>
              <a:rPr lang="zh-CN" altLang="en-US" sz="2000" dirty="0">
                <a:solidFill>
                  <a:prstClr val="black"/>
                </a:solidFill>
                <a:latin typeface="Arial" panose="020B0604020202020204" pitchFamily="34" charset="0"/>
                <a:ea typeface="黑体"/>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数据驱动学习</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(data-driven learning)</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的范式，从数据出发来学习数据中所蕴含的模式，对数据进行抽象。统计学家</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Ronald</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Aylmer Fisher </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将这一过程概括为</a:t>
            </a:r>
            <a:r>
              <a:rPr lang="zh-CN" altLang="en-US" sz="2000" dirty="0">
                <a:solidFill>
                  <a:schemeClr val="accent2"/>
                </a:solidFill>
                <a:latin typeface="Arial" panose="020B0604020202020204" pitchFamily="34" charset="0"/>
                <a:ea typeface="黑体"/>
              </a:rPr>
              <a:t>“</a:t>
            </a:r>
            <a:r>
              <a:rPr kumimoji="0" lang="zh-CN"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化繁为简</a:t>
            </a:r>
            <a:r>
              <a:rPr kumimoji="0" lang="en-US"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 </a:t>
            </a:r>
            <a:r>
              <a:rPr lang="en-US" altLang="zh-CN" sz="2000" dirty="0">
                <a:solidFill>
                  <a:schemeClr val="accent2"/>
                </a:solidFill>
                <a:latin typeface="Arial" panose="020B0604020202020204" pitchFamily="34" charset="0"/>
                <a:ea typeface="黑体"/>
              </a:rPr>
              <a:t>(</a:t>
            </a:r>
            <a:r>
              <a:rPr kumimoji="0" lang="en-US" altLang="zh-CN" sz="2000" b="0" i="0" u="none" strike="noStrike" kern="1200" cap="none" spc="0" normalizeH="0" baseline="0" noProof="0" dirty="0">
                <a:ln>
                  <a:noFill/>
                </a:ln>
                <a:solidFill>
                  <a:schemeClr val="accent2"/>
                </a:solidFill>
                <a:effectLst/>
                <a:uLnTx/>
                <a:uFillTx/>
                <a:latin typeface="Arial" panose="020B0604020202020204" pitchFamily="34" charset="0"/>
                <a:ea typeface="黑体"/>
                <a:cs typeface="+mn-cs"/>
              </a:rPr>
              <a:t>the object of statistical methods is the reduction of data</a:t>
            </a:r>
            <a:r>
              <a:rPr lang="en-US" altLang="zh-CN" sz="2000" dirty="0">
                <a:solidFill>
                  <a:schemeClr val="accent2"/>
                </a:solidFill>
                <a:latin typeface="Arial" panose="020B0604020202020204" pitchFamily="34" charset="0"/>
                <a:ea typeface="黑体"/>
              </a:rPr>
              <a:t>)</a:t>
            </a:r>
            <a:r>
              <a:rPr lang="zh-CN" altLang="en-US" sz="2000" dirty="0">
                <a:solidFill>
                  <a:schemeClr val="accent2"/>
                </a:solidFill>
                <a:latin typeface="Arial" panose="020B0604020202020204" pitchFamily="34" charset="0"/>
                <a:ea typeface="黑体"/>
              </a:rPr>
              <a:t>”</a:t>
            </a:r>
            <a:r>
              <a:rPr kumimoji="0" lang="zh-CN"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p>
        </p:txBody>
      </p:sp>
      <p:sp>
        <p:nvSpPr>
          <p:cNvPr id="4" name="矩形 3">
            <a:extLst>
              <a:ext uri="{FF2B5EF4-FFF2-40B4-BE49-F238E27FC236}">
                <a16:creationId xmlns:a16="http://schemas.microsoft.com/office/drawing/2014/main" id="{7BBA6746-7899-4A1B-8FCD-2202EF3F628F}"/>
              </a:ext>
            </a:extLst>
          </p:cNvPr>
          <p:cNvSpPr/>
          <p:nvPr/>
        </p:nvSpPr>
        <p:spPr>
          <a:xfrm>
            <a:off x="2897417" y="5204538"/>
            <a:ext cx="3257302" cy="830997"/>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大模型的安魂曲</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Requiem for large-scale models</a:t>
            </a: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Douglass B Lee</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1973</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p:pic>
        <p:nvPicPr>
          <p:cNvPr id="8" name="图片 7">
            <a:extLst>
              <a:ext uri="{FF2B5EF4-FFF2-40B4-BE49-F238E27FC236}">
                <a16:creationId xmlns:a16="http://schemas.microsoft.com/office/drawing/2014/main" id="{F4E0C0B6-0843-4304-8E9A-18A38BC2718B}"/>
              </a:ext>
            </a:extLst>
          </p:cNvPr>
          <p:cNvPicPr>
            <a:picLocks noChangeAspect="1"/>
          </p:cNvPicPr>
          <p:nvPr/>
        </p:nvPicPr>
        <p:blipFill>
          <a:blip r:embed="rId3"/>
          <a:stretch>
            <a:fillRect/>
          </a:stretch>
        </p:blipFill>
        <p:spPr>
          <a:xfrm>
            <a:off x="3194856" y="2332733"/>
            <a:ext cx="2421699" cy="2871805"/>
          </a:xfrm>
          <a:prstGeom prst="rect">
            <a:avLst/>
          </a:prstGeom>
        </p:spPr>
      </p:pic>
      <p:sp>
        <p:nvSpPr>
          <p:cNvPr id="9" name="矩形 8">
            <a:extLst>
              <a:ext uri="{FF2B5EF4-FFF2-40B4-BE49-F238E27FC236}">
                <a16:creationId xmlns:a16="http://schemas.microsoft.com/office/drawing/2014/main" id="{ABFE5319-F999-4EEF-A090-AE7B2DE25F20}"/>
              </a:ext>
            </a:extLst>
          </p:cNvPr>
          <p:cNvSpPr/>
          <p:nvPr/>
        </p:nvSpPr>
        <p:spPr>
          <a:xfrm>
            <a:off x="3056746" y="2598361"/>
            <a:ext cx="3030508" cy="27699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i="0" u="none" strike="noStrike" kern="1200" cap="none" spc="0" normalizeH="0" noProof="0" dirty="0">
                <a:ln>
                  <a:noFill/>
                </a:ln>
                <a:solidFill>
                  <a:srgbClr val="C0504D"/>
                </a:solidFill>
                <a:effectLst/>
                <a:uLnTx/>
                <a:uFillTx/>
                <a:latin typeface="Arial" panose="020B0604020202020204" pitchFamily="34" charset="0"/>
                <a:ea typeface="黑体" panose="02010609060101010101" pitchFamily="49" charset="-122"/>
                <a:cs typeface="+mn-cs"/>
              </a:rPr>
              <a:t>collapsed rather than evolved</a:t>
            </a:r>
            <a:endParaRPr kumimoji="0" lang="zh-CN" altLang="en-US" i="0" u="none" strike="noStrike" kern="1200" cap="none" spc="0" normalizeH="0" noProof="0" dirty="0">
              <a:ln>
                <a:noFill/>
              </a:ln>
              <a:solidFill>
                <a:srgbClr val="C0504D"/>
              </a:solidFill>
              <a:effectLst/>
              <a:uLnTx/>
              <a:uFillTx/>
              <a:latin typeface="Arial" panose="020B0604020202020204" pitchFamily="34" charset="0"/>
              <a:ea typeface="黑体" panose="02010609060101010101" pitchFamily="49" charset="-122"/>
              <a:cs typeface="+mn-cs"/>
            </a:endParaRPr>
          </a:p>
        </p:txBody>
      </p:sp>
      <p:sp>
        <p:nvSpPr>
          <p:cNvPr id="10" name="矩形 9">
            <a:extLst>
              <a:ext uri="{FF2B5EF4-FFF2-40B4-BE49-F238E27FC236}">
                <a16:creationId xmlns:a16="http://schemas.microsoft.com/office/drawing/2014/main" id="{461F0A2E-0441-4E89-850E-F98D3B979C8B}"/>
              </a:ext>
            </a:extLst>
          </p:cNvPr>
          <p:cNvSpPr/>
          <p:nvPr/>
        </p:nvSpPr>
        <p:spPr>
          <a:xfrm>
            <a:off x="23529" y="5151680"/>
            <a:ext cx="2749005" cy="830997"/>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费米与冯诺依曼</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R="0" lvl="0" algn="ctr" defTabSz="914400" rtl="0" eaLnBrk="1" fontAlgn="auto" latinLnBrk="0" hangingPunct="1">
              <a:lnSpc>
                <a:spcPct val="100000"/>
              </a:lnSpc>
              <a:spcBef>
                <a:spcPts val="0"/>
              </a:spcBef>
              <a:spcAft>
                <a:spcPts val="0"/>
              </a:spcAft>
              <a:buClrTx/>
              <a:buSzTx/>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四个参数画大象之化繁为简</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R="0" lvl="0" algn="ctr" defTabSz="914400" rtl="0" eaLnBrk="1" fontAlgn="auto" latinLnBrk="0" hangingPunct="1">
              <a:lnSpc>
                <a:spcPct val="100000"/>
              </a:lnSpc>
              <a:spcBef>
                <a:spcPts val="0"/>
              </a:spcBef>
              <a:spcAft>
                <a:spcPts val="0"/>
              </a:spcAft>
              <a:buClrTx/>
              <a:buSzTx/>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预测</a:t>
            </a: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稳定域和控制不稳定域</a:t>
            </a: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pic>
        <p:nvPicPr>
          <p:cNvPr id="1026" name="Picture 2" descr="https://pics6.baidu.com/feed/960a304e251f95ca674476924a5fd13b6709522b.jpeg?token=0b4e8472a7c9d28d771d179935cdbf71&amp;s=B01E2E7E09B6ECCE48CBEA7E0200A07F">
            <a:extLst>
              <a:ext uri="{FF2B5EF4-FFF2-40B4-BE49-F238E27FC236}">
                <a16:creationId xmlns:a16="http://schemas.microsoft.com/office/drawing/2014/main" id="{4E90B1A1-2168-423B-B784-125589ED05A7}"/>
              </a:ext>
            </a:extLst>
          </p:cNvPr>
          <p:cNvPicPr>
            <a:picLocks noChangeAspect="1" noChangeArrowheads="1"/>
          </p:cNvPicPr>
          <p:nvPr/>
        </p:nvPicPr>
        <p:blipFill rotWithShape="1">
          <a:blip r:embed="rId4" cstate="print">
            <a:extLst>
              <a:ext uri="{28A0092B-C50C-407E-A947-70E740481C1C}">
                <a14:useLocalDpi xmlns:a14="http://schemas.microsoft.com/office/drawing/2010/main" val="0"/>
              </a:ext>
            </a:extLst>
          </a:blip>
          <a:srcRect l="9330" t="6844" r="7736" b="9903"/>
          <a:stretch/>
        </p:blipFill>
        <p:spPr bwMode="auto">
          <a:xfrm>
            <a:off x="0" y="2992334"/>
            <a:ext cx="2930015" cy="1944000"/>
          </a:xfrm>
          <a:prstGeom prst="rect">
            <a:avLst/>
          </a:prstGeom>
          <a:noFill/>
          <a:extLst>
            <a:ext uri="{909E8E84-426E-40DD-AFC4-6F175D3DCCD1}">
              <a14:hiddenFill xmlns:a14="http://schemas.microsoft.com/office/drawing/2010/main">
                <a:solidFill>
                  <a:srgbClr val="FFFFFF"/>
                </a:solidFill>
              </a14:hiddenFill>
            </a:ext>
          </a:extLst>
        </p:spPr>
      </p:pic>
      <p:sp>
        <p:nvSpPr>
          <p:cNvPr id="16" name="圆角矩形 95">
            <a:extLst>
              <a:ext uri="{FF2B5EF4-FFF2-40B4-BE49-F238E27FC236}">
                <a16:creationId xmlns:a16="http://schemas.microsoft.com/office/drawing/2014/main" id="{5A8C70DF-EFCD-4B3C-8A1A-13AD94B62030}"/>
              </a:ext>
            </a:extLst>
          </p:cNvPr>
          <p:cNvSpPr>
            <a:spLocks/>
          </p:cNvSpPr>
          <p:nvPr/>
        </p:nvSpPr>
        <p:spPr bwMode="auto">
          <a:xfrm>
            <a:off x="5881396" y="3079170"/>
            <a:ext cx="3240000" cy="1548000"/>
          </a:xfrm>
          <a:prstGeom prst="roundRect">
            <a:avLst>
              <a:gd name="adj" fmla="val 16667"/>
            </a:avLst>
          </a:prstGeom>
          <a:solidFill>
            <a:schemeClr val="accent2">
              <a:lumMod val="20000"/>
              <a:lumOff val="80000"/>
            </a:schemeClr>
          </a:solidFill>
          <a:ln w="9525">
            <a:solidFill>
              <a:schemeClr val="accent2"/>
            </a:solidFill>
            <a:round/>
            <a:headEnd/>
            <a:tailEnd/>
          </a:ln>
          <a:effectLst/>
        </p:spPr>
        <p:txBody>
          <a:bodyPr wrap="none" lIns="0" tIns="0" rIns="0" bIns="0" anchor="ctr"/>
          <a:lstStyle>
            <a:lvl1pPr>
              <a:defRPr sz="2800">
                <a:solidFill>
                  <a:schemeClr val="tx1"/>
                </a:solidFill>
                <a:latin typeface="Verdana" pitchFamily="34" charset="0"/>
                <a:ea typeface="宋体" pitchFamily="2" charset="-122"/>
              </a:defRPr>
            </a:lvl1pPr>
            <a:lvl2pPr marL="742950" indent="-285750">
              <a:defRPr sz="2800">
                <a:solidFill>
                  <a:schemeClr val="tx1"/>
                </a:solidFill>
                <a:latin typeface="Verdana" pitchFamily="34" charset="0"/>
                <a:ea typeface="宋体" pitchFamily="2" charset="-122"/>
              </a:defRPr>
            </a:lvl2pPr>
            <a:lvl3pPr marL="1143000" indent="-228600">
              <a:defRPr sz="2800">
                <a:solidFill>
                  <a:schemeClr val="tx1"/>
                </a:solidFill>
                <a:latin typeface="Verdana" pitchFamily="34" charset="0"/>
                <a:ea typeface="宋体" pitchFamily="2" charset="-122"/>
              </a:defRPr>
            </a:lvl3pPr>
            <a:lvl4pPr marL="1600200" indent="-228600">
              <a:defRPr sz="2800">
                <a:solidFill>
                  <a:schemeClr val="tx1"/>
                </a:solidFill>
                <a:latin typeface="Verdana" pitchFamily="34" charset="0"/>
                <a:ea typeface="宋体" pitchFamily="2" charset="-122"/>
              </a:defRPr>
            </a:lvl4pPr>
            <a:lvl5pPr marL="2057400" indent="-228600">
              <a:defRPr sz="2800">
                <a:solidFill>
                  <a:schemeClr val="tx1"/>
                </a:solidFill>
                <a:latin typeface="Verdana" pitchFamily="34" charset="0"/>
                <a:ea typeface="宋体" pitchFamily="2" charset="-122"/>
              </a:defRPr>
            </a:lvl5pPr>
            <a:lvl6pPr marL="2514600" indent="-228600" eaLnBrk="0" fontAlgn="base" hangingPunct="0">
              <a:spcBef>
                <a:spcPct val="0"/>
              </a:spcBef>
              <a:spcAft>
                <a:spcPct val="0"/>
              </a:spcAft>
              <a:defRPr sz="2800">
                <a:solidFill>
                  <a:schemeClr val="tx1"/>
                </a:solidFill>
                <a:latin typeface="Verdana" pitchFamily="34" charset="0"/>
                <a:ea typeface="宋体" pitchFamily="2" charset="-122"/>
              </a:defRPr>
            </a:lvl6pPr>
            <a:lvl7pPr marL="2971800" indent="-228600" eaLnBrk="0" fontAlgn="base" hangingPunct="0">
              <a:spcBef>
                <a:spcPct val="0"/>
              </a:spcBef>
              <a:spcAft>
                <a:spcPct val="0"/>
              </a:spcAft>
              <a:defRPr sz="2800">
                <a:solidFill>
                  <a:schemeClr val="tx1"/>
                </a:solidFill>
                <a:latin typeface="Verdana" pitchFamily="34" charset="0"/>
                <a:ea typeface="宋体" pitchFamily="2" charset="-122"/>
              </a:defRPr>
            </a:lvl7pPr>
            <a:lvl8pPr marL="3429000" indent="-228600" eaLnBrk="0" fontAlgn="base" hangingPunct="0">
              <a:spcBef>
                <a:spcPct val="0"/>
              </a:spcBef>
              <a:spcAft>
                <a:spcPct val="0"/>
              </a:spcAft>
              <a:defRPr sz="2800">
                <a:solidFill>
                  <a:schemeClr val="tx1"/>
                </a:solidFill>
                <a:latin typeface="Verdana" pitchFamily="34" charset="0"/>
                <a:ea typeface="宋体" pitchFamily="2" charset="-122"/>
              </a:defRPr>
            </a:lvl8pPr>
            <a:lvl9pPr marL="3886200" indent="-228600" eaLnBrk="0" fontAlgn="base" hangingPunct="0">
              <a:spcBef>
                <a:spcPct val="0"/>
              </a:spcBef>
              <a:spcAft>
                <a:spcPct val="0"/>
              </a:spcAft>
              <a:defRPr sz="2800">
                <a:solidFill>
                  <a:schemeClr val="tx1"/>
                </a:solidFill>
                <a:latin typeface="Verdana" pitchFamily="34" charset="0"/>
                <a:ea typeface="宋体" pitchFamily="2" charset="-122"/>
              </a:defRPr>
            </a:lvl9pPr>
          </a:lstStyle>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摩尔定律</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晶体管数目</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2</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年翻倍</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黄氏定律</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GPU</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性能逐年翻倍</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a:p>
            <a:pPr marR="0" lvl="0" defTabSz="914400" rtl="0" eaLnBrk="1" fontAlgn="auto" latinLnBrk="0" hangingPunct="1">
              <a:spcBef>
                <a:spcPts val="600"/>
              </a:spcBef>
              <a:spcAft>
                <a:spcPts val="0"/>
              </a:spcAft>
              <a:buClrTx/>
              <a:buSzTx/>
              <a:tabLst/>
              <a:defRPr/>
            </a:pP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大模型参数</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 </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rPr>
              <a:t>每年</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接近</a:t>
            </a:r>
            <a:r>
              <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10</a:t>
            </a:r>
            <a:r>
              <a:rPr kumimoji="0" lang="zh-CN" altLang="en-US"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rPr>
              <a:t>倍增长</a:t>
            </a:r>
            <a:endParaRPr kumimoji="0" lang="en-US" altLang="zh-CN" sz="1800" i="0" u="none" strike="noStrike" kern="120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mn-cs"/>
              <a:sym typeface="Times New Roman" pitchFamily="18" charset="0"/>
            </a:endParaRPr>
          </a:p>
        </p:txBody>
      </p:sp>
      <p:sp>
        <p:nvSpPr>
          <p:cNvPr id="17" name="矩形 16">
            <a:extLst>
              <a:ext uri="{FF2B5EF4-FFF2-40B4-BE49-F238E27FC236}">
                <a16:creationId xmlns:a16="http://schemas.microsoft.com/office/drawing/2014/main" id="{CCAEC9BC-9871-4E2B-8892-F1A61D77FEA6}"/>
              </a:ext>
            </a:extLst>
          </p:cNvPr>
          <p:cNvSpPr/>
          <p:nvPr/>
        </p:nvSpPr>
        <p:spPr>
          <a:xfrm>
            <a:off x="6483994" y="5290179"/>
            <a:ext cx="2417959" cy="553998"/>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数据涌现、算法模型、算力性能的增长</a:t>
            </a:r>
            <a:endPar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2" name="标题 16">
            <a:extLst>
              <a:ext uri="{FF2B5EF4-FFF2-40B4-BE49-F238E27FC236}">
                <a16:creationId xmlns:a16="http://schemas.microsoft.com/office/drawing/2014/main" id="{9A209A89-521C-931B-A9D8-339BCA2967D9}"/>
              </a:ext>
            </a:extLst>
          </p:cNvPr>
          <p:cNvSpPr>
            <a:spLocks noGrp="1"/>
          </p:cNvSpPr>
          <p:nvPr>
            <p:ph type="title"/>
          </p:nvPr>
        </p:nvSpPr>
        <p:spPr>
          <a:xfrm>
            <a:off x="0" y="4399"/>
            <a:ext cx="9144000" cy="817721"/>
          </a:xfrm>
        </p:spPr>
        <p:txBody>
          <a:bodyPr/>
          <a:lstStyle/>
          <a:p>
            <a:r>
              <a:rPr lang="zh-CN" altLang="en-US" dirty="0"/>
              <a:t>机器学习的基本概念</a:t>
            </a:r>
          </a:p>
        </p:txBody>
      </p:sp>
    </p:spTree>
    <p:extLst>
      <p:ext uri="{BB962C8B-B14F-4D97-AF65-F5344CB8AC3E}">
        <p14:creationId xmlns:p14="http://schemas.microsoft.com/office/powerpoint/2010/main" val="77161081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7C5DFA8-63D1-2306-B0DC-FFF0E7F1C198}"/>
              </a:ext>
            </a:extLst>
          </p:cNvPr>
          <p:cNvPicPr>
            <a:picLocks noChangeAspect="1"/>
          </p:cNvPicPr>
          <p:nvPr/>
        </p:nvPicPr>
        <p:blipFill rotWithShape="1">
          <a:blip r:embed="rId2"/>
          <a:srcRect r="15275"/>
          <a:stretch/>
        </p:blipFill>
        <p:spPr>
          <a:xfrm>
            <a:off x="5373943" y="3348527"/>
            <a:ext cx="3671230" cy="2484000"/>
          </a:xfrm>
          <a:prstGeom prst="rect">
            <a:avLst/>
          </a:prstGeom>
        </p:spPr>
      </p:pic>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a:t>
            </a:r>
            <a:r>
              <a:rPr lang="zh-CN" altLang="en-US" sz="2000" b="1" kern="0" dirty="0">
                <a:solidFill>
                  <a:srgbClr val="0070C0"/>
                </a:solidFill>
                <a:latin typeface="Arial" panose="020B0604020202020204" pitchFamily="34" charset="0"/>
                <a:ea typeface="黑体" panose="02010609060101010101" pitchFamily="49" charset="-122"/>
                <a:cs typeface="Times New Roman" pitchFamily="18" charset="0"/>
              </a:rPr>
              <a:t>、</a:t>
            </a: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降维或概率密度估计</a:t>
            </a:r>
            <a:r>
              <a:rPr lang="zh-CN" altLang="en-US" sz="2000" b="1" kern="0" dirty="0">
                <a:solidFill>
                  <a:srgbClr val="0070C0"/>
                </a:solidFill>
                <a:latin typeface="Arial" panose="020B0604020202020204" pitchFamily="34" charset="0"/>
                <a:ea typeface="黑体" panose="02010609060101010101" pitchFamily="49" charset="-122"/>
                <a:cs typeface="Times New Roman" pitchFamily="18" charset="0"/>
              </a:rPr>
              <a:t>等</a:t>
            </a: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任务</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8" name="图片 7">
            <a:extLst>
              <a:ext uri="{FF2B5EF4-FFF2-40B4-BE49-F238E27FC236}">
                <a16:creationId xmlns:a16="http://schemas.microsoft.com/office/drawing/2014/main" id="{609E7BC4-A387-976F-4C7B-3493185EBB47}"/>
              </a:ext>
            </a:extLst>
          </p:cNvPr>
          <p:cNvPicPr>
            <a:picLocks noChangeAspect="1"/>
          </p:cNvPicPr>
          <p:nvPr/>
        </p:nvPicPr>
        <p:blipFill>
          <a:blip r:embed="rId3"/>
          <a:stretch>
            <a:fillRect/>
          </a:stretch>
        </p:blipFill>
        <p:spPr>
          <a:xfrm>
            <a:off x="5584317" y="1025473"/>
            <a:ext cx="3001754" cy="2088000"/>
          </a:xfrm>
          <a:prstGeom prst="rect">
            <a:avLst/>
          </a:prstGeom>
        </p:spPr>
      </p:pic>
      <p:pic>
        <p:nvPicPr>
          <p:cNvPr id="2" name="图片 1">
            <a:extLst>
              <a:ext uri="{FF2B5EF4-FFF2-40B4-BE49-F238E27FC236}">
                <a16:creationId xmlns:a16="http://schemas.microsoft.com/office/drawing/2014/main" id="{1A2445A2-F0D4-8130-F56D-119E75DA0B0C}"/>
              </a:ext>
            </a:extLst>
          </p:cNvPr>
          <p:cNvPicPr>
            <a:picLocks noChangeAspect="1"/>
          </p:cNvPicPr>
          <p:nvPr/>
        </p:nvPicPr>
        <p:blipFill rotWithShape="1">
          <a:blip r:embed="rId2"/>
          <a:srcRect l="63410" t="50056" b="28818"/>
          <a:stretch/>
        </p:blipFill>
        <p:spPr>
          <a:xfrm>
            <a:off x="7452000" y="4590527"/>
            <a:ext cx="1692000" cy="560020"/>
          </a:xfrm>
          <a:prstGeom prst="rect">
            <a:avLst/>
          </a:prstGeom>
        </p:spPr>
      </p:pic>
    </p:spTree>
    <p:extLst>
      <p:ext uri="{BB962C8B-B14F-4D97-AF65-F5344CB8AC3E}">
        <p14:creationId xmlns:p14="http://schemas.microsoft.com/office/powerpoint/2010/main" val="149138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2" descr="Figure 4">
            <a:extLst>
              <a:ext uri="{FF2B5EF4-FFF2-40B4-BE49-F238E27FC236}">
                <a16:creationId xmlns:a16="http://schemas.microsoft.com/office/drawing/2014/main" id="{28D1F96F-C40A-6D34-9A97-2A281011366F}"/>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5201323" y="3066141"/>
            <a:ext cx="3942678" cy="3791860"/>
          </a:xfrm>
          <a:prstGeom prst="rect">
            <a:avLst/>
          </a:prstGeom>
          <a:noFill/>
          <a:extLst>
            <a:ext uri="{909E8E84-426E-40DD-AFC4-6F175D3DCCD1}">
              <a14:hiddenFill xmlns:a14="http://schemas.microsoft.com/office/drawing/2010/main">
                <a:solidFill>
                  <a:srgbClr val="FFFFFF"/>
                </a:solidFill>
              </a14:hiddenFill>
            </a:ext>
          </a:extLst>
        </p:spPr>
      </p:pic>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4" name="文本框 3">
                <a:extLst>
                  <a:ext uri="{FF2B5EF4-FFF2-40B4-BE49-F238E27FC236}">
                    <a16:creationId xmlns:a16="http://schemas.microsoft.com/office/drawing/2014/main" id="{E5BF6D6B-60B6-F6FD-731F-C6FAC54537F3}"/>
                  </a:ext>
                </a:extLst>
              </p:cNvPr>
              <p:cNvSpPr txBox="1"/>
              <p:nvPr/>
            </p:nvSpPr>
            <p:spPr>
              <a:xfrm>
                <a:off x="344246" y="1227033"/>
                <a:ext cx="5728446" cy="615553"/>
              </a:xfrm>
              <a:prstGeom prst="rect">
                <a:avLst/>
              </a:prstGeom>
              <a:noFill/>
            </p:spPr>
            <p:txBody>
              <a:bodyPr wrap="square" lIns="0" tIns="0" rIns="0" bIns="0">
                <a:spAutoFit/>
              </a:bodyPr>
              <a:lstStyle/>
              <a:p>
                <a:pPr marL="324000" marR="0" lvl="0" indent="-324000" algn="l" defTabSz="914400" rtl="0" eaLnBrk="1" fontAlgn="auto" latinLnBrk="0" hangingPunct="1">
                  <a:lnSpc>
                    <a:spcPct val="100000"/>
                  </a:lnSpc>
                  <a:spcAft>
                    <a:spcPts val="0"/>
                  </a:spcAft>
                  <a:buClrTx/>
                  <a:buSzTx/>
                  <a:buFont typeface="Wingdings" panose="05000000000000000000" pitchFamily="2" charset="2"/>
                  <a:buChar char="Ø"/>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输入：</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个数据（无任何标注信息）</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24000" marR="0" lvl="0" indent="-324000" algn="l" defTabSz="914400" rtl="0" eaLnBrk="1" fontAlgn="auto" latinLnBrk="0" hangingPunct="1">
                  <a:lnSpc>
                    <a:spcPct val="100000"/>
                  </a:lnSpc>
                  <a:spcAft>
                    <a:spcPts val="0"/>
                  </a:spcAft>
                  <a:buClrTx/>
                  <a:buSzTx/>
                  <a:buFont typeface="Wingdings" panose="05000000000000000000" pitchFamily="2" charset="2"/>
                  <a:buChar char="Ø"/>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目的：将</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个数据聚类到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mn-cs"/>
                      </a:rPr>
                      <m:t>𝑘</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个集合（也称为类簇）</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4" name="文本框 3">
                <a:extLst>
                  <a:ext uri="{FF2B5EF4-FFF2-40B4-BE49-F238E27FC236}">
                    <a16:creationId xmlns:a16="http://schemas.microsoft.com/office/drawing/2014/main" id="{E5BF6D6B-60B6-F6FD-731F-C6FAC54537F3}"/>
                  </a:ext>
                </a:extLst>
              </p:cNvPr>
              <p:cNvSpPr txBox="1">
                <a:spLocks noRot="1" noChangeAspect="1" noMove="1" noResize="1" noEditPoints="1" noAdjustHandles="1" noChangeArrowheads="1" noChangeShapeType="1" noTextEdit="1"/>
              </p:cNvSpPr>
              <p:nvPr/>
            </p:nvSpPr>
            <p:spPr>
              <a:xfrm>
                <a:off x="344246" y="1227033"/>
                <a:ext cx="5728446" cy="615553"/>
              </a:xfrm>
              <a:prstGeom prst="rect">
                <a:avLst/>
              </a:prstGeom>
              <a:blipFill>
                <a:blip r:embed="rId3"/>
                <a:stretch>
                  <a:fillRect l="-2553" t="-14851" r="-2234" b="-227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A646FE5F-8BD6-668C-E044-C116E26D56A2}"/>
                  </a:ext>
                </a:extLst>
              </p:cNvPr>
              <p:cNvSpPr/>
              <p:nvPr/>
            </p:nvSpPr>
            <p:spPr>
              <a:xfrm>
                <a:off x="112957" y="1925820"/>
                <a:ext cx="5255107" cy="4182427"/>
              </a:xfrm>
              <a:prstGeom prst="rect">
                <a:avLst/>
              </a:prstGeom>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若干定义：</a:t>
                </a:r>
                <a:endParaRPr lang="en-US" altLang="zh-CN" sz="2000" dirty="0">
                  <a:latin typeface="Arial" panose="020B0604020202020204" pitchFamily="34" charset="0"/>
                  <a:ea typeface="黑体" panose="02010609060101010101" pitchFamily="49" charset="-122"/>
                </a:endParaRPr>
              </a:p>
              <a:p>
                <a:pPr marL="324000" lvl="1" indent="-324000">
                  <a:buFont typeface="Arial" panose="020B0604020202020204" pitchFamily="34" charset="0"/>
                  <a:buChar char="•"/>
                </a:pPr>
                <a14:m>
                  <m:oMath xmlns:m="http://schemas.openxmlformats.org/officeDocument/2006/math">
                    <m:r>
                      <a:rPr lang="en-US" altLang="zh-CN" sz="2000" b="0" i="1" smtClean="0">
                        <a:latin typeface="Cambria Math"/>
                        <a:ea typeface="黑体" panose="02010609060101010101" pitchFamily="49" charset="-122"/>
                      </a:rPr>
                      <m:t>𝑛</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lang="en-US" altLang="zh-CN" sz="2000" b="0" i="1" smtClean="0">
                        <a:latin typeface="Cambria Math"/>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维数据</a:t>
                </a:r>
                <a14:m>
                  <m:oMath xmlns:m="http://schemas.openxmlformats.org/officeDocument/2006/math">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m:t>
                        </m:r>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1</m:t>
                        </m:r>
                      </m:sub>
                    </m:sSub>
                    <m:r>
                      <a:rPr lang="en-US" altLang="zh-CN" sz="2000" b="0" i="1" smtClean="0">
                        <a:latin typeface="Cambria Math"/>
                        <a:ea typeface="黑体" panose="02010609060101010101" pitchFamily="49" charset="-122"/>
                      </a:rPr>
                      <m:t>,</m:t>
                    </m:r>
                    <m:sSub>
                      <m:sSubPr>
                        <m:ctrlPr>
                          <a:rPr lang="en-US" altLang="zh-CN" sz="2000" i="1" smtClean="0">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2</m:t>
                        </m:r>
                      </m:sub>
                    </m:sSub>
                    <m:r>
                      <a:rPr lang="en-US" altLang="zh-CN" sz="2000" b="0" i="1" smtClean="0">
                        <a:latin typeface="Cambria Math"/>
                        <a:ea typeface="黑体" panose="02010609060101010101" pitchFamily="49" charset="-122"/>
                      </a:rPr>
                      <m:t>,…,</m:t>
                    </m:r>
                    <m:sSub>
                      <m:sSubPr>
                        <m:ctrlPr>
                          <a:rPr lang="en-US" altLang="zh-CN" sz="2000" i="1" smtClean="0">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𝑛</m:t>
                        </m:r>
                      </m:sub>
                    </m:sSub>
                    <m:r>
                      <a:rPr lang="en-US" altLang="zh-CN" sz="2000" b="0" i="1" smtClean="0">
                        <a:latin typeface="Cambria Math"/>
                        <a:ea typeface="黑体" panose="02010609060101010101" pitchFamily="49" charset="-122"/>
                      </a:rPr>
                      <m:t>}</m:t>
                    </m:r>
                  </m:oMath>
                </a14:m>
                <a:r>
                  <a:rPr lang="en-US" altLang="zh-CN" sz="2000" dirty="0">
                    <a:latin typeface="Arial" panose="020B0604020202020204" pitchFamily="34" charset="0"/>
                    <a:ea typeface="黑体" panose="02010609060101010101" pitchFamily="49" charset="-122"/>
                    <a:cs typeface="Times New Roman" panose="02020603050405020304" pitchFamily="18" charset="0"/>
                  </a:rPr>
                  <a:t>, </a:t>
                </a:r>
              </a:p>
              <a:p>
                <a:pPr marL="324000" lvl="1"/>
                <a:r>
                  <a:rPr lang="en-US" altLang="zh-CN" sz="2000" dirty="0">
                    <a:ea typeface="黑体" panose="02010609060101010101" pitchFamily="49" charset="-122"/>
                  </a:rPr>
                  <a:t> </a:t>
                </a:r>
                <a14:m>
                  <m:oMath xmlns:m="http://schemas.openxmlformats.org/officeDocument/2006/math">
                    <m:sSub>
                      <m:sSubPr>
                        <m:ctrlPr>
                          <a:rPr lang="en-US" altLang="zh-CN" sz="2000" i="1" dirty="0" smtClean="0">
                            <a:latin typeface="Cambria Math" panose="02040503050406030204" pitchFamily="18" charset="0"/>
                            <a:ea typeface="黑体" panose="02010609060101010101" pitchFamily="49" charset="-122"/>
                          </a:rPr>
                        </m:ctrlPr>
                      </m:sSubPr>
                      <m:e>
                        <m:r>
                          <a:rPr lang="en-US" altLang="zh-CN" sz="2000" b="1" i="0" dirty="0" smtClean="0">
                            <a:latin typeface="Cambria Math"/>
                            <a:ea typeface="黑体" panose="02010609060101010101" pitchFamily="49" charset="-122"/>
                          </a:rPr>
                          <m:t>𝐱</m:t>
                        </m:r>
                      </m:e>
                      <m:sub>
                        <m:r>
                          <a:rPr lang="en-US" altLang="zh-CN" sz="2000" b="0" i="1" dirty="0" smtClean="0">
                            <a:latin typeface="Cambria Math"/>
                            <a:ea typeface="黑体" panose="02010609060101010101" pitchFamily="49" charset="-122"/>
                          </a:rPr>
                          <m:t>𝑖</m:t>
                        </m:r>
                      </m:sub>
                    </m:sSub>
                    <m:r>
                      <a:rPr lang="en-US" altLang="zh-CN" sz="2000" b="0" i="1" dirty="0" smtClean="0">
                        <a:latin typeface="Cambria Math"/>
                        <a:ea typeface="Cambria Math"/>
                      </a:rPr>
                      <m:t>∈</m:t>
                    </m:r>
                    <m:sSup>
                      <m:sSupPr>
                        <m:ctrlPr>
                          <a:rPr lang="en-US" altLang="zh-CN" sz="2000" i="1" dirty="0" smtClean="0">
                            <a:latin typeface="Cambria Math" panose="02040503050406030204" pitchFamily="18" charset="0"/>
                            <a:ea typeface="Cambria Math"/>
                          </a:rPr>
                        </m:ctrlPr>
                      </m:sSupPr>
                      <m:e>
                        <m:r>
                          <a:rPr lang="en-US" altLang="zh-CN" sz="2000" b="0" i="1" dirty="0" smtClean="0">
                            <a:latin typeface="Cambria Math"/>
                            <a:ea typeface="Cambria Math"/>
                          </a:rPr>
                          <m:t>𝑅</m:t>
                        </m:r>
                      </m:e>
                      <m:sup>
                        <m:r>
                          <a:rPr lang="en-US" altLang="zh-CN" sz="2000" b="0" i="1" dirty="0" smtClean="0">
                            <a:latin typeface="Cambria Math"/>
                            <a:ea typeface="Cambria Math"/>
                          </a:rPr>
                          <m:t>𝑚</m:t>
                        </m:r>
                      </m:sup>
                    </m:sSup>
                    <m:r>
                      <a:rPr lang="en-US" altLang="zh-CN" sz="2000" b="0" i="1" dirty="0" smtClean="0">
                        <a:latin typeface="Cambria Math"/>
                        <a:ea typeface="Cambria Math"/>
                      </a:rPr>
                      <m:t>(</m:t>
                    </m:r>
                    <m:r>
                      <a:rPr lang="en-US" altLang="zh-CN" sz="2000" b="0" i="1" dirty="0" smtClean="0">
                        <a:latin typeface="Cambria Math"/>
                        <a:ea typeface="Cambria Math"/>
                      </a:rPr>
                      <m:t>1</m:t>
                    </m:r>
                    <m:r>
                      <a:rPr lang="en-US" altLang="zh-CN" sz="2000" b="0" i="1" dirty="0" smtClean="0">
                        <a:latin typeface="Cambria Math"/>
                        <a:ea typeface="Cambria Math"/>
                      </a:rPr>
                      <m:t>≤</m:t>
                    </m:r>
                    <m:r>
                      <a:rPr lang="en-US" altLang="zh-CN" sz="2000" b="0" i="1" dirty="0" smtClean="0">
                        <a:latin typeface="Cambria Math"/>
                        <a:ea typeface="Cambria Math"/>
                      </a:rPr>
                      <m:t>𝑖</m:t>
                    </m:r>
                    <m:r>
                      <a:rPr lang="en-US" altLang="zh-CN" sz="2000" b="0" i="1" dirty="0" smtClean="0">
                        <a:latin typeface="Cambria Math"/>
                        <a:ea typeface="Cambria Math"/>
                      </a:rPr>
                      <m:t>≤</m:t>
                    </m:r>
                    <m:r>
                      <a:rPr lang="en-US" altLang="zh-CN" sz="2000" b="0" i="1" dirty="0" smtClean="0">
                        <a:latin typeface="Cambria Math"/>
                        <a:ea typeface="Cambria Math"/>
                      </a:rPr>
                      <m:t>𝑛</m:t>
                    </m:r>
                    <m:r>
                      <a:rPr lang="en-US" altLang="zh-CN" sz="2000" b="0" i="1" dirty="0" smtClean="0">
                        <a:latin typeface="Cambria Math"/>
                        <a:ea typeface="Cambria Math"/>
                      </a:rPr>
                      <m:t>)</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324000" lvl="1" indent="-324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两个</a:t>
                </a:r>
                <a14:m>
                  <m:oMath xmlns:m="http://schemas.openxmlformats.org/officeDocument/2006/math">
                    <m:r>
                      <a:rPr lang="en-US" altLang="zh-CN" sz="2000" b="0" i="1" smtClean="0">
                        <a:latin typeface="Cambria Math"/>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维数据之间的欧氏距离为</a:t>
                </a:r>
                <a:endParaRPr lang="en-US" altLang="zh-CN" sz="2000" i="1" dirty="0">
                  <a:latin typeface="Arial" panose="020B0604020202020204" pitchFamily="34" charset="0"/>
                  <a:ea typeface="黑体" panose="02010609060101010101" pitchFamily="49" charset="-122"/>
                </a:endParaRPr>
              </a:p>
              <a:p>
                <a:pPr marL="324000" lvl="1"/>
                <a14:m>
                  <m:oMath xmlns:m="http://schemas.openxmlformats.org/officeDocument/2006/math">
                    <m:r>
                      <a:rPr lang="en-US" altLang="zh-CN" b="0" i="1" smtClean="0">
                        <a:latin typeface="Cambria Math"/>
                        <a:ea typeface="黑体" panose="02010609060101010101" pitchFamily="49" charset="-122"/>
                      </a:rPr>
                      <m:t>𝑑</m:t>
                    </m:r>
                    <m:r>
                      <a:rPr lang="en-US" altLang="zh-CN" i="1">
                        <a:latin typeface="Cambria Math" panose="02040503050406030204" pitchFamily="18" charset="0"/>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b="1" i="0">
                            <a:latin typeface="Cambria Math"/>
                            <a:ea typeface="黑体" panose="02010609060101010101" pitchFamily="49" charset="-122"/>
                          </a:rPr>
                          <m:t>𝐱</m:t>
                        </m:r>
                      </m:e>
                      <m:sub>
                        <m:r>
                          <a:rPr lang="en-US" altLang="zh-CN" i="1">
                            <a:latin typeface="Cambria Math"/>
                            <a:ea typeface="黑体" panose="02010609060101010101" pitchFamily="49" charset="-122"/>
                          </a:rPr>
                          <m:t>𝑖</m:t>
                        </m:r>
                      </m:sub>
                    </m:sSub>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b="1" i="0">
                            <a:latin typeface="Cambria Math"/>
                            <a:ea typeface="黑体" panose="02010609060101010101" pitchFamily="49" charset="-122"/>
                          </a:rPr>
                          <m:t>𝐱</m:t>
                        </m:r>
                      </m:e>
                      <m:sub>
                        <m:r>
                          <a:rPr lang="en-US" altLang="zh-CN" i="1">
                            <a:latin typeface="Cambria Math"/>
                            <a:ea typeface="黑体" panose="02010609060101010101" pitchFamily="49" charset="-122"/>
                          </a:rPr>
                          <m:t>𝑗</m:t>
                        </m:r>
                      </m:sub>
                    </m:sSub>
                    <m:r>
                      <a:rPr lang="en-US" altLang="zh-CN" i="1">
                        <a:latin typeface="Cambria Math" panose="02040503050406030204" pitchFamily="18" charset="0"/>
                        <a:ea typeface="黑体" panose="02010609060101010101" pitchFamily="49" charset="-122"/>
                      </a:rPr>
                      <m:t>)</m:t>
                    </m:r>
                    <m:r>
                      <a:rPr lang="en-US" altLang="zh-CN" b="0" i="1" smtClean="0">
                        <a:latin typeface="Cambria Math"/>
                        <a:ea typeface="黑体" panose="02010609060101010101" pitchFamily="49" charset="-122"/>
                      </a:rPr>
                      <m:t>=</m:t>
                    </m:r>
                    <m:rad>
                      <m:radPr>
                        <m:degHide m:val="on"/>
                        <m:ctrlPr>
                          <a:rPr lang="en-US" altLang="zh-CN" i="1" smtClean="0">
                            <a:latin typeface="Cambria Math" panose="02040503050406030204" pitchFamily="18" charset="0"/>
                            <a:ea typeface="黑体" panose="02010609060101010101" pitchFamily="49" charset="-122"/>
                          </a:rPr>
                        </m:ctrlPr>
                      </m:radPr>
                      <m:deg/>
                      <m:e>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1</m:t>
                                </m:r>
                              </m:sub>
                            </m:sSub>
                            <m:r>
                              <a:rPr lang="en-US" altLang="zh-CN" i="1">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1</m:t>
                                </m:r>
                              </m:sub>
                            </m:sSub>
                            <m:r>
                              <a:rPr lang="en-US" altLang="zh-CN" i="1">
                                <a:latin typeface="Cambria Math"/>
                                <a:ea typeface="黑体" panose="02010609060101010101" pitchFamily="49" charset="-122"/>
                              </a:rPr>
                              <m:t>)</m:t>
                            </m:r>
                          </m:e>
                          <m:sup>
                            <m:r>
                              <a:rPr lang="en-US" altLang="zh-CN" i="1">
                                <a:latin typeface="Cambria Math"/>
                                <a:ea typeface="黑体" panose="02010609060101010101" pitchFamily="49" charset="-122"/>
                              </a:rPr>
                              <m:t>2</m:t>
                            </m:r>
                          </m:sup>
                        </m:sSup>
                        <m:r>
                          <a:rPr lang="en-US" altLang="zh-CN" b="0" i="1" smtClean="0">
                            <a:latin typeface="Cambria Math"/>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b="0" i="1" smtClean="0">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2</m:t>
                                </m:r>
                              </m:sub>
                            </m:sSub>
                            <m:r>
                              <a:rPr lang="en-US" altLang="zh-CN" b="0" i="1" smtClean="0">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b="0" i="1" smtClean="0">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2</m:t>
                                </m:r>
                              </m:sub>
                            </m:sSub>
                            <m:r>
                              <a:rPr lang="en-US" altLang="zh-CN" b="0" i="1" smtClean="0">
                                <a:latin typeface="Cambria Math"/>
                                <a:ea typeface="黑体" panose="02010609060101010101" pitchFamily="49" charset="-122"/>
                              </a:rPr>
                              <m:t>)</m:t>
                            </m:r>
                          </m:e>
                          <m:sup>
                            <m:r>
                              <a:rPr lang="en-US" altLang="zh-CN" b="0" i="1" smtClean="0">
                                <a:latin typeface="Cambria Math"/>
                                <a:ea typeface="黑体" panose="02010609060101010101" pitchFamily="49" charset="-122"/>
                              </a:rPr>
                              <m:t>2</m:t>
                            </m:r>
                          </m:sup>
                        </m:sSup>
                        <m:r>
                          <a:rPr lang="en-US" altLang="zh-CN" b="0" i="1" smtClean="0">
                            <a:latin typeface="Cambria Math"/>
                            <a:ea typeface="黑体" panose="02010609060101010101" pitchFamily="49" charset="-122"/>
                          </a:rPr>
                          <m:t>+…+</m:t>
                        </m:r>
                        <m:sSup>
                          <m:sSupPr>
                            <m:ctrlPr>
                              <a:rPr lang="en-US" altLang="zh-CN" i="1">
                                <a:latin typeface="Cambria Math" panose="02040503050406030204" pitchFamily="18" charset="0"/>
                                <a:ea typeface="黑体" panose="02010609060101010101" pitchFamily="49" charset="-122"/>
                              </a:rPr>
                            </m:ctrlPr>
                          </m:sSupPr>
                          <m:e>
                            <m:r>
                              <a:rPr lang="en-US" altLang="zh-CN" i="1">
                                <a:latin typeface="Cambria Math"/>
                                <a:ea typeface="黑体" panose="02010609060101010101" pitchFamily="49" charset="-122"/>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𝑖</m:t>
                                </m:r>
                                <m:r>
                                  <a:rPr lang="en-US" altLang="zh-CN" b="0" i="1" smtClean="0">
                                    <a:latin typeface="Cambria Math" panose="02040503050406030204" pitchFamily="18" charset="0"/>
                                    <a:ea typeface="黑体" panose="02010609060101010101" pitchFamily="49" charset="-122"/>
                                  </a:rPr>
                                  <m:t>𝑚</m:t>
                                </m:r>
                              </m:sub>
                            </m:sSub>
                            <m:r>
                              <a:rPr lang="en-US" altLang="zh-CN" i="1">
                                <a:latin typeface="Cambria Math"/>
                              </a:rPr>
                              <m:t>−</m:t>
                            </m:r>
                            <m:sSub>
                              <m:sSubPr>
                                <m:ctrlPr>
                                  <a:rPr lang="en-US" altLang="zh-CN" i="1">
                                    <a:latin typeface="Cambria Math" panose="02040503050406030204" pitchFamily="18" charset="0"/>
                                    <a:ea typeface="黑体" panose="02010609060101010101" pitchFamily="49" charset="-122"/>
                                  </a:rPr>
                                </m:ctrlPr>
                              </m:sSubPr>
                              <m:e>
                                <m:r>
                                  <a:rPr lang="en-US" altLang="zh-CN" i="1">
                                    <a:latin typeface="Cambria Math" panose="02040503050406030204" pitchFamily="18" charset="0"/>
                                    <a:ea typeface="黑体" panose="02010609060101010101" pitchFamily="49" charset="-122"/>
                                  </a:rPr>
                                  <m:t>𝑥</m:t>
                                </m:r>
                              </m:e>
                              <m:sub>
                                <m:r>
                                  <a:rPr lang="en-US" altLang="zh-CN" i="1">
                                    <a:latin typeface="Cambria Math" panose="02040503050406030204" pitchFamily="18" charset="0"/>
                                    <a:ea typeface="黑体" panose="02010609060101010101" pitchFamily="49" charset="-122"/>
                                  </a:rPr>
                                  <m:t>𝑗</m:t>
                                </m:r>
                                <m:r>
                                  <a:rPr lang="en-US" altLang="zh-CN" b="0" i="1" smtClean="0">
                                    <a:latin typeface="Cambria Math" panose="02040503050406030204" pitchFamily="18" charset="0"/>
                                    <a:ea typeface="黑体" panose="02010609060101010101" pitchFamily="49" charset="-122"/>
                                  </a:rPr>
                                  <m:t>𝑚</m:t>
                                </m:r>
                              </m:sub>
                            </m:sSub>
                            <m:r>
                              <a:rPr lang="en-US" altLang="zh-CN" i="1">
                                <a:latin typeface="Cambria Math"/>
                                <a:ea typeface="黑体" panose="02010609060101010101" pitchFamily="49" charset="-122"/>
                              </a:rPr>
                              <m:t>)</m:t>
                            </m:r>
                          </m:e>
                          <m:sup>
                            <m:r>
                              <a:rPr lang="en-US" altLang="zh-CN" i="1">
                                <a:latin typeface="Cambria Math"/>
                                <a:ea typeface="黑体" panose="02010609060101010101" pitchFamily="49" charset="-122"/>
                              </a:rPr>
                              <m:t>2</m:t>
                            </m:r>
                          </m:sup>
                        </m:sSup>
                      </m:e>
                    </m:rad>
                  </m:oMath>
                </a14:m>
                <a:r>
                  <a:rPr lang="en-US" altLang="zh-CN" sz="2000" dirty="0">
                    <a:latin typeface="Arial" panose="020B0604020202020204" pitchFamily="34" charset="0"/>
                    <a:ea typeface="黑体" panose="02010609060101010101" pitchFamily="49" charset="-122"/>
                    <a:cs typeface="Times New Roman" panose="02020603050405020304" pitchFamily="18" charset="0"/>
                  </a:rPr>
                  <a:t> </a:t>
                </a:r>
              </a:p>
              <a:p>
                <a:pPr marL="324000" lvl="1"/>
                <a14:m>
                  <m:oMath xmlns:m="http://schemas.openxmlformats.org/officeDocument/2006/math">
                    <m:r>
                      <a:rPr lang="en-US" altLang="zh-CN" sz="2000" b="0" i="1" smtClean="0">
                        <a:latin typeface="Cambria Math"/>
                        <a:ea typeface="黑体" panose="02010609060101010101" pitchFamily="49" charset="-122"/>
                      </a:rPr>
                      <m:t>𝑑</m:t>
                    </m:r>
                    <m:r>
                      <a:rPr lang="en-US" altLang="zh-CN" sz="2000" b="0" i="1" smtClean="0">
                        <a:latin typeface="Cambria Math" panose="02040503050406030204" pitchFamily="18" charset="0"/>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1" i="0">
                            <a:latin typeface="Cambria Math"/>
                            <a:ea typeface="黑体" panose="02010609060101010101" pitchFamily="49" charset="-122"/>
                          </a:rPr>
                          <m:t>𝐱</m:t>
                        </m:r>
                      </m:e>
                      <m:sub>
                        <m:r>
                          <a:rPr lang="en-US" altLang="zh-CN" sz="2000" i="1">
                            <a:latin typeface="Cambria Math"/>
                            <a:ea typeface="黑体" panose="02010609060101010101" pitchFamily="49" charset="-122"/>
                          </a:rPr>
                          <m:t>𝑖</m:t>
                        </m:r>
                      </m:sub>
                    </m:sSub>
                    <m:r>
                      <a:rPr lang="en-US" altLang="zh-CN" sz="2000" i="1">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1" i="0">
                            <a:latin typeface="Cambria Math"/>
                            <a:ea typeface="黑体" panose="02010609060101010101" pitchFamily="49" charset="-122"/>
                          </a:rPr>
                          <m:t>𝐱</m:t>
                        </m:r>
                      </m:e>
                      <m:sub>
                        <m:r>
                          <a:rPr lang="en-US" altLang="zh-CN" sz="2000" i="1">
                            <a:latin typeface="Cambria Math"/>
                            <a:ea typeface="黑体" panose="02010609060101010101" pitchFamily="49" charset="-122"/>
                          </a:rPr>
                          <m:t>𝑗</m:t>
                        </m:r>
                      </m:sub>
                    </m:sSub>
                    <m:r>
                      <a:rPr lang="en-US" altLang="zh-CN" sz="2000" b="0" i="1" smtClean="0">
                        <a:latin typeface="Cambria Math" panose="02040503050406030204" pitchFamily="18" charset="0"/>
                        <a:ea typeface="黑体" panose="02010609060101010101" pitchFamily="49" charset="-122"/>
                      </a:rPr>
                      <m:t>)</m:t>
                    </m:r>
                    <m:r>
                      <a:rPr lang="en-US" altLang="zh-CN" sz="2000" i="1" smtClean="0">
                        <a:latin typeface="Cambria Math" panose="02040503050406030204" pitchFamily="18" charset="0"/>
                        <a:ea typeface="黑体" panose="02010609060101010101" pitchFamily="49" charset="-122"/>
                      </a:rPr>
                      <m:t> </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值越小，表示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和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1" i="0" smtClean="0">
                            <a:latin typeface="Cambria Math"/>
                            <a:ea typeface="黑体" panose="02010609060101010101" pitchFamily="49" charset="-122"/>
                          </a:rPr>
                          <m:t>𝐱</m:t>
                        </m:r>
                      </m:e>
                      <m:sub>
                        <m:r>
                          <a:rPr lang="en-US" altLang="zh-CN" sz="2000" b="0" i="1" smtClean="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越相似；反之越不相似</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324000" lvl="1" indent="-324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聚类集合数目 </a:t>
                </a:r>
                <a14:m>
                  <m:oMath xmlns:m="http://schemas.openxmlformats.org/officeDocument/2006/math">
                    <m:r>
                      <a:rPr lang="en-US" altLang="zh-CN" sz="2000" b="0" i="1" smtClean="0">
                        <a:latin typeface="Cambria Math"/>
                        <a:ea typeface="黑体" panose="02010609060101010101" pitchFamily="49" charset="-122"/>
                      </a:rPr>
                      <m:t>𝑘</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0" lvl="1">
                  <a:spcBef>
                    <a:spcPts val="600"/>
                  </a:spcBef>
                </a:pPr>
                <a:r>
                  <a:rPr lang="zh-CN" altLang="en-US" sz="2000" dirty="0">
                    <a:latin typeface="Arial" panose="020B0604020202020204" pitchFamily="34" charset="0"/>
                    <a:ea typeface="黑体" panose="02010609060101010101" pitchFamily="49" charset="-122"/>
                    <a:cs typeface="Times New Roman" panose="02020603050405020304" pitchFamily="18" charset="0"/>
                  </a:rPr>
                  <a:t>问题：如何将</a:t>
                </a:r>
                <a14:m>
                  <m:oMath xmlns:m="http://schemas.openxmlformats.org/officeDocument/2006/math">
                    <m:r>
                      <a:rPr lang="en-US" altLang="zh-CN" sz="2000" b="0" i="1" smtClean="0">
                        <a:latin typeface="Cambria Math"/>
                        <a:ea typeface="黑体" panose="02010609060101010101" pitchFamily="49" charset="-122"/>
                      </a:rPr>
                      <m:t>𝑛</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个数据依据其相似度大小将它们分别聚类到</a:t>
                </a:r>
                <a14:m>
                  <m:oMath xmlns:m="http://schemas.openxmlformats.org/officeDocument/2006/math">
                    <m:r>
                      <a:rPr lang="en-US" altLang="zh-CN" sz="2000" b="0" i="1" smtClean="0">
                        <a:latin typeface="Cambria Math"/>
                        <a:ea typeface="黑体" panose="02010609060101010101" pitchFamily="49" charset="-122"/>
                      </a:rPr>
                      <m:t>𝑘</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个集合，使得每个数据仅属于一个聚类集合。</a:t>
                </a:r>
              </a:p>
            </p:txBody>
          </p:sp>
        </mc:Choice>
        <mc:Fallback xmlns="">
          <p:sp>
            <p:nvSpPr>
              <p:cNvPr id="5" name="矩形 4">
                <a:extLst>
                  <a:ext uri="{FF2B5EF4-FFF2-40B4-BE49-F238E27FC236}">
                    <a16:creationId xmlns:a16="http://schemas.microsoft.com/office/drawing/2014/main" id="{A646FE5F-8BD6-668C-E044-C116E26D56A2}"/>
                  </a:ext>
                </a:extLst>
              </p:cNvPr>
              <p:cNvSpPr>
                <a:spLocks noRot="1" noChangeAspect="1" noMove="1" noResize="1" noEditPoints="1" noAdjustHandles="1" noChangeArrowheads="1" noChangeShapeType="1" noTextEdit="1"/>
              </p:cNvSpPr>
              <p:nvPr/>
            </p:nvSpPr>
            <p:spPr>
              <a:xfrm>
                <a:off x="112957" y="1925820"/>
                <a:ext cx="5255107" cy="4182427"/>
              </a:xfrm>
              <a:prstGeom prst="rect">
                <a:avLst/>
              </a:prstGeom>
              <a:blipFill>
                <a:blip r:embed="rId4"/>
                <a:stretch>
                  <a:fillRect l="-3016" t="-2187" r="-243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A33FE6A2-CB34-6D13-26F0-81FBEE0E1B88}"/>
                  </a:ext>
                </a:extLst>
              </p:cNvPr>
              <p:cNvSpPr txBox="1"/>
              <p:nvPr/>
            </p:nvSpPr>
            <p:spPr>
              <a:xfrm>
                <a:off x="5427235" y="1204270"/>
                <a:ext cx="2700170"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输出：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mn-cs"/>
                      </a:rPr>
                      <m:t>𝑘</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个聚类结果</a:t>
                </a:r>
                <a:endParaRPr lang="zh-CN" altLang="en-US" dirty="0"/>
              </a:p>
            </p:txBody>
          </p:sp>
        </mc:Choice>
        <mc:Fallback xmlns="">
          <p:sp>
            <p:nvSpPr>
              <p:cNvPr id="10" name="文本框 9">
                <a:extLst>
                  <a:ext uri="{FF2B5EF4-FFF2-40B4-BE49-F238E27FC236}">
                    <a16:creationId xmlns:a16="http://schemas.microsoft.com/office/drawing/2014/main" id="{A33FE6A2-CB34-6D13-26F0-81FBEE0E1B88}"/>
                  </a:ext>
                </a:extLst>
              </p:cNvPr>
              <p:cNvSpPr txBox="1">
                <a:spLocks noRot="1" noChangeAspect="1" noMove="1" noResize="1" noEditPoints="1" noAdjustHandles="1" noChangeArrowheads="1" noChangeShapeType="1" noTextEdit="1"/>
              </p:cNvSpPr>
              <p:nvPr/>
            </p:nvSpPr>
            <p:spPr>
              <a:xfrm>
                <a:off x="5427235" y="1204270"/>
                <a:ext cx="2700170" cy="307777"/>
              </a:xfrm>
              <a:prstGeom prst="rect">
                <a:avLst/>
              </a:prstGeom>
              <a:blipFill>
                <a:blip r:embed="rId5"/>
                <a:stretch>
                  <a:fillRect l="-5418" t="-30000" b="-48000"/>
                </a:stretch>
              </a:blipFill>
            </p:spPr>
            <p:txBody>
              <a:bodyPr/>
              <a:lstStyle/>
              <a:p>
                <a:r>
                  <a:rPr lang="zh-CN" altLang="en-US">
                    <a:noFill/>
                  </a:rPr>
                  <a:t> </a:t>
                </a:r>
              </a:p>
            </p:txBody>
          </p:sp>
        </mc:Fallback>
      </mc:AlternateContent>
      <p:sp>
        <p:nvSpPr>
          <p:cNvPr id="13" name="文本框 12">
            <a:extLst>
              <a:ext uri="{FF2B5EF4-FFF2-40B4-BE49-F238E27FC236}">
                <a16:creationId xmlns:a16="http://schemas.microsoft.com/office/drawing/2014/main" id="{F128AD61-5159-7F5D-A661-51CCC51E9E26}"/>
              </a:ext>
            </a:extLst>
          </p:cNvPr>
          <p:cNvSpPr txBox="1"/>
          <p:nvPr/>
        </p:nvSpPr>
        <p:spPr>
          <a:xfrm>
            <a:off x="112957" y="6252356"/>
            <a:ext cx="3531981" cy="307777"/>
          </a:xfrm>
          <a:prstGeom prst="rect">
            <a:avLst/>
          </a:prstGeom>
          <a:noFill/>
        </p:spPr>
        <p:txBody>
          <a:bodyPr wrap="square" lIns="0" tIns="0" rIns="0" bIns="0" rtlCol="0">
            <a:spAutoFit/>
          </a:bodyPr>
          <a:lstStyle/>
          <a:p>
            <a:r>
              <a:rPr lang="zh-CN" altLang="en-US" sz="2000" dirty="0"/>
              <a:t>应用：图像压缩、文本聚类等</a:t>
            </a:r>
          </a:p>
        </p:txBody>
      </p:sp>
      <p:sp>
        <p:nvSpPr>
          <p:cNvPr id="14" name="矩形 2">
            <a:extLst>
              <a:ext uri="{FF2B5EF4-FFF2-40B4-BE49-F238E27FC236}">
                <a16:creationId xmlns:a16="http://schemas.microsoft.com/office/drawing/2014/main" id="{B305FFA2-C055-A972-774D-D8347AA4EACE}"/>
              </a:ext>
            </a:extLst>
          </p:cNvPr>
          <p:cNvSpPr>
            <a:spLocks noChangeArrowheads="1"/>
          </p:cNvSpPr>
          <p:nvPr/>
        </p:nvSpPr>
        <p:spPr bwMode="auto">
          <a:xfrm>
            <a:off x="5368064" y="1870728"/>
            <a:ext cx="3662979" cy="13849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spAutoFit/>
          </a:bodyPr>
          <a:lstStyle>
            <a:lvl1pPr eaLnBrk="0" hangingPunct="0">
              <a:defRPr sz="2000">
                <a:solidFill>
                  <a:schemeClr val="tx1"/>
                </a:solidFill>
                <a:latin typeface="黑体" pitchFamily="49" charset="-122"/>
                <a:ea typeface="黑体" pitchFamily="49" charset="-122"/>
              </a:defRPr>
            </a:lvl1pPr>
            <a:lvl2pPr marL="742950" indent="-285750" eaLnBrk="0" hangingPunct="0">
              <a:defRPr sz="2000">
                <a:solidFill>
                  <a:schemeClr val="tx1"/>
                </a:solidFill>
                <a:latin typeface="黑体" pitchFamily="49" charset="-122"/>
                <a:ea typeface="黑体" pitchFamily="49" charset="-122"/>
              </a:defRPr>
            </a:lvl2pPr>
            <a:lvl3pPr marL="1143000" indent="-228600" eaLnBrk="0" hangingPunct="0">
              <a:defRPr sz="2000">
                <a:solidFill>
                  <a:schemeClr val="tx1"/>
                </a:solidFill>
                <a:latin typeface="黑体" pitchFamily="49" charset="-122"/>
                <a:ea typeface="黑体" pitchFamily="49" charset="-122"/>
              </a:defRPr>
            </a:lvl3pPr>
            <a:lvl4pPr marL="1600200" indent="-228600" eaLnBrk="0" hangingPunct="0">
              <a:defRPr sz="2000">
                <a:solidFill>
                  <a:schemeClr val="tx1"/>
                </a:solidFill>
                <a:latin typeface="黑体" pitchFamily="49" charset="-122"/>
                <a:ea typeface="黑体" pitchFamily="49" charset="-122"/>
              </a:defRPr>
            </a:lvl4pPr>
            <a:lvl5pPr marL="2057400" indent="-228600" eaLnBrk="0" hangingPunct="0">
              <a:defRPr sz="2000">
                <a:solidFill>
                  <a:schemeClr val="tx1"/>
                </a:solidFill>
                <a:latin typeface="黑体" pitchFamily="49" charset="-122"/>
                <a:ea typeface="黑体" pitchFamily="49" charset="-122"/>
              </a:defRPr>
            </a:lvl5pPr>
            <a:lvl6pPr marL="25146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6pPr>
            <a:lvl7pPr marL="29718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7pPr>
            <a:lvl8pPr marL="34290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8pPr>
            <a:lvl9pPr marL="3886200" indent="-228600" algn="ctr" eaLnBrk="0" fontAlgn="base" hangingPunct="0">
              <a:lnSpc>
                <a:spcPct val="90000"/>
              </a:lnSpc>
              <a:spcBef>
                <a:spcPct val="20000"/>
              </a:spcBef>
              <a:spcAft>
                <a:spcPct val="0"/>
              </a:spcAft>
              <a:buClr>
                <a:schemeClr val="bg2"/>
              </a:buClr>
              <a:buSzPct val="75000"/>
              <a:buFont typeface="Wingdings" pitchFamily="2" charset="2"/>
              <a:defRPr sz="2000">
                <a:solidFill>
                  <a:schemeClr val="tx1"/>
                </a:solidFill>
                <a:latin typeface="黑体" pitchFamily="49" charset="-122"/>
                <a:ea typeface="黑体" pitchFamily="49" charset="-122"/>
              </a:defRPr>
            </a:lvl9pPr>
          </a:lstStyle>
          <a:p>
            <a:pPr algn="just" eaLnBrk="1" hangingPunct="1"/>
            <a:r>
              <a:rPr lang="zh-CN" altLang="en-US" sz="1800" dirty="0">
                <a:solidFill>
                  <a:schemeClr val="accent2">
                    <a:lumMod val="75000"/>
                  </a:schemeClr>
                </a:solidFill>
                <a:latin typeface="Arial" panose="020B0604020202020204" pitchFamily="34" charset="0"/>
                <a:cs typeface="Times New Roman" panose="02020603050405020304" pitchFamily="18" charset="0"/>
              </a:rPr>
              <a:t>文本聚类：</a:t>
            </a:r>
            <a:r>
              <a:rPr lang="zh-CN" altLang="en-US" sz="1800" dirty="0">
                <a:latin typeface="Arial" panose="020B0604020202020204" pitchFamily="34" charset="0"/>
                <a:cs typeface="Times New Roman" panose="02020603050405020304" pitchFamily="18" charset="0"/>
              </a:rPr>
              <a:t>将</a:t>
            </a:r>
            <a:r>
              <a:rPr lang="en-US" altLang="zh-CN" sz="1800" dirty="0">
                <a:latin typeface="Arial" panose="020B0604020202020204" pitchFamily="34" charset="0"/>
                <a:cs typeface="Times New Roman" panose="02020603050405020304" pitchFamily="18" charset="0"/>
              </a:rPr>
              <a:t>200</a:t>
            </a:r>
            <a:r>
              <a:rPr lang="zh-CN" altLang="en-US" sz="1800" dirty="0">
                <a:latin typeface="Arial" panose="020B0604020202020204" pitchFamily="34" charset="0"/>
                <a:cs typeface="Times New Roman" panose="02020603050405020304" pitchFamily="18" charset="0"/>
              </a:rPr>
              <a:t>多万篇论文聚类到</a:t>
            </a:r>
            <a:r>
              <a:rPr lang="en-US" altLang="zh-CN" sz="1800" dirty="0">
                <a:latin typeface="Arial" panose="020B0604020202020204" pitchFamily="34" charset="0"/>
                <a:cs typeface="Times New Roman" panose="02020603050405020304" pitchFamily="18" charset="0"/>
              </a:rPr>
              <a:t>29,000</a:t>
            </a:r>
            <a:r>
              <a:rPr lang="zh-CN" altLang="en-US" sz="1800" dirty="0">
                <a:latin typeface="Arial" panose="020B0604020202020204" pitchFamily="34" charset="0"/>
                <a:cs typeface="Times New Roman" panose="02020603050405020304" pitchFamily="18" charset="0"/>
              </a:rPr>
              <a:t>个类别，包括化学、工程、生物、传染疾病、生物信息、脑科学、社会科学、计算机科学等及给出了每个类别中的代表单词</a:t>
            </a:r>
            <a:endParaRPr lang="en-US" altLang="zh-CN" dirty="0">
              <a:latin typeface="Arial" panose="020B0604020202020204" pitchFamily="34" charset="0"/>
              <a:cs typeface="Times New Roman" panose="02020603050405020304" pitchFamily="18" charset="0"/>
            </a:endParaRPr>
          </a:p>
        </p:txBody>
      </p:sp>
    </p:spTree>
    <p:extLst>
      <p:ext uri="{BB962C8B-B14F-4D97-AF65-F5344CB8AC3E}">
        <p14:creationId xmlns:p14="http://schemas.microsoft.com/office/powerpoint/2010/main" val="343215456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圆角矩形 13">
            <a:extLst>
              <a:ext uri="{FF2B5EF4-FFF2-40B4-BE49-F238E27FC236}">
                <a16:creationId xmlns:a16="http://schemas.microsoft.com/office/drawing/2014/main" id="{6F925F08-9AC3-DFC6-F4E2-48C476F15406}"/>
              </a:ext>
            </a:extLst>
          </p:cNvPr>
          <p:cNvSpPr/>
          <p:nvPr/>
        </p:nvSpPr>
        <p:spPr bwMode="auto">
          <a:xfrm>
            <a:off x="274543" y="1223689"/>
            <a:ext cx="3606682" cy="41967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defTabSz="914400" eaLnBrk="1" fontAlgn="base" latinLnBrk="0" hangingPunct="1">
              <a:buClr>
                <a:srgbClr val="FF0000"/>
              </a:buClr>
              <a:buSzTx/>
              <a:tabLst/>
              <a:defRPr/>
            </a:pPr>
            <a:r>
              <a:rPr kumimoji="0" lang="zh-CN" altLang="en-US" sz="200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第一步：初始化聚类质心</a:t>
            </a:r>
            <a:endParaRPr kumimoji="0" lang="en-US" altLang="zh-CN" sz="200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40B3BD28-7923-358C-E324-D4E4D2C39A83}"/>
                  </a:ext>
                </a:extLst>
              </p:cNvPr>
              <p:cNvSpPr/>
              <p:nvPr/>
            </p:nvSpPr>
            <p:spPr>
              <a:xfrm>
                <a:off x="352424" y="1722920"/>
                <a:ext cx="8361269" cy="664926"/>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初始化</a:t>
                </a:r>
                <a14:m>
                  <m:oMath xmlns:m="http://schemas.openxmlformats.org/officeDocument/2006/math">
                    <m:r>
                      <a:rPr lang="en-US" altLang="zh-CN" sz="2000" b="0" i="1" smtClean="0">
                        <a:latin typeface="Cambria Math"/>
                        <a:ea typeface="黑体" panose="02010609060101010101" pitchFamily="49" charset="-122"/>
                      </a:rPr>
                      <m:t>𝑘</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个聚类质心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r>
                          <a:rPr lang="en-US" altLang="zh-CN" sz="2000" b="0" i="1" smtClean="0">
                            <a:latin typeface="Cambria Math"/>
                            <a:ea typeface="黑体" panose="02010609060101010101" pitchFamily="49" charset="-122"/>
                          </a:rPr>
                          <m:t>={</m:t>
                        </m:r>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1</m:t>
                        </m:r>
                      </m:sub>
                    </m:sSub>
                    <m:r>
                      <a:rPr lang="en-US" altLang="zh-CN" sz="2000" b="0" i="1" smtClean="0">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2</m:t>
                        </m:r>
                      </m:sub>
                    </m:sSub>
                    <m:r>
                      <a:rPr lang="en-US" altLang="zh-CN" sz="2000" b="0" i="1" smtClean="0">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𝑘</m:t>
                        </m:r>
                      </m:sub>
                    </m:sSub>
                    <m:r>
                      <a:rPr lang="en-US" altLang="zh-CN" sz="2000" b="0" i="1" smtClean="0">
                        <a:latin typeface="Cambria Math"/>
                        <a:ea typeface="黑体" panose="02010609060101010101" pitchFamily="49" charset="-122"/>
                      </a:rPr>
                      <m:t>}</m:t>
                    </m:r>
                    <m:r>
                      <a:rPr lang="en-US" altLang="zh-CN" sz="2000" b="0" i="0" smtClean="0">
                        <a:latin typeface="Cambria Math" panose="02040503050406030204" pitchFamily="18" charset="0"/>
                        <a:ea typeface="黑体" panose="02010609060101010101" pitchFamily="49" charset="-122"/>
                      </a:rPr>
                      <m:t>, </m:t>
                    </m:r>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𝑐</m:t>
                        </m:r>
                      </m:e>
                      <m:sub>
                        <m:r>
                          <a:rPr lang="en-US" altLang="zh-CN" sz="2000" b="0" i="1" dirty="0" smtClean="0">
                            <a:latin typeface="Cambria Math"/>
                            <a:ea typeface="黑体" panose="02010609060101010101" pitchFamily="49" charset="-122"/>
                          </a:rPr>
                          <m:t>𝑗</m:t>
                        </m:r>
                      </m:sub>
                    </m:sSub>
                    <m:r>
                      <a:rPr lang="en-US" altLang="zh-CN" sz="2000" b="0" i="1" dirty="0" smtClean="0">
                        <a:latin typeface="Cambria Math"/>
                        <a:ea typeface="Cambria Math"/>
                      </a:rPr>
                      <m:t>∈</m:t>
                    </m:r>
                    <m:sSup>
                      <m:sSupPr>
                        <m:ctrlPr>
                          <a:rPr lang="en-US" altLang="zh-CN" sz="2000" i="1" dirty="0">
                            <a:latin typeface="Cambria Math" panose="02040503050406030204" pitchFamily="18" charset="0"/>
                            <a:ea typeface="Cambria Math"/>
                          </a:rPr>
                        </m:ctrlPr>
                      </m:sSupPr>
                      <m:e>
                        <m:r>
                          <a:rPr lang="en-US" altLang="zh-CN" sz="2000" b="0" i="1" dirty="0" smtClean="0">
                            <a:latin typeface="Cambria Math"/>
                            <a:ea typeface="Cambria Math"/>
                          </a:rPr>
                          <m:t>𝑅</m:t>
                        </m:r>
                      </m:e>
                      <m:sup>
                        <m:r>
                          <a:rPr lang="en-US" altLang="zh-CN" sz="2000" b="0" i="1" dirty="0" smtClean="0">
                            <a:latin typeface="Cambria Math"/>
                            <a:ea typeface="Cambria Math"/>
                          </a:rPr>
                          <m:t>𝑚</m:t>
                        </m:r>
                      </m:sup>
                    </m:sSup>
                    <m:r>
                      <a:rPr lang="en-US" altLang="zh-CN" sz="2000" b="0" i="1" dirty="0" smtClean="0">
                        <a:latin typeface="Cambria Math"/>
                        <a:ea typeface="Cambria Math"/>
                      </a:rPr>
                      <m:t>(1≤</m:t>
                    </m:r>
                    <m:r>
                      <a:rPr lang="en-US" altLang="zh-CN" sz="2000" b="0" i="1" dirty="0" smtClean="0">
                        <a:latin typeface="Cambria Math"/>
                        <a:ea typeface="Cambria Math"/>
                      </a:rPr>
                      <m:t>𝑗</m:t>
                    </m:r>
                    <m:r>
                      <a:rPr lang="en-US" altLang="zh-CN" sz="2000" b="0" i="1" dirty="0" smtClean="0">
                        <a:latin typeface="Cambria Math"/>
                        <a:ea typeface="Cambria Math"/>
                      </a:rPr>
                      <m:t>≤</m:t>
                    </m:r>
                    <m:r>
                      <a:rPr lang="en-US" altLang="zh-CN" sz="2000" b="0" i="1" dirty="0" smtClean="0">
                        <a:latin typeface="Cambria Math"/>
                        <a:ea typeface="Cambria Math"/>
                      </a:rPr>
                      <m:t>𝑘</m:t>
                    </m:r>
                    <m:r>
                      <a:rPr lang="en-US" altLang="zh-CN" sz="2000" b="0" i="1" dirty="0" smtClean="0">
                        <a:latin typeface="Cambria Math"/>
                        <a:ea typeface="Cambria Math"/>
                      </a:rPr>
                      <m:t>)</m:t>
                    </m:r>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每个聚类质心</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𝑐</m:t>
                        </m:r>
                      </m:e>
                      <m:sub>
                        <m:r>
                          <a:rPr lang="en-US" altLang="zh-CN" sz="2000" b="0" i="1" dirty="0" smtClean="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所在集合记为</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b="0" i="1" dirty="0" smtClean="0">
                            <a:latin typeface="Cambria Math"/>
                            <a:ea typeface="黑体" panose="02010609060101010101" pitchFamily="49" charset="-122"/>
                          </a:rPr>
                          <m:t>𝐺</m:t>
                        </m:r>
                      </m:e>
                      <m:sub>
                        <m:r>
                          <a:rPr lang="en-US" altLang="zh-CN" sz="2000" b="0" i="1" dirty="0" smtClean="0">
                            <a:latin typeface="Cambria Math"/>
                            <a:ea typeface="黑体" panose="02010609060101010101" pitchFamily="49" charset="-122"/>
                          </a:rPr>
                          <m:t>𝑗</m:t>
                        </m:r>
                      </m:sub>
                    </m:sSub>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40B3BD28-7923-358C-E324-D4E4D2C39A83}"/>
                  </a:ext>
                </a:extLst>
              </p:cNvPr>
              <p:cNvSpPr>
                <a:spLocks noRot="1" noChangeAspect="1" noMove="1" noResize="1" noEditPoints="1" noAdjustHandles="1" noChangeArrowheads="1" noChangeShapeType="1" noTextEdit="1"/>
              </p:cNvSpPr>
              <p:nvPr/>
            </p:nvSpPr>
            <p:spPr>
              <a:xfrm>
                <a:off x="352424" y="1722920"/>
                <a:ext cx="8361269" cy="664926"/>
              </a:xfrm>
              <a:prstGeom prst="rect">
                <a:avLst/>
              </a:prstGeom>
              <a:blipFill>
                <a:blip r:embed="rId2"/>
                <a:stretch>
                  <a:fillRect l="-1896" t="-14679" b="-15596"/>
                </a:stretch>
              </a:blipFill>
            </p:spPr>
            <p:txBody>
              <a:bodyPr/>
              <a:lstStyle/>
              <a:p>
                <a:r>
                  <a:rPr lang="zh-CN" altLang="en-US">
                    <a:noFill/>
                  </a:rPr>
                  <a:t> </a:t>
                </a:r>
              </a:p>
            </p:txBody>
          </p:sp>
        </mc:Fallback>
      </mc:AlternateContent>
      <p:sp>
        <p:nvSpPr>
          <p:cNvPr id="7" name="圆角矩形 13">
            <a:extLst>
              <a:ext uri="{FF2B5EF4-FFF2-40B4-BE49-F238E27FC236}">
                <a16:creationId xmlns:a16="http://schemas.microsoft.com/office/drawing/2014/main" id="{52FD3418-F89F-DCDA-8723-FFDC1B0C8D4F}"/>
              </a:ext>
            </a:extLst>
          </p:cNvPr>
          <p:cNvSpPr/>
          <p:nvPr/>
        </p:nvSpPr>
        <p:spPr bwMode="auto">
          <a:xfrm>
            <a:off x="304395" y="2476926"/>
            <a:ext cx="6835658" cy="48942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第二步：将每个待聚类数据放入一个聚类集合中</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8" name="矩形 7">
                <a:extLst>
                  <a:ext uri="{FF2B5EF4-FFF2-40B4-BE49-F238E27FC236}">
                    <a16:creationId xmlns:a16="http://schemas.microsoft.com/office/drawing/2014/main" id="{D465C236-DA56-857D-6AD4-4CBBF65E8428}"/>
                  </a:ext>
                </a:extLst>
              </p:cNvPr>
              <p:cNvSpPr/>
              <p:nvPr/>
            </p:nvSpPr>
            <p:spPr>
              <a:xfrm>
                <a:off x="274543" y="3032757"/>
                <a:ext cx="8439150" cy="882101"/>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rPr>
                  <a:t>计算待聚类数据</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𝑥</m:t>
                        </m:r>
                      </m:e>
                      <m:sub>
                        <m:r>
                          <a:rPr lang="en-US" altLang="zh-CN" sz="2000" i="1" dirty="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rPr>
                  <a:t>和质心</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𝑐</m:t>
                        </m:r>
                      </m:e>
                      <m:sub>
                        <m:r>
                          <a:rPr lang="en-US" altLang="zh-CN" sz="2000" i="1" dirty="0">
                            <a:latin typeface="Cambria Math"/>
                            <a:ea typeface="黑体" panose="02010609060101010101" pitchFamily="49" charset="-122"/>
                          </a:rPr>
                          <m:t>𝑗</m:t>
                        </m:r>
                      </m:sub>
                    </m:sSub>
                  </m:oMath>
                </a14:m>
                <a:r>
                  <a:rPr lang="zh-CN" altLang="en-US" sz="2000" dirty="0">
                    <a:latin typeface="Arial" panose="020B0604020202020204" pitchFamily="34" charset="0"/>
                    <a:ea typeface="黑体" panose="02010609060101010101" pitchFamily="49" charset="-122"/>
                  </a:rPr>
                  <a:t>之间的欧氏距离</a:t>
                </a:r>
                <a14:m>
                  <m:oMath xmlns:m="http://schemas.openxmlformats.org/officeDocument/2006/math">
                    <m:r>
                      <a:rPr lang="en-US" altLang="zh-CN" sz="2000" b="0" i="1" smtClean="0">
                        <a:latin typeface="Cambria Math"/>
                        <a:ea typeface="黑体" panose="02010609060101010101" pitchFamily="49" charset="-122"/>
                      </a:rPr>
                      <m:t>𝑑</m:t>
                    </m:r>
                    <m:d>
                      <m:dPr>
                        <m:ctrlPr>
                          <a:rPr lang="en-US" altLang="zh-CN" sz="2000" i="1">
                            <a:latin typeface="Cambria Math" panose="02040503050406030204" pitchFamily="18" charset="0"/>
                            <a:ea typeface="黑体" panose="02010609060101010101" pitchFamily="49" charset="-122"/>
                          </a:rPr>
                        </m:ctrlPr>
                      </m:dPr>
                      <m:e>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a:ea typeface="黑体" panose="02010609060101010101" pitchFamily="49" charset="-122"/>
                              </a:rPr>
                              <m:t>𝑥</m:t>
                            </m:r>
                          </m:e>
                          <m:sub>
                            <m:r>
                              <a:rPr lang="en-US" altLang="zh-CN" sz="2000" i="1">
                                <a:latin typeface="Cambria Math"/>
                                <a:ea typeface="黑体" panose="02010609060101010101" pitchFamily="49" charset="-122"/>
                              </a:rPr>
                              <m:t>𝑖</m:t>
                            </m:r>
                          </m:sub>
                        </m:sSub>
                        <m:r>
                          <a:rPr lang="en-US" altLang="zh-CN" sz="2000" i="1">
                            <a:latin typeface="Cambria Math"/>
                            <a:ea typeface="黑体" panose="02010609060101010101" pitchFamily="49" charset="-122"/>
                          </a:rPr>
                          <m:t>,</m:t>
                        </m:r>
                        <m:sSub>
                          <m:sSubPr>
                            <m:ctrlPr>
                              <a:rPr lang="en-US" altLang="zh-CN" sz="2000" i="1">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i="1">
                                <a:latin typeface="Cambria Math"/>
                                <a:ea typeface="黑体" panose="02010609060101010101" pitchFamily="49" charset="-122"/>
                              </a:rPr>
                              <m:t>𝑗</m:t>
                            </m:r>
                          </m:sub>
                        </m:sSub>
                      </m:e>
                    </m:d>
                    <m:r>
                      <a:rPr lang="en-US" altLang="zh-CN" sz="2000" i="1">
                        <a:latin typeface="Cambria Math"/>
                        <a:ea typeface="黑体" panose="02010609060101010101" pitchFamily="49" charset="-122"/>
                      </a:rPr>
                      <m:t> </m:t>
                    </m:r>
                    <m:d>
                      <m:dPr>
                        <m:ctrlPr>
                          <a:rPr lang="en-US" altLang="zh-CN" sz="2000" b="0" i="1" dirty="0" smtClean="0">
                            <a:latin typeface="Cambria Math" panose="02040503050406030204" pitchFamily="18" charset="0"/>
                            <a:ea typeface="Cambria Math"/>
                          </a:rPr>
                        </m:ctrlPr>
                      </m:dPr>
                      <m:e>
                        <m:r>
                          <a:rPr lang="en-US" altLang="zh-CN" sz="2000" b="0" i="1" dirty="0" smtClean="0">
                            <a:latin typeface="Cambria Math"/>
                            <a:ea typeface="Cambria Math"/>
                          </a:rPr>
                          <m:t>1≤</m:t>
                        </m:r>
                        <m:r>
                          <a:rPr lang="en-US" altLang="zh-CN" sz="2000" b="0" i="1" dirty="0" smtClean="0">
                            <a:latin typeface="Cambria Math"/>
                            <a:ea typeface="Cambria Math"/>
                          </a:rPr>
                          <m:t>𝑖</m:t>
                        </m:r>
                        <m:r>
                          <a:rPr lang="en-US" altLang="zh-CN" sz="2000" b="0" i="1" dirty="0" smtClean="0">
                            <a:latin typeface="Cambria Math"/>
                            <a:ea typeface="Cambria Math"/>
                          </a:rPr>
                          <m:t>≤</m:t>
                        </m:r>
                        <m:r>
                          <a:rPr lang="en-US" altLang="zh-CN" sz="2000" b="0" i="1" dirty="0" smtClean="0">
                            <a:latin typeface="Cambria Math"/>
                            <a:ea typeface="Cambria Math"/>
                          </a:rPr>
                          <m:t>𝑛</m:t>
                        </m:r>
                        <m:r>
                          <a:rPr lang="en-US" altLang="zh-CN" sz="2000" b="0" i="1" dirty="0" smtClean="0">
                            <a:latin typeface="Cambria Math"/>
                            <a:ea typeface="Cambria Math"/>
                          </a:rPr>
                          <m:t>,1≤</m:t>
                        </m:r>
                        <m:r>
                          <a:rPr lang="en-US" altLang="zh-CN" sz="2000" b="0" i="1" dirty="0" smtClean="0">
                            <a:latin typeface="Cambria Math"/>
                            <a:ea typeface="Cambria Math"/>
                          </a:rPr>
                          <m:t>𝑗</m:t>
                        </m:r>
                        <m:r>
                          <a:rPr lang="en-US" altLang="zh-CN" sz="2000" i="1" dirty="0">
                            <a:latin typeface="Cambria Math"/>
                            <a:ea typeface="Cambria Math"/>
                          </a:rPr>
                          <m:t>≤</m:t>
                        </m:r>
                        <m:r>
                          <a:rPr lang="en-US" altLang="zh-CN" sz="2000" b="0" i="1" dirty="0" smtClean="0">
                            <a:latin typeface="Cambria Math"/>
                            <a:ea typeface="Cambria Math"/>
                          </a:rPr>
                          <m:t>𝑘</m:t>
                        </m:r>
                      </m:e>
                    </m:d>
                  </m:oMath>
                </a14:m>
                <a:endParaRPr lang="en-US" altLang="zh-CN" sz="2000" dirty="0">
                  <a:latin typeface="Arial" panose="020B0604020202020204" pitchFamily="34" charset="0"/>
                  <a:ea typeface="黑体" panose="02010609060101010101" pitchFamily="49" charset="-122"/>
                </a:endParaRPr>
              </a:p>
              <a:p>
                <a:pPr marL="0" lvl="1"/>
                <a:r>
                  <a:rPr lang="zh-CN" altLang="en-US" sz="2000" dirty="0">
                    <a:latin typeface="Arial" panose="020B0604020202020204" pitchFamily="34" charset="0"/>
                    <a:ea typeface="黑体" panose="02010609060101010101" pitchFamily="49" charset="-122"/>
                    <a:cs typeface="Times New Roman" panose="02020603050405020304" pitchFamily="18" charset="0"/>
                  </a:rPr>
                  <a:t>将每个</a:t>
                </a:r>
                <a14:m>
                  <m:oMath xmlns:m="http://schemas.openxmlformats.org/officeDocument/2006/math">
                    <m:sSub>
                      <m:sSubPr>
                        <m:ctrlPr>
                          <a:rPr lang="en-US" altLang="zh-CN" sz="2000" i="1" dirty="0">
                            <a:latin typeface="Cambria Math" panose="02040503050406030204" pitchFamily="18" charset="0"/>
                            <a:ea typeface="黑体" panose="02010609060101010101" pitchFamily="49" charset="-122"/>
                          </a:rPr>
                        </m:ctrlPr>
                      </m:sSubPr>
                      <m:e>
                        <m:r>
                          <a:rPr lang="en-US" altLang="zh-CN" sz="2000" i="1" dirty="0">
                            <a:latin typeface="Cambria Math"/>
                            <a:ea typeface="黑体" panose="02010609060101010101" pitchFamily="49" charset="-122"/>
                          </a:rPr>
                          <m:t>𝑥</m:t>
                        </m:r>
                      </m:e>
                      <m:sub>
                        <m:r>
                          <a:rPr lang="en-US" altLang="zh-CN" sz="2000" i="1" dirty="0">
                            <a:latin typeface="Cambria Math"/>
                            <a:ea typeface="黑体" panose="02010609060101010101" pitchFamily="49" charset="-122"/>
                          </a:rPr>
                          <m:t>𝑖</m:t>
                        </m:r>
                      </m:sub>
                    </m:sSub>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放入与之距离最近聚类质心所在聚类集合中，即</a:t>
                </a:r>
                <a14:m>
                  <m:oMath xmlns:m="http://schemas.openxmlformats.org/officeDocument/2006/math">
                    <m:func>
                      <m:funcPr>
                        <m:ctrlPr>
                          <a:rPr lang="en-US" altLang="zh-CN" sz="2000" i="1" smtClean="0">
                            <a:latin typeface="Cambria Math" panose="02040503050406030204" pitchFamily="18" charset="0"/>
                            <a:ea typeface="黑体" panose="02010609060101010101" pitchFamily="49" charset="-122"/>
                          </a:rPr>
                        </m:ctrlPr>
                      </m:funcPr>
                      <m:fName>
                        <m:limLow>
                          <m:limLowPr>
                            <m:ctrlPr>
                              <a:rPr lang="en-US" altLang="zh-CN" sz="2000" i="1" smtClean="0">
                                <a:latin typeface="Cambria Math" panose="02040503050406030204" pitchFamily="18" charset="0"/>
                                <a:ea typeface="黑体" panose="02010609060101010101" pitchFamily="49" charset="-122"/>
                              </a:rPr>
                            </m:ctrlPr>
                          </m:limLowPr>
                          <m:e>
                            <m:r>
                              <a:rPr lang="en-US" altLang="zh-CN" sz="2000" b="0" i="0" smtClean="0">
                                <a:latin typeface="Cambria Math"/>
                                <a:ea typeface="黑体" panose="02010609060101010101" pitchFamily="49" charset="-122"/>
                              </a:rPr>
                              <m:t>  </m:t>
                            </m:r>
                            <m:r>
                              <m:rPr>
                                <m:sty m:val="p"/>
                              </m:rPr>
                              <a:rPr lang="en-US" altLang="zh-CN" sz="2000" b="0" i="0" smtClean="0">
                                <a:latin typeface="Cambria Math"/>
                                <a:ea typeface="黑体" panose="02010609060101010101" pitchFamily="49" charset="-122"/>
                              </a:rPr>
                              <m:t>argmin</m:t>
                            </m:r>
                          </m:e>
                          <m:lim>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𝑗</m:t>
                                </m:r>
                                <m:r>
                                  <a:rPr lang="en-US" altLang="zh-CN" sz="2000" b="0" i="1" smtClean="0">
                                    <a:latin typeface="Cambria Math"/>
                                    <a:ea typeface="Cambria Math"/>
                                  </a:rPr>
                                  <m:t>∈</m:t>
                                </m:r>
                                <m:r>
                                  <a:rPr lang="en-US" altLang="zh-CN" sz="2000" b="0" i="1" smtClean="0">
                                    <a:latin typeface="Cambria Math"/>
                                    <a:ea typeface="Cambria Math"/>
                                  </a:rPr>
                                  <m:t>𝐶</m:t>
                                </m:r>
                              </m:sub>
                            </m:sSub>
                          </m:lim>
                        </m:limLow>
                      </m:fName>
                      <m:e>
                        <m:r>
                          <a:rPr lang="en-US" altLang="zh-CN" sz="2000" b="0" i="1" smtClean="0">
                            <a:latin typeface="Cambria Math"/>
                            <a:ea typeface="黑体" panose="02010609060101010101" pitchFamily="49" charset="-122"/>
                          </a:rPr>
                          <m:t>𝑑</m:t>
                        </m:r>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𝑐</m:t>
                            </m:r>
                          </m:e>
                          <m:sub>
                            <m:r>
                              <a:rPr lang="en-US" altLang="zh-CN" sz="2000" b="0" i="1" smtClean="0">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e>
                    </m:func>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8" name="矩形 7">
                <a:extLst>
                  <a:ext uri="{FF2B5EF4-FFF2-40B4-BE49-F238E27FC236}">
                    <a16:creationId xmlns:a16="http://schemas.microsoft.com/office/drawing/2014/main" id="{D465C236-DA56-857D-6AD4-4CBBF65E8428}"/>
                  </a:ext>
                </a:extLst>
              </p:cNvPr>
              <p:cNvSpPr>
                <a:spLocks noRot="1" noChangeAspect="1" noMove="1" noResize="1" noEditPoints="1" noAdjustHandles="1" noChangeArrowheads="1" noChangeShapeType="1" noTextEdit="1"/>
              </p:cNvSpPr>
              <p:nvPr/>
            </p:nvSpPr>
            <p:spPr>
              <a:xfrm>
                <a:off x="274543" y="3032757"/>
                <a:ext cx="8439150" cy="882101"/>
              </a:xfrm>
              <a:prstGeom prst="rect">
                <a:avLst/>
              </a:prstGeom>
              <a:blipFill>
                <a:blip r:embed="rId3"/>
                <a:stretch>
                  <a:fillRect l="-1806" t="-8276" b="-8276"/>
                </a:stretch>
              </a:blipFill>
            </p:spPr>
            <p:txBody>
              <a:bodyPr/>
              <a:lstStyle/>
              <a:p>
                <a:r>
                  <a:rPr lang="zh-CN" altLang="en-US">
                    <a:noFill/>
                  </a:rPr>
                  <a:t> </a:t>
                </a:r>
              </a:p>
            </p:txBody>
          </p:sp>
        </mc:Fallback>
      </mc:AlternateContent>
      <p:sp>
        <p:nvSpPr>
          <p:cNvPr id="10" name="圆角矩形 13">
            <a:extLst>
              <a:ext uri="{FF2B5EF4-FFF2-40B4-BE49-F238E27FC236}">
                <a16:creationId xmlns:a16="http://schemas.microsoft.com/office/drawing/2014/main" id="{769B22C7-BAA5-80AF-CD4E-28F43F25128C}"/>
              </a:ext>
            </a:extLst>
          </p:cNvPr>
          <p:cNvSpPr/>
          <p:nvPr/>
        </p:nvSpPr>
        <p:spPr bwMode="auto">
          <a:xfrm>
            <a:off x="304395" y="3938240"/>
            <a:ext cx="6835658" cy="472397"/>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第三步：根据聚类结果、更新聚类质心</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84A1FF32-1A8F-542C-0CF2-53E32E3F363E}"/>
                  </a:ext>
                </a:extLst>
              </p:cNvPr>
              <p:cNvSpPr/>
              <p:nvPr/>
            </p:nvSpPr>
            <p:spPr>
              <a:xfrm>
                <a:off x="274543" y="4449033"/>
                <a:ext cx="8673241" cy="507190"/>
              </a:xfrm>
              <a:prstGeom prst="rect">
                <a:avLst/>
              </a:prstGeom>
            </p:spPr>
            <p:txBody>
              <a:bodyPr wrap="square" lIns="0" tIns="0" rIns="0" bIns="0">
                <a:spAutoFit/>
              </a:bodyPr>
              <a:lstStyle/>
              <a:p>
                <a:pPr marL="0" lvl="1"/>
                <a:r>
                  <a:rPr lang="zh-CN" altLang="en-US" sz="2000" dirty="0">
                    <a:latin typeface="Arial" panose="020B0604020202020204" pitchFamily="34" charset="0"/>
                    <a:ea typeface="黑体" panose="02010609060101010101" pitchFamily="49" charset="-122"/>
                  </a:rPr>
                  <a:t>根据每个聚类集合中所包含的数据，更新该聚类集合质心值</a:t>
                </a:r>
                <a:r>
                  <a:rPr lang="en-US" altLang="zh-CN" sz="2000" dirty="0">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latin typeface="Cambria Math" panose="02040503050406030204" pitchFamily="18" charset="0"/>
                            <a:ea typeface="黑体" panose="02010609060101010101" pitchFamily="49" charset="-122"/>
                          </a:rPr>
                        </m:ctrlPr>
                      </m:sSubPr>
                      <m:e>
                        <m:r>
                          <a:rPr lang="en-US" altLang="zh-CN" sz="2000" i="1">
                            <a:latin typeface="Cambria Math"/>
                            <a:ea typeface="黑体" panose="02010609060101010101" pitchFamily="49" charset="-122"/>
                          </a:rPr>
                          <m:t>𝑐</m:t>
                        </m:r>
                      </m:e>
                      <m:sub>
                        <m:r>
                          <a:rPr lang="en-US" altLang="zh-CN" sz="2000" i="1">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f>
                      <m:fPr>
                        <m:ctrlPr>
                          <a:rPr lang="en-US" altLang="zh-CN" sz="2000" b="0" i="1" smtClean="0">
                            <a:latin typeface="Cambria Math" panose="02040503050406030204" pitchFamily="18" charset="0"/>
                            <a:ea typeface="黑体" panose="02010609060101010101" pitchFamily="49" charset="-122"/>
                          </a:rPr>
                        </m:ctrlPr>
                      </m:fPr>
                      <m:num>
                        <m:r>
                          <a:rPr lang="en-US" altLang="zh-CN" sz="2000" b="0" i="1" smtClean="0">
                            <a:latin typeface="Cambria Math"/>
                            <a:ea typeface="黑体" panose="02010609060101010101" pitchFamily="49" charset="-122"/>
                          </a:rPr>
                          <m:t>1</m:t>
                        </m:r>
                      </m:num>
                      <m:den>
                        <m:r>
                          <a:rPr lang="en-US" altLang="zh-CN" sz="2000" b="0" i="1" smtClean="0">
                            <a:latin typeface="Cambria Math"/>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𝐺</m:t>
                            </m:r>
                          </m:e>
                          <m:sub>
                            <m:r>
                              <a:rPr lang="en-US" altLang="zh-CN" sz="2000" b="0" i="1" smtClean="0">
                                <a:latin typeface="Cambria Math"/>
                                <a:ea typeface="黑体" panose="02010609060101010101" pitchFamily="49" charset="-122"/>
                              </a:rPr>
                              <m:t>𝑗</m:t>
                            </m:r>
                          </m:sub>
                        </m:sSub>
                        <m:r>
                          <a:rPr lang="en-US" altLang="zh-CN" sz="2000" b="0" i="1" smtClean="0">
                            <a:latin typeface="Cambria Math"/>
                            <a:ea typeface="黑体" panose="02010609060101010101" pitchFamily="49" charset="-122"/>
                          </a:rPr>
                          <m:t>|</m:t>
                        </m:r>
                      </m:den>
                    </m:f>
                    <m:nary>
                      <m:naryPr>
                        <m:chr m:val="∑"/>
                        <m:supHide m:val="on"/>
                        <m:ctrlPr>
                          <a:rPr lang="en-US" altLang="zh-CN" sz="2000" b="0" i="1" smtClean="0">
                            <a:latin typeface="Cambria Math" panose="02040503050406030204" pitchFamily="18" charset="0"/>
                            <a:ea typeface="黑体" panose="02010609060101010101" pitchFamily="49" charset="-122"/>
                          </a:rPr>
                        </m:ctrlPr>
                      </m:naryPr>
                      <m:sub>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r>
                          <m:rPr>
                            <m:brk m:alnAt="7"/>
                          </m:rPr>
                          <a:rPr lang="en-US" altLang="zh-CN" sz="2000" b="0" i="1" smtClean="0">
                            <a:latin typeface="Cambria Math"/>
                            <a:ea typeface="Cambria Math"/>
                          </a:rPr>
                          <m:t>∈</m:t>
                        </m:r>
                        <m:sSub>
                          <m:sSubPr>
                            <m:ctrlPr>
                              <a:rPr lang="en-US" altLang="zh-CN" sz="2000" b="0" i="1" smtClean="0">
                                <a:latin typeface="Cambria Math" panose="02040503050406030204" pitchFamily="18" charset="0"/>
                                <a:ea typeface="Cambria Math"/>
                              </a:rPr>
                            </m:ctrlPr>
                          </m:sSubPr>
                          <m:e>
                            <m:r>
                              <a:rPr lang="en-US" altLang="zh-CN" sz="2000" b="0" i="1" smtClean="0">
                                <a:latin typeface="Cambria Math"/>
                                <a:ea typeface="Cambria Math"/>
                              </a:rPr>
                              <m:t>𝐺</m:t>
                            </m:r>
                          </m:e>
                          <m:sub>
                            <m:r>
                              <a:rPr lang="en-US" altLang="zh-CN" sz="2000" b="0" i="1" smtClean="0">
                                <a:latin typeface="Cambria Math"/>
                                <a:ea typeface="Cambria Math"/>
                              </a:rPr>
                              <m:t>𝑗</m:t>
                            </m:r>
                          </m:sub>
                        </m:sSub>
                      </m:sub>
                      <m:sup/>
                      <m:e>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a:ea typeface="黑体" panose="02010609060101010101" pitchFamily="49" charset="-122"/>
                              </a:rPr>
                              <m:t>𝑥</m:t>
                            </m:r>
                          </m:e>
                          <m:sub>
                            <m:r>
                              <a:rPr lang="en-US" altLang="zh-CN" sz="2000" b="0" i="1" smtClean="0">
                                <a:latin typeface="Cambria Math"/>
                                <a:ea typeface="黑体" panose="02010609060101010101" pitchFamily="49" charset="-122"/>
                              </a:rPr>
                              <m:t>𝑖</m:t>
                            </m:r>
                          </m:sub>
                        </m:sSub>
                      </m:e>
                    </m:nary>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84A1FF32-1A8F-542C-0CF2-53E32E3F363E}"/>
                  </a:ext>
                </a:extLst>
              </p:cNvPr>
              <p:cNvSpPr>
                <a:spLocks noRot="1" noChangeAspect="1" noMove="1" noResize="1" noEditPoints="1" noAdjustHandles="1" noChangeArrowheads="1" noChangeShapeType="1" noTextEdit="1"/>
              </p:cNvSpPr>
              <p:nvPr/>
            </p:nvSpPr>
            <p:spPr>
              <a:xfrm>
                <a:off x="274543" y="4449033"/>
                <a:ext cx="8673241" cy="507190"/>
              </a:xfrm>
              <a:prstGeom prst="rect">
                <a:avLst/>
              </a:prstGeom>
              <a:blipFill>
                <a:blip r:embed="rId4"/>
                <a:stretch>
                  <a:fillRect l="-1757" t="-93976" r="-984" b="-127711"/>
                </a:stretch>
              </a:blipFill>
            </p:spPr>
            <p:txBody>
              <a:bodyPr/>
              <a:lstStyle/>
              <a:p>
                <a:r>
                  <a:rPr lang="zh-CN" altLang="en-US">
                    <a:noFill/>
                  </a:rPr>
                  <a:t> </a:t>
                </a:r>
              </a:p>
            </p:txBody>
          </p:sp>
        </mc:Fallback>
      </mc:AlternateContent>
      <p:sp>
        <p:nvSpPr>
          <p:cNvPr id="12" name="圆角矩形 13">
            <a:extLst>
              <a:ext uri="{FF2B5EF4-FFF2-40B4-BE49-F238E27FC236}">
                <a16:creationId xmlns:a16="http://schemas.microsoft.com/office/drawing/2014/main" id="{0EBCBCFA-F526-A853-6D29-BA84FD5DD1E3}"/>
              </a:ext>
            </a:extLst>
          </p:cNvPr>
          <p:cNvSpPr/>
          <p:nvPr/>
        </p:nvSpPr>
        <p:spPr bwMode="auto">
          <a:xfrm>
            <a:off x="274543" y="5048409"/>
            <a:ext cx="6835658" cy="469192"/>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第四步：算法循环迭代，直到满足条件</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13" name="矩形 12">
            <a:extLst>
              <a:ext uri="{FF2B5EF4-FFF2-40B4-BE49-F238E27FC236}">
                <a16:creationId xmlns:a16="http://schemas.microsoft.com/office/drawing/2014/main" id="{531D3A58-6CDC-A017-BB60-02C57B913A9A}"/>
              </a:ext>
            </a:extLst>
          </p:cNvPr>
          <p:cNvSpPr/>
          <p:nvPr/>
        </p:nvSpPr>
        <p:spPr>
          <a:xfrm>
            <a:off x="274543" y="5593314"/>
            <a:ext cx="5648326" cy="830997"/>
          </a:xfrm>
          <a:prstGeom prst="rect">
            <a:avLst/>
          </a:prstGeom>
        </p:spPr>
        <p:txBody>
          <a:bodyPr wrap="square" lIns="0" tIns="0" rIns="0" bIns="0">
            <a:spAutoFit/>
          </a:bodyPr>
          <a:lstStyle/>
          <a:p>
            <a:r>
              <a:rPr lang="zh-CN" altLang="en-US" dirty="0">
                <a:latin typeface="Arial" panose="020B0604020202020204" pitchFamily="34" charset="0"/>
                <a:ea typeface="黑体" panose="02010609060101010101" pitchFamily="49" charset="-122"/>
                <a:cs typeface="Times New Roman" panose="02020603050405020304" pitchFamily="18" charset="0"/>
              </a:rPr>
              <a:t>聚类迭代满足如下任意一个条件，则聚类停止：</a:t>
            </a:r>
            <a:endParaRPr lang="en-US" altLang="zh-CN" dirty="0">
              <a:latin typeface="Arial" panose="020B0604020202020204" pitchFamily="34" charset="0"/>
              <a:ea typeface="黑体" panose="02010609060101010101" pitchFamily="49" charset="-122"/>
              <a:cs typeface="Times New Roman" panose="02020603050405020304" pitchFamily="18" charset="0"/>
            </a:endParaRPr>
          </a:p>
          <a:p>
            <a:r>
              <a:rPr lang="zh-CN" altLang="en-US" dirty="0">
                <a:latin typeface="Malgun Gothic" panose="020B0503020000020004" pitchFamily="34" charset="-127"/>
                <a:ea typeface="Malgun Gothic" panose="020B0503020000020004" pitchFamily="34" charset="-127"/>
                <a:cs typeface="Times New Roman" panose="02020603050405020304" pitchFamily="18" charset="0"/>
              </a:rPr>
              <a:t>①</a:t>
            </a:r>
            <a:r>
              <a:rPr lang="zh-CN" altLang="en-US" dirty="0">
                <a:latin typeface="Arial" panose="020B0604020202020204" pitchFamily="34" charset="0"/>
                <a:ea typeface="黑体" panose="02010609060101010101" pitchFamily="49" charset="-122"/>
                <a:cs typeface="Times New Roman" panose="02020603050405020304" pitchFamily="18" charset="0"/>
              </a:rPr>
              <a:t>已经达到了迭代次数上限</a:t>
            </a:r>
            <a:endParaRPr lang="en-US" altLang="zh-CN" dirty="0">
              <a:latin typeface="Arial" panose="020B0604020202020204" pitchFamily="34" charset="0"/>
              <a:ea typeface="黑体" panose="02010609060101010101" pitchFamily="49" charset="-122"/>
              <a:cs typeface="Times New Roman" panose="02020603050405020304" pitchFamily="18" charset="0"/>
            </a:endParaRPr>
          </a:p>
          <a:p>
            <a:r>
              <a:rPr lang="zh-CN" altLang="en-US" dirty="0">
                <a:latin typeface="Malgun Gothic" panose="020B0503020000020004" pitchFamily="34" charset="-127"/>
                <a:ea typeface="Malgun Gothic" panose="020B0503020000020004" pitchFamily="34" charset="-127"/>
                <a:cs typeface="Times New Roman" panose="02020603050405020304" pitchFamily="18" charset="0"/>
              </a:rPr>
              <a:t>②</a:t>
            </a:r>
            <a:r>
              <a:rPr lang="zh-CN" altLang="en-US" dirty="0">
                <a:latin typeface="Arial" panose="020B0604020202020204" pitchFamily="34" charset="0"/>
                <a:ea typeface="黑体" panose="02010609060101010101" pitchFamily="49" charset="-122"/>
                <a:cs typeface="Times New Roman" panose="02020603050405020304" pitchFamily="18" charset="0"/>
              </a:rPr>
              <a:t>前后两次迭代中，聚类质心基本保持不变</a:t>
            </a:r>
          </a:p>
        </p:txBody>
      </p:sp>
      <p:sp>
        <p:nvSpPr>
          <p:cNvPr id="15" name="文本框 14">
            <a:extLst>
              <a:ext uri="{FF2B5EF4-FFF2-40B4-BE49-F238E27FC236}">
                <a16:creationId xmlns:a16="http://schemas.microsoft.com/office/drawing/2014/main" id="{8ADE7725-3ABD-9849-E009-07523348E483}"/>
              </a:ext>
            </a:extLst>
          </p:cNvPr>
          <p:cNvSpPr txBox="1"/>
          <p:nvPr/>
        </p:nvSpPr>
        <p:spPr>
          <a:xfrm>
            <a:off x="7385125" y="2536970"/>
            <a:ext cx="1524776" cy="400110"/>
          </a:xfrm>
          <a:prstGeom prst="rect">
            <a:avLst/>
          </a:prstGeom>
          <a:noFill/>
          <a:ln>
            <a:solidFill>
              <a:srgbClr val="00B050"/>
            </a:solidFill>
          </a:ln>
        </p:spPr>
        <p:txBody>
          <a:bodyPr wrap="none" rtlCol="0">
            <a:spAutoFit/>
          </a:bodyPr>
          <a:lstStyle/>
          <a:p>
            <a:r>
              <a:rPr lang="en-US" altLang="zh-CN" sz="2000" dirty="0">
                <a:latin typeface="Arial" panose="020B0604020202020204" pitchFamily="34" charset="0"/>
                <a:ea typeface="黑体" panose="02010609060101010101" pitchFamily="49" charset="-122"/>
              </a:rPr>
              <a:t>Expectation</a:t>
            </a:r>
            <a:endParaRPr lang="zh-CN" altLang="en-US" sz="2000" dirty="0">
              <a:latin typeface="Arial" panose="020B0604020202020204" pitchFamily="34" charset="0"/>
              <a:ea typeface="黑体" panose="02010609060101010101" pitchFamily="49" charset="-122"/>
            </a:endParaRPr>
          </a:p>
        </p:txBody>
      </p:sp>
      <p:sp>
        <p:nvSpPr>
          <p:cNvPr id="16" name="文本框 15">
            <a:extLst>
              <a:ext uri="{FF2B5EF4-FFF2-40B4-BE49-F238E27FC236}">
                <a16:creationId xmlns:a16="http://schemas.microsoft.com/office/drawing/2014/main" id="{EB92DD2D-3712-4DB6-618A-39E5D186D7BB}"/>
              </a:ext>
            </a:extLst>
          </p:cNvPr>
          <p:cNvSpPr txBox="1"/>
          <p:nvPr/>
        </p:nvSpPr>
        <p:spPr>
          <a:xfrm>
            <a:off x="7401261" y="3981269"/>
            <a:ext cx="1681871" cy="400110"/>
          </a:xfrm>
          <a:prstGeom prst="rect">
            <a:avLst/>
          </a:prstGeom>
          <a:noFill/>
          <a:ln>
            <a:solidFill>
              <a:srgbClr val="00B050"/>
            </a:solidFill>
          </a:ln>
        </p:spPr>
        <p:txBody>
          <a:bodyPr wrap="none" rtlCol="0">
            <a:spAutoFit/>
          </a:bodyPr>
          <a:lstStyle/>
          <a:p>
            <a:r>
              <a:rPr lang="en-US" altLang="zh-CN" sz="2000" dirty="0">
                <a:latin typeface="Arial" panose="020B0604020202020204" pitchFamily="34" charset="0"/>
                <a:ea typeface="黑体" panose="02010609060101010101" pitchFamily="49" charset="-122"/>
              </a:rPr>
              <a:t>Maximization</a:t>
            </a:r>
            <a:endParaRPr lang="zh-CN" altLang="en-US" sz="2000" dirty="0">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29010556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1" y="852610"/>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聚类的另一个视角</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4" name="椭圆形标注 20">
            <a:extLst>
              <a:ext uri="{FF2B5EF4-FFF2-40B4-BE49-F238E27FC236}">
                <a16:creationId xmlns:a16="http://schemas.microsoft.com/office/drawing/2014/main" id="{B402ED0F-D2C5-35F2-922B-3567E45B449E}"/>
              </a:ext>
            </a:extLst>
          </p:cNvPr>
          <p:cNvSpPr/>
          <p:nvPr/>
        </p:nvSpPr>
        <p:spPr>
          <a:xfrm>
            <a:off x="2071022" y="1747659"/>
            <a:ext cx="1134575" cy="704343"/>
          </a:xfrm>
          <a:prstGeom prst="wedgeEllipseCallout">
            <a:avLst>
              <a:gd name="adj1" fmla="val -19001"/>
              <a:gd name="adj2" fmla="val 80871"/>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algn="ctr"/>
            <a:endParaRPr lang="zh-CN" altLang="en-US"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14" name="TextBox 3">
                <a:extLst>
                  <a:ext uri="{FF2B5EF4-FFF2-40B4-BE49-F238E27FC236}">
                    <a16:creationId xmlns:a16="http://schemas.microsoft.com/office/drawing/2014/main" id="{7EC108FB-E013-C738-1DFC-992E9E64E039}"/>
                  </a:ext>
                </a:extLst>
              </p:cNvPr>
              <p:cNvSpPr txBox="1"/>
              <p:nvPr/>
            </p:nvSpPr>
            <p:spPr>
              <a:xfrm>
                <a:off x="350883" y="1641734"/>
                <a:ext cx="7089009" cy="911660"/>
              </a:xfrm>
              <a:prstGeom prst="rect">
                <a:avLst/>
              </a:prstGeom>
              <a:no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limLow>
                        <m:limLowPr>
                          <m:ctrlPr>
                            <a:rPr lang="en-US" altLang="zh-CN" sz="2000" i="1" smtClean="0">
                              <a:latin typeface="Cambria Math" panose="02040503050406030204" pitchFamily="18" charset="0"/>
                              <a:ea typeface="黑体" pitchFamily="49" charset="-122"/>
                            </a:rPr>
                          </m:ctrlPr>
                        </m:limLowPr>
                        <m:e>
                          <m:r>
                            <m:rPr>
                              <m:sty m:val="p"/>
                            </m:rPr>
                            <a:rPr lang="en-US" altLang="zh-CN" sz="2000" b="0" i="0" smtClean="0">
                              <a:latin typeface="Cambria Math"/>
                              <a:ea typeface="黑体" pitchFamily="49" charset="-122"/>
                            </a:rPr>
                            <m:t>arg</m:t>
                          </m:r>
                          <m:r>
                            <a:rPr lang="en-US" altLang="zh-CN" sz="2000" b="0" i="0" smtClean="0">
                              <a:latin typeface="Cambria Math"/>
                              <a:ea typeface="黑体" pitchFamily="49" charset="-122"/>
                            </a:rPr>
                            <m:t> </m:t>
                          </m:r>
                          <m:r>
                            <m:rPr>
                              <m:sty m:val="p"/>
                            </m:rPr>
                            <a:rPr lang="en-US" altLang="zh-CN" sz="2000" b="0" i="0" smtClean="0">
                              <a:latin typeface="Cambria Math"/>
                              <a:ea typeface="黑体" pitchFamily="49" charset="-122"/>
                            </a:rPr>
                            <m:t>min</m:t>
                          </m:r>
                        </m:e>
                        <m:lim>
                          <m:r>
                            <a:rPr lang="en-US" altLang="zh-CN" sz="2000" b="0" i="1" smtClean="0">
                              <a:latin typeface="Cambria Math"/>
                              <a:ea typeface="黑体" pitchFamily="49" charset="-122"/>
                            </a:rPr>
                            <m:t>𝐺</m:t>
                          </m:r>
                        </m:lim>
                      </m:limLow>
                      <m:nary>
                        <m:naryPr>
                          <m:chr m:val="∑"/>
                          <m:ctrlPr>
                            <a:rPr lang="en-US" altLang="zh-CN" sz="2000" i="1" smtClean="0">
                              <a:latin typeface="Cambria Math" panose="02040503050406030204" pitchFamily="18" charset="0"/>
                              <a:ea typeface="黑体" pitchFamily="49" charset="-122"/>
                            </a:rPr>
                          </m:ctrlPr>
                        </m:naryPr>
                        <m:sub>
                          <m:r>
                            <m:rPr>
                              <m:brk m:alnAt="23"/>
                            </m:rPr>
                            <a:rPr lang="en-US" altLang="zh-CN" sz="2000" b="0" i="1" smtClean="0">
                              <a:latin typeface="Cambria Math"/>
                              <a:ea typeface="黑体" pitchFamily="49" charset="-122"/>
                            </a:rPr>
                            <m:t>𝑖</m:t>
                          </m:r>
                          <m:r>
                            <a:rPr lang="en-US" altLang="zh-CN" sz="2000" b="0" i="1" smtClean="0">
                              <a:latin typeface="Cambria Math"/>
                              <a:ea typeface="黑体" pitchFamily="49" charset="-122"/>
                            </a:rPr>
                            <m:t>=1</m:t>
                          </m:r>
                        </m:sub>
                        <m:sup>
                          <m:r>
                            <a:rPr lang="en-US" altLang="zh-CN" sz="2000" b="0" i="1" smtClean="0">
                              <a:latin typeface="Cambria Math"/>
                              <a:ea typeface="黑体" pitchFamily="49" charset="-122"/>
                            </a:rPr>
                            <m:t>𝑘</m:t>
                          </m:r>
                        </m:sup>
                        <m:e>
                          <m:nary>
                            <m:naryPr>
                              <m:chr m:val="∑"/>
                              <m:supHide m:val="on"/>
                              <m:ctrlPr>
                                <a:rPr lang="en-US" altLang="zh-CN" sz="2000" i="1" smtClean="0">
                                  <a:latin typeface="Cambria Math" panose="02040503050406030204" pitchFamily="18" charset="0"/>
                                  <a:ea typeface="黑体" pitchFamily="49" charset="-122"/>
                                </a:rPr>
                              </m:ctrlPr>
                            </m:naryPr>
                            <m:sub>
                              <m:r>
                                <m:rPr>
                                  <m:brk m:alnAt="7"/>
                                </m:rPr>
                                <a:rPr lang="en-US" altLang="zh-CN" sz="2000" b="1" i="0" smtClean="0">
                                  <a:latin typeface="Cambria Math"/>
                                  <a:ea typeface="黑体" pitchFamily="49" charset="-122"/>
                                </a:rPr>
                                <m:t>𝐱</m:t>
                              </m:r>
                              <m:r>
                                <a:rPr lang="en-US" altLang="zh-CN" sz="2000" b="0" i="1" smtClean="0">
                                  <a:latin typeface="Cambria Math"/>
                                  <a:ea typeface="Cambria Math"/>
                                </a:rPr>
                                <m:t>∈</m:t>
                              </m:r>
                              <m:sSub>
                                <m:sSubPr>
                                  <m:ctrlPr>
                                    <a:rPr lang="en-US" altLang="zh-CN" sz="2000" i="1" smtClean="0">
                                      <a:latin typeface="Cambria Math" panose="02040503050406030204" pitchFamily="18" charset="0"/>
                                      <a:ea typeface="Cambria Math"/>
                                    </a:rPr>
                                  </m:ctrlPr>
                                </m:sSubPr>
                                <m:e>
                                  <m:r>
                                    <a:rPr lang="en-US" altLang="zh-CN" sz="2000" b="0" i="1" smtClean="0">
                                      <a:latin typeface="Cambria Math"/>
                                      <a:ea typeface="Cambria Math"/>
                                    </a:rPr>
                                    <m:t>𝐺</m:t>
                                  </m:r>
                                </m:e>
                                <m:sub>
                                  <m:r>
                                    <a:rPr lang="en-US" altLang="zh-CN" sz="2000" b="0" i="1" smtClean="0">
                                      <a:latin typeface="Cambria Math"/>
                                      <a:ea typeface="Cambria Math"/>
                                    </a:rPr>
                                    <m:t>𝑖</m:t>
                                  </m:r>
                                </m:sub>
                              </m:sSub>
                            </m:sub>
                            <m:sup/>
                            <m:e>
                              <m:sSup>
                                <m:sSupPr>
                                  <m:ctrlPr>
                                    <a:rPr lang="en-US" altLang="zh-CN" sz="2000" i="1" smtClean="0">
                                      <a:latin typeface="Cambria Math" panose="02040503050406030204" pitchFamily="18" charset="0"/>
                                      <a:ea typeface="黑体" pitchFamily="49" charset="-122"/>
                                    </a:rPr>
                                  </m:ctrlPr>
                                </m:sSupPr>
                                <m:e>
                                  <m:r>
                                    <a:rPr lang="en-US" altLang="zh-CN" sz="2000" b="0" i="1" smtClean="0">
                                      <a:latin typeface="Cambria Math"/>
                                      <a:ea typeface="黑体" pitchFamily="49" charset="-122"/>
                                    </a:rPr>
                                    <m:t>||</m:t>
                                  </m:r>
                                  <m:r>
                                    <a:rPr lang="en-US" altLang="zh-CN" sz="2000" b="1" i="0" smtClean="0">
                                      <a:latin typeface="Cambria Math"/>
                                      <a:ea typeface="黑体" pitchFamily="49" charset="-122"/>
                                    </a:rPr>
                                    <m:t>𝐱</m:t>
                                  </m:r>
                                  <m:r>
                                    <a:rPr lang="en-US" altLang="zh-CN" sz="2000" b="0" i="1" smtClean="0">
                                      <a:latin typeface="Cambria Math"/>
                                      <a:ea typeface="黑体" pitchFamily="49" charset="-122"/>
                                    </a:rPr>
                                    <m:t>−</m:t>
                                  </m:r>
                                  <m:sSub>
                                    <m:sSubPr>
                                      <m:ctrlPr>
                                        <a:rPr lang="en-US" altLang="zh-CN" sz="2000" i="1" smtClean="0">
                                          <a:latin typeface="Cambria Math" panose="02040503050406030204" pitchFamily="18" charset="0"/>
                                          <a:ea typeface="黑体" pitchFamily="49" charset="-122"/>
                                        </a:rPr>
                                      </m:ctrlPr>
                                    </m:sSubPr>
                                    <m:e>
                                      <m:r>
                                        <a:rPr lang="en-US" altLang="zh-CN" sz="2000" b="1" i="0" smtClean="0">
                                          <a:latin typeface="Cambria Math" panose="02040503050406030204" pitchFamily="18" charset="0"/>
                                          <a:ea typeface="黑体" pitchFamily="49" charset="-122"/>
                                        </a:rPr>
                                        <m:t>𝐜</m:t>
                                      </m:r>
                                    </m:e>
                                    <m:sub>
                                      <m:r>
                                        <a:rPr lang="en-US" altLang="zh-CN" sz="2000" b="0" i="1" smtClean="0">
                                          <a:latin typeface="Cambria Math"/>
                                          <a:ea typeface="黑体" pitchFamily="49" charset="-122"/>
                                        </a:rPr>
                                        <m:t>𝑖</m:t>
                                      </m:r>
                                    </m:sub>
                                  </m:sSub>
                                  <m:r>
                                    <a:rPr lang="en-US" altLang="zh-CN" sz="2000" b="0" i="1" smtClean="0">
                                      <a:latin typeface="Cambria Math"/>
                                      <a:ea typeface="黑体" pitchFamily="49" charset="-122"/>
                                    </a:rPr>
                                    <m:t>||</m:t>
                                  </m:r>
                                </m:e>
                                <m:sup>
                                  <m:r>
                                    <a:rPr lang="en-US" altLang="zh-CN" sz="2000" b="0" i="1" smtClean="0">
                                      <a:latin typeface="Cambria Math"/>
                                      <a:ea typeface="黑体" pitchFamily="49" charset="-122"/>
                                    </a:rPr>
                                    <m:t>2</m:t>
                                  </m:r>
                                </m:sup>
                              </m:sSup>
                            </m:e>
                          </m:nary>
                        </m:e>
                      </m:nary>
                      <m:r>
                        <a:rPr lang="en-US" altLang="zh-CN" sz="2000" b="0" i="1" smtClean="0">
                          <a:latin typeface="Cambria Math" panose="02040503050406030204" pitchFamily="18" charset="0"/>
                          <a:ea typeface="黑体" pitchFamily="49" charset="-122"/>
                        </a:rPr>
                        <m:t>=</m:t>
                      </m:r>
                      <m:limLow>
                        <m:limLowPr>
                          <m:ctrlPr>
                            <a:rPr lang="en-US" altLang="zh-CN" sz="2000" i="1">
                              <a:latin typeface="Cambria Math" panose="02040503050406030204" pitchFamily="18" charset="0"/>
                              <a:ea typeface="黑体" pitchFamily="49" charset="-122"/>
                            </a:rPr>
                          </m:ctrlPr>
                        </m:limLowPr>
                        <m:e>
                          <m:r>
                            <m:rPr>
                              <m:sty m:val="p"/>
                            </m:rPr>
                            <a:rPr lang="en-US" altLang="zh-CN" sz="2000">
                              <a:latin typeface="Cambria Math"/>
                              <a:ea typeface="黑体" pitchFamily="49" charset="-122"/>
                            </a:rPr>
                            <m:t>arg</m:t>
                          </m:r>
                          <m:r>
                            <a:rPr lang="en-US" altLang="zh-CN" sz="2000">
                              <a:latin typeface="Cambria Math"/>
                              <a:ea typeface="黑体" pitchFamily="49" charset="-122"/>
                            </a:rPr>
                            <m:t> </m:t>
                          </m:r>
                          <m:r>
                            <m:rPr>
                              <m:sty m:val="p"/>
                            </m:rPr>
                            <a:rPr lang="en-US" altLang="zh-CN" sz="2000">
                              <a:latin typeface="Cambria Math"/>
                              <a:ea typeface="黑体" pitchFamily="49" charset="-122"/>
                            </a:rPr>
                            <m:t>min</m:t>
                          </m:r>
                        </m:e>
                        <m:lim>
                          <m:r>
                            <a:rPr lang="en-US" altLang="zh-CN" sz="2000" i="1">
                              <a:latin typeface="Cambria Math"/>
                              <a:ea typeface="黑体" pitchFamily="49" charset="-122"/>
                            </a:rPr>
                            <m:t>𝐺</m:t>
                          </m:r>
                        </m:lim>
                      </m:limLow>
                      <m:nary>
                        <m:naryPr>
                          <m:chr m:val="∑"/>
                          <m:ctrlPr>
                            <a:rPr lang="en-US" altLang="zh-CN" sz="2000" i="1">
                              <a:latin typeface="Cambria Math" panose="02040503050406030204" pitchFamily="18" charset="0"/>
                              <a:ea typeface="黑体" pitchFamily="49" charset="-122"/>
                            </a:rPr>
                          </m:ctrlPr>
                        </m:naryPr>
                        <m:sub>
                          <m:r>
                            <m:rPr>
                              <m:brk m:alnAt="23"/>
                            </m:rPr>
                            <a:rPr lang="en-US" altLang="zh-CN" sz="2000" i="1">
                              <a:latin typeface="Cambria Math"/>
                              <a:ea typeface="黑体" pitchFamily="49" charset="-122"/>
                            </a:rPr>
                            <m:t>𝑖</m:t>
                          </m:r>
                          <m:r>
                            <a:rPr lang="en-US" altLang="zh-CN" sz="2000" i="1">
                              <a:latin typeface="Cambria Math"/>
                              <a:ea typeface="黑体" pitchFamily="49" charset="-122"/>
                            </a:rPr>
                            <m:t>=1</m:t>
                          </m:r>
                        </m:sub>
                        <m:sup>
                          <m:r>
                            <a:rPr lang="en-US" altLang="zh-CN" sz="2000" i="1">
                              <a:latin typeface="Cambria Math"/>
                              <a:ea typeface="黑体" pitchFamily="49" charset="-122"/>
                            </a:rPr>
                            <m:t>𝑘</m:t>
                          </m:r>
                        </m:sup>
                        <m:e>
                          <m:nary>
                            <m:naryPr>
                              <m:chr m:val="∑"/>
                              <m:supHide m:val="on"/>
                              <m:ctrlPr>
                                <a:rPr lang="en-US" altLang="zh-CN" sz="2000" i="1">
                                  <a:latin typeface="Cambria Math" panose="02040503050406030204" pitchFamily="18" charset="0"/>
                                  <a:ea typeface="黑体" pitchFamily="49" charset="-122"/>
                                </a:rPr>
                              </m:ctrlPr>
                            </m:naryPr>
                            <m:sub>
                              <m:r>
                                <m:rPr>
                                  <m:brk m:alnAt="7"/>
                                </m:rPr>
                                <a:rPr lang="en-US" altLang="zh-CN" sz="2000" i="1">
                                  <a:latin typeface="Cambria Math"/>
                                  <a:ea typeface="黑体" pitchFamily="49" charset="-122"/>
                                </a:rPr>
                                <m:t>𝑥</m:t>
                              </m:r>
                            </m:sub>
                            <m:sup/>
                            <m:e>
                              <m:r>
                                <a:rPr lang="zh-CN" altLang="en-US" sz="2000" i="1" smtClean="0">
                                  <a:latin typeface="Cambria Math" panose="02040503050406030204" pitchFamily="18" charset="0"/>
                                  <a:ea typeface="Cambria Math"/>
                                </a:rPr>
                                <m:t>𝕀</m:t>
                              </m:r>
                              <m:r>
                                <a:rPr lang="en-US" altLang="zh-CN" sz="2000" b="0" i="1" smtClean="0">
                                  <a:latin typeface="Cambria Math" panose="02040503050406030204" pitchFamily="18" charset="0"/>
                                  <a:ea typeface="Cambria Math"/>
                                </a:rPr>
                                <m:t>(</m:t>
                              </m:r>
                              <m:r>
                                <m:rPr>
                                  <m:brk m:alnAt="7"/>
                                </m:rPr>
                                <a:rPr lang="en-US" altLang="zh-CN" sz="2000" b="1" i="0">
                                  <a:latin typeface="Cambria Math"/>
                                  <a:ea typeface="黑体" pitchFamily="49" charset="-122"/>
                                </a:rPr>
                                <m:t>𝐱</m:t>
                              </m:r>
                              <m:r>
                                <a:rPr lang="en-US" altLang="zh-CN" sz="2000" i="1">
                                  <a:latin typeface="Cambria Math"/>
                                  <a:ea typeface="Cambria Math"/>
                                </a:rPr>
                                <m:t>∈</m:t>
                              </m:r>
                              <m:sSub>
                                <m:sSubPr>
                                  <m:ctrlPr>
                                    <a:rPr lang="en-US" altLang="zh-CN" sz="2000" i="1">
                                      <a:latin typeface="Cambria Math" panose="02040503050406030204" pitchFamily="18" charset="0"/>
                                      <a:ea typeface="Cambria Math"/>
                                    </a:rPr>
                                  </m:ctrlPr>
                                </m:sSubPr>
                                <m:e>
                                  <m:r>
                                    <a:rPr lang="en-US" altLang="zh-CN" sz="2000" i="1">
                                      <a:latin typeface="Cambria Math"/>
                                      <a:ea typeface="Cambria Math"/>
                                    </a:rPr>
                                    <m:t>𝐺</m:t>
                                  </m:r>
                                </m:e>
                                <m:sub>
                                  <m:r>
                                    <a:rPr lang="en-US" altLang="zh-CN" sz="2000" i="1">
                                      <a:latin typeface="Cambria Math"/>
                                      <a:ea typeface="Cambria Math"/>
                                    </a:rPr>
                                    <m:t>𝑖</m:t>
                                  </m:r>
                                </m:sub>
                              </m:sSub>
                              <m:r>
                                <a:rPr lang="en-US" altLang="zh-CN" sz="2000" b="0" i="1" smtClean="0">
                                  <a:latin typeface="Cambria Math" panose="02040503050406030204" pitchFamily="18" charset="0"/>
                                  <a:ea typeface="Cambria Math"/>
                                </a:rPr>
                                <m:t>)</m:t>
                              </m:r>
                              <m:r>
                                <a:rPr lang="en-US" altLang="zh-CN" sz="2000" b="0" i="1" smtClean="0">
                                  <a:latin typeface="Cambria Math" panose="02040503050406030204" pitchFamily="18" charset="0"/>
                                  <a:ea typeface="Cambria Math" panose="02040503050406030204" pitchFamily="18" charset="0"/>
                                </a:rPr>
                                <m:t>∙</m:t>
                              </m:r>
                              <m:sSup>
                                <m:sSupPr>
                                  <m:ctrlPr>
                                    <a:rPr lang="en-US" altLang="zh-CN" sz="2000" i="1">
                                      <a:latin typeface="Cambria Math" panose="02040503050406030204" pitchFamily="18" charset="0"/>
                                      <a:ea typeface="黑体" pitchFamily="49" charset="-122"/>
                                    </a:rPr>
                                  </m:ctrlPr>
                                </m:sSupPr>
                                <m:e>
                                  <m:r>
                                    <a:rPr lang="en-US" altLang="zh-CN" sz="2000" i="1">
                                      <a:latin typeface="Cambria Math"/>
                                      <a:ea typeface="黑体" pitchFamily="49" charset="-122"/>
                                    </a:rPr>
                                    <m:t>||</m:t>
                                  </m:r>
                                  <m:r>
                                    <a:rPr lang="en-US" altLang="zh-CN" sz="2000" b="1" i="0">
                                      <a:latin typeface="Cambria Math"/>
                                      <a:ea typeface="黑体" pitchFamily="49" charset="-122"/>
                                    </a:rPr>
                                    <m:t>𝐱</m:t>
                                  </m:r>
                                  <m:r>
                                    <a:rPr lang="en-US" altLang="zh-CN" sz="2000" i="1">
                                      <a:latin typeface="Cambria Math"/>
                                      <a:ea typeface="黑体" pitchFamily="49" charset="-122"/>
                                    </a:rPr>
                                    <m:t>−</m:t>
                                  </m:r>
                                  <m:sSub>
                                    <m:sSubPr>
                                      <m:ctrlPr>
                                        <a:rPr lang="en-US" altLang="zh-CN" sz="2000" i="1">
                                          <a:latin typeface="Cambria Math" panose="02040503050406030204" pitchFamily="18" charset="0"/>
                                          <a:ea typeface="黑体" pitchFamily="49" charset="-122"/>
                                        </a:rPr>
                                      </m:ctrlPr>
                                    </m:sSubPr>
                                    <m:e>
                                      <m:r>
                                        <a:rPr lang="en-US" altLang="zh-CN" sz="2000" b="1" i="0">
                                          <a:latin typeface="Cambria Math" panose="02040503050406030204" pitchFamily="18" charset="0"/>
                                          <a:ea typeface="黑体" pitchFamily="49" charset="-122"/>
                                        </a:rPr>
                                        <m:t>𝐜</m:t>
                                      </m:r>
                                    </m:e>
                                    <m:sub>
                                      <m:r>
                                        <a:rPr lang="en-US" altLang="zh-CN" sz="2000" i="1">
                                          <a:latin typeface="Cambria Math"/>
                                          <a:ea typeface="黑体" pitchFamily="49" charset="-122"/>
                                        </a:rPr>
                                        <m:t>𝑖</m:t>
                                      </m:r>
                                    </m:sub>
                                  </m:sSub>
                                  <m:r>
                                    <a:rPr lang="en-US" altLang="zh-CN" sz="2000" i="1">
                                      <a:latin typeface="Cambria Math"/>
                                      <a:ea typeface="黑体" pitchFamily="49" charset="-122"/>
                                    </a:rPr>
                                    <m:t>||</m:t>
                                  </m:r>
                                </m:e>
                                <m:sup>
                                  <m:r>
                                    <a:rPr lang="en-US" altLang="zh-CN" sz="2000" i="1">
                                      <a:latin typeface="Cambria Math"/>
                                      <a:ea typeface="黑体" pitchFamily="49" charset="-122"/>
                                    </a:rPr>
                                    <m:t>2</m:t>
                                  </m:r>
                                </m:sup>
                              </m:sSup>
                            </m:e>
                          </m:nary>
                        </m:e>
                      </m:nary>
                    </m:oMath>
                  </m:oMathPara>
                </a14:m>
                <a:endParaRPr lang="zh-CN" altLang="en-US" sz="2000" dirty="0">
                  <a:latin typeface="Arial" panose="020B0604020202020204" pitchFamily="34" charset="0"/>
                  <a:ea typeface="黑体" panose="02010609060101010101" pitchFamily="49" charset="-122"/>
                </a:endParaRPr>
              </a:p>
            </p:txBody>
          </p:sp>
        </mc:Choice>
        <mc:Fallback xmlns="">
          <p:sp>
            <p:nvSpPr>
              <p:cNvPr id="14" name="TextBox 3">
                <a:extLst>
                  <a:ext uri="{FF2B5EF4-FFF2-40B4-BE49-F238E27FC236}">
                    <a16:creationId xmlns:a16="http://schemas.microsoft.com/office/drawing/2014/main" id="{7EC108FB-E013-C738-1DFC-992E9E64E039}"/>
                  </a:ext>
                </a:extLst>
              </p:cNvPr>
              <p:cNvSpPr txBox="1">
                <a:spLocks noRot="1" noChangeAspect="1" noMove="1" noResize="1" noEditPoints="1" noAdjustHandles="1" noChangeArrowheads="1" noChangeShapeType="1" noTextEdit="1"/>
              </p:cNvSpPr>
              <p:nvPr/>
            </p:nvSpPr>
            <p:spPr>
              <a:xfrm>
                <a:off x="350883" y="1641734"/>
                <a:ext cx="7089009" cy="911660"/>
              </a:xfrm>
              <a:prstGeom prst="rect">
                <a:avLst/>
              </a:prstGeom>
              <a:blipFill>
                <a:blip r:embed="rId2"/>
                <a:stretch>
                  <a:fillRect/>
                </a:stretch>
              </a:blipFill>
            </p:spPr>
            <p:txBody>
              <a:bodyPr/>
              <a:lstStyle/>
              <a:p>
                <a:r>
                  <a:rPr lang="zh-CN" altLang="en-US">
                    <a:noFill/>
                  </a:rPr>
                  <a:t> </a:t>
                </a:r>
              </a:p>
            </p:txBody>
          </p:sp>
        </mc:Fallback>
      </mc:AlternateContent>
      <p:cxnSp>
        <p:nvCxnSpPr>
          <p:cNvPr id="17" name="直接连接符 16">
            <a:extLst>
              <a:ext uri="{FF2B5EF4-FFF2-40B4-BE49-F238E27FC236}">
                <a16:creationId xmlns:a16="http://schemas.microsoft.com/office/drawing/2014/main" id="{3A354002-416D-8362-D265-98EFAF6E661D}"/>
              </a:ext>
            </a:extLst>
          </p:cNvPr>
          <p:cNvCxnSpPr/>
          <p:nvPr/>
        </p:nvCxnSpPr>
        <p:spPr>
          <a:xfrm flipV="1">
            <a:off x="2071022" y="2671637"/>
            <a:ext cx="1285875" cy="12700"/>
          </a:xfrm>
          <a:prstGeom prst="line">
            <a:avLst/>
          </a:prstGeom>
          <a:ln w="28575">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827716A4-FF69-A9C4-BEAE-450F6C1C4D99}"/>
                  </a:ext>
                </a:extLst>
              </p:cNvPr>
              <p:cNvSpPr/>
              <p:nvPr/>
            </p:nvSpPr>
            <p:spPr>
              <a:xfrm>
                <a:off x="315015" y="2987529"/>
                <a:ext cx="5398209" cy="476221"/>
              </a:xfrm>
              <a:prstGeom prst="rect">
                <a:avLst/>
              </a:prstGeom>
            </p:spPr>
            <p:txBody>
              <a:bodyPr wrap="none" lIns="0" tIns="0" rIns="0" bIns="0">
                <a:spAutoFit/>
              </a:bodyPr>
              <a:lstStyle/>
              <a:p>
                <a:r>
                  <a:rPr lang="zh-CN" altLang="en-US" sz="2000" dirty="0">
                    <a:latin typeface="Arial" panose="020B0604020202020204" pitchFamily="34" charset="0"/>
                    <a:ea typeface="黑体" panose="02010609060101010101" pitchFamily="49" charset="-122"/>
                    <a:cs typeface="Times New Roman" panose="02020603050405020304" pitchFamily="18" charset="0"/>
                  </a:rPr>
                  <a:t>第 </a:t>
                </a:r>
                <a14:m>
                  <m:oMath xmlns:m="http://schemas.openxmlformats.org/officeDocument/2006/math">
                    <m:r>
                      <a:rPr lang="en-US" altLang="zh-CN" sz="2000" b="0" i="1" smtClean="0">
                        <a:latin typeface="Cambria Math"/>
                        <a:ea typeface="黑体" panose="02010609060101010101" pitchFamily="49" charset="-122"/>
                        <a:cs typeface="Times New Roman" panose="02020603050405020304" pitchFamily="18" charset="0"/>
                      </a:rPr>
                      <m:t>𝑖</m:t>
                    </m:r>
                  </m:oMath>
                </a14:m>
                <a:r>
                  <a:rPr lang="zh-CN" altLang="en-US" sz="2000" dirty="0">
                    <a:latin typeface="Arial" panose="020B0604020202020204" pitchFamily="34" charset="0"/>
                    <a:ea typeface="黑体" panose="02010609060101010101" pitchFamily="49" charset="-122"/>
                    <a:cs typeface="Times New Roman" panose="02020603050405020304" pitchFamily="18" charset="0"/>
                  </a:rPr>
                  <a:t> 个类簇的方差</a:t>
                </a:r>
                <a:r>
                  <a:rPr lang="en-US" altLang="zh-CN" sz="2000" dirty="0">
                    <a:latin typeface="Arial" panose="020B0604020202020204" pitchFamily="34" charset="0"/>
                    <a:ea typeface="黑体" panose="02010609060101010101" pitchFamily="49" charset="-122"/>
                    <a:cs typeface="Times New Roman" panose="02020603050405020304" pitchFamily="18" charset="0"/>
                  </a:rPr>
                  <a:t>:</a:t>
                </a:r>
                <a:r>
                  <a:rPr lang="zh-CN" altLang="en-US" sz="2000" dirty="0">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m:rPr>
                        <m:sty m:val="p"/>
                      </m:rPr>
                      <a:rPr lang="en-US" altLang="zh-CN" sz="2000" b="0" i="0" smtClean="0">
                        <a:latin typeface="Cambria Math"/>
                        <a:ea typeface="黑体" panose="02010609060101010101" pitchFamily="49" charset="-122"/>
                        <a:cs typeface="Times New Roman" panose="02020603050405020304" pitchFamily="18" charset="0"/>
                      </a:rPr>
                      <m:t>var</m:t>
                    </m:r>
                    <m:d>
                      <m:d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0" i="1" smtClean="0">
                                <a:latin typeface="Cambria Math"/>
                                <a:ea typeface="黑体" panose="02010609060101010101" pitchFamily="49" charset="-122"/>
                                <a:cs typeface="Times New Roman" panose="02020603050405020304" pitchFamily="18" charset="0"/>
                              </a:rPr>
                              <m:t>𝐺</m:t>
                            </m:r>
                          </m:e>
                          <m:sub>
                            <m:r>
                              <a:rPr lang="en-US" altLang="zh-CN" sz="2000" b="0" i="1" smtClean="0">
                                <a:latin typeface="Cambria Math"/>
                                <a:ea typeface="黑体" panose="02010609060101010101" pitchFamily="49" charset="-122"/>
                                <a:cs typeface="Times New Roman" panose="02020603050405020304" pitchFamily="18" charset="0"/>
                              </a:rPr>
                              <m:t>𝑖</m:t>
                            </m:r>
                          </m:sub>
                        </m:sSub>
                      </m:e>
                    </m:d>
                    <m:r>
                      <a:rPr lang="en-US" altLang="zh-CN" sz="2000" b="0" i="0" smtClean="0">
                        <a:latin typeface="Cambria Math"/>
                        <a:ea typeface="黑体" panose="02010609060101010101" pitchFamily="49" charset="-122"/>
                        <a:cs typeface="Times New Roman" panose="02020603050405020304" pitchFamily="18" charset="0"/>
                      </a:rPr>
                      <m:t>=</m:t>
                    </m:r>
                    <m:f>
                      <m:f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sz="2000" b="0" i="1" smtClean="0">
                            <a:latin typeface="Cambria Math"/>
                            <a:ea typeface="黑体" panose="02010609060101010101" pitchFamily="49" charset="-122"/>
                            <a:cs typeface="Times New Roman" panose="02020603050405020304" pitchFamily="18" charset="0"/>
                          </a:rPr>
                          <m:t>1</m:t>
                        </m:r>
                      </m:num>
                      <m:den>
                        <m:r>
                          <a:rPr lang="en-US" altLang="zh-CN" sz="2000" b="0" i="1" smtClean="0">
                            <a:latin typeface="Cambria Math"/>
                            <a:ea typeface="黑体" panose="02010609060101010101" pitchFamily="49" charset="-122"/>
                            <a:cs typeface="Times New Roman" panose="02020603050405020304" pitchFamily="18" charset="0"/>
                          </a:rPr>
                          <m:t>|</m:t>
                        </m:r>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0" i="1" smtClean="0">
                                <a:latin typeface="Cambria Math"/>
                                <a:ea typeface="黑体" panose="02010609060101010101" pitchFamily="49" charset="-122"/>
                                <a:cs typeface="Times New Roman" panose="02020603050405020304" pitchFamily="18" charset="0"/>
                              </a:rPr>
                              <m:t>𝐺</m:t>
                            </m:r>
                          </m:e>
                          <m:sub>
                            <m:r>
                              <a:rPr lang="en-US" altLang="zh-CN" sz="2000" b="0" i="1" smtClean="0">
                                <a:latin typeface="Cambria Math"/>
                                <a:ea typeface="黑体" panose="02010609060101010101" pitchFamily="49" charset="-122"/>
                                <a:cs typeface="Times New Roman" panose="02020603050405020304" pitchFamily="18" charset="0"/>
                              </a:rPr>
                              <m:t>𝑖</m:t>
                            </m:r>
                          </m:sub>
                        </m:sSub>
                        <m:r>
                          <a:rPr lang="en-US" altLang="zh-CN" sz="2000" b="0" i="1" smtClean="0">
                            <a:latin typeface="Cambria Math"/>
                            <a:ea typeface="黑体" panose="02010609060101010101" pitchFamily="49" charset="-122"/>
                            <a:cs typeface="Times New Roman" panose="02020603050405020304" pitchFamily="18" charset="0"/>
                          </a:rPr>
                          <m:t>|</m:t>
                        </m:r>
                      </m:den>
                    </m:f>
                    <m:nary>
                      <m:naryPr>
                        <m:chr m:val="∑"/>
                        <m:supHide m:val="on"/>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naryPr>
                      <m:sub>
                        <m:r>
                          <m:rPr>
                            <m:brk m:alnAt="7"/>
                          </m:rPr>
                          <a:rPr lang="en-US" altLang="zh-CN" sz="2000" b="1" i="0" smtClean="0">
                            <a:latin typeface="Cambria Math"/>
                            <a:ea typeface="黑体" panose="02010609060101010101" pitchFamily="49" charset="-122"/>
                            <a:cs typeface="Times New Roman" panose="02020603050405020304" pitchFamily="18" charset="0"/>
                          </a:rPr>
                          <m:t>𝐱</m:t>
                        </m:r>
                        <m:r>
                          <a:rPr lang="en-US" altLang="zh-CN" sz="2000" b="0" i="1" smtClean="0">
                            <a:latin typeface="Cambria Math"/>
                            <a:ea typeface="Cambria Math"/>
                            <a:cs typeface="Times New Roman" panose="02020603050405020304" pitchFamily="18" charset="0"/>
                          </a:rPr>
                          <m:t>∈</m:t>
                        </m:r>
                        <m:sSub>
                          <m:sSubPr>
                            <m:ctrlPr>
                              <a:rPr lang="en-US" altLang="zh-CN" sz="2000" i="1" smtClean="0">
                                <a:latin typeface="Cambria Math" panose="02040503050406030204" pitchFamily="18" charset="0"/>
                                <a:ea typeface="Cambria Math"/>
                                <a:cs typeface="Times New Roman" panose="02020603050405020304" pitchFamily="18" charset="0"/>
                              </a:rPr>
                            </m:ctrlPr>
                          </m:sSubPr>
                          <m:e>
                            <m:r>
                              <a:rPr lang="en-US" altLang="zh-CN" sz="2000" b="0" i="1" smtClean="0">
                                <a:latin typeface="Cambria Math"/>
                                <a:ea typeface="Cambria Math"/>
                                <a:cs typeface="Times New Roman" panose="02020603050405020304" pitchFamily="18" charset="0"/>
                              </a:rPr>
                              <m:t>𝐺</m:t>
                            </m:r>
                          </m:e>
                          <m:sub>
                            <m:r>
                              <a:rPr lang="en-US" altLang="zh-CN" sz="2000" b="0" i="1" smtClean="0">
                                <a:latin typeface="Cambria Math"/>
                                <a:ea typeface="Cambria Math"/>
                                <a:cs typeface="Times New Roman" panose="02020603050405020304" pitchFamily="18" charset="0"/>
                              </a:rPr>
                              <m:t>𝑖</m:t>
                            </m:r>
                          </m:sub>
                        </m:sSub>
                      </m:sub>
                      <m:sup/>
                      <m:e>
                        <m:sSup>
                          <m:sSup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smtClean="0">
                                <a:latin typeface="Cambria Math"/>
                                <a:ea typeface="黑体" panose="02010609060101010101" pitchFamily="49" charset="-122"/>
                                <a:cs typeface="Times New Roman" panose="02020603050405020304" pitchFamily="18" charset="0"/>
                              </a:rPr>
                              <m:t>||</m:t>
                            </m:r>
                            <m:r>
                              <a:rPr lang="en-US" altLang="zh-CN" sz="2000" b="1" i="0" smtClean="0">
                                <a:latin typeface="Cambria Math"/>
                                <a:ea typeface="黑体" panose="02010609060101010101" pitchFamily="49" charset="-122"/>
                                <a:cs typeface="Times New Roman" panose="02020603050405020304" pitchFamily="18" charset="0"/>
                              </a:rPr>
                              <m:t>𝐱</m:t>
                            </m:r>
                            <m:r>
                              <a:rPr lang="en-US" altLang="zh-CN" sz="2000" b="0" i="1" smtClean="0">
                                <a:latin typeface="Cambria Math"/>
                                <a:ea typeface="黑体" panose="02010609060101010101" pitchFamily="49" charset="-122"/>
                                <a:cs typeface="Times New Roman" panose="02020603050405020304" pitchFamily="18" charset="0"/>
                              </a:rPr>
                              <m:t>−</m:t>
                            </m:r>
                            <m:sSub>
                              <m:sSubPr>
                                <m:ctrlPr>
                                  <a:rPr lang="en-US" altLang="zh-CN" sz="2000" i="1" smtClean="0">
                                    <a:latin typeface="Cambria Math" panose="02040503050406030204" pitchFamily="18" charset="0"/>
                                    <a:ea typeface="黑体" panose="02010609060101010101" pitchFamily="49" charset="-122"/>
                                    <a:cs typeface="Times New Roman" panose="02020603050405020304" pitchFamily="18" charset="0"/>
                                  </a:rPr>
                                </m:ctrlPr>
                              </m:sSubPr>
                              <m:e>
                                <m:r>
                                  <a:rPr lang="en-US" altLang="zh-CN" sz="2000" b="1" i="0" smtClean="0">
                                    <a:latin typeface="Cambria Math" panose="02040503050406030204" pitchFamily="18" charset="0"/>
                                    <a:ea typeface="黑体" panose="02010609060101010101" pitchFamily="49" charset="-122"/>
                                    <a:cs typeface="Times New Roman" panose="02020603050405020304" pitchFamily="18" charset="0"/>
                                  </a:rPr>
                                  <m:t>𝐜</m:t>
                                </m:r>
                              </m:e>
                              <m:sub>
                                <m:r>
                                  <a:rPr lang="en-US" altLang="zh-CN" sz="2000" b="0" i="1" smtClean="0">
                                    <a:latin typeface="Cambria Math"/>
                                    <a:ea typeface="黑体" panose="02010609060101010101" pitchFamily="49" charset="-122"/>
                                    <a:cs typeface="Times New Roman" panose="02020603050405020304" pitchFamily="18" charset="0"/>
                                  </a:rPr>
                                  <m:t>𝑖</m:t>
                                </m:r>
                              </m:sub>
                            </m:sSub>
                            <m:r>
                              <a:rPr lang="en-US" altLang="zh-CN" sz="2000" b="0" i="1" smtClean="0">
                                <a:latin typeface="Cambria Math"/>
                                <a:ea typeface="黑体" panose="02010609060101010101" pitchFamily="49" charset="-122"/>
                                <a:cs typeface="Times New Roman" panose="02020603050405020304" pitchFamily="18" charset="0"/>
                              </a:rPr>
                              <m:t>||</m:t>
                            </m:r>
                          </m:e>
                          <m:sup>
                            <m:r>
                              <a:rPr lang="en-US" altLang="zh-CN" sz="2000" b="0" i="1" smtClean="0">
                                <a:latin typeface="Cambria Math"/>
                                <a:ea typeface="黑体" panose="02010609060101010101" pitchFamily="49" charset="-122"/>
                                <a:cs typeface="Times New Roman" panose="02020603050405020304" pitchFamily="18" charset="0"/>
                              </a:rPr>
                              <m:t>2</m:t>
                            </m:r>
                          </m:sup>
                        </m:sSup>
                      </m:e>
                    </m:nary>
                  </m:oMath>
                </a14:m>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827716A4-FF69-A9C4-BEAE-450F6C1C4D99}"/>
                  </a:ext>
                </a:extLst>
              </p:cNvPr>
              <p:cNvSpPr>
                <a:spLocks noRot="1" noChangeAspect="1" noMove="1" noResize="1" noEditPoints="1" noAdjustHandles="1" noChangeArrowheads="1" noChangeShapeType="1" noTextEdit="1"/>
              </p:cNvSpPr>
              <p:nvPr/>
            </p:nvSpPr>
            <p:spPr>
              <a:xfrm>
                <a:off x="315015" y="2987529"/>
                <a:ext cx="5398209" cy="476221"/>
              </a:xfrm>
              <a:prstGeom prst="rect">
                <a:avLst/>
              </a:prstGeom>
              <a:blipFill>
                <a:blip r:embed="rId3"/>
                <a:stretch>
                  <a:fillRect l="-2938" t="-98718" b="-143590"/>
                </a:stretch>
              </a:blipFill>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4C040F3A-29DF-5413-D73A-DFDB603FE322}"/>
              </a:ext>
            </a:extLst>
          </p:cNvPr>
          <p:cNvSpPr/>
          <p:nvPr/>
        </p:nvSpPr>
        <p:spPr>
          <a:xfrm>
            <a:off x="286761" y="3918802"/>
            <a:ext cx="8787314" cy="974626"/>
          </a:xfrm>
          <a:prstGeom prst="rect">
            <a:avLst/>
          </a:prstGeom>
        </p:spPr>
        <p:txBody>
          <a:bodyPr wrap="square" lIns="0" tIns="0" rIns="0" bIns="0">
            <a:spAutoFit/>
          </a:bodyPr>
          <a:lstStyle/>
          <a:p>
            <a:pPr marL="288000" indent="-288000">
              <a:spcBef>
                <a:spcPts val="400"/>
              </a:spcBef>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欧氏距离与方差量纲相同</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spcBef>
                <a:spcPts val="400"/>
              </a:spcBef>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最小化每个类簇方差将使得最终聚类结果中每个聚类集合中所包含数据呈现出来差异性最小。</a:t>
            </a:r>
          </a:p>
        </p:txBody>
      </p:sp>
      <p:cxnSp>
        <p:nvCxnSpPr>
          <p:cNvPr id="20" name="直接箭头连接符 19">
            <a:extLst>
              <a:ext uri="{FF2B5EF4-FFF2-40B4-BE49-F238E27FC236}">
                <a16:creationId xmlns:a16="http://schemas.microsoft.com/office/drawing/2014/main" id="{3BFA1CF3-8574-3EFB-1971-CA5DA60DDBAF}"/>
              </a:ext>
            </a:extLst>
          </p:cNvPr>
          <p:cNvCxnSpPr/>
          <p:nvPr/>
        </p:nvCxnSpPr>
        <p:spPr>
          <a:xfrm flipV="1">
            <a:off x="2665549" y="2684337"/>
            <a:ext cx="0" cy="377391"/>
          </a:xfrm>
          <a:prstGeom prst="straightConnector1">
            <a:avLst/>
          </a:prstGeom>
          <a:ln w="25400">
            <a:solidFill>
              <a:srgbClr val="C00000"/>
            </a:solidFill>
            <a:tailEnd type="arrow"/>
          </a:ln>
        </p:spPr>
        <p:style>
          <a:lnRef idx="1">
            <a:schemeClr val="accent1"/>
          </a:lnRef>
          <a:fillRef idx="0">
            <a:schemeClr val="accent1"/>
          </a:fillRef>
          <a:effectRef idx="0">
            <a:schemeClr val="accent1"/>
          </a:effectRef>
          <a:fontRef idx="minor">
            <a:schemeClr val="tx1"/>
          </a:fontRef>
        </p:style>
      </p:cxnSp>
      <p:sp>
        <p:nvSpPr>
          <p:cNvPr id="21" name="圆角矩形 13">
            <a:extLst>
              <a:ext uri="{FF2B5EF4-FFF2-40B4-BE49-F238E27FC236}">
                <a16:creationId xmlns:a16="http://schemas.microsoft.com/office/drawing/2014/main" id="{01E48326-2B5F-0D50-83A2-CD317C5AC1E7}"/>
              </a:ext>
            </a:extLst>
          </p:cNvPr>
          <p:cNvSpPr/>
          <p:nvPr/>
        </p:nvSpPr>
        <p:spPr bwMode="auto">
          <a:xfrm>
            <a:off x="350884" y="1257425"/>
            <a:ext cx="6804000" cy="360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lvl="1" fontAlgn="base">
              <a:buClr>
                <a:srgbClr val="FF0000"/>
              </a:buClr>
              <a:defRPr/>
            </a:pP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最小化每个类簇的方差</a:t>
            </a:r>
            <a:endParaRPr lang="en-US" altLang="zh-CN"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23" name="文本框 22">
            <a:extLst>
              <a:ext uri="{FF2B5EF4-FFF2-40B4-BE49-F238E27FC236}">
                <a16:creationId xmlns:a16="http://schemas.microsoft.com/office/drawing/2014/main" id="{C8B7522C-8CB6-2616-DF9B-0E6E8230B54F}"/>
              </a:ext>
            </a:extLst>
          </p:cNvPr>
          <p:cNvSpPr txBox="1"/>
          <p:nvPr/>
        </p:nvSpPr>
        <p:spPr>
          <a:xfrm>
            <a:off x="315015" y="3513346"/>
            <a:ext cx="5525712" cy="307777"/>
          </a:xfrm>
          <a:prstGeom prst="rect">
            <a:avLst/>
          </a:prstGeom>
          <a:noFill/>
        </p:spPr>
        <p:txBody>
          <a:bodyPr wrap="square" lIns="0" tIns="0" rIns="0" bIns="0">
            <a:spAutoFit/>
          </a:bodyPr>
          <a:lstStyle/>
          <a:p>
            <a:pPr marL="0" marR="0" lvl="1" algn="l" defTabSz="914400" rtl="0" eaLnBrk="1" fontAlgn="base" latinLnBrk="0" hangingPunct="1">
              <a:spcBef>
                <a:spcPct val="0"/>
              </a:spcBef>
              <a:spcAft>
                <a:spcPct val="0"/>
              </a:spcAft>
              <a:buClr>
                <a:srgbClr val="FF0000"/>
              </a:buClr>
              <a:buSzTx/>
              <a:tabLst/>
              <a:defRPr/>
            </a:pPr>
            <a:r>
              <a:rPr kumimoji="0" lang="zh-CN" altLang="en-US" sz="2000" b="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方差：用来计算样本分散程度的二阶统计量。</a:t>
            </a:r>
            <a:endParaRPr kumimoji="0" lang="en-US" altLang="zh-CN" sz="2000" b="0" i="0" u="none" strike="noStrike" kern="0" cap="none" spc="0" normalizeH="0" baseline="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24" name="矩形 23">
            <a:extLst>
              <a:ext uri="{FF2B5EF4-FFF2-40B4-BE49-F238E27FC236}">
                <a16:creationId xmlns:a16="http://schemas.microsoft.com/office/drawing/2014/main" id="{1C4D8568-BC66-1881-C9A9-1C49F83114E4}"/>
              </a:ext>
            </a:extLst>
          </p:cNvPr>
          <p:cNvSpPr/>
          <p:nvPr/>
        </p:nvSpPr>
        <p:spPr>
          <a:xfrm>
            <a:off x="286761" y="5415771"/>
            <a:ext cx="8715354" cy="1267458"/>
          </a:xfrm>
          <a:prstGeom prst="rect">
            <a:avLst/>
          </a:prstGeom>
        </p:spPr>
        <p:txBody>
          <a:bodyPr wrap="square" lIns="0" tIns="0" rIns="0" bIns="0">
            <a:spAutoFit/>
          </a:bodyPr>
          <a:lstStyle/>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需要事先确定聚类数目，很多时候我们并不知道数据应被聚类的数目</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需要初始化聚类质心，初始化聚类中心对聚类结果有较大的影响</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算法迭代执行，时间开销大</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288000" indent="-288000">
              <a:buFont typeface="Arial" panose="020B0604020202020204" pitchFamily="34" charset="0"/>
              <a:buChar char="•"/>
            </a:pPr>
            <a:r>
              <a:rPr lang="zh-CN" altLang="en-US" sz="2000" dirty="0">
                <a:latin typeface="Arial" panose="020B0604020202020204" pitchFamily="34" charset="0"/>
                <a:ea typeface="黑体" panose="02010609060101010101" pitchFamily="49" charset="-122"/>
                <a:cs typeface="Times New Roman" panose="02020603050405020304" pitchFamily="18" charset="0"/>
              </a:rPr>
              <a:t>欧氏距离假设数据每个维度之间的重要性是一样的</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p:sp>
        <p:nvSpPr>
          <p:cNvPr id="25" name="文本框 24">
            <a:extLst>
              <a:ext uri="{FF2B5EF4-FFF2-40B4-BE49-F238E27FC236}">
                <a16:creationId xmlns:a16="http://schemas.microsoft.com/office/drawing/2014/main" id="{9212CC1C-C0E4-1EAF-8342-DC8061886C15}"/>
              </a:ext>
            </a:extLst>
          </p:cNvPr>
          <p:cNvSpPr txBox="1"/>
          <p:nvPr/>
        </p:nvSpPr>
        <p:spPr>
          <a:xfrm>
            <a:off x="53621" y="5057143"/>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k-means </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聚类算法的不足</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21F87C3-7EA0-876C-6B79-AB198F292E45}"/>
                  </a:ext>
                </a:extLst>
              </p:cNvPr>
              <p:cNvSpPr txBox="1"/>
              <p:nvPr/>
            </p:nvSpPr>
            <p:spPr>
              <a:xfrm>
                <a:off x="5962108" y="2285859"/>
                <a:ext cx="2475312" cy="876907"/>
              </a:xfrm>
              <a:prstGeom prst="rect">
                <a:avLst/>
              </a:prstGeom>
              <a:noFill/>
            </p:spPr>
            <p:txBody>
              <a:bodyPr wrap="square">
                <a:spAutoFit/>
              </a:bodyPr>
              <a:lstStyle/>
              <a:p>
                <a:pPr/>
                <a14:m>
                  <m:oMathPara xmlns:m="http://schemas.openxmlformats.org/officeDocument/2006/math">
                    <m:oMathParaPr>
                      <m:jc m:val="centerGroup"/>
                    </m:oMathParaPr>
                    <m:oMath xmlns:m="http://schemas.openxmlformats.org/officeDocument/2006/math">
                      <m:r>
                        <a:rPr lang="en-US" altLang="zh-CN" sz="1800" b="0" i="1" kern="1200" smtClean="0">
                          <a:solidFill>
                            <a:srgbClr val="000000"/>
                          </a:solidFill>
                          <a:effectLst/>
                          <a:latin typeface="Cambria Math" panose="02040503050406030204" pitchFamily="18" charset="0"/>
                          <a:ea typeface="黑体" panose="02010609060101010101" pitchFamily="49" charset="-122"/>
                          <a:cs typeface="+mn-cs"/>
                        </a:rPr>
                        <m:t>=</m:t>
                      </m:r>
                      <m:func>
                        <m:func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funcPr>
                        <m:fName>
                          <m:limLow>
                            <m:limLow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limLowPr>
                            <m:e>
                              <m:r>
                                <m:rPr>
                                  <m:sty m:val="p"/>
                                </m:rPr>
                                <a:rPr lang="en-US" altLang="zh-CN" sz="1800" kern="1200">
                                  <a:solidFill>
                                    <a:srgbClr val="000000"/>
                                  </a:solidFill>
                                  <a:effectLst/>
                                  <a:latin typeface="Cambria Math" panose="02040503050406030204" pitchFamily="18" charset="0"/>
                                  <a:ea typeface="黑体" panose="02010609060101010101" pitchFamily="49" charset="-122"/>
                                  <a:cs typeface="+mn-cs"/>
                                </a:rPr>
                                <m:t>arg</m:t>
                              </m:r>
                              <m:r>
                                <a:rPr lang="en-US" altLang="zh-CN" sz="1800" i="1" kern="1200">
                                  <a:solidFill>
                                    <a:srgbClr val="000000"/>
                                  </a:solidFill>
                                  <a:effectLst/>
                                  <a:latin typeface="Cambria Math" panose="02040503050406030204" pitchFamily="18" charset="0"/>
                                  <a:ea typeface="黑体" panose="02010609060101010101" pitchFamily="49" charset="-122"/>
                                  <a:cs typeface="+mn-cs"/>
                                </a:rPr>
                                <m:t> </m:t>
                              </m:r>
                              <m:r>
                                <m:rPr>
                                  <m:sty m:val="p"/>
                                </m:rPr>
                                <a:rPr lang="en-US" altLang="zh-CN" sz="1800" kern="1200">
                                  <a:solidFill>
                                    <a:srgbClr val="000000"/>
                                  </a:solidFill>
                                  <a:effectLst/>
                                  <a:latin typeface="Cambria Math" panose="02040503050406030204" pitchFamily="18" charset="0"/>
                                  <a:ea typeface="黑体" panose="02010609060101010101" pitchFamily="49" charset="-122"/>
                                  <a:cs typeface="+mn-cs"/>
                                </a:rPr>
                                <m:t>min</m:t>
                              </m:r>
                            </m:e>
                            <m:lim>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lim>
                          </m:limLow>
                        </m:fName>
                        <m:e>
                          <m:nary>
                            <m:naryPr>
                              <m:chr m:val="∑"/>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naryPr>
                            <m:sub>
                              <m:r>
                                <m:rPr>
                                  <m:brk m:alnAt="23"/>
                                </m:rP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r>
                                <a:rPr lang="en-US" altLang="zh-CN" sz="1800" i="1" kern="1200">
                                  <a:solidFill>
                                    <a:srgbClr val="000000"/>
                                  </a:solidFill>
                                  <a:effectLst/>
                                  <a:latin typeface="Cambria Math" panose="02040503050406030204" pitchFamily="18" charset="0"/>
                                  <a:ea typeface="黑体" panose="02010609060101010101" pitchFamily="49" charset="-122"/>
                                  <a:cs typeface="+mn-cs"/>
                                </a:rPr>
                                <m:t>=1</m:t>
                              </m:r>
                            </m:sub>
                            <m:sup>
                              <m:r>
                                <a:rPr lang="en-US" altLang="zh-CN" sz="1800" i="1" kern="1200">
                                  <a:solidFill>
                                    <a:srgbClr val="000000"/>
                                  </a:solidFill>
                                  <a:effectLst/>
                                  <a:latin typeface="Cambria Math" panose="02040503050406030204" pitchFamily="18" charset="0"/>
                                  <a:ea typeface="黑体" panose="02010609060101010101" pitchFamily="49" charset="-122"/>
                                  <a:cs typeface="+mn-cs"/>
                                </a:rPr>
                                <m:t>𝑘</m:t>
                              </m:r>
                            </m:sup>
                            <m:e>
                              <m:r>
                                <a:rPr lang="en-US" altLang="zh-CN" sz="1800" i="1" kern="1200">
                                  <a:solidFill>
                                    <a:srgbClr val="000000"/>
                                  </a:solidFill>
                                  <a:effectLst/>
                                  <a:latin typeface="Cambria Math" panose="02040503050406030204" pitchFamily="18" charset="0"/>
                                  <a:ea typeface="黑体" panose="02010609060101010101" pitchFamily="49" charset="-122"/>
                                  <a:cs typeface="+mn-cs"/>
                                </a:rPr>
                                <m:t>|</m:t>
                              </m:r>
                              <m:sSub>
                                <m:sSub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sSubPr>
                                <m:e>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e>
                                <m:sub>
                                  <m: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sub>
                              </m:sSub>
                              <m:r>
                                <a:rPr lang="en-US" altLang="zh-CN" sz="1800" i="1" kern="1200">
                                  <a:solidFill>
                                    <a:srgbClr val="000000"/>
                                  </a:solidFill>
                                  <a:effectLst/>
                                  <a:latin typeface="Cambria Math" panose="02040503050406030204" pitchFamily="18" charset="0"/>
                                  <a:ea typeface="黑体" panose="02010609060101010101" pitchFamily="49" charset="-122"/>
                                  <a:cs typeface="+mn-cs"/>
                                </a:rPr>
                                <m:t>|</m:t>
                              </m:r>
                              <m:r>
                                <a:rPr lang="en-US" altLang="zh-CN" sz="1800" i="1" kern="1200">
                                  <a:solidFill>
                                    <a:srgbClr val="000000"/>
                                  </a:solidFill>
                                  <a:effectLst/>
                                  <a:latin typeface="Cambria Math" panose="02040503050406030204" pitchFamily="18" charset="0"/>
                                  <a:ea typeface="黑体" panose="02010609060101010101" pitchFamily="49" charset="-122"/>
                                  <a:cs typeface="+mn-cs"/>
                                </a:rPr>
                                <m:t>𝑉𝑎𝑟</m:t>
                              </m:r>
                              <m:sSub>
                                <m:sSubPr>
                                  <m:ctrlPr>
                                    <a:rPr lang="en-US" altLang="zh-CN" sz="1800" i="1" kern="1200">
                                      <a:solidFill>
                                        <a:srgbClr val="000000"/>
                                      </a:solidFill>
                                      <a:effectLst/>
                                      <a:latin typeface="Cambria Math" panose="02040503050406030204" pitchFamily="18" charset="0"/>
                                      <a:ea typeface="黑体" panose="02010609060101010101" pitchFamily="49" charset="-122"/>
                                      <a:cs typeface="+mn-cs"/>
                                    </a:rPr>
                                  </m:ctrlPr>
                                </m:sSubPr>
                                <m:e>
                                  <m:r>
                                    <a:rPr lang="en-US" altLang="zh-CN" sz="1800" i="1" kern="1200">
                                      <a:solidFill>
                                        <a:srgbClr val="000000"/>
                                      </a:solidFill>
                                      <a:effectLst/>
                                      <a:latin typeface="Cambria Math" panose="02040503050406030204" pitchFamily="18" charset="0"/>
                                      <a:ea typeface="黑体" panose="02010609060101010101" pitchFamily="49" charset="-122"/>
                                      <a:cs typeface="+mn-cs"/>
                                    </a:rPr>
                                    <m:t>𝐺</m:t>
                                  </m:r>
                                </m:e>
                                <m:sub>
                                  <m:r>
                                    <a:rPr lang="en-US" altLang="zh-CN" sz="1800" i="1" kern="1200">
                                      <a:solidFill>
                                        <a:srgbClr val="000000"/>
                                      </a:solidFill>
                                      <a:effectLst/>
                                      <a:latin typeface="Cambria Math" panose="02040503050406030204" pitchFamily="18" charset="0"/>
                                      <a:ea typeface="黑体" panose="02010609060101010101" pitchFamily="49" charset="-122"/>
                                      <a:cs typeface="+mn-cs"/>
                                    </a:rPr>
                                    <m:t>𝑖</m:t>
                                  </m:r>
                                </m:sub>
                              </m:sSub>
                            </m:e>
                          </m:nary>
                        </m:e>
                      </m:func>
                    </m:oMath>
                  </m:oMathPara>
                </a14:m>
                <a:endParaRPr lang="zh-CN" altLang="en-US" dirty="0"/>
              </a:p>
            </p:txBody>
          </p:sp>
        </mc:Choice>
        <mc:Fallback xmlns="">
          <p:sp>
            <p:nvSpPr>
              <p:cNvPr id="3" name="文本框 2">
                <a:extLst>
                  <a:ext uri="{FF2B5EF4-FFF2-40B4-BE49-F238E27FC236}">
                    <a16:creationId xmlns:a16="http://schemas.microsoft.com/office/drawing/2014/main" id="{D21F87C3-7EA0-876C-6B79-AB198F292E45}"/>
                  </a:ext>
                </a:extLst>
              </p:cNvPr>
              <p:cNvSpPr txBox="1">
                <a:spLocks noRot="1" noChangeAspect="1" noMove="1" noResize="1" noEditPoints="1" noAdjustHandles="1" noChangeArrowheads="1" noChangeShapeType="1" noTextEdit="1"/>
              </p:cNvSpPr>
              <p:nvPr/>
            </p:nvSpPr>
            <p:spPr>
              <a:xfrm>
                <a:off x="5962108" y="2285859"/>
                <a:ext cx="2475312" cy="876907"/>
              </a:xfrm>
              <a:prstGeom prst="rect">
                <a:avLst/>
              </a:prstGeom>
              <a:blipFill>
                <a:blip r:embed="rId4"/>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59411838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矩形 1">
            <a:extLst>
              <a:ext uri="{FF2B5EF4-FFF2-40B4-BE49-F238E27FC236}">
                <a16:creationId xmlns:a16="http://schemas.microsoft.com/office/drawing/2014/main" id="{08098337-E43E-A9EF-7041-2D515400D4FF}"/>
              </a:ext>
            </a:extLst>
          </p:cNvPr>
          <p:cNvSpPr/>
          <p:nvPr/>
        </p:nvSpPr>
        <p:spPr>
          <a:xfrm>
            <a:off x="409126" y="1254591"/>
            <a:ext cx="6975998" cy="307777"/>
          </a:xfrm>
          <a:prstGeom prst="rect">
            <a:avLst/>
          </a:prstGeom>
        </p:spPr>
        <p:txBody>
          <a:bodyPr wrap="square" lIns="0" tIns="0" rIns="0" bIns="0">
            <a:spAutoFit/>
          </a:bodyPr>
          <a:lstStyle/>
          <a:p>
            <a:r>
              <a:rPr lang="zh-CN" altLang="en-US" sz="2000" dirty="0">
                <a:latin typeface="Arial" panose="020B0604020202020204" pitchFamily="34" charset="0"/>
                <a:ea typeface="黑体" panose="02010609060101010101" pitchFamily="49" charset="-122"/>
                <a:cs typeface="Times New Roman" panose="02020603050405020304" pitchFamily="18" charset="0"/>
              </a:rPr>
              <a:t>常用方法</a:t>
            </a:r>
            <a:r>
              <a:rPr lang="en-US" altLang="zh-CN" sz="2000" dirty="0">
                <a:latin typeface="Arial" panose="020B0604020202020204" pitchFamily="34" charset="0"/>
                <a:ea typeface="黑体" panose="02010609060101010101" pitchFamily="49" charset="-122"/>
                <a:cs typeface="Times New Roman" panose="02020603050405020304" pitchFamily="18" charset="0"/>
              </a:rPr>
              <a:t>:</a:t>
            </a:r>
            <a:r>
              <a:rPr lang="zh-CN" altLang="en-US" sz="2000" dirty="0">
                <a:latin typeface="Arial" panose="020B0604020202020204" pitchFamily="34" charset="0"/>
                <a:ea typeface="黑体" panose="02010609060101010101" pitchFamily="49" charset="-122"/>
                <a:cs typeface="Times New Roman" panose="02020603050405020304" pitchFamily="18" charset="0"/>
              </a:rPr>
              <a:t> 拐点法（手肘法）和 轮廓系数法     </a:t>
            </a:r>
            <a:r>
              <a:rPr lang="zh-CN" altLang="en-US" sz="2000" dirty="0">
                <a:solidFill>
                  <a:srgbClr val="669900"/>
                </a:solidFill>
                <a:latin typeface="Arial" panose="020B0604020202020204" pitchFamily="34" charset="0"/>
                <a:ea typeface="黑体" panose="02010609060101010101" pitchFamily="49" charset="-122"/>
                <a:cs typeface="Times New Roman" panose="02020603050405020304" pitchFamily="18" charset="0"/>
              </a:rPr>
              <a:t>定义新的任务</a:t>
            </a:r>
            <a:endParaRPr lang="en-US" altLang="zh-CN" sz="2000" dirty="0">
              <a:solidFill>
                <a:srgbClr val="669900"/>
              </a:solidFill>
              <a:latin typeface="Arial" panose="020B0604020202020204" pitchFamily="34" charset="0"/>
              <a:ea typeface="黑体" panose="02010609060101010101" pitchFamily="49" charset="-122"/>
              <a:cs typeface="Times New Roman" panose="02020603050405020304" pitchFamily="18" charset="0"/>
            </a:endParaRPr>
          </a:p>
        </p:txBody>
      </p:sp>
      <p:sp>
        <p:nvSpPr>
          <p:cNvPr id="3" name="文本框 2">
            <a:extLst>
              <a:ext uri="{FF2B5EF4-FFF2-40B4-BE49-F238E27FC236}">
                <a16:creationId xmlns:a16="http://schemas.microsoft.com/office/drawing/2014/main" id="{C3A2162E-94EC-7A75-1585-061C56A9A719}"/>
              </a:ext>
            </a:extLst>
          </p:cNvPr>
          <p:cNvSpPr txBox="1"/>
          <p:nvPr/>
        </p:nvSpPr>
        <p:spPr>
          <a:xfrm>
            <a:off x="53621" y="863368"/>
            <a:ext cx="4179915" cy="338554"/>
          </a:xfrm>
          <a:prstGeom prst="rect">
            <a:avLst/>
          </a:prstGeom>
          <a:noFill/>
        </p:spPr>
        <p:txBody>
          <a:bodyPr wrap="square" lIns="0" tIns="0" rIns="0" bIns="0">
            <a:spAutoFit/>
          </a:bodyPr>
          <a:lstStyle/>
          <a:p>
            <a:pPr marL="342900" indent="-342900">
              <a:buFont typeface="Wingdings" panose="05000000000000000000" pitchFamily="2" charset="2"/>
              <a:buChar char="l"/>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超参数</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k</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的选择</a:t>
            </a:r>
            <a:endParaRPr lang="zh-CN" altLang="en-US" sz="2200" dirty="0">
              <a:solidFill>
                <a:srgbClr val="16754D"/>
              </a:solidFill>
              <a:latin typeface="Arial" panose="020B0604020202020204" pitchFamily="34" charset="0"/>
              <a:ea typeface="黑体" panose="02010609060101010101" pitchFamily="49" charset="-122"/>
            </a:endParaRPr>
          </a:p>
        </p:txBody>
      </p:sp>
      <p:sp>
        <p:nvSpPr>
          <p:cNvPr id="7" name="文本框 6">
            <a:extLst>
              <a:ext uri="{FF2B5EF4-FFF2-40B4-BE49-F238E27FC236}">
                <a16:creationId xmlns:a16="http://schemas.microsoft.com/office/drawing/2014/main" id="{41747195-DD88-17A5-3A95-8B4644FD3AE1}"/>
              </a:ext>
            </a:extLst>
          </p:cNvPr>
          <p:cNvSpPr txBox="1"/>
          <p:nvPr/>
        </p:nvSpPr>
        <p:spPr>
          <a:xfrm>
            <a:off x="635036" y="2101768"/>
            <a:ext cx="4625788" cy="369332"/>
          </a:xfrm>
          <a:prstGeom prst="rect">
            <a:avLst/>
          </a:prstGeom>
          <a:noFill/>
        </p:spPr>
        <p:txBody>
          <a:bodyPr wrap="square">
            <a:spAutoFit/>
          </a:bodyPr>
          <a:lstStyle/>
          <a:p>
            <a:r>
              <a:rPr lang="zh-CN" altLang="en-US" b="0" i="0" dirty="0">
                <a:solidFill>
                  <a:srgbClr val="121212"/>
                </a:solidFill>
                <a:effectLst/>
                <a:latin typeface="-apple-system"/>
              </a:rPr>
              <a:t>通过寻找损失值下降的拐点来确定</a:t>
            </a:r>
            <a:r>
              <a:rPr lang="en-US" altLang="zh-CN" b="0" i="0" dirty="0">
                <a:solidFill>
                  <a:srgbClr val="121212"/>
                </a:solidFill>
                <a:effectLst/>
                <a:latin typeface="-apple-system"/>
              </a:rPr>
              <a:t>k</a:t>
            </a:r>
            <a:r>
              <a:rPr lang="zh-CN" altLang="en-US" b="0" i="0" dirty="0">
                <a:solidFill>
                  <a:srgbClr val="121212"/>
                </a:solidFill>
                <a:effectLst/>
                <a:latin typeface="-apple-system"/>
              </a:rPr>
              <a:t>值</a:t>
            </a:r>
            <a:endParaRPr lang="zh-CN" altLang="en-US" dirty="0"/>
          </a:p>
        </p:txBody>
      </p:sp>
      <p:sp>
        <p:nvSpPr>
          <p:cNvPr id="10" name="文本框 9">
            <a:extLst>
              <a:ext uri="{FF2B5EF4-FFF2-40B4-BE49-F238E27FC236}">
                <a16:creationId xmlns:a16="http://schemas.microsoft.com/office/drawing/2014/main" id="{D00ABE58-8135-37F3-F016-BA0AF86B75B5}"/>
              </a:ext>
            </a:extLst>
          </p:cNvPr>
          <p:cNvSpPr txBox="1"/>
          <p:nvPr/>
        </p:nvSpPr>
        <p:spPr>
          <a:xfrm>
            <a:off x="360717" y="1724779"/>
            <a:ext cx="3038699"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手肘法 </a:t>
            </a:r>
            <a:r>
              <a:rPr lang="en-US" altLang="zh-CN" sz="2000" dirty="0">
                <a:latin typeface="Arial" panose="020B0604020202020204" pitchFamily="34" charset="0"/>
                <a:ea typeface="黑体" panose="02010609060101010101" pitchFamily="49" charset="-122"/>
              </a:rPr>
              <a:t>(elbow method)</a:t>
            </a:r>
            <a:endParaRPr lang="zh-CN" altLang="en-US" sz="2000" dirty="0">
              <a:latin typeface="Arial" panose="020B0604020202020204" pitchFamily="34" charset="0"/>
              <a:ea typeface="黑体" panose="02010609060101010101" pitchFamily="49" charset="-122"/>
            </a:endParaRPr>
          </a:p>
        </p:txBody>
      </p:sp>
      <p:sp>
        <p:nvSpPr>
          <p:cNvPr id="11" name="文本框 10">
            <a:extLst>
              <a:ext uri="{FF2B5EF4-FFF2-40B4-BE49-F238E27FC236}">
                <a16:creationId xmlns:a16="http://schemas.microsoft.com/office/drawing/2014/main" id="{19D493C7-3A7A-D9BF-0082-5596099B7308}"/>
              </a:ext>
            </a:extLst>
          </p:cNvPr>
          <p:cNvSpPr txBox="1"/>
          <p:nvPr/>
        </p:nvSpPr>
        <p:spPr>
          <a:xfrm>
            <a:off x="360717" y="3379832"/>
            <a:ext cx="5803416" cy="307777"/>
          </a:xfrm>
          <a:prstGeom prst="rect">
            <a:avLst/>
          </a:prstGeom>
          <a:noFill/>
        </p:spPr>
        <p:txBody>
          <a:bodyPr wrap="square" lIns="0" tIns="0" rIns="0" bIns="0">
            <a:spAutoFit/>
          </a:bodyPr>
          <a:lstStyle/>
          <a:p>
            <a:pPr marL="324000" indent="-324000">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轮廓系数法 </a:t>
            </a:r>
            <a:r>
              <a:rPr lang="en-US" altLang="zh-CN" sz="2000" dirty="0">
                <a:latin typeface="Arial" panose="020B0604020202020204" pitchFamily="34" charset="0"/>
                <a:ea typeface="黑体" panose="02010609060101010101" pitchFamily="49" charset="-122"/>
              </a:rPr>
              <a:t>(Average Silhouette Width)</a:t>
            </a:r>
            <a:endParaRPr lang="zh-CN" altLang="en-US" sz="2000"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7F14A87-C192-5B23-8C83-F0E730403D19}"/>
                  </a:ext>
                </a:extLst>
              </p:cNvPr>
              <p:cNvSpPr txBox="1"/>
              <p:nvPr/>
            </p:nvSpPr>
            <p:spPr>
              <a:xfrm>
                <a:off x="715719" y="3802272"/>
                <a:ext cx="2990291" cy="498406"/>
              </a:xfrm>
              <a:prstGeom prst="rect">
                <a:avLst/>
              </a:prstGeom>
              <a:noFill/>
            </p:spPr>
            <p:txBody>
              <a:bodyPr wrap="square" lIns="0" tIns="0" rIns="0" bIns="0">
                <a:spAutoFit/>
              </a:bodyPr>
              <a:lstStyle/>
              <a:p>
                <a14:m>
                  <m:oMath xmlns:m="http://schemas.openxmlformats.org/officeDocument/2006/math">
                    <m:r>
                      <a:rPr lang="en-US" altLang="zh-CN" sz="2000" b="0" i="1" smtClean="0">
                        <a:latin typeface="Cambria Math" panose="02040503050406030204" pitchFamily="18" charset="0"/>
                      </a:rPr>
                      <m:t>𝑠</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𝑏</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num>
                      <m:den>
                        <m:r>
                          <m:rPr>
                            <m:sty m:val="p"/>
                          </m:rPr>
                          <a:rPr lang="en-US" altLang="zh-CN" sz="2000" b="0" i="0" smtClean="0">
                            <a:latin typeface="Cambria Math" panose="02040503050406030204" pitchFamily="18" charset="0"/>
                          </a:rPr>
                          <m:t>max</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𝑎</m:t>
                        </m:r>
                        <m:d>
                          <m:dPr>
                            <m:ctrlPr>
                              <a:rPr lang="en-US" altLang="zh-CN" sz="2000" b="0" i="1" smtClean="0">
                                <a:latin typeface="Cambria Math" panose="02040503050406030204" pitchFamily="18" charset="0"/>
                              </a:rPr>
                            </m:ctrlPr>
                          </m:dPr>
                          <m:e>
                            <m:r>
                              <a:rPr lang="en-US" altLang="zh-CN" sz="2000" b="0" i="1" smtClean="0">
                                <a:latin typeface="Cambria Math" panose="02040503050406030204" pitchFamily="18" charset="0"/>
                              </a:rPr>
                              <m:t>𝑖</m:t>
                            </m:r>
                          </m:e>
                        </m:d>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𝑏</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den>
                    </m:f>
                  </m:oMath>
                </a14:m>
                <a:r>
                  <a:rPr lang="zh-CN" altLang="en-US" sz="2000" dirty="0">
                    <a:latin typeface="Arial" panose="020B0604020202020204" pitchFamily="34" charset="0"/>
                    <a:ea typeface="黑体" panose="02010609060101010101" pitchFamily="49" charset="-122"/>
                  </a:rPr>
                  <a:t> </a:t>
                </a:r>
                <a:r>
                  <a:rPr lang="en-US" altLang="zh-CN" sz="2000" dirty="0">
                    <a:latin typeface="Arial" panose="020B0604020202020204" pitchFamily="34" charset="0"/>
                    <a:ea typeface="黑体" panose="02010609060101010101" pitchFamily="49" charset="-122"/>
                  </a:rPr>
                  <a:t>, where</a:t>
                </a:r>
                <a:r>
                  <a:rPr lang="zh-CN" altLang="en-US" sz="2000" dirty="0">
                    <a:latin typeface="Arial" panose="020B0604020202020204" pitchFamily="34" charset="0"/>
                    <a:ea typeface="黑体" panose="02010609060101010101" pitchFamily="49" charset="-122"/>
                  </a:rPr>
                  <a:t> </a:t>
                </a:r>
                <a:endParaRPr lang="en-US" altLang="zh-CN" sz="2000" b="0" i="1" dirty="0">
                  <a:latin typeface="Arial" panose="020B0604020202020204" pitchFamily="34" charset="0"/>
                  <a:ea typeface="黑体" panose="02010609060101010101" pitchFamily="49" charset="-122"/>
                </a:endParaRPr>
              </a:p>
            </p:txBody>
          </p:sp>
        </mc:Choice>
        <mc:Fallback xmlns="">
          <p:sp>
            <p:nvSpPr>
              <p:cNvPr id="12" name="文本框 11">
                <a:extLst>
                  <a:ext uri="{FF2B5EF4-FFF2-40B4-BE49-F238E27FC236}">
                    <a16:creationId xmlns:a16="http://schemas.microsoft.com/office/drawing/2014/main" id="{47F14A87-C192-5B23-8C83-F0E730403D19}"/>
                  </a:ext>
                </a:extLst>
              </p:cNvPr>
              <p:cNvSpPr txBox="1">
                <a:spLocks noRot="1" noChangeAspect="1" noMove="1" noResize="1" noEditPoints="1" noAdjustHandles="1" noChangeArrowheads="1" noChangeShapeType="1" noTextEdit="1"/>
              </p:cNvSpPr>
              <p:nvPr/>
            </p:nvSpPr>
            <p:spPr>
              <a:xfrm>
                <a:off x="715719" y="3802272"/>
                <a:ext cx="2990291" cy="498406"/>
              </a:xfrm>
              <a:prstGeom prst="rect">
                <a:avLst/>
              </a:prstGeom>
              <a:blipFill>
                <a:blip r:embed="rId3"/>
                <a:stretch>
                  <a:fillRect r="-2037" b="-864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文本框 14">
                <a:extLst>
                  <a:ext uri="{FF2B5EF4-FFF2-40B4-BE49-F238E27FC236}">
                    <a16:creationId xmlns:a16="http://schemas.microsoft.com/office/drawing/2014/main" id="{A2C7F7AF-0DF9-1710-BEEF-359E2B1C453F}"/>
                  </a:ext>
                </a:extLst>
              </p:cNvPr>
              <p:cNvSpPr txBox="1"/>
              <p:nvPr/>
            </p:nvSpPr>
            <p:spPr>
              <a:xfrm>
                <a:off x="4093621" y="3788998"/>
                <a:ext cx="4577044" cy="98366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𝑎</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den>
                    </m:f>
                    <m:nary>
                      <m:naryPr>
                        <m:chr m:val="∑"/>
                        <m:limLoc m:val="subSup"/>
                        <m:supHide m:val="on"/>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naryPr>
                      <m:sub>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sub>
                      <m:sup/>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e>
                    </m:nary>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𝑏</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e>
                    </m:d>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𝑚𝑖𝑛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𝑐</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𝑖</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cs typeface="+mn-cs"/>
                          </a:rPr>
                          <m:t>)</m:t>
                        </m:r>
                      </m:sub>
                    </m:sSub>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𝑛</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sub>
                        </m:sSub>
                      </m:den>
                    </m:f>
                    <m:nary>
                      <m:naryPr>
                        <m:chr m:val="∑"/>
                        <m:limLoc m:val="subSup"/>
                        <m:supHide m:val="on"/>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naryPr>
                      <m:sub>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𝑐</m:t>
                        </m:r>
                        <m:d>
                          <m:d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dPr>
                          <m:e>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e>
                        </m:d>
                        <m:r>
                          <m:rPr>
                            <m:brk m:alnAt="9"/>
                          </m:r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𝑘</m:t>
                        </m:r>
                      </m:sub>
                      <m:sup/>
                      <m:e>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𝑑</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𝑖</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bPr>
                          <m:e>
                            <m:r>
                              <a:rPr kumimoji="0" lang="en-US" altLang="zh-CN" sz="2000" b="1" i="0" u="none" strike="noStrike" kern="1200" cap="none" spc="0" normalizeH="0" baseline="0" noProof="0" dirty="0" smtClean="0">
                                <a:ln>
                                  <a:noFill/>
                                </a:ln>
                                <a:solidFill>
                                  <a:prstClr val="black"/>
                                </a:solidFill>
                                <a:effectLst/>
                                <a:uLnTx/>
                                <a:uFillTx/>
                                <a:latin typeface="Cambria Math" panose="02040503050406030204" pitchFamily="18" charset="0"/>
                                <a:cs typeface="+mn-cs"/>
                              </a:rPr>
                              <m:t>𝐱</m:t>
                            </m:r>
                          </m:e>
                          <m: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𝑗</m:t>
                            </m:r>
                          </m:sub>
                        </m:sSub>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e>
                    </m:nary>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5" name="文本框 14">
                <a:extLst>
                  <a:ext uri="{FF2B5EF4-FFF2-40B4-BE49-F238E27FC236}">
                    <a16:creationId xmlns:a16="http://schemas.microsoft.com/office/drawing/2014/main" id="{A2C7F7AF-0DF9-1710-BEEF-359E2B1C453F}"/>
                  </a:ext>
                </a:extLst>
              </p:cNvPr>
              <p:cNvSpPr txBox="1">
                <a:spLocks noRot="1" noChangeAspect="1" noMove="1" noResize="1" noEditPoints="1" noAdjustHandles="1" noChangeArrowheads="1" noChangeShapeType="1" noTextEdit="1"/>
              </p:cNvSpPr>
              <p:nvPr/>
            </p:nvSpPr>
            <p:spPr>
              <a:xfrm>
                <a:off x="4093621" y="3788998"/>
                <a:ext cx="4577044" cy="983667"/>
              </a:xfrm>
              <a:prstGeom prst="rect">
                <a:avLst/>
              </a:prstGeom>
              <a:blipFill>
                <a:blip r:embed="rId4"/>
                <a:stretch>
                  <a:fillRect l="-667" t="-48447" b="-6832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文本框 15">
                <a:extLst>
                  <a:ext uri="{FF2B5EF4-FFF2-40B4-BE49-F238E27FC236}">
                    <a16:creationId xmlns:a16="http://schemas.microsoft.com/office/drawing/2014/main" id="{B673D7E3-6E25-F358-4A93-6AAAD8B4298B}"/>
                  </a:ext>
                </a:extLst>
              </p:cNvPr>
              <p:cNvSpPr txBox="1"/>
              <p:nvPr/>
            </p:nvSpPr>
            <p:spPr>
              <a:xfrm>
                <a:off x="715719" y="4868140"/>
                <a:ext cx="6884559" cy="494687"/>
              </a:xfrm>
              <a:prstGeom prst="rect">
                <a:avLst/>
              </a:prstGeom>
              <a:noFill/>
            </p:spPr>
            <p:txBody>
              <a:bodyPr wrap="square" lIns="0" tIns="0" rIns="0" bIns="0">
                <a:spAutoFit/>
              </a:bodyPr>
              <a:lstStyle/>
              <a:p>
                <a:r>
                  <a:rPr lang="en-US" altLang="zh-CN" sz="2000" b="0" dirty="0"/>
                  <a:t> </a:t>
                </a:r>
                <a14:m>
                  <m:oMath xmlns:m="http://schemas.openxmlformats.org/officeDocument/2006/math">
                    <m:r>
                      <a:rPr lang="en-US" altLang="zh-CN" sz="2000" b="0" i="1" smtClean="0">
                        <a:latin typeface="Cambria Math" panose="02040503050406030204" pitchFamily="18" charset="0"/>
                      </a:rPr>
                      <m:t>𝐴𝑆𝑊</m:t>
                    </m:r>
                    <m:d>
                      <m:dPr>
                        <m:ctrlPr>
                          <a:rPr lang="en-US" altLang="zh-CN" sz="2000" b="0" i="1" smtClean="0">
                            <a:latin typeface="Cambria Math" panose="02040503050406030204" pitchFamily="18" charset="0"/>
                          </a:rPr>
                        </m:ctrlPr>
                      </m:dPr>
                      <m:e>
                        <m:sSub>
                          <m:sSubPr>
                            <m:ctrlPr>
                              <a:rPr lang="en-US" altLang="zh-CN" sz="2000" b="0" i="1" smtClean="0">
                                <a:latin typeface="Cambria Math" panose="02040503050406030204" pitchFamily="18" charset="0"/>
                              </a:rPr>
                            </m:ctrlPr>
                          </m:sSubPr>
                          <m:e>
                            <m:r>
                              <a:rPr lang="en-US" altLang="zh-CN" sz="2000" b="0" i="1" smtClean="0">
                                <a:latin typeface="Cambria Math" panose="02040503050406030204" pitchFamily="18" charset="0"/>
                              </a:rPr>
                              <m:t>𝐶</m:t>
                            </m:r>
                          </m:e>
                          <m:sub>
                            <m:r>
                              <a:rPr lang="en-US" altLang="zh-CN" sz="2000" b="0" i="1" smtClean="0">
                                <a:latin typeface="Cambria Math" panose="02040503050406030204" pitchFamily="18" charset="0"/>
                              </a:rPr>
                              <m:t>𝐾</m:t>
                            </m:r>
                          </m:sub>
                        </m:sSub>
                      </m:e>
                    </m:d>
                    <m:r>
                      <a:rPr lang="en-US" altLang="zh-CN" sz="2000" b="0" i="1" smtClean="0">
                        <a:latin typeface="Cambria Math" panose="02040503050406030204" pitchFamily="18" charset="0"/>
                      </a:rPr>
                      <m:t>=</m:t>
                    </m:r>
                    <m:f>
                      <m:fPr>
                        <m:ctrlPr>
                          <a:rPr lang="en-US" altLang="zh-CN" sz="2000" b="0" i="1" smtClean="0">
                            <a:latin typeface="Cambria Math" panose="02040503050406030204" pitchFamily="18" charset="0"/>
                          </a:rPr>
                        </m:ctrlPr>
                      </m:fPr>
                      <m:num>
                        <m:r>
                          <a:rPr lang="en-US" altLang="zh-CN" sz="2000" b="0" i="1" smtClean="0">
                            <a:latin typeface="Cambria Math" panose="02040503050406030204" pitchFamily="18" charset="0"/>
                          </a:rPr>
                          <m:t>1</m:t>
                        </m:r>
                      </m:num>
                      <m:den>
                        <m:r>
                          <a:rPr lang="en-US" altLang="zh-CN" sz="2000" b="0" i="1" smtClean="0">
                            <a:latin typeface="Cambria Math" panose="02040503050406030204" pitchFamily="18" charset="0"/>
                          </a:rPr>
                          <m:t>𝑛</m:t>
                        </m:r>
                      </m:den>
                    </m:f>
                    <m:nary>
                      <m:naryPr>
                        <m:chr m:val="∑"/>
                        <m:ctrlPr>
                          <a:rPr lang="en-US" altLang="zh-CN" sz="2000" b="0" i="1" smtClean="0">
                            <a:latin typeface="Cambria Math" panose="02040503050406030204" pitchFamily="18" charset="0"/>
                          </a:rPr>
                        </m:ctrlPr>
                      </m:naryPr>
                      <m:sub>
                        <m:r>
                          <m:rPr>
                            <m:brk m:alnAt="23"/>
                          </m:rP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=1</m:t>
                        </m:r>
                      </m:sub>
                      <m:sup>
                        <m:r>
                          <a:rPr lang="en-US" altLang="zh-CN" sz="2000" b="0" i="1" smtClean="0">
                            <a:latin typeface="Cambria Math" panose="02040503050406030204" pitchFamily="18" charset="0"/>
                          </a:rPr>
                          <m:t>𝑛</m:t>
                        </m:r>
                      </m:sup>
                      <m:e>
                        <m:r>
                          <a:rPr lang="en-US" altLang="zh-CN" sz="2000" b="0" i="1" smtClean="0">
                            <a:latin typeface="Cambria Math" panose="02040503050406030204" pitchFamily="18" charset="0"/>
                          </a:rPr>
                          <m:t>𝑠</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𝑖</m:t>
                        </m:r>
                        <m:r>
                          <a:rPr lang="en-US" altLang="zh-CN" sz="2000" b="0" i="1" smtClean="0">
                            <a:latin typeface="Cambria Math" panose="02040503050406030204" pitchFamily="18" charset="0"/>
                          </a:rPr>
                          <m:t>)</m:t>
                        </m:r>
                      </m:e>
                    </m:nary>
                  </m:oMath>
                </a14:m>
                <a:r>
                  <a:rPr lang="en-US" altLang="zh-CN" sz="2000" b="0" i="1" dirty="0">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𝐾</m:t>
                        </m:r>
                      </m:e>
                      <m:sub>
                        <m:r>
                          <a:rPr lang="en-US" altLang="zh-CN" sz="2000" i="1">
                            <a:solidFill>
                              <a:prstClr val="black"/>
                            </a:solidFill>
                            <a:latin typeface="Cambria Math" panose="02040503050406030204" pitchFamily="18" charset="0"/>
                          </a:rPr>
                          <m:t>𝐴𝑆𝑊</m:t>
                        </m:r>
                      </m:sub>
                    </m:sSub>
                    <m:r>
                      <a:rPr lang="en-US" altLang="zh-CN" sz="2000" i="1">
                        <a:solidFill>
                          <a:prstClr val="black"/>
                        </a:solidFill>
                        <a:latin typeface="Cambria Math" panose="02040503050406030204" pitchFamily="18" charset="0"/>
                      </a:rPr>
                      <m:t>=</m:t>
                    </m:r>
                    <m:func>
                      <m:funcPr>
                        <m:ctrlPr>
                          <a:rPr lang="en-US" altLang="zh-CN" sz="2000" i="1">
                            <a:solidFill>
                              <a:prstClr val="black"/>
                            </a:solidFill>
                            <a:latin typeface="Cambria Math" panose="02040503050406030204" pitchFamily="18" charset="0"/>
                          </a:rPr>
                        </m:ctrlPr>
                      </m:funcPr>
                      <m:fName>
                        <m:limLow>
                          <m:limLowPr>
                            <m:ctrlPr>
                              <a:rPr lang="en-US" altLang="zh-CN" sz="2000" i="1">
                                <a:solidFill>
                                  <a:prstClr val="black"/>
                                </a:solidFill>
                                <a:latin typeface="Cambria Math" panose="02040503050406030204" pitchFamily="18" charset="0"/>
                              </a:rPr>
                            </m:ctrlPr>
                          </m:limLowPr>
                          <m:e>
                            <m:r>
                              <m:rPr>
                                <m:sty m:val="p"/>
                              </m:rPr>
                              <a:rPr lang="en-US" altLang="zh-CN" sz="2000">
                                <a:solidFill>
                                  <a:prstClr val="black"/>
                                </a:solidFill>
                                <a:latin typeface="Cambria Math" panose="02040503050406030204" pitchFamily="18" charset="0"/>
                              </a:rPr>
                              <m:t>arg</m:t>
                            </m:r>
                            <m:r>
                              <a:rPr lang="en-US" altLang="zh-CN" sz="2000">
                                <a:solidFill>
                                  <a:prstClr val="black"/>
                                </a:solidFill>
                                <a:latin typeface="Cambria Math" panose="02040503050406030204" pitchFamily="18" charset="0"/>
                              </a:rPr>
                              <m:t> </m:t>
                            </m:r>
                            <m:r>
                              <m:rPr>
                                <m:sty m:val="p"/>
                              </m:rPr>
                              <a:rPr lang="en-US" altLang="zh-CN" sz="2000">
                                <a:solidFill>
                                  <a:prstClr val="black"/>
                                </a:solidFill>
                                <a:latin typeface="Cambria Math" panose="02040503050406030204" pitchFamily="18" charset="0"/>
                              </a:rPr>
                              <m:t>max</m:t>
                            </m:r>
                          </m:e>
                          <m:lim>
                            <m:r>
                              <a:rPr lang="en-US" altLang="zh-CN" sz="2000" i="1">
                                <a:solidFill>
                                  <a:prstClr val="black"/>
                                </a:solidFill>
                                <a:latin typeface="Cambria Math" panose="02040503050406030204" pitchFamily="18" charset="0"/>
                              </a:rPr>
                              <m:t>𝑘</m:t>
                            </m:r>
                            <m:r>
                              <a:rPr lang="en-US" altLang="zh-CN" sz="2000" i="1">
                                <a:solidFill>
                                  <a:prstClr val="black"/>
                                </a:solidFill>
                                <a:latin typeface="Cambria Math" panose="02040503050406030204" pitchFamily="18" charset="0"/>
                              </a:rPr>
                              <m:t>=2,⋯,</m:t>
                            </m:r>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𝑘</m:t>
                                </m:r>
                              </m:e>
                              <m:sub>
                                <m:r>
                                  <a:rPr lang="en-US" altLang="zh-CN" sz="2000" i="1">
                                    <a:solidFill>
                                      <a:prstClr val="black"/>
                                    </a:solidFill>
                                    <a:latin typeface="Cambria Math" panose="02040503050406030204" pitchFamily="18" charset="0"/>
                                  </a:rPr>
                                  <m:t>𝑚𝑎𝑥</m:t>
                                </m:r>
                              </m:sub>
                            </m:sSub>
                          </m:lim>
                        </m:limLow>
                      </m:fName>
                      <m:e>
                        <m:r>
                          <a:rPr lang="en-US" altLang="zh-CN" sz="2000" i="1">
                            <a:solidFill>
                              <a:prstClr val="black"/>
                            </a:solidFill>
                            <a:latin typeface="Cambria Math" panose="02040503050406030204" pitchFamily="18" charset="0"/>
                          </a:rPr>
                          <m:t>𝐴𝑆𝑊</m:t>
                        </m:r>
                      </m:e>
                    </m:func>
                    <m:d>
                      <m:dPr>
                        <m:ctrlPr>
                          <a:rPr lang="en-US" altLang="zh-CN" sz="2000" i="1">
                            <a:solidFill>
                              <a:prstClr val="black"/>
                            </a:solidFill>
                            <a:latin typeface="Cambria Math" panose="02040503050406030204" pitchFamily="18" charset="0"/>
                          </a:rPr>
                        </m:ctrlPr>
                      </m:dPr>
                      <m:e>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𝐶</m:t>
                            </m:r>
                          </m:e>
                          <m:sub>
                            <m:r>
                              <a:rPr lang="en-US" altLang="zh-CN" sz="2000" i="1">
                                <a:solidFill>
                                  <a:prstClr val="black"/>
                                </a:solidFill>
                                <a:latin typeface="Cambria Math" panose="02040503050406030204" pitchFamily="18" charset="0"/>
                              </a:rPr>
                              <m:t>𝐾</m:t>
                            </m:r>
                          </m:sub>
                        </m:sSub>
                      </m:e>
                    </m:d>
                  </m:oMath>
                </a14:m>
                <a:endParaRPr lang="en-US" altLang="zh-CN" sz="2000" b="0" i="1" dirty="0">
                  <a:latin typeface="Arial" panose="020B0604020202020204" pitchFamily="34" charset="0"/>
                  <a:ea typeface="黑体" panose="02010609060101010101" pitchFamily="49" charset="-122"/>
                </a:endParaRPr>
              </a:p>
            </p:txBody>
          </p:sp>
        </mc:Choice>
        <mc:Fallback xmlns="">
          <p:sp>
            <p:nvSpPr>
              <p:cNvPr id="16" name="文本框 15">
                <a:extLst>
                  <a:ext uri="{FF2B5EF4-FFF2-40B4-BE49-F238E27FC236}">
                    <a16:creationId xmlns:a16="http://schemas.microsoft.com/office/drawing/2014/main" id="{B673D7E3-6E25-F358-4A93-6AAAD8B4298B}"/>
                  </a:ext>
                </a:extLst>
              </p:cNvPr>
              <p:cNvSpPr txBox="1">
                <a:spLocks noRot="1" noChangeAspect="1" noMove="1" noResize="1" noEditPoints="1" noAdjustHandles="1" noChangeArrowheads="1" noChangeShapeType="1" noTextEdit="1"/>
              </p:cNvSpPr>
              <p:nvPr/>
            </p:nvSpPr>
            <p:spPr>
              <a:xfrm>
                <a:off x="715719" y="4868140"/>
                <a:ext cx="6884559" cy="494687"/>
              </a:xfrm>
              <a:prstGeom prst="rect">
                <a:avLst/>
              </a:prstGeom>
              <a:blipFill>
                <a:blip r:embed="rId5"/>
                <a:stretch>
                  <a:fillRect l="-354" t="-103704" b="-12592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2" name="文本框 21">
                <a:extLst>
                  <a:ext uri="{FF2B5EF4-FFF2-40B4-BE49-F238E27FC236}">
                    <a16:creationId xmlns:a16="http://schemas.microsoft.com/office/drawing/2014/main" id="{8CB76FB6-3485-8789-1703-0ECF7306DBF3}"/>
                  </a:ext>
                </a:extLst>
              </p:cNvPr>
              <p:cNvSpPr txBox="1"/>
              <p:nvPr/>
            </p:nvSpPr>
            <p:spPr>
              <a:xfrm>
                <a:off x="659408" y="2471100"/>
                <a:ext cx="5848968" cy="554767"/>
              </a:xfrm>
              <a:prstGeom prst="rect">
                <a:avLst/>
              </a:prstGeom>
              <a:noFill/>
            </p:spPr>
            <p:txBody>
              <a:bodyPr wrap="square" lIns="0" tIns="0" rIns="0" bIns="0">
                <a:spAutoFit/>
              </a:bodyPr>
              <a:lstStyle/>
              <a:p>
                <a:pPr lvl="0">
                  <a:defRPr/>
                </a:pPr>
                <a:r>
                  <a:rPr kumimoji="0" lang="en-US" altLang="zh-CN" sz="2000" b="0" u="none" strike="noStrike" kern="1200" cap="none" spc="0" normalizeH="0" baseline="0" noProof="0" dirty="0">
                    <a:ln>
                      <a:noFill/>
                    </a:ln>
                    <a:solidFill>
                      <a:prstClr val="black"/>
                    </a:solidFill>
                    <a:effectLst/>
                    <a:uLnTx/>
                    <a:uFillTx/>
                    <a:latin typeface="Times New Roman"/>
                    <a:ea typeface="黑体"/>
                    <a:cs typeface="+mn-cs"/>
                  </a:rPr>
                  <a:t> </a:t>
                </a:r>
                <a14:m>
                  <m:oMath xmlns:m="http://schemas.openxmlformats.org/officeDocument/2006/math">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𝑅𝑀𝑆𝑆𝑇𝐷</m:t>
                    </m:r>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m:t>
                    </m:r>
                    <m:sSup>
                      <m:sSup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sSupPr>
                      <m:e>
                        <m:r>
                          <a:rPr lang="en-US" altLang="zh-CN" sz="2000" i="1" dirty="0">
                            <a:solidFill>
                              <a:prstClr val="black"/>
                            </a:solidFill>
                            <a:latin typeface="Cambria Math" panose="02040503050406030204" pitchFamily="18" charset="0"/>
                          </a:rPr>
                          <m:t>{</m:t>
                        </m:r>
                        <m:f>
                          <m:fPr>
                            <m:ctrlPr>
                              <a:rPr lang="en-US" altLang="zh-CN" sz="2000" i="1" dirty="0">
                                <a:solidFill>
                                  <a:prstClr val="black"/>
                                </a:solidFill>
                                <a:latin typeface="Cambria Math" panose="02040503050406030204" pitchFamily="18" charset="0"/>
                              </a:rPr>
                            </m:ctrlPr>
                          </m:fPr>
                          <m:num>
                            <m:r>
                              <a:rPr lang="en-US" altLang="zh-CN" sz="2000" i="1" dirty="0">
                                <a:solidFill>
                                  <a:prstClr val="black"/>
                                </a:solidFill>
                                <a:latin typeface="Cambria Math" panose="02040503050406030204" pitchFamily="18" charset="0"/>
                              </a:rPr>
                              <m:t>1</m:t>
                            </m:r>
                          </m:num>
                          <m:den>
                            <m:nary>
                              <m:naryPr>
                                <m:chr m:val="∑"/>
                                <m:supHide m:val="on"/>
                                <m:ctrlPr>
                                  <a:rPr lang="en-US" altLang="zh-CN" sz="2000" i="1" dirty="0">
                                    <a:solidFill>
                                      <a:prstClr val="black"/>
                                    </a:solidFill>
                                    <a:latin typeface="Cambria Math" panose="02040503050406030204" pitchFamily="18" charset="0"/>
                                  </a:rPr>
                                </m:ctrlPr>
                              </m:naryPr>
                              <m:sub>
                                <m:r>
                                  <m:rPr>
                                    <m:brk m:alnAt="7"/>
                                  </m:rPr>
                                  <a:rPr lang="en-US" altLang="zh-CN" sz="2000" i="1" dirty="0">
                                    <a:solidFill>
                                      <a:prstClr val="black"/>
                                    </a:solidFill>
                                    <a:latin typeface="Cambria Math" panose="02040503050406030204" pitchFamily="18" charset="0"/>
                                  </a:rPr>
                                  <m:t>𝑖</m:t>
                                </m:r>
                              </m:sub>
                              <m:sup/>
                              <m:e>
                                <m:d>
                                  <m:dPr>
                                    <m:ctrlPr>
                                      <a:rPr lang="en-US" altLang="zh-CN" sz="2000" i="1" dirty="0">
                                        <a:solidFill>
                                          <a:prstClr val="black"/>
                                        </a:solidFill>
                                        <a:latin typeface="Cambria Math" panose="02040503050406030204" pitchFamily="18" charset="0"/>
                                      </a:rPr>
                                    </m:ctrlPr>
                                  </m:dPr>
                                  <m:e>
                                    <m:sSub>
                                      <m:sSubPr>
                                        <m:ctrlPr>
                                          <a:rPr lang="en-US" altLang="zh-CN" sz="2000" i="1" dirty="0">
                                            <a:solidFill>
                                              <a:prstClr val="black"/>
                                            </a:solidFill>
                                            <a:latin typeface="Cambria Math" panose="02040503050406030204" pitchFamily="18" charset="0"/>
                                          </a:rPr>
                                        </m:ctrlPr>
                                      </m:sSubPr>
                                      <m:e>
                                        <m:r>
                                          <a:rPr lang="en-US" altLang="zh-CN" sz="2000" i="1" dirty="0">
                                            <a:solidFill>
                                              <a:prstClr val="black"/>
                                            </a:solidFill>
                                            <a:latin typeface="Cambria Math" panose="02040503050406030204" pitchFamily="18" charset="0"/>
                                          </a:rPr>
                                          <m:t>𝑛</m:t>
                                        </m:r>
                                      </m:e>
                                      <m:sub>
                                        <m:r>
                                          <a:rPr lang="en-US" altLang="zh-CN" sz="2000" i="1" dirty="0">
                                            <a:solidFill>
                                              <a:prstClr val="black"/>
                                            </a:solidFill>
                                            <a:latin typeface="Cambria Math" panose="02040503050406030204" pitchFamily="18" charset="0"/>
                                          </a:rPr>
                                          <m:t>𝑖</m:t>
                                        </m:r>
                                      </m:sub>
                                    </m:sSub>
                                    <m:r>
                                      <a:rPr lang="en-US" altLang="zh-CN" sz="2000" i="1" dirty="0">
                                        <a:solidFill>
                                          <a:prstClr val="black"/>
                                        </a:solidFill>
                                        <a:latin typeface="Cambria Math" panose="02040503050406030204" pitchFamily="18" charset="0"/>
                                      </a:rPr>
                                      <m:t>−1</m:t>
                                    </m:r>
                                  </m:e>
                                </m:d>
                              </m:e>
                            </m:nary>
                          </m:den>
                        </m:f>
                        <m:nary>
                          <m:naryPr>
                            <m:chr m:val="∑"/>
                            <m:limLoc m:val="subSup"/>
                            <m:supHide m:val="on"/>
                            <m:ctrlPr>
                              <a:rPr lang="en-US" altLang="zh-CN" sz="2000" i="1" dirty="0">
                                <a:solidFill>
                                  <a:prstClr val="black"/>
                                </a:solidFill>
                                <a:latin typeface="Cambria Math" panose="02040503050406030204" pitchFamily="18" charset="0"/>
                              </a:rPr>
                            </m:ctrlPr>
                          </m:naryPr>
                          <m:sub>
                            <m:r>
                              <m:rPr>
                                <m:brk m:alnAt="1"/>
                              </m:rPr>
                              <a:rPr lang="en-US" altLang="zh-CN" sz="2000" i="1" dirty="0">
                                <a:solidFill>
                                  <a:prstClr val="black"/>
                                </a:solidFill>
                                <a:latin typeface="Cambria Math" panose="02040503050406030204" pitchFamily="18" charset="0"/>
                              </a:rPr>
                              <m:t>𝑖</m:t>
                            </m:r>
                          </m:sub>
                          <m:sup/>
                          <m:e>
                            <m:nary>
                              <m:naryPr>
                                <m:chr m:val="∑"/>
                                <m:limLoc m:val="subSup"/>
                                <m:supHide m:val="on"/>
                                <m:ctrlPr>
                                  <a:rPr lang="en-US" altLang="zh-CN" sz="2000" i="1" dirty="0">
                                    <a:solidFill>
                                      <a:prstClr val="black"/>
                                    </a:solidFill>
                                    <a:latin typeface="Cambria Math" panose="02040503050406030204" pitchFamily="18" charset="0"/>
                                    <a:ea typeface="Cambria Math" panose="02040503050406030204" pitchFamily="18" charset="0"/>
                                  </a:rPr>
                                </m:ctrlPr>
                              </m:naryPr>
                              <m:sub>
                                <m:r>
                                  <m:rPr>
                                    <m:brk m:alnAt="9"/>
                                  </m:rPr>
                                  <a:rPr lang="en-US" altLang="zh-CN" sz="2000" i="1" dirty="0">
                                    <a:solidFill>
                                      <a:prstClr val="black"/>
                                    </a:solidFill>
                                    <a:latin typeface="Cambria Math" panose="02040503050406030204" pitchFamily="18" charset="0"/>
                                    <a:ea typeface="Cambria Math" panose="02040503050406030204" pitchFamily="18" charset="0"/>
                                  </a:rPr>
                                  <m:t>𝑥</m:t>
                                </m:r>
                                <m:r>
                                  <a:rPr lang="en-US" altLang="zh-CN" sz="2000" i="1" dirty="0">
                                    <a:solidFill>
                                      <a:prstClr val="black"/>
                                    </a:solidFill>
                                    <a:latin typeface="Cambria Math" panose="02040503050406030204" pitchFamily="18" charset="0"/>
                                    <a:ea typeface="Cambria Math" panose="02040503050406030204" pitchFamily="18" charset="0"/>
                                  </a:rPr>
                                  <m:t>∈</m:t>
                                </m:r>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a:rPr lang="en-US" altLang="zh-CN" sz="2000" i="1" dirty="0">
                                        <a:solidFill>
                                          <a:prstClr val="black"/>
                                        </a:solidFill>
                                        <a:latin typeface="Cambria Math" panose="02040503050406030204" pitchFamily="18" charset="0"/>
                                        <a:ea typeface="Cambria Math" panose="02040503050406030204" pitchFamily="18" charset="0"/>
                                      </a:rPr>
                                      <m:t>𝐶</m:t>
                                    </m:r>
                                  </m:e>
                                  <m:sub>
                                    <m:r>
                                      <a:rPr lang="en-US" altLang="zh-CN" sz="2000" i="1" dirty="0">
                                        <a:solidFill>
                                          <a:prstClr val="black"/>
                                        </a:solidFill>
                                        <a:latin typeface="Cambria Math" panose="02040503050406030204" pitchFamily="18" charset="0"/>
                                        <a:ea typeface="Cambria Math" panose="02040503050406030204" pitchFamily="18" charset="0"/>
                                      </a:rPr>
                                      <m:t>𝑖</m:t>
                                    </m:r>
                                  </m:sub>
                                </m:sSub>
                              </m:sub>
                              <m:sup/>
                              <m:e>
                                <m:sSup>
                                  <m:sSupPr>
                                    <m:ctrlPr>
                                      <a:rPr lang="en-US" altLang="zh-CN" sz="2000" i="1" dirty="0">
                                        <a:solidFill>
                                          <a:prstClr val="black"/>
                                        </a:solidFill>
                                        <a:latin typeface="Cambria Math" panose="02040503050406030204" pitchFamily="18" charset="0"/>
                                        <a:ea typeface="Cambria Math" panose="02040503050406030204" pitchFamily="18" charset="0"/>
                                      </a:rPr>
                                    </m:ctrlPr>
                                  </m:sSupPr>
                                  <m:e>
                                    <m:d>
                                      <m:dPr>
                                        <m:begChr m:val="‖"/>
                                        <m:endChr m:val="‖"/>
                                        <m:ctrlPr>
                                          <a:rPr lang="en-US" altLang="zh-CN" sz="2000" i="1" dirty="0">
                                            <a:solidFill>
                                              <a:prstClr val="black"/>
                                            </a:solidFill>
                                            <a:latin typeface="Cambria Math" panose="02040503050406030204" pitchFamily="18" charset="0"/>
                                            <a:ea typeface="Cambria Math" panose="02040503050406030204" pitchFamily="18" charset="0"/>
                                          </a:rPr>
                                        </m:ctrlPr>
                                      </m:dPr>
                                      <m:e>
                                        <m:r>
                                          <a:rPr lang="en-US" altLang="zh-CN" sz="2000" i="1" dirty="0">
                                            <a:solidFill>
                                              <a:prstClr val="black"/>
                                            </a:solidFill>
                                            <a:latin typeface="Cambria Math" panose="02040503050406030204" pitchFamily="18" charset="0"/>
                                            <a:ea typeface="Cambria Math" panose="02040503050406030204" pitchFamily="18" charset="0"/>
                                          </a:rPr>
                                          <m:t>𝑥</m:t>
                                        </m:r>
                                        <m:r>
                                          <a:rPr lang="en-US" altLang="zh-CN" sz="2000" i="1" dirty="0">
                                            <a:solidFill>
                                              <a:prstClr val="black"/>
                                            </a:solidFill>
                                            <a:latin typeface="Cambria Math" panose="02040503050406030204" pitchFamily="18" charset="0"/>
                                            <a:ea typeface="Cambria Math" panose="02040503050406030204" pitchFamily="18" charset="0"/>
                                          </a:rPr>
                                          <m:t>−</m:t>
                                        </m:r>
                                        <m:sSub>
                                          <m:sSubPr>
                                            <m:ctrlPr>
                                              <a:rPr lang="en-US" altLang="zh-CN" sz="2000" i="1" dirty="0">
                                                <a:solidFill>
                                                  <a:prstClr val="black"/>
                                                </a:solidFill>
                                                <a:latin typeface="Cambria Math" panose="02040503050406030204" pitchFamily="18" charset="0"/>
                                                <a:ea typeface="Cambria Math" panose="02040503050406030204" pitchFamily="18" charset="0"/>
                                              </a:rPr>
                                            </m:ctrlPr>
                                          </m:sSubPr>
                                          <m:e>
                                            <m:r>
                                              <a:rPr lang="en-US" altLang="zh-CN" sz="2000" i="1" dirty="0">
                                                <a:solidFill>
                                                  <a:prstClr val="black"/>
                                                </a:solidFill>
                                                <a:latin typeface="Cambria Math" panose="02040503050406030204" pitchFamily="18" charset="0"/>
                                                <a:ea typeface="Cambria Math" panose="02040503050406030204" pitchFamily="18" charset="0"/>
                                              </a:rPr>
                                              <m:t>𝑐</m:t>
                                            </m:r>
                                          </m:e>
                                          <m:sub>
                                            <m:r>
                                              <a:rPr lang="en-US" altLang="zh-CN" sz="2000" i="1" dirty="0">
                                                <a:solidFill>
                                                  <a:prstClr val="black"/>
                                                </a:solidFill>
                                                <a:latin typeface="Cambria Math" panose="02040503050406030204" pitchFamily="18" charset="0"/>
                                                <a:ea typeface="Cambria Math" panose="02040503050406030204" pitchFamily="18" charset="0"/>
                                              </a:rPr>
                                              <m:t>𝑖</m:t>
                                            </m:r>
                                          </m:sub>
                                        </m:sSub>
                                      </m:e>
                                    </m:d>
                                  </m:e>
                                  <m:sup>
                                    <m:r>
                                      <a:rPr lang="en-US" altLang="zh-CN" sz="2000" i="1" dirty="0">
                                        <a:solidFill>
                                          <a:prstClr val="black"/>
                                        </a:solidFill>
                                        <a:latin typeface="Cambria Math" panose="02040503050406030204" pitchFamily="18" charset="0"/>
                                        <a:ea typeface="Cambria Math" panose="02040503050406030204" pitchFamily="18" charset="0"/>
                                      </a:rPr>
                                      <m:t>2</m:t>
                                    </m:r>
                                  </m:sup>
                                </m:sSup>
                              </m:e>
                            </m:nary>
                          </m:e>
                        </m:nary>
                        <m:r>
                          <a:rPr lang="en-US" altLang="zh-CN" sz="2000" i="1" dirty="0">
                            <a:solidFill>
                              <a:prstClr val="black"/>
                            </a:solidFill>
                            <a:latin typeface="Cambria Math" panose="02040503050406030204" pitchFamily="18" charset="0"/>
                          </a:rPr>
                          <m:t>}</m:t>
                        </m:r>
                      </m:e>
                      <m:sup>
                        <m:f>
                          <m:fPr>
                            <m:ctrlP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1</m:t>
                            </m:r>
                          </m:num>
                          <m:den>
                            <m:r>
                              <a:rPr kumimoji="0" lang="en-US" altLang="zh-CN" sz="2000" b="0" i="1" u="none" strike="noStrike" kern="1200" cap="none" spc="0" normalizeH="0" baseline="0" noProof="0" dirty="0" smtClean="0">
                                <a:ln>
                                  <a:noFill/>
                                </a:ln>
                                <a:solidFill>
                                  <a:prstClr val="black"/>
                                </a:solidFill>
                                <a:effectLst/>
                                <a:uLnTx/>
                                <a:uFillTx/>
                                <a:latin typeface="Cambria Math" panose="02040503050406030204" pitchFamily="18" charset="0"/>
                                <a:cs typeface="+mn-cs"/>
                              </a:rPr>
                              <m:t>2</m:t>
                            </m:r>
                          </m:den>
                        </m:f>
                      </m:sup>
                    </m:sSup>
                  </m:oMath>
                </a14:m>
                <a:endParaRPr kumimoji="0" lang="en-US" altLang="zh-CN" sz="20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22" name="文本框 21">
                <a:extLst>
                  <a:ext uri="{FF2B5EF4-FFF2-40B4-BE49-F238E27FC236}">
                    <a16:creationId xmlns:a16="http://schemas.microsoft.com/office/drawing/2014/main" id="{8CB76FB6-3485-8789-1703-0ECF7306DBF3}"/>
                  </a:ext>
                </a:extLst>
              </p:cNvPr>
              <p:cNvSpPr txBox="1">
                <a:spLocks noRot="1" noChangeAspect="1" noMove="1" noResize="1" noEditPoints="1" noAdjustHandles="1" noChangeArrowheads="1" noChangeShapeType="1" noTextEdit="1"/>
              </p:cNvSpPr>
              <p:nvPr/>
            </p:nvSpPr>
            <p:spPr>
              <a:xfrm>
                <a:off x="659408" y="2471100"/>
                <a:ext cx="5848968" cy="554767"/>
              </a:xfrm>
              <a:prstGeom prst="rect">
                <a:avLst/>
              </a:prstGeom>
              <a:blipFill>
                <a:blip r:embed="rId6"/>
                <a:stretch>
                  <a:fillRect/>
                </a:stretch>
              </a:blipFill>
            </p:spPr>
            <p:txBody>
              <a:bodyPr/>
              <a:lstStyle/>
              <a:p>
                <a:r>
                  <a:rPr lang="zh-CN" altLang="en-US">
                    <a:noFill/>
                  </a:rPr>
                  <a:t> </a:t>
                </a:r>
              </a:p>
            </p:txBody>
          </p:sp>
        </mc:Fallback>
      </mc:AlternateContent>
      <p:sp>
        <p:nvSpPr>
          <p:cNvPr id="25" name="文本框 24">
            <a:extLst>
              <a:ext uri="{FF2B5EF4-FFF2-40B4-BE49-F238E27FC236}">
                <a16:creationId xmlns:a16="http://schemas.microsoft.com/office/drawing/2014/main" id="{F689F663-6251-89F0-D94C-5792031DA094}"/>
              </a:ext>
            </a:extLst>
          </p:cNvPr>
          <p:cNvSpPr txBox="1"/>
          <p:nvPr/>
        </p:nvSpPr>
        <p:spPr>
          <a:xfrm>
            <a:off x="147917" y="5741068"/>
            <a:ext cx="8848165" cy="830997"/>
          </a:xfrm>
          <a:prstGeom prst="rect">
            <a:avLst/>
          </a:prstGeom>
          <a:noFill/>
        </p:spPr>
        <p:txBody>
          <a:bodyPr wrap="square" lIns="0" tIns="0" rIns="0" bIns="0">
            <a:spAutoFit/>
          </a:bodyPr>
          <a:lstStyle/>
          <a:p>
            <a:pPr marL="285750" indent="-285750">
              <a:buFont typeface="Wingdings" panose="05000000000000000000" pitchFamily="2" charset="2"/>
              <a:buChar char="ü"/>
            </a:pPr>
            <a:r>
              <a:rPr lang="en-US" altLang="zh-CN" b="0" i="0" dirty="0">
                <a:solidFill>
                  <a:srgbClr val="2E414F"/>
                </a:solidFill>
                <a:effectLst/>
                <a:latin typeface="Roboto"/>
              </a:rPr>
              <a:t>Liu, </a:t>
            </a:r>
            <a:r>
              <a:rPr lang="en-US" altLang="zh-CN" b="0" i="0" dirty="0" err="1">
                <a:solidFill>
                  <a:srgbClr val="2E414F"/>
                </a:solidFill>
                <a:effectLst/>
                <a:latin typeface="Roboto"/>
              </a:rPr>
              <a:t>Yanchi</a:t>
            </a:r>
            <a:r>
              <a:rPr lang="en-US" altLang="zh-CN" b="0" i="0" dirty="0">
                <a:solidFill>
                  <a:srgbClr val="2E414F"/>
                </a:solidFill>
                <a:effectLst/>
                <a:latin typeface="Roboto"/>
              </a:rPr>
              <a:t>, </a:t>
            </a:r>
            <a:r>
              <a:rPr lang="en-US" altLang="zh-CN" b="0" i="0" dirty="0" err="1">
                <a:solidFill>
                  <a:srgbClr val="2E414F"/>
                </a:solidFill>
                <a:effectLst/>
                <a:latin typeface="Roboto"/>
              </a:rPr>
              <a:t>Zhongmou</a:t>
            </a:r>
            <a:r>
              <a:rPr lang="en-US" altLang="zh-CN" b="0" i="0" dirty="0">
                <a:solidFill>
                  <a:srgbClr val="2E414F"/>
                </a:solidFill>
                <a:effectLst/>
                <a:latin typeface="Roboto"/>
              </a:rPr>
              <a:t> Li, Hui Xiong, Xuedong Gao and J. Wu. “Understanding of Internal Clustering Validation Measures.” </a:t>
            </a:r>
            <a:r>
              <a:rPr lang="en-US" altLang="zh-CN" b="0" i="1" dirty="0">
                <a:solidFill>
                  <a:srgbClr val="2E414F"/>
                </a:solidFill>
                <a:effectLst/>
                <a:latin typeface="Roboto"/>
              </a:rPr>
              <a:t>2010 IEEE International Conference on Data Mining</a:t>
            </a:r>
            <a:r>
              <a:rPr lang="en-US" altLang="zh-CN" b="0" i="0" dirty="0">
                <a:solidFill>
                  <a:srgbClr val="2E414F"/>
                </a:solidFill>
                <a:effectLst/>
                <a:latin typeface="Roboto"/>
              </a:rPr>
              <a:t> (2010): 911-916.</a:t>
            </a:r>
            <a:endParaRPr lang="zh-CN" altLang="en-US" dirty="0"/>
          </a:p>
        </p:txBody>
      </p:sp>
      <p:sp>
        <p:nvSpPr>
          <p:cNvPr id="27" name="文本框 26">
            <a:extLst>
              <a:ext uri="{FF2B5EF4-FFF2-40B4-BE49-F238E27FC236}">
                <a16:creationId xmlns:a16="http://schemas.microsoft.com/office/drawing/2014/main" id="{DDB621CD-12C7-60B7-B8F5-EF4D9CF79518}"/>
              </a:ext>
            </a:extLst>
          </p:cNvPr>
          <p:cNvSpPr txBox="1"/>
          <p:nvPr/>
        </p:nvSpPr>
        <p:spPr>
          <a:xfrm>
            <a:off x="5723069" y="2557463"/>
            <a:ext cx="960287" cy="307777"/>
          </a:xfrm>
          <a:prstGeom prst="rect">
            <a:avLst/>
          </a:prstGeom>
          <a:noFill/>
        </p:spPr>
        <p:txBody>
          <a:bodyPr wrap="square" lIns="0" tIns="0" rIns="0" bIns="0">
            <a:spAutoFit/>
          </a:bodyPr>
          <a:lstStyle/>
          <a:p>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elbow</a:t>
            </a:r>
            <a:endParaRPr lang="zh-CN" altLang="en-US" dirty="0"/>
          </a:p>
        </p:txBody>
      </p:sp>
    </p:spTree>
    <p:extLst>
      <p:ext uri="{BB962C8B-B14F-4D97-AF65-F5344CB8AC3E}">
        <p14:creationId xmlns:p14="http://schemas.microsoft.com/office/powerpoint/2010/main" val="396556741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9" name="TextBox 8"/>
              <p:cNvSpPr txBox="1"/>
              <p:nvPr/>
            </p:nvSpPr>
            <p:spPr>
              <a:xfrm>
                <a:off x="156689" y="2101112"/>
                <a:ext cx="2529444" cy="83099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训练映射函数</a:t>
                </a:r>
                <a14:m>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𝑓</m:t>
                    </m:r>
                  </m:oMath>
                </a14:m>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使得 </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a:ea typeface="黑体" pitchFamily="49" charset="-122"/>
                        <a:cs typeface="+mn-cs"/>
                      </a:rPr>
                      <m:t>𝑓</m:t>
                    </m:r>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𝑥</m:t>
                        </m:r>
                      </m:e>
                      <m:sub>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1800" b="0" i="1" u="none" strike="noStrike" kern="1200" cap="none" spc="0" normalizeH="0" baseline="0" noProof="0" smtClean="0">
                        <a:ln>
                          <a:noFill/>
                        </a:ln>
                        <a:solidFill>
                          <a:prstClr val="black"/>
                        </a:solidFill>
                        <a:effectLst/>
                        <a:uLnTx/>
                        <a:uFillTx/>
                        <a:latin typeface="Cambria Math"/>
                        <a:ea typeface="黑体" pitchFamily="49" charset="-122"/>
                        <a:cs typeface="+mn-cs"/>
                      </a:rPr>
                      <m:t>)</m:t>
                    </m:r>
                  </m:oMath>
                </a14:m>
                <a:r>
                  <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预测结果尽量等于</a:t>
                </a:r>
                <a14:m>
                  <m:oMath xmlns:m="http://schemas.openxmlformats.org/officeDocument/2006/math">
                    <m:sSub>
                      <m:sSubPr>
                        <m:ctrlPr>
                          <a:rPr kumimoji="0" lang="en-US" altLang="zh-CN" sz="1800" b="0" i="1" u="none" strike="noStrike" kern="1200" cap="none" spc="0" normalizeH="0" baseline="0" noProof="0" dirty="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1800" b="0" i="1" u="none" strike="noStrike" kern="1200" cap="none" spc="0" normalizeH="0" baseline="0" noProof="0" dirty="0" smtClean="0">
                            <a:ln>
                              <a:noFill/>
                            </a:ln>
                            <a:solidFill>
                              <a:prstClr val="black"/>
                            </a:solidFill>
                            <a:effectLst/>
                            <a:uLnTx/>
                            <a:uFillTx/>
                            <a:latin typeface="Cambria Math"/>
                            <a:ea typeface="黑体" pitchFamily="49" charset="-122"/>
                            <a:cs typeface="+mn-cs"/>
                          </a:rPr>
                          <m:t>𝑦</m:t>
                        </m:r>
                      </m:e>
                      <m:sub>
                        <m:r>
                          <a:rPr kumimoji="0" lang="en-US" altLang="zh-CN" sz="1800" b="0" i="1" u="none" strike="noStrike" kern="1200" cap="none" spc="0" normalizeH="0" baseline="0" noProof="0" dirty="0" smtClean="0">
                            <a:ln>
                              <a:noFill/>
                            </a:ln>
                            <a:solidFill>
                              <a:prstClr val="black"/>
                            </a:solidFill>
                            <a:effectLst/>
                            <a:uLnTx/>
                            <a:uFillTx/>
                            <a:latin typeface="Cambria Math"/>
                            <a:ea typeface="黑体" pitchFamily="49" charset="-122"/>
                            <a:cs typeface="+mn-cs"/>
                          </a:rPr>
                          <m:t>𝑖</m:t>
                        </m:r>
                      </m:sub>
                    </m:sSub>
                  </m:oMath>
                </a14:m>
                <a:endParaRPr kumimoji="0" lang="en-US" altLang="zh-CN"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TextBox 8"/>
              <p:cNvSpPr txBox="1">
                <a:spLocks noRot="1" noChangeAspect="1" noMove="1" noResize="1" noEditPoints="1" noAdjustHandles="1" noChangeArrowheads="1" noChangeShapeType="1" noTextEdit="1"/>
              </p:cNvSpPr>
              <p:nvPr/>
            </p:nvSpPr>
            <p:spPr>
              <a:xfrm>
                <a:off x="156689" y="2101112"/>
                <a:ext cx="2529444" cy="830997"/>
              </a:xfrm>
              <a:prstGeom prst="rect">
                <a:avLst/>
              </a:prstGeom>
              <a:blipFill>
                <a:blip r:embed="rId2"/>
                <a:stretch>
                  <a:fillRect l="-5060" t="-11029" r="-4819" b="-14706"/>
                </a:stretch>
              </a:blipFill>
            </p:spPr>
            <p:txBody>
              <a:bodyPr/>
              <a:lstStyle/>
              <a:p>
                <a:r>
                  <a:rPr lang="zh-CN" altLang="en-US">
                    <a:noFill/>
                  </a:rPr>
                  <a:t> </a:t>
                </a:r>
              </a:p>
            </p:txBody>
          </p:sp>
        </mc:Fallback>
      </mc:AlternateContent>
      <p:sp>
        <p:nvSpPr>
          <p:cNvPr id="4" name="上箭头 3"/>
          <p:cNvSpPr/>
          <p:nvPr/>
        </p:nvSpPr>
        <p:spPr>
          <a:xfrm>
            <a:off x="1325339" y="3189854"/>
            <a:ext cx="237519" cy="501144"/>
          </a:xfrm>
          <a:prstGeom prst="upArrow">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2" name="矩形 11"/>
              <p:cNvSpPr/>
              <p:nvPr/>
            </p:nvSpPr>
            <p:spPr>
              <a:xfrm>
                <a:off x="2926604" y="1221132"/>
                <a:ext cx="6098771" cy="2617063"/>
              </a:xfrm>
              <a:prstGeom prst="rect">
                <a:avLst/>
              </a:prstGeom>
            </p:spPr>
            <p:txBody>
              <a:bodyPr wrap="square" lIns="0" tIns="0" rIns="0" bIns="0">
                <a:spAutoFit/>
              </a:bodyPr>
              <a:lstStyle/>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训练集中一共有</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个标注数据，第</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个标注数据记为</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其中第</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𝑖</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个样本数据为</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是</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的标注信息。</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从训练数据中学习得到的映射函数记为</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𝑓</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a:ea typeface="黑体" pitchFamily="49" charset="-122"/>
                        <a:cs typeface="+mn-cs"/>
                      </a:rPr>
                      <m:t>𝑓</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的预测结果记为</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。损失函数就是用来计算</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真实值</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𝑦</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与预测值</a:t>
                </a:r>
                <a14:m>
                  <m:oMath xmlns:m="http://schemas.openxmlformats.org/officeDocument/2006/math">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𝑓</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baseline="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之间差值的函数。</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a:p>
                <a:pPr marL="324000" marR="0" lvl="0" indent="-324000" algn="l" defTabSz="914400" rtl="0" eaLnBrk="1" fontAlgn="auto" latinLnBrk="0" hangingPunct="1">
                  <a:lnSpc>
                    <a:spcPct val="100000"/>
                  </a:lnSpc>
                  <a:spcBef>
                    <a:spcPts val="600"/>
                  </a:spcBef>
                  <a:spcAft>
                    <a:spcPts val="0"/>
                  </a:spcAft>
                  <a:buClrTx/>
                  <a:buSzTx/>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很显然，在训练过程中希望映射函数在训练数据集上得到 “损失”之和最小，即</a:t>
                </a:r>
                <a14:m>
                  <m:oMath xmlns:m="http://schemas.openxmlformats.org/officeDocument/2006/math">
                    <m:r>
                      <m:rPr>
                        <m:sty m:val="p"/>
                      </m:rPr>
                      <a:rPr kumimoji="0" lang="en-US" altLang="zh-CN" sz="2000" b="0" i="0" u="none" strike="noStrike" kern="1200" cap="none" spc="0" normalizeH="0" baseline="0" noProof="0" smtClean="0">
                        <a:ln>
                          <a:noFill/>
                        </a:ln>
                        <a:solidFill>
                          <a:prstClr val="black"/>
                        </a:solidFill>
                        <a:effectLst/>
                        <a:uLnTx/>
                        <a:uFillTx/>
                        <a:latin typeface="Cambria Math"/>
                        <a:ea typeface="黑体" pitchFamily="49" charset="-122"/>
                        <a:cs typeface="+mn-cs"/>
                      </a:rPr>
                      <m:t>min</m:t>
                    </m:r>
                    <m:nary>
                      <m:naryPr>
                        <m:chr m:val="∑"/>
                        <m:limLoc m:val="subSup"/>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naryPr>
                      <m:sub>
                        <m:r>
                          <m:rPr>
                            <m:brk m:alnAt="25"/>
                          </m:rP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1</m:t>
                        </m:r>
                      </m:sub>
                      <m:sup>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𝑛</m:t>
                        </m:r>
                      </m:sup>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𝐿𝑜𝑠𝑠</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𝑓</m:t>
                        </m:r>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𝑥</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itchFamily="49" charset="-122"/>
                                <a:cs typeface="+mn-cs"/>
                              </a:rPr>
                            </m:ctrlPr>
                          </m:sSubPr>
                          <m:e>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𝑦</m:t>
                            </m:r>
                          </m:e>
                          <m: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𝑖</m:t>
                            </m:r>
                          </m:sub>
                        </m:sSub>
                        <m:r>
                          <a:rPr kumimoji="0" lang="en-US" altLang="zh-CN" sz="2000" b="0" i="1" u="none" strike="noStrike" kern="1200" cap="none" spc="0" normalizeH="0" baseline="0" noProof="0" smtClean="0">
                            <a:ln>
                              <a:noFill/>
                            </a:ln>
                            <a:solidFill>
                              <a:prstClr val="black"/>
                            </a:solidFill>
                            <a:effectLst/>
                            <a:uLnTx/>
                            <a:uFillTx/>
                            <a:latin typeface="Cambria Math"/>
                            <a:ea typeface="黑体" pitchFamily="49" charset="-122"/>
                            <a:cs typeface="+mn-cs"/>
                          </a:rPr>
                          <m:t>)</m:t>
                        </m:r>
                      </m:e>
                    </m:nary>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mc:Choice>
        <mc:Fallback xmlns="">
          <p:sp>
            <p:nvSpPr>
              <p:cNvPr id="12" name="矩形 11"/>
              <p:cNvSpPr>
                <a:spLocks noRot="1" noChangeAspect="1" noMove="1" noResize="1" noEditPoints="1" noAdjustHandles="1" noChangeArrowheads="1" noChangeShapeType="1" noTextEdit="1"/>
              </p:cNvSpPr>
              <p:nvPr/>
            </p:nvSpPr>
            <p:spPr>
              <a:xfrm>
                <a:off x="2926604" y="1221132"/>
                <a:ext cx="6098771" cy="2617063"/>
              </a:xfrm>
              <a:prstGeom prst="rect">
                <a:avLst/>
              </a:prstGeom>
              <a:blipFill>
                <a:blip r:embed="rId3"/>
                <a:stretch>
                  <a:fillRect l="-2398" t="-3488" r="-6593" b="-29070"/>
                </a:stretch>
              </a:blipFill>
            </p:spPr>
            <p:txBody>
              <a:bodyPr/>
              <a:lstStyle/>
              <a:p>
                <a:r>
                  <a:rPr lang="zh-CN" altLang="en-US">
                    <a:noFill/>
                  </a:rPr>
                  <a:t> </a:t>
                </a:r>
              </a:p>
            </p:txBody>
          </p:sp>
        </mc:Fallback>
      </mc:AlternateContent>
      <p:sp>
        <p:nvSpPr>
          <p:cNvPr id="5" name="矩形 4">
            <a:extLst>
              <a:ext uri="{FF2B5EF4-FFF2-40B4-BE49-F238E27FC236}">
                <a16:creationId xmlns:a16="http://schemas.microsoft.com/office/drawing/2014/main" id="{A9872EFF-8609-3989-FBA7-D1EC20C9138E}"/>
              </a:ext>
            </a:extLst>
          </p:cNvPr>
          <p:cNvSpPr/>
          <p:nvPr/>
        </p:nvSpPr>
        <p:spPr>
          <a:xfrm>
            <a:off x="217253" y="1638253"/>
            <a:ext cx="2468880" cy="430766"/>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分类</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识别</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推荐</a:t>
            </a:r>
            <a:r>
              <a:rPr kumimoji="0" lang="en-US" altLang="zh-CN"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rPr>
              <a:t>, …</a:t>
            </a:r>
            <a:endParaRPr kumimoji="0" lang="zh-CN" altLang="en-US" sz="1800" b="0" i="0" u="none" strike="noStrike" kern="1200" cap="none" spc="0" normalizeH="0" baseline="0" noProof="0" dirty="0">
              <a:ln>
                <a:noFill/>
              </a:ln>
              <a:solidFill>
                <a:prstClr val="white"/>
              </a:solidFill>
              <a:effectLst/>
              <a:uLnTx/>
              <a:uFillTx/>
              <a:latin typeface="Arial" panose="020B0604020202020204" pitchFamily="34" charset="0"/>
              <a:ea typeface="黑体" panose="02010609060101010101" pitchFamily="49" charset="-122"/>
              <a:cs typeface="+mn-cs"/>
            </a:endParaRPr>
          </a:p>
        </p:txBody>
      </p:sp>
      <p:sp>
        <p:nvSpPr>
          <p:cNvPr id="8" name="文本框 7">
            <a:extLst>
              <a:ext uri="{FF2B5EF4-FFF2-40B4-BE49-F238E27FC236}">
                <a16:creationId xmlns:a16="http://schemas.microsoft.com/office/drawing/2014/main" id="{B8040F63-BAEC-3AD5-4E92-835EFDFDCD99}"/>
              </a:ext>
            </a:extLst>
          </p:cNvPr>
          <p:cNvSpPr txBox="1"/>
          <p:nvPr/>
        </p:nvSpPr>
        <p:spPr>
          <a:xfrm>
            <a:off x="38750" y="899689"/>
            <a:ext cx="4387624" cy="307777"/>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损失函数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(loss function)    </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监督学习</a:t>
            </a:r>
            <a:endParaRPr kumimoji="0" lang="zh-CN" altLang="en-US" sz="1600" b="0" i="0" u="none" strike="noStrike" kern="1200" cap="none" spc="0" normalizeH="0" baseline="0" noProof="0" dirty="0">
              <a:ln>
                <a:noFill/>
              </a:ln>
              <a:solidFill>
                <a:srgbClr val="347F5F"/>
              </a:solidFill>
              <a:effectLst/>
              <a:uLnTx/>
              <a:uFillTx/>
              <a:latin typeface="Arial" panose="020B0604020202020204" pitchFamily="34" charset="0"/>
              <a:ea typeface="黑体" panose="02010609060101010101" pitchFamily="49" charset="-122"/>
              <a:cs typeface="+mn-cs"/>
            </a:endParaRPr>
          </a:p>
        </p:txBody>
      </p:sp>
      <p:sp>
        <p:nvSpPr>
          <p:cNvPr id="11" name="标题 10">
            <a:extLst>
              <a:ext uri="{FF2B5EF4-FFF2-40B4-BE49-F238E27FC236}">
                <a16:creationId xmlns:a16="http://schemas.microsoft.com/office/drawing/2014/main" id="{1C84BBD6-6D0F-49BA-E10A-4FB4DC57E78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graphicFrame>
            <p:nvGraphicFramePr>
              <p:cNvPr id="13" name="表格 12">
                <a:extLst>
                  <a:ext uri="{FF2B5EF4-FFF2-40B4-BE49-F238E27FC236}">
                    <a16:creationId xmlns:a16="http://schemas.microsoft.com/office/drawing/2014/main" id="{1F3D8EC3-8386-DB2A-23ED-0FACC23E7DD4}"/>
                  </a:ext>
                </a:extLst>
              </p:cNvPr>
              <p:cNvGraphicFramePr>
                <a:graphicFrameLocks noGrp="1"/>
              </p:cNvGraphicFramePr>
              <p:nvPr/>
            </p:nvGraphicFramePr>
            <p:xfrm>
              <a:off x="3004262" y="3954329"/>
              <a:ext cx="6056673" cy="2662144"/>
            </p:xfrm>
            <a:graphic>
              <a:graphicData uri="http://schemas.openxmlformats.org/drawingml/2006/table">
                <a:tbl>
                  <a:tblPr firstRow="1" bandRow="1">
                    <a:tableStyleId>{5C22544A-7EE6-4342-B048-85BDC9FD1C3A}</a:tableStyleId>
                  </a:tblPr>
                  <a:tblGrid>
                    <a:gridCol w="1733593">
                      <a:extLst>
                        <a:ext uri="{9D8B030D-6E8A-4147-A177-3AD203B41FA5}">
                          <a16:colId xmlns:a16="http://schemas.microsoft.com/office/drawing/2014/main" val="20000"/>
                        </a:ext>
                      </a:extLst>
                    </a:gridCol>
                    <a:gridCol w="4323080">
                      <a:extLst>
                        <a:ext uri="{9D8B030D-6E8A-4147-A177-3AD203B41FA5}">
                          <a16:colId xmlns:a16="http://schemas.microsoft.com/office/drawing/2014/main" val="20001"/>
                        </a:ext>
                      </a:extLst>
                    </a:gridCol>
                  </a:tblGrid>
                  <a:tr h="348984">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损失函数名称</a:t>
                          </a:r>
                        </a:p>
                      </a:txBody>
                      <a:tcPr marL="0" marR="0" marT="0" marB="0" anchor="ctr"/>
                    </a:tc>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损失函数定义</a:t>
                          </a:r>
                        </a:p>
                      </a:txBody>
                      <a:tcPr marL="0" marR="0" marT="0" marB="0" anchor="ctr"/>
                    </a:tc>
                    <a:extLst>
                      <a:ext uri="{0D108BD9-81ED-4DB2-BD59-A6C34878D82A}">
                        <a16:rowId xmlns:a16="http://schemas.microsoft.com/office/drawing/2014/main" val="10000"/>
                      </a:ext>
                    </a:extLst>
                  </a:tr>
                  <a:tr h="761447">
                    <a:tc>
                      <a:txBody>
                        <a:bodyPr/>
                        <a:lstStyle/>
                        <a:p>
                          <a:pPr algn="ct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0-1</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损失函数</a:t>
                          </a:r>
                        </a:p>
                      </a:txBody>
                      <a:tcPr marL="0" marR="0" marT="0" marB="0"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panose="02040503050406030204" pitchFamily="18" charset="0"/>
                                      </a:rPr>
                                      <m:t>)</m:t>
                                    </m:r>
                                  </m:e>
                                </m:d>
                                <m:r>
                                  <a:rPr lang="en-US" altLang="zh-CN" sz="2000" b="0" i="1" baseline="0" smtClean="0">
                                    <a:latin typeface="Cambria Math"/>
                                  </a:rPr>
                                  <m:t>=</m:t>
                                </m:r>
                                <m:d>
                                  <m:dPr>
                                    <m:begChr m:val="{"/>
                                    <m:endChr m:val=""/>
                                    <m:ctrlPr>
                                      <a:rPr lang="en-US" altLang="zh-CN" sz="2000" b="0" i="1" baseline="0" smtClean="0">
                                        <a:latin typeface="Cambria Math" panose="02040503050406030204" pitchFamily="18" charset="0"/>
                                      </a:rPr>
                                    </m:ctrlPr>
                                  </m:dPr>
                                  <m:e>
                                    <m:eqArr>
                                      <m:eqArrPr>
                                        <m:ctrlPr>
                                          <a:rPr lang="en-US" altLang="zh-CN" sz="2000" b="0" i="1" baseline="0" smtClean="0">
                                            <a:latin typeface="Cambria Math" panose="02040503050406030204" pitchFamily="18" charset="0"/>
                                          </a:rPr>
                                        </m:ctrlPr>
                                      </m:eqArrPr>
                                      <m:e>
                                        <m:r>
                                          <a:rPr lang="en-US" altLang="zh-CN" sz="2000" b="0" i="1" baseline="0" smtClean="0">
                                            <a:latin typeface="Cambria Math"/>
                                          </a:rPr>
                                          <m:t>1</m:t>
                                        </m:r>
                                        <m:r>
                                          <a:rPr lang="en-US" altLang="zh-CN" sz="2000" b="0" i="1" baseline="0" smtClean="0">
                                            <a:latin typeface="Cambria Math"/>
                                          </a:rPr>
                                          <m:t>, </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ea typeface="Cambria Math"/>
                                          </a:rPr>
                                          <m:t>≠</m:t>
                                        </m:r>
                                        <m:sSub>
                                          <m:sSubPr>
                                            <m:ctrlPr>
                                              <a:rPr lang="en-US" altLang="zh-CN" sz="2000" b="0" i="1" baseline="0" smtClean="0">
                                                <a:latin typeface="Cambria Math" panose="02040503050406030204" pitchFamily="18" charset="0"/>
                                                <a:ea typeface="Cambria Math"/>
                                              </a:rPr>
                                            </m:ctrlPr>
                                          </m:sSubPr>
                                          <m:e>
                                            <m:r>
                                              <a:rPr lang="en-US" altLang="zh-CN" sz="2000" b="0" i="1" baseline="0" smtClean="0">
                                                <a:latin typeface="Cambria Math"/>
                                                <a:ea typeface="Cambria Math"/>
                                              </a:rPr>
                                              <m:t>𝑦</m:t>
                                            </m:r>
                                          </m:e>
                                          <m:sub>
                                            <m:r>
                                              <a:rPr lang="en-US" altLang="zh-CN" sz="2000" b="0" i="1" baseline="0" smtClean="0">
                                                <a:latin typeface="Cambria Math"/>
                                                <a:ea typeface="Cambria Math"/>
                                              </a:rPr>
                                              <m:t>𝑖</m:t>
                                            </m:r>
                                          </m:sub>
                                        </m:sSub>
                                      </m:e>
                                      <m:e>
                                        <m:r>
                                          <a:rPr lang="en-US" altLang="zh-CN" sz="2000" b="0" i="1" baseline="0" smtClean="0">
                                            <a:latin typeface="Cambria Math"/>
                                          </a:rPr>
                                          <m:t>0</m:t>
                                        </m:r>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ea typeface="Cambria Math"/>
                                          </a:rPr>
                                          <m:t>=</m:t>
                                        </m:r>
                                        <m:sSub>
                                          <m:sSubPr>
                                            <m:ctrlPr>
                                              <a:rPr lang="en-US" altLang="zh-CN" sz="2000" b="0" i="1" baseline="0" smtClean="0">
                                                <a:latin typeface="Cambria Math" panose="02040503050406030204" pitchFamily="18" charset="0"/>
                                                <a:ea typeface="Cambria Math"/>
                                              </a:rPr>
                                            </m:ctrlPr>
                                          </m:sSubPr>
                                          <m:e>
                                            <m:r>
                                              <a:rPr lang="en-US" altLang="zh-CN" sz="2000" b="0" i="1" baseline="0" smtClean="0">
                                                <a:latin typeface="Cambria Math"/>
                                                <a:ea typeface="Cambria Math"/>
                                              </a:rPr>
                                              <m:t>𝑦</m:t>
                                            </m:r>
                                          </m:e>
                                          <m:sub>
                                            <m:r>
                                              <a:rPr lang="en-US" altLang="zh-CN" sz="2000" b="0" i="1" baseline="0" smtClean="0">
                                                <a:latin typeface="Cambria Math"/>
                                                <a:ea typeface="Cambria Math"/>
                                              </a:rPr>
                                              <m:t>𝑖</m:t>
                                            </m:r>
                                          </m:sub>
                                        </m:sSub>
                                      </m:e>
                                    </m:eqArr>
                                  </m:e>
                                </m:d>
                              </m:oMath>
                            </m:oMathPara>
                          </a14:m>
                          <a:endParaRPr lang="en-US" altLang="zh-CN"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1"/>
                      </a:ext>
                    </a:extLst>
                  </a:tr>
                  <a:tr h="420136">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平方损失函数</a:t>
                          </a:r>
                        </a:p>
                      </a:txBody>
                      <a:tcPr marL="0" marR="0" marT="0" marB="0" anchor="ctr"/>
                    </a:tc>
                    <a:tc>
                      <a:txBody>
                        <a:bodyPr/>
                        <a:lstStyle/>
                        <a:p>
                          <a:pPr algn="ct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e>
                                </m:d>
                                <m:r>
                                  <a:rPr lang="en-US" altLang="zh-CN" sz="2000" b="0" i="1" baseline="0" smtClean="0">
                                    <a:latin typeface="Cambria Math"/>
                                  </a:rPr>
                                  <m:t>)=</m:t>
                                </m:r>
                                <m:sSup>
                                  <m:sSupPr>
                                    <m:ctrlPr>
                                      <a:rPr lang="en-US" altLang="zh-CN" sz="2000" b="0" i="1" baseline="0" smtClean="0">
                                        <a:latin typeface="Cambria Math" panose="02040503050406030204" pitchFamily="18" charset="0"/>
                                      </a:rPr>
                                    </m:ctrlPr>
                                  </m:sSupPr>
                                  <m:e>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e>
                                  <m:sup>
                                    <m:r>
                                      <a:rPr lang="en-US" altLang="zh-CN" sz="2000" b="0" i="1" baseline="0" smtClean="0">
                                        <a:latin typeface="Cambria Math"/>
                                      </a:rPr>
                                      <m:t>2</m:t>
                                    </m:r>
                                  </m:sup>
                                </m:sSup>
                              </m:oMath>
                            </m:oMathPara>
                          </a14:m>
                          <a:endParaRPr lang="zh-CN" altLang="en-US"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2"/>
                      </a:ext>
                    </a:extLst>
                  </a:tr>
                  <a:tr h="462964">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绝对损失函数</a:t>
                          </a:r>
                        </a:p>
                      </a:txBody>
                      <a:tcPr marL="0" marR="0" marT="0" marB="0"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baseline="0" smtClean="0">
                                    <a:latin typeface="Cambria Math"/>
                                  </a:rPr>
                                  <m:t>𝐿𝑜𝑠𝑠</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𝑓</m:t>
                                        </m:r>
                                        <m:r>
                                          <a:rPr lang="en-US" altLang="zh-CN" sz="2000" b="0" i="1" baseline="0" smtClean="0">
                                            <a:latin typeface="Cambria Math"/>
                                          </a:rPr>
                                          <m:t>(</m:t>
                                        </m:r>
                                        <m:r>
                                          <a:rPr lang="en-US" altLang="zh-CN" sz="2000" b="0" i="1" baseline="0" smtClean="0">
                                            <a:latin typeface="Cambria Math"/>
                                          </a:rPr>
                                          <m:t>𝑥</m:t>
                                        </m:r>
                                      </m:e>
                                      <m:sub>
                                        <m:r>
                                          <a:rPr lang="en-US" altLang="zh-CN" sz="2000" b="0" i="1" baseline="0" smtClean="0">
                                            <a:latin typeface="Cambria Math"/>
                                          </a:rPr>
                                          <m:t>𝑖</m:t>
                                        </m:r>
                                      </m:sub>
                                    </m:sSub>
                                  </m:e>
                                </m:d>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m:t>
                                </m:r>
                                <m:r>
                                  <a:rPr lang="en-US" altLang="zh-CN" sz="2000" b="0" i="1" baseline="0" smtClean="0">
                                    <a:latin typeface="Cambria Math"/>
                                  </a:rPr>
                                  <m:t>𝑓</m:t>
                                </m:r>
                                <m:r>
                                  <a:rPr lang="en-US" altLang="zh-CN" sz="2000" b="0" i="1" baseline="0" smtClean="0">
                                    <a:latin typeface="Cambria Math"/>
                                  </a:rPr>
                                  <m:t>(</m:t>
                                </m:r>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r>
                                  <a:rPr lang="en-US" altLang="zh-CN" sz="2000" b="0" i="1" baseline="0" smtClean="0">
                                    <a:latin typeface="Cambria Math"/>
                                  </a:rPr>
                                  <m:t>)|</m:t>
                                </m:r>
                              </m:oMath>
                            </m:oMathPara>
                          </a14:m>
                          <a:endParaRPr lang="en-US" altLang="zh-CN" sz="2000" b="0" baseline="0" dirty="0">
                            <a:latin typeface="Arial" panose="020B0604020202020204" pitchFamily="34" charset="0"/>
                            <a:ea typeface="黑体" panose="02010609060101010101" pitchFamily="49" charset="-122"/>
                          </a:endParaRPr>
                        </a:p>
                      </a:txBody>
                      <a:tcPr marL="0" marR="0" marT="0" marB="0" anchor="ctr"/>
                    </a:tc>
                    <a:extLst>
                      <a:ext uri="{0D108BD9-81ED-4DB2-BD59-A6C34878D82A}">
                        <a16:rowId xmlns:a16="http://schemas.microsoft.com/office/drawing/2014/main" val="10003"/>
                      </a:ext>
                    </a:extLst>
                  </a:tr>
                  <a:tr h="668613">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对数损失函数</a:t>
                          </a: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对数似然损失函数</a:t>
                          </a:r>
                        </a:p>
                      </a:txBody>
                      <a:tcPr marL="0" marR="0" marT="0" marB="0" anchor="ctr"/>
                    </a:tc>
                    <a:tc>
                      <a:txBody>
                        <a:bodyPr/>
                        <a:lstStyle/>
                        <a:p>
                          <a:pPr marL="0" marR="0" indent="0" algn="ctr" defTabSz="6858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lang="en-US" altLang="zh-CN" sz="2000" b="0" i="1" baseline="0" smtClean="0">
                                    <a:latin typeface="Cambria Math"/>
                                    <a:ea typeface="黑体" panose="02010609060101010101" pitchFamily="49" charset="-122"/>
                                    <a:cs typeface="Times New Roman" panose="02020603050405020304" pitchFamily="18" charset="0"/>
                                  </a:rPr>
                                  <m:t>𝐿𝑜𝑠𝑠</m:t>
                                </m:r>
                                <m:d>
                                  <m:dPr>
                                    <m:ctrlPr>
                                      <a:rPr lang="en-US" altLang="zh-CN" sz="2000" b="0" i="1" baseline="0" smtClean="0">
                                        <a:latin typeface="Cambria Math" panose="02040503050406030204" pitchFamily="18" charset="0"/>
                                        <a:ea typeface="黑体" panose="02010609060101010101" pitchFamily="49" charset="-122"/>
                                        <a:cs typeface="Times New Roman" panose="020206030504050203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r>
                                      <a:rPr lang="en-US" altLang="zh-CN" sz="2000" b="0" i="1" baseline="0" smtClean="0">
                                        <a:latin typeface="Cambria Math"/>
                                      </a:rPr>
                                      <m:t>, </m:t>
                                    </m:r>
                                    <m:r>
                                      <a:rPr lang="en-US" altLang="zh-CN" sz="2000" b="0" i="1" baseline="0" smtClean="0">
                                        <a:latin typeface="Cambria Math"/>
                                      </a:rPr>
                                      <m:t>𝑃</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e>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e>
                                    </m:d>
                                  </m:e>
                                </m:d>
                                <m:r>
                                  <a:rPr lang="en-US" altLang="zh-CN" sz="2000" b="0" i="1" baseline="0" smtClean="0">
                                    <a:latin typeface="Cambria Math"/>
                                  </a:rPr>
                                  <m:t>=−</m:t>
                                </m:r>
                                <m:r>
                                  <m:rPr>
                                    <m:sty m:val="p"/>
                                  </m:rPr>
                                  <a:rPr lang="en-US" altLang="zh-CN" sz="2000" b="0" i="0" baseline="0" smtClean="0">
                                    <a:latin typeface="Cambria Math"/>
                                  </a:rPr>
                                  <m:t>log</m:t>
                                </m:r>
                                <m:d>
                                  <m:dPr>
                                    <m:ctrlPr>
                                      <a:rPr lang="en-US" altLang="zh-CN" sz="2000" b="0" i="1" baseline="0" smtClean="0">
                                        <a:latin typeface="Cambria Math" panose="02040503050406030204" pitchFamily="18" charset="0"/>
                                      </a:rPr>
                                    </m:ctrlPr>
                                  </m:dPr>
                                  <m:e>
                                    <m:r>
                                      <a:rPr lang="en-US" altLang="zh-CN" sz="2000" b="0" i="1" baseline="0" smtClean="0">
                                        <a:latin typeface="Cambria Math"/>
                                      </a:rPr>
                                      <m:t>𝑃</m:t>
                                    </m:r>
                                    <m:d>
                                      <m:dPr>
                                        <m:ctrlPr>
                                          <a:rPr lang="en-US" altLang="zh-CN" sz="2000" b="0" i="1" baseline="0" smtClean="0">
                                            <a:latin typeface="Cambria Math" panose="02040503050406030204" pitchFamily="18" charset="0"/>
                                          </a:rPr>
                                        </m:ctrlPr>
                                      </m:dPr>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𝑦</m:t>
                                            </m:r>
                                          </m:e>
                                          <m:sub>
                                            <m:r>
                                              <a:rPr lang="en-US" altLang="zh-CN" sz="2000" b="0" i="1" baseline="0" smtClean="0">
                                                <a:latin typeface="Cambria Math"/>
                                              </a:rPr>
                                              <m:t>𝑖</m:t>
                                            </m:r>
                                          </m:sub>
                                        </m:sSub>
                                      </m:e>
                                      <m:e>
                                        <m:sSub>
                                          <m:sSubPr>
                                            <m:ctrlPr>
                                              <a:rPr lang="en-US" altLang="zh-CN" sz="2000" b="0" i="1" baseline="0" smtClean="0">
                                                <a:latin typeface="Cambria Math" panose="02040503050406030204" pitchFamily="18" charset="0"/>
                                              </a:rPr>
                                            </m:ctrlPr>
                                          </m:sSubPr>
                                          <m:e>
                                            <m:r>
                                              <a:rPr lang="en-US" altLang="zh-CN" sz="2000" b="0" i="1" baseline="0" smtClean="0">
                                                <a:latin typeface="Cambria Math"/>
                                              </a:rPr>
                                              <m:t>𝑥</m:t>
                                            </m:r>
                                          </m:e>
                                          <m:sub>
                                            <m:r>
                                              <a:rPr lang="en-US" altLang="zh-CN" sz="2000" b="0" i="1" baseline="0" smtClean="0">
                                                <a:latin typeface="Cambria Math"/>
                                              </a:rPr>
                                              <m:t>𝑖</m:t>
                                            </m:r>
                                          </m:sub>
                                        </m:sSub>
                                      </m:e>
                                    </m:d>
                                  </m:e>
                                </m:d>
                              </m:oMath>
                            </m:oMathPara>
                          </a14:m>
                          <a:endParaRPr lang="zh-CN" altLang="en-US" sz="2000" baseline="0" dirty="0">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tc>
                    <a:extLst>
                      <a:ext uri="{0D108BD9-81ED-4DB2-BD59-A6C34878D82A}">
                        <a16:rowId xmlns:a16="http://schemas.microsoft.com/office/drawing/2014/main" val="10004"/>
                      </a:ext>
                    </a:extLst>
                  </a:tr>
                </a:tbl>
              </a:graphicData>
            </a:graphic>
          </p:graphicFrame>
        </mc:Choice>
        <mc:Fallback xmlns="">
          <p:graphicFrame>
            <p:nvGraphicFramePr>
              <p:cNvPr id="13" name="表格 12">
                <a:extLst>
                  <a:ext uri="{FF2B5EF4-FFF2-40B4-BE49-F238E27FC236}">
                    <a16:creationId xmlns:a16="http://schemas.microsoft.com/office/drawing/2014/main" id="{1F3D8EC3-8386-DB2A-23ED-0FACC23E7DD4}"/>
                  </a:ext>
                </a:extLst>
              </p:cNvPr>
              <p:cNvGraphicFramePr>
                <a:graphicFrameLocks noGrp="1"/>
              </p:cNvGraphicFramePr>
              <p:nvPr>
                <p:extLst>
                  <p:ext uri="{D42A27DB-BD31-4B8C-83A1-F6EECF244321}">
                    <p14:modId xmlns:p14="http://schemas.microsoft.com/office/powerpoint/2010/main" val="2527459402"/>
                  </p:ext>
                </p:extLst>
              </p:nvPr>
            </p:nvGraphicFramePr>
            <p:xfrm>
              <a:off x="3004262" y="3954329"/>
              <a:ext cx="6056673" cy="2662144"/>
            </p:xfrm>
            <a:graphic>
              <a:graphicData uri="http://schemas.openxmlformats.org/drawingml/2006/table">
                <a:tbl>
                  <a:tblPr firstRow="1" bandRow="1">
                    <a:tableStyleId>{5C22544A-7EE6-4342-B048-85BDC9FD1C3A}</a:tableStyleId>
                  </a:tblPr>
                  <a:tblGrid>
                    <a:gridCol w="1733593">
                      <a:extLst>
                        <a:ext uri="{9D8B030D-6E8A-4147-A177-3AD203B41FA5}">
                          <a16:colId xmlns:a16="http://schemas.microsoft.com/office/drawing/2014/main" val="20000"/>
                        </a:ext>
                      </a:extLst>
                    </a:gridCol>
                    <a:gridCol w="4323080">
                      <a:extLst>
                        <a:ext uri="{9D8B030D-6E8A-4147-A177-3AD203B41FA5}">
                          <a16:colId xmlns:a16="http://schemas.microsoft.com/office/drawing/2014/main" val="20001"/>
                        </a:ext>
                      </a:extLst>
                    </a:gridCol>
                  </a:tblGrid>
                  <a:tr h="348984">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损失函数名称</a:t>
                          </a:r>
                        </a:p>
                      </a:txBody>
                      <a:tcPr marL="0" marR="0" marT="0" marB="0" anchor="ctr"/>
                    </a:tc>
                    <a:tc>
                      <a:txBody>
                        <a:bodyPr/>
                        <a:lstStyle/>
                        <a:p>
                          <a:pPr algn="ctr"/>
                          <a:r>
                            <a:rPr lang="zh-CN" altLang="en-US" sz="1800" b="0" baseline="0" dirty="0">
                              <a:latin typeface="Arial" panose="020B0604020202020204" pitchFamily="34" charset="0"/>
                              <a:ea typeface="黑体" panose="02010609060101010101" pitchFamily="49" charset="-122"/>
                              <a:cs typeface="Times New Roman" panose="02020603050405020304" pitchFamily="18" charset="0"/>
                            </a:rPr>
                            <a:t>损失函数定义</a:t>
                          </a:r>
                        </a:p>
                      </a:txBody>
                      <a:tcPr marL="0" marR="0" marT="0" marB="0" anchor="ctr"/>
                    </a:tc>
                    <a:extLst>
                      <a:ext uri="{0D108BD9-81ED-4DB2-BD59-A6C34878D82A}">
                        <a16:rowId xmlns:a16="http://schemas.microsoft.com/office/drawing/2014/main" val="10000"/>
                      </a:ext>
                    </a:extLst>
                  </a:tr>
                  <a:tr h="761447">
                    <a:tc>
                      <a:txBody>
                        <a:bodyPr/>
                        <a:lstStyle/>
                        <a:p>
                          <a:pPr algn="ct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0-1</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损失函数</a:t>
                          </a:r>
                        </a:p>
                      </a:txBody>
                      <a:tcPr marL="0" marR="0" marT="0" marB="0" anchor="ctr"/>
                    </a:tc>
                    <a:tc>
                      <a:txBody>
                        <a:bodyPr/>
                        <a:lstStyle/>
                        <a:p>
                          <a:endParaRPr lang="zh-CN"/>
                        </a:p>
                      </a:txBody>
                      <a:tcPr marL="0" marR="0" marT="0" marB="0" anchor="ctr">
                        <a:blipFill>
                          <a:blip r:embed="rId4"/>
                          <a:stretch>
                            <a:fillRect l="-40282" t="-51587" r="-563" b="-211111"/>
                          </a:stretch>
                        </a:blipFill>
                      </a:tcPr>
                    </a:tc>
                    <a:extLst>
                      <a:ext uri="{0D108BD9-81ED-4DB2-BD59-A6C34878D82A}">
                        <a16:rowId xmlns:a16="http://schemas.microsoft.com/office/drawing/2014/main" val="10001"/>
                      </a:ext>
                    </a:extLst>
                  </a:tr>
                  <a:tr h="420136">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平方损失函数</a:t>
                          </a:r>
                        </a:p>
                      </a:txBody>
                      <a:tcPr marL="0" marR="0" marT="0" marB="0" anchor="ctr"/>
                    </a:tc>
                    <a:tc>
                      <a:txBody>
                        <a:bodyPr/>
                        <a:lstStyle/>
                        <a:p>
                          <a:endParaRPr lang="zh-CN"/>
                        </a:p>
                      </a:txBody>
                      <a:tcPr marL="0" marR="0" marT="0" marB="0" anchor="ctr">
                        <a:blipFill>
                          <a:blip r:embed="rId4"/>
                          <a:stretch>
                            <a:fillRect l="-40282" t="-276812" r="-563" b="-285507"/>
                          </a:stretch>
                        </a:blipFill>
                      </a:tcPr>
                    </a:tc>
                    <a:extLst>
                      <a:ext uri="{0D108BD9-81ED-4DB2-BD59-A6C34878D82A}">
                        <a16:rowId xmlns:a16="http://schemas.microsoft.com/office/drawing/2014/main" val="10002"/>
                      </a:ext>
                    </a:extLst>
                  </a:tr>
                  <a:tr h="462964">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绝对损失函数</a:t>
                          </a:r>
                        </a:p>
                      </a:txBody>
                      <a:tcPr marL="0" marR="0" marT="0" marB="0" anchor="ctr"/>
                    </a:tc>
                    <a:tc>
                      <a:txBody>
                        <a:bodyPr/>
                        <a:lstStyle/>
                        <a:p>
                          <a:endParaRPr lang="zh-CN"/>
                        </a:p>
                      </a:txBody>
                      <a:tcPr marL="0" marR="0" marT="0" marB="0" anchor="ctr">
                        <a:blipFill>
                          <a:blip r:embed="rId4"/>
                          <a:stretch>
                            <a:fillRect l="-40282" t="-342105" r="-563" b="-159211"/>
                          </a:stretch>
                        </a:blipFill>
                      </a:tcPr>
                    </a:tc>
                    <a:extLst>
                      <a:ext uri="{0D108BD9-81ED-4DB2-BD59-A6C34878D82A}">
                        <a16:rowId xmlns:a16="http://schemas.microsoft.com/office/drawing/2014/main" val="10003"/>
                      </a:ext>
                    </a:extLst>
                  </a:tr>
                  <a:tr h="668613">
                    <a:tc>
                      <a:txBody>
                        <a:bodyPr/>
                        <a:lstStyle/>
                        <a:p>
                          <a:pPr algn="ct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对数损失函数</a:t>
                          </a:r>
                          <a:r>
                            <a:rPr lang="en-US" altLang="zh-CN" sz="1800" baseline="0" dirty="0">
                              <a:latin typeface="Arial" panose="020B0604020202020204" pitchFamily="34" charset="0"/>
                              <a:ea typeface="黑体" panose="02010609060101010101" pitchFamily="49" charset="-122"/>
                              <a:cs typeface="Times New Roman" panose="02020603050405020304" pitchFamily="18" charset="0"/>
                            </a:rPr>
                            <a:t>/</a:t>
                          </a:r>
                          <a:r>
                            <a:rPr lang="zh-CN" altLang="en-US" sz="1800" baseline="0" dirty="0">
                              <a:latin typeface="Arial" panose="020B0604020202020204" pitchFamily="34" charset="0"/>
                              <a:ea typeface="黑体" panose="02010609060101010101" pitchFamily="49" charset="-122"/>
                              <a:cs typeface="Times New Roman" panose="02020603050405020304" pitchFamily="18" charset="0"/>
                            </a:rPr>
                            <a:t>对数似然损失函数</a:t>
                          </a:r>
                        </a:p>
                      </a:txBody>
                      <a:tcPr marL="0" marR="0" marT="0" marB="0" anchor="ctr"/>
                    </a:tc>
                    <a:tc>
                      <a:txBody>
                        <a:bodyPr/>
                        <a:lstStyle/>
                        <a:p>
                          <a:endParaRPr lang="zh-CN"/>
                        </a:p>
                      </a:txBody>
                      <a:tcPr marL="0" marR="0" marT="0" marB="0" anchor="ctr">
                        <a:blipFill>
                          <a:blip r:embed="rId4"/>
                          <a:stretch>
                            <a:fillRect l="-40282" t="-305455" r="-563" b="-10000"/>
                          </a:stretch>
                        </a:blipFill>
                      </a:tcPr>
                    </a:tc>
                    <a:extLst>
                      <a:ext uri="{0D108BD9-81ED-4DB2-BD59-A6C34878D82A}">
                        <a16:rowId xmlns:a16="http://schemas.microsoft.com/office/drawing/2014/main" val="10004"/>
                      </a:ext>
                    </a:extLst>
                  </a:tr>
                </a:tbl>
              </a:graphicData>
            </a:graphic>
          </p:graphicFrame>
        </mc:Fallback>
      </mc:AlternateContent>
      <p:sp>
        <p:nvSpPr>
          <p:cNvPr id="14" name="流程图: 磁盘 13">
            <a:extLst>
              <a:ext uri="{FF2B5EF4-FFF2-40B4-BE49-F238E27FC236}">
                <a16:creationId xmlns:a16="http://schemas.microsoft.com/office/drawing/2014/main" id="{55A6892D-0C0F-9F9C-D3A1-C4F57D5ED408}"/>
              </a:ext>
            </a:extLst>
          </p:cNvPr>
          <p:cNvSpPr/>
          <p:nvPr/>
        </p:nvSpPr>
        <p:spPr>
          <a:xfrm>
            <a:off x="930949" y="3888299"/>
            <a:ext cx="972000" cy="1440000"/>
          </a:xfrm>
          <a:prstGeom prst="flowChartMagneticDisk">
            <a:avLst/>
          </a:prstGeom>
          <a:solidFill>
            <a:srgbClr val="E1D6F2"/>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5" name="圆角矩形 12">
                <a:extLst>
                  <a:ext uri="{FF2B5EF4-FFF2-40B4-BE49-F238E27FC236}">
                    <a16:creationId xmlns:a16="http://schemas.microsoft.com/office/drawing/2014/main" id="{9A274B69-916D-73F5-DF99-30679C819656}"/>
                  </a:ext>
                </a:extLst>
              </p:cNvPr>
              <p:cNvSpPr/>
              <p:nvPr/>
            </p:nvSpPr>
            <p:spPr bwMode="auto">
              <a:xfrm>
                <a:off x="437762" y="5530798"/>
                <a:ext cx="2052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1800" b="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𝑥</m:t>
                              </m:r>
                            </m:e>
                            <m: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sSub>
                            <m:sSubPr>
                              <m:ctrlPr>
                                <a:rPr kumimoji="0" lang="en-US" altLang="zh-CN" sz="1800" b="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𝑦</m:t>
                              </m:r>
                            </m:e>
                            <m:sub>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e>
                      </m:d>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1</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18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𝑛</m:t>
                      </m:r>
                    </m:oMath>
                  </m:oMathPara>
                </a14:m>
                <a:endParaRPr kumimoji="0" lang="en-US" altLang="zh-CN" sz="1800" b="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圆角矩形 12">
                <a:extLst>
                  <a:ext uri="{FF2B5EF4-FFF2-40B4-BE49-F238E27FC236}">
                    <a16:creationId xmlns:a16="http://schemas.microsoft.com/office/drawing/2014/main" id="{9A274B69-916D-73F5-DF99-30679C819656}"/>
                  </a:ext>
                </a:extLst>
              </p:cNvPr>
              <p:cNvSpPr>
                <a:spLocks noRot="1" noChangeAspect="1" noMove="1" noResize="1" noEditPoints="1" noAdjustHandles="1" noChangeArrowheads="1" noChangeShapeType="1" noTextEdit="1"/>
              </p:cNvSpPr>
              <p:nvPr/>
            </p:nvSpPr>
            <p:spPr bwMode="auto">
              <a:xfrm>
                <a:off x="437762" y="5530798"/>
                <a:ext cx="2052000" cy="855025"/>
              </a:xfrm>
              <a:prstGeom prst="roundRect">
                <a:avLst/>
              </a:prstGeom>
              <a:blipFill>
                <a:blip r:embed="rId5"/>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Tree>
    <p:extLst>
      <p:ext uri="{BB962C8B-B14F-4D97-AF65-F5344CB8AC3E}">
        <p14:creationId xmlns:p14="http://schemas.microsoft.com/office/powerpoint/2010/main" val="421869320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7" name="组合 6"/>
          <p:cNvGrpSpPr/>
          <p:nvPr/>
        </p:nvGrpSpPr>
        <p:grpSpPr>
          <a:xfrm>
            <a:off x="3239530" y="1731440"/>
            <a:ext cx="5778970" cy="2952000"/>
            <a:chOff x="483433" y="1649705"/>
            <a:chExt cx="5479026" cy="2952000"/>
          </a:xfrm>
        </p:grpSpPr>
        <p:sp>
          <p:nvSpPr>
            <p:cNvPr id="8" name="圆角矩形 7"/>
            <p:cNvSpPr/>
            <p:nvPr/>
          </p:nvSpPr>
          <p:spPr bwMode="auto">
            <a:xfrm>
              <a:off x="2958884" y="2889213"/>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如何学习得到映射模型</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如何学</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9" name="圆角矩形 8"/>
            <p:cNvSpPr/>
            <p:nvPr/>
          </p:nvSpPr>
          <p:spPr>
            <a:xfrm>
              <a:off x="483433" y="1649705"/>
              <a:ext cx="2320942" cy="2952000"/>
            </a:xfrm>
            <a:prstGeom prst="roundRect">
              <a:avLst>
                <a:gd name="adj" fmla="val 4639"/>
              </a:avLst>
            </a:prstGeom>
            <a:gradFill rotWithShape="1">
              <a:gsLst>
                <a:gs pos="0">
                  <a:srgbClr val="AAEFD1">
                    <a:tint val="50000"/>
                    <a:satMod val="300000"/>
                  </a:srgbClr>
                </a:gs>
                <a:gs pos="35000">
                  <a:srgbClr val="AAEFD1">
                    <a:tint val="37000"/>
                    <a:satMod val="300000"/>
                  </a:srgbClr>
                </a:gs>
                <a:gs pos="100000">
                  <a:srgbClr val="AAEFD1">
                    <a:tint val="15000"/>
                    <a:satMod val="350000"/>
                  </a:srgbClr>
                </a:gs>
              </a:gsLst>
              <a:lin ang="16200000" scaled="1"/>
            </a:gradFill>
            <a:ln w="9525" cap="flat" cmpd="sng" algn="ctr">
              <a:solidFill>
                <a:srgbClr val="AAEFD1">
                  <a:shade val="95000"/>
                  <a:satMod val="105000"/>
                </a:srgbClr>
              </a:solidFill>
              <a:prstDash val="solid"/>
            </a:ln>
            <a:effectLst>
              <a:outerShdw blurRad="40000" dist="20000" dir="5400000" rotWithShape="0">
                <a:srgbClr val="000000">
                  <a:alpha val="38000"/>
                </a:srgbClr>
              </a:outerShdw>
            </a:effectLst>
          </p:spPr>
          <p:txBody>
            <a:bodyPr lIns="0" tIns="0" rIns="0" bIns="0"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r>
                <a:rPr lang="zh-CN" altLang="en-US" sz="2200" b="1" kern="0" dirty="0">
                  <a:solidFill>
                    <a:srgbClr val="9900FF"/>
                  </a:solidFill>
                  <a:latin typeface="Arial" panose="020B0604020202020204" pitchFamily="34" charset="0"/>
                  <a:ea typeface="黑体" panose="02010609060101010101" pitchFamily="49" charset="-122"/>
                </a:rPr>
                <a:t>监督学习</a:t>
              </a:r>
              <a:endParaRPr kumimoji="0" lang="zh-CN" altLang="en-US" sz="2200" b="1"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mn-cs"/>
              </a:endParaRPr>
            </a:p>
          </p:txBody>
        </p:sp>
        <p:sp>
          <p:nvSpPr>
            <p:cNvPr id="10" name="圆角矩形 9"/>
            <p:cNvSpPr/>
            <p:nvPr/>
          </p:nvSpPr>
          <p:spPr bwMode="auto">
            <a:xfrm>
              <a:off x="613273" y="2140727"/>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标注数据</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11" name="圆角矩形 10"/>
            <p:cNvSpPr/>
            <p:nvPr/>
          </p:nvSpPr>
          <p:spPr bwMode="auto">
            <a:xfrm>
              <a:off x="613273" y="2990653"/>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学习模型</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14" name="圆角矩形 13"/>
            <p:cNvSpPr/>
            <p:nvPr/>
          </p:nvSpPr>
          <p:spPr bwMode="auto">
            <a:xfrm>
              <a:off x="2958885" y="1987085"/>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标识了类别信息的数据</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学什么</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5" name="圆角矩形 14"/>
            <p:cNvSpPr/>
            <p:nvPr/>
          </p:nvSpPr>
          <p:spPr bwMode="auto">
            <a:xfrm>
              <a:off x="2958883" y="3791342"/>
              <a:ext cx="3003574" cy="68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36000" tIns="0" rIns="36000" bIns="0" anchor="ctr"/>
            <a:lstStyle/>
            <a:p>
              <a:pPr marL="0" marR="0" lvl="1" indent="-252000" algn="l" defTabSz="914400" rtl="0" eaLnBrk="1" fontAlgn="base" latinLnBrk="0" hangingPunct="1">
                <a:lnSpc>
                  <a:spcPct val="100000"/>
                </a:lnSpc>
                <a:spcBef>
                  <a:spcPct val="0"/>
                </a:spcBef>
                <a:spcAft>
                  <a:spcPct val="0"/>
                </a:spcAft>
                <a:buClr>
                  <a:srgbClr val="FF0000"/>
                </a:buClr>
                <a:buSzTx/>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rPr>
                <a:t>如何对学习结果进行</a:t>
              </a:r>
              <a:r>
                <a:rPr lang="zh-CN" altLang="en-US" sz="2000" kern="0" dirty="0">
                  <a:solidFill>
                    <a:srgbClr val="000000"/>
                  </a:solidFill>
                  <a:latin typeface="Arial" panose="020B0604020202020204" pitchFamily="34" charset="0"/>
                  <a:ea typeface="黑体" panose="02010609060101010101" pitchFamily="49" charset="-122"/>
                  <a:cs typeface="Times New Roman" panose="02020603050405020304" pitchFamily="18" charset="0"/>
                </a:rPr>
                <a:t>评估</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indent="0" algn="ctr" defTabSz="914400" rtl="0" eaLnBrk="1" fontAlgn="base" latinLnBrk="0" hangingPunct="1">
                <a:lnSpc>
                  <a:spcPct val="100000"/>
                </a:lnSpc>
                <a:spcBef>
                  <a:spcPct val="0"/>
                </a:spcBef>
                <a:spcAft>
                  <a:spcPct val="0"/>
                </a:spcAft>
                <a:buClr>
                  <a:srgbClr val="FF0000"/>
                </a:buClr>
                <a:buSzTx/>
                <a:buFontTx/>
                <a:buNone/>
                <a:tabLst/>
                <a:defRPr/>
              </a:pPr>
              <a:r>
                <a:rPr kumimoji="0" lang="zh-CN" altLang="en-US"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学到否</a:t>
              </a:r>
              <a:endParaRPr kumimoji="0" lang="en-US" altLang="zh-CN" sz="2000" b="1" i="0" u="none" strike="noStrike" kern="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6" name="圆角矩形 15"/>
            <p:cNvSpPr/>
            <p:nvPr/>
          </p:nvSpPr>
          <p:spPr bwMode="auto">
            <a:xfrm>
              <a:off x="613273" y="3840580"/>
              <a:ext cx="2047890" cy="37671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损失函数</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grpSp>
      <p:grpSp>
        <p:nvGrpSpPr>
          <p:cNvPr id="5" name="组合 4">
            <a:extLst>
              <a:ext uri="{FF2B5EF4-FFF2-40B4-BE49-F238E27FC236}">
                <a16:creationId xmlns:a16="http://schemas.microsoft.com/office/drawing/2014/main" id="{E0BA50C3-3276-F010-7197-E81AFFDBC496}"/>
              </a:ext>
            </a:extLst>
          </p:cNvPr>
          <p:cNvGrpSpPr/>
          <p:nvPr/>
        </p:nvGrpSpPr>
        <p:grpSpPr>
          <a:xfrm>
            <a:off x="213326" y="1731439"/>
            <a:ext cx="2520000" cy="2952000"/>
            <a:chOff x="152400" y="1139161"/>
            <a:chExt cx="2520000" cy="2952000"/>
          </a:xfrm>
        </p:grpSpPr>
        <p:sp>
          <p:nvSpPr>
            <p:cNvPr id="12" name="圆角矩形 8">
              <a:extLst>
                <a:ext uri="{FF2B5EF4-FFF2-40B4-BE49-F238E27FC236}">
                  <a16:creationId xmlns:a16="http://schemas.microsoft.com/office/drawing/2014/main" id="{25DA8EFC-7DC1-FAE1-8C6E-F823C46B0E1A}"/>
                </a:ext>
              </a:extLst>
            </p:cNvPr>
            <p:cNvSpPr/>
            <p:nvPr/>
          </p:nvSpPr>
          <p:spPr>
            <a:xfrm>
              <a:off x="152400" y="1139161"/>
              <a:ext cx="2520000" cy="2952000"/>
            </a:xfrm>
            <a:prstGeom prst="roundRect">
              <a:avLst>
                <a:gd name="adj" fmla="val 4639"/>
              </a:avLst>
            </a:prstGeom>
            <a:gradFill flip="none" rotWithShape="1">
              <a:gsLst>
                <a:gs pos="0">
                  <a:srgbClr val="92D050">
                    <a:tint val="66000"/>
                    <a:satMod val="160000"/>
                  </a:srgbClr>
                </a:gs>
                <a:gs pos="50000">
                  <a:srgbClr val="92D050">
                    <a:tint val="44500"/>
                    <a:satMod val="160000"/>
                  </a:srgbClr>
                </a:gs>
                <a:gs pos="100000">
                  <a:srgbClr val="92D050">
                    <a:tint val="23500"/>
                    <a:satMod val="160000"/>
                  </a:srgbClr>
                </a:gs>
              </a:gsLst>
              <a:lin ang="16200000" scaled="1"/>
              <a:tileRect/>
            </a:gradFill>
            <a:ln w="9525" cap="flat" cmpd="sng" algn="ctr">
              <a:solidFill>
                <a:srgbClr val="AAEFD1">
                  <a:shade val="95000"/>
                  <a:satMod val="105000"/>
                </a:srgbClr>
              </a:solidFill>
              <a:prstDash val="solid"/>
            </a:ln>
            <a:effectLst>
              <a:outerShdw blurRad="40000" dist="20000" dir="5400000" rotWithShape="0">
                <a:srgbClr val="000000">
                  <a:alpha val="38000"/>
                </a:srgbClr>
              </a:outerShdw>
            </a:effectLst>
          </p:spPr>
          <p:txBody>
            <a:bodyPr rtlCol="0" anchor="t"/>
            <a:lstStyle/>
            <a:p>
              <a:pPr marL="0" marR="0" lvl="0" indent="0" algn="ctr" defTabSz="914400" rtl="0" eaLnBrk="1" fontAlgn="base" latinLnBrk="0" hangingPunct="1">
                <a:lnSpc>
                  <a:spcPct val="100000"/>
                </a:lnSpc>
                <a:spcBef>
                  <a:spcPct val="0"/>
                </a:spcBef>
                <a:spcAft>
                  <a:spcPct val="0"/>
                </a:spcAft>
                <a:buClrTx/>
                <a:buSzTx/>
                <a:buFontTx/>
                <a:buNone/>
                <a:tabLst/>
                <a:defRPr/>
              </a:pPr>
              <a:endParaRPr lang="en-US" altLang="zh-CN" sz="2200" b="1" kern="0" dirty="0">
                <a:solidFill>
                  <a:srgbClr val="0070C0"/>
                </a:solidFill>
                <a:latin typeface="Arial" panose="020B0604020202020204" pitchFamily="34" charset="0"/>
                <a:ea typeface="黑体" panose="02010609060101010101" pitchFamily="49" charset="-122"/>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算法 </a:t>
              </a:r>
              <a:r>
                <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(algorithm)</a:t>
              </a:r>
              <a:endPar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endParaRPr>
            </a:p>
          </p:txBody>
        </p:sp>
        <p:sp>
          <p:nvSpPr>
            <p:cNvPr id="3" name="圆角矩形 9">
              <a:extLst>
                <a:ext uri="{FF2B5EF4-FFF2-40B4-BE49-F238E27FC236}">
                  <a16:creationId xmlns:a16="http://schemas.microsoft.com/office/drawing/2014/main" id="{6FFA4F6E-6E94-6DB4-5C5C-6A697B844F34}"/>
                </a:ext>
              </a:extLst>
            </p:cNvPr>
            <p:cNvSpPr/>
            <p:nvPr/>
          </p:nvSpPr>
          <p:spPr bwMode="auto">
            <a:xfrm>
              <a:off x="240336" y="2407481"/>
              <a:ext cx="2270926" cy="376715"/>
            </a:xfrm>
            <a:prstGeom prst="roundRect">
              <a:avLst/>
            </a:prstGeom>
            <a:solidFill>
              <a:srgbClr val="E1D6F2"/>
            </a:soli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kumimoji="0" lang="zh-CN" altLang="en-US"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模型 </a:t>
              </a:r>
              <a:r>
                <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(model)</a:t>
              </a:r>
            </a:p>
          </p:txBody>
        </p:sp>
        <p:sp>
          <p:nvSpPr>
            <p:cNvPr id="4" name="圆角矩形 9">
              <a:extLst>
                <a:ext uri="{FF2B5EF4-FFF2-40B4-BE49-F238E27FC236}">
                  <a16:creationId xmlns:a16="http://schemas.microsoft.com/office/drawing/2014/main" id="{106111EB-6A1F-0E6B-01F4-AC2F7F870A0D}"/>
                </a:ext>
              </a:extLst>
            </p:cNvPr>
            <p:cNvSpPr/>
            <p:nvPr/>
          </p:nvSpPr>
          <p:spPr bwMode="auto">
            <a:xfrm>
              <a:off x="240336" y="3246084"/>
              <a:ext cx="2270926" cy="376715"/>
            </a:xfrm>
            <a:prstGeom prst="roundRect">
              <a:avLst/>
            </a:prstGeom>
            <a:solidFill>
              <a:srgbClr val="E1D6F2"/>
            </a:soli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eaLnBrk="1" fontAlgn="base" latinLnBrk="0" hangingPunct="1">
                <a:lnSpc>
                  <a:spcPct val="100000"/>
                </a:lnSpc>
                <a:spcBef>
                  <a:spcPct val="0"/>
                </a:spcBef>
                <a:spcAft>
                  <a:spcPct val="0"/>
                </a:spcAft>
                <a:buClrTx/>
                <a:buSzTx/>
                <a:buFontTx/>
                <a:buNone/>
                <a:tabLst/>
                <a:defRPr/>
              </a:pPr>
              <a:r>
                <a:rPr lang="zh-CN" altLang="en-US" sz="2200" b="1" kern="0" dirty="0">
                  <a:solidFill>
                    <a:srgbClr val="0070C0"/>
                  </a:solidFill>
                  <a:latin typeface="Arial" panose="020B0604020202020204" pitchFamily="34" charset="0"/>
                  <a:ea typeface="黑体" panose="02010609060101010101" pitchFamily="49" charset="-122"/>
                  <a:cs typeface="Times New Roman" pitchFamily="18" charset="0"/>
                </a:rPr>
                <a:t>策略 </a:t>
              </a:r>
              <a:r>
                <a:rPr lang="en-US" altLang="zh-CN" sz="2200" b="1" kern="0" dirty="0">
                  <a:solidFill>
                    <a:srgbClr val="0070C0"/>
                  </a:solidFill>
                  <a:latin typeface="Arial" panose="020B0604020202020204" pitchFamily="34" charset="0"/>
                  <a:ea typeface="黑体" panose="02010609060101010101" pitchFamily="49" charset="-122"/>
                  <a:cs typeface="Times New Roman" pitchFamily="18" charset="0"/>
                </a:rPr>
                <a:t>(strategy)</a:t>
              </a:r>
              <a:endParaRPr kumimoji="0" lang="en-US" altLang="zh-CN" sz="22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gr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sp>
        <p:nvSpPr>
          <p:cNvPr id="24" name="文本框 23">
            <a:extLst>
              <a:ext uri="{FF2B5EF4-FFF2-40B4-BE49-F238E27FC236}">
                <a16:creationId xmlns:a16="http://schemas.microsoft.com/office/drawing/2014/main" id="{C1E7B80B-F2C3-70FC-081C-9B941A794FCE}"/>
              </a:ext>
            </a:extLst>
          </p:cNvPr>
          <p:cNvSpPr txBox="1"/>
          <p:nvPr/>
        </p:nvSpPr>
        <p:spPr>
          <a:xfrm>
            <a:off x="53621" y="874126"/>
            <a:ext cx="2926061"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kumimoji="0" lang="zh-CN" altLang="en-US" sz="2200" b="0" i="0" u="none" strike="noStrike" kern="1200" cap="none" spc="0" normalizeH="0" noProof="0" dirty="0">
                <a:ln>
                  <a:noFill/>
                </a:ln>
                <a:solidFill>
                  <a:srgbClr val="347F5F"/>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机器学习的重要元素</a:t>
            </a:r>
            <a:endParaRPr lang="zh-CN" altLang="en-US" sz="2200" dirty="0">
              <a:solidFill>
                <a:srgbClr val="347F5F"/>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0BA1A11B-ACCC-4840-D634-3B4F67B2B117}"/>
                  </a:ext>
                </a:extLst>
              </p:cNvPr>
              <p:cNvSpPr txBox="1"/>
              <p:nvPr/>
            </p:nvSpPr>
            <p:spPr>
              <a:xfrm>
                <a:off x="415159" y="5186855"/>
                <a:ext cx="6916060" cy="1015663"/>
              </a:xfrm>
              <a:prstGeom prst="rect">
                <a:avLst/>
              </a:prstGeom>
              <a:noFill/>
            </p:spPr>
            <p:txBody>
              <a:bodyPr wrap="none" rtlCol="0">
                <a:spAutoFit/>
              </a:bodyPr>
              <a:lstStyle/>
              <a:p>
                <a:r>
                  <a:rPr lang="zh-CN" altLang="en-US" sz="2000" dirty="0">
                    <a:latin typeface="Arial" panose="020B0604020202020204" pitchFamily="34" charset="0"/>
                    <a:ea typeface="黑体" panose="02010609060101010101" pitchFamily="49" charset="-122"/>
                  </a:rPr>
                  <a:t>策略：问题的目标函数，问题形式化描述的范式</a:t>
                </a:r>
                <a:endParaRPr lang="en-US" altLang="zh-CN" sz="2000" dirty="0">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模型：假设空间（函数空间）</a:t>
                </a:r>
                <a14:m>
                  <m:oMath xmlns:m="http://schemas.openxmlformats.org/officeDocument/2006/math">
                    <m:r>
                      <a:rPr lang="en-US" altLang="zh-CN" sz="2000" i="1" smtClean="0">
                        <a:latin typeface="Cambria Math" panose="02040503050406030204" pitchFamily="18" charset="0"/>
                        <a:ea typeface="Cambria Math" panose="02040503050406030204" pitchFamily="18" charset="0"/>
                      </a:rPr>
                      <m:t>ℋ</m:t>
                    </m:r>
                  </m:oMath>
                </a14:m>
                <a:r>
                  <a:rPr lang="zh-CN" altLang="en-US" sz="2000" dirty="0">
                    <a:latin typeface="Arial" panose="020B0604020202020204" pitchFamily="34" charset="0"/>
                    <a:ea typeface="黑体" panose="02010609060101010101" pitchFamily="49" charset="-122"/>
                  </a:rPr>
                  <a:t> 的形式化（参数化函数族）</a:t>
                </a:r>
                <a:endParaRPr lang="en-US" altLang="zh-CN" sz="2000" dirty="0">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算法：求解最优假设 </a:t>
                </a:r>
                <a14:m>
                  <m:oMath xmlns:m="http://schemas.openxmlformats.org/officeDocument/2006/math">
                    <m:r>
                      <a:rPr lang="en-US" altLang="zh-CN" sz="2000" b="0" i="1" smtClean="0">
                        <a:latin typeface="Cambria Math" panose="02040503050406030204" pitchFamily="18" charset="0"/>
                      </a:rPr>
                      <m:t>h</m:t>
                    </m:r>
                  </m:oMath>
                </a14:m>
                <a:r>
                  <a:rPr lang="zh-CN" altLang="en-US" sz="2000" dirty="0">
                    <a:latin typeface="Arial" panose="020B0604020202020204" pitchFamily="34" charset="0"/>
                    <a:ea typeface="黑体" panose="02010609060101010101" pitchFamily="49" charset="-122"/>
                  </a:rPr>
                  <a:t> 的方法</a:t>
                </a:r>
              </a:p>
            </p:txBody>
          </p:sp>
        </mc:Choice>
        <mc:Fallback xmlns="">
          <p:sp>
            <p:nvSpPr>
              <p:cNvPr id="2" name="文本框 1">
                <a:extLst>
                  <a:ext uri="{FF2B5EF4-FFF2-40B4-BE49-F238E27FC236}">
                    <a16:creationId xmlns:a16="http://schemas.microsoft.com/office/drawing/2014/main" id="{0BA1A11B-ACCC-4840-D634-3B4F67B2B117}"/>
                  </a:ext>
                </a:extLst>
              </p:cNvPr>
              <p:cNvSpPr txBox="1">
                <a:spLocks noRot="1" noChangeAspect="1" noMove="1" noResize="1" noEditPoints="1" noAdjustHandles="1" noChangeArrowheads="1" noChangeShapeType="1" noTextEdit="1"/>
              </p:cNvSpPr>
              <p:nvPr/>
            </p:nvSpPr>
            <p:spPr>
              <a:xfrm>
                <a:off x="415159" y="5186855"/>
                <a:ext cx="6916060" cy="1015663"/>
              </a:xfrm>
              <a:prstGeom prst="rect">
                <a:avLst/>
              </a:prstGeom>
              <a:blipFill>
                <a:blip r:embed="rId2"/>
                <a:stretch>
                  <a:fillRect l="-881" t="-4819" r="-176" b="-903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356345288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磁盘 1"/>
          <p:cNvSpPr/>
          <p:nvPr/>
        </p:nvSpPr>
        <p:spPr>
          <a:xfrm>
            <a:off x="565189" y="3288859"/>
            <a:ext cx="972000" cy="1440000"/>
          </a:xfrm>
          <a:prstGeom prst="flowChartMagneticDisk">
            <a:avLst/>
          </a:prstGeom>
          <a:solidFill>
            <a:srgbClr val="E1D6F2"/>
          </a:solidFill>
          <a:ln>
            <a:solidFill>
              <a:srgbClr val="7030A0"/>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5" name="流程图: 磁盘 4"/>
          <p:cNvSpPr/>
          <p:nvPr/>
        </p:nvSpPr>
        <p:spPr>
          <a:xfrm>
            <a:off x="5345522" y="3343069"/>
            <a:ext cx="972000" cy="1440000"/>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3" name="圆角矩形 12"/>
              <p:cNvSpPr/>
              <p:nvPr/>
            </p:nvSpPr>
            <p:spPr bwMode="auto">
              <a:xfrm>
                <a:off x="69610" y="5014436"/>
                <a:ext cx="2268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rgbClr val="7030A0"/>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sub>
                          </m:sSub>
                        </m:e>
                      </m:d>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rgbClr val="7030A0"/>
                          </a:solidFill>
                          <a:effectLst/>
                          <a:uLnTx/>
                          <a:uFillTx/>
                          <a:latin typeface="Cambria Math"/>
                          <a:ea typeface="微软雅黑" pitchFamily="34" charset="-122"/>
                          <a:cs typeface="Times New Roman" pitchFamily="18" charset="0"/>
                        </a:rPr>
                        <m:t>𝑛</m:t>
                      </m:r>
                    </m:oMath>
                  </m:oMathPara>
                </a14:m>
                <a:endParaRPr kumimoji="0" lang="en-US" altLang="zh-CN" sz="2000" i="0" u="none" strike="noStrike" kern="0" cap="none" spc="0" normalizeH="0" baseline="0" noProof="0" dirty="0">
                  <a:ln>
                    <a:noFill/>
                  </a:ln>
                  <a:solidFill>
                    <a:srgbClr val="7030A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圆角矩形 12"/>
              <p:cNvSpPr>
                <a:spLocks noRot="1" noChangeAspect="1" noMove="1" noResize="1" noEditPoints="1" noAdjustHandles="1" noChangeArrowheads="1" noChangeShapeType="1" noTextEdit="1"/>
              </p:cNvSpPr>
              <p:nvPr/>
            </p:nvSpPr>
            <p:spPr bwMode="auto">
              <a:xfrm>
                <a:off x="69610" y="5014436"/>
                <a:ext cx="2268000" cy="855025"/>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圆角矩形 11"/>
              <p:cNvSpPr/>
              <p:nvPr/>
            </p:nvSpPr>
            <p:spPr bwMode="auto">
              <a:xfrm>
                <a:off x="4732042" y="5026186"/>
                <a:ext cx="2268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Test</a:t>
                </a:r>
                <a:r>
                  <a:rPr lang="zh-CN" altLang="en-US"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 </a:t>
                </a:r>
                <a:r>
                  <a:rPr lang="en-US" altLang="zh-CN" sz="2000"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dataset</a:t>
                </a:r>
                <a:endParaRPr kumimoji="0" lang="en-US" altLang="zh-CN" sz="2000"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e>
                      </m:d>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𝑚</m:t>
                      </m:r>
                    </m:oMath>
                  </m:oMathPara>
                </a14:m>
                <a:endParaRPr kumimoji="0" lang="en-US" altLang="zh-CN" sz="2000"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2" name="圆角矩形 11"/>
              <p:cNvSpPr>
                <a:spLocks noRot="1" noChangeAspect="1" noMove="1" noResize="1" noEditPoints="1" noAdjustHandles="1" noChangeArrowheads="1" noChangeShapeType="1" noTextEdit="1"/>
              </p:cNvSpPr>
              <p:nvPr/>
            </p:nvSpPr>
            <p:spPr bwMode="auto">
              <a:xfrm>
                <a:off x="4732042" y="5026186"/>
                <a:ext cx="2268000" cy="855027"/>
              </a:xfrm>
              <a:prstGeom prst="roundRect">
                <a:avLst/>
              </a:prstGeom>
              <a:blipFill>
                <a:blip r:embed="rId3"/>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16" name="流程图: 磁盘 15"/>
          <p:cNvSpPr/>
          <p:nvPr/>
        </p:nvSpPr>
        <p:spPr>
          <a:xfrm>
            <a:off x="7079019" y="3173341"/>
            <a:ext cx="1959429" cy="1670852"/>
          </a:xfrm>
          <a:prstGeom prst="flowChartMagneticDisk">
            <a:avLst/>
          </a:prstGeom>
          <a:gradFill>
            <a:gsLst>
              <a:gs pos="0">
                <a:srgbClr val="FFEFD1"/>
              </a:gs>
              <a:gs pos="100000">
                <a:srgbClr val="F0EBD5"/>
              </a:gs>
              <a:gs pos="100000">
                <a:srgbClr val="D1C39F"/>
              </a:gs>
            </a:gsLst>
            <a:lin ang="5400000" scaled="0"/>
          </a:gradFill>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3" name="流程图: 磁盘 2">
            <a:extLst>
              <a:ext uri="{FF2B5EF4-FFF2-40B4-BE49-F238E27FC236}">
                <a16:creationId xmlns:a16="http://schemas.microsoft.com/office/drawing/2014/main" id="{6BF12469-3726-0E90-8318-77A01AA437F0}"/>
              </a:ext>
            </a:extLst>
          </p:cNvPr>
          <p:cNvSpPr/>
          <p:nvPr/>
        </p:nvSpPr>
        <p:spPr>
          <a:xfrm>
            <a:off x="2983858" y="3288859"/>
            <a:ext cx="972000" cy="1440000"/>
          </a:xfrm>
          <a:prstGeom prst="flowChartMagneticDisk">
            <a:avLst/>
          </a:prstGeom>
          <a:solidFill>
            <a:srgbClr val="E3FDBE"/>
          </a:solidFill>
          <a:ln>
            <a:solidFill>
              <a:schemeClr val="accent3">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4" name="TextBox 13">
            <a:extLst>
              <a:ext uri="{FF2B5EF4-FFF2-40B4-BE49-F238E27FC236}">
                <a16:creationId xmlns:a16="http://schemas.microsoft.com/office/drawing/2014/main" id="{DBE7543E-94FD-5C53-A8A7-7D941F299C55}"/>
              </a:ext>
            </a:extLst>
          </p:cNvPr>
          <p:cNvSpPr txBox="1"/>
          <p:nvPr/>
        </p:nvSpPr>
        <p:spPr>
          <a:xfrm>
            <a:off x="2373932" y="1746875"/>
            <a:ext cx="2364572" cy="1538883"/>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使用</a:t>
            </a:r>
            <a:r>
              <a:rPr lang="zh-CN" altLang="en-US" sz="2000" dirty="0">
                <a:solidFill>
                  <a:srgbClr val="669900"/>
                </a:solidFill>
                <a:latin typeface="Arial" panose="020B0604020202020204" pitchFamily="34" charset="0"/>
                <a:ea typeface="黑体" panose="02010609060101010101" pitchFamily="49" charset="-122"/>
              </a:rPr>
              <a:t>验证数据集 </a:t>
            </a:r>
            <a:r>
              <a:rPr lang="en-US" altLang="zh-CN" sz="2000" dirty="0">
                <a:solidFill>
                  <a:srgbClr val="669900"/>
                </a:solidFill>
                <a:latin typeface="Arial" panose="020B0604020202020204" pitchFamily="34" charset="0"/>
                <a:ea typeface="黑体" panose="02010609060101010101" pitchFamily="49" charset="-122"/>
              </a:rPr>
              <a:t>(validation dataset)</a:t>
            </a:r>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调整超参数和模型结构</a:t>
            </a:r>
            <a:r>
              <a:rPr lang="en-US" altLang="zh-CN" sz="2000" dirty="0">
                <a:solidFill>
                  <a:prstClr val="black"/>
                </a:solidFill>
                <a:latin typeface="Arial" panose="020B0604020202020204" pitchFamily="34" charset="0"/>
                <a:ea typeface="黑体" panose="02010609060101010101" pitchFamily="49" charset="-122"/>
              </a:rPr>
              <a:t>,</a:t>
            </a:r>
            <a:r>
              <a:rPr lang="zh-CN" altLang="en-US" sz="2000" dirty="0">
                <a:solidFill>
                  <a:prstClr val="black"/>
                </a:solidFill>
                <a:latin typeface="Arial" panose="020B0604020202020204" pitchFamily="34" charset="0"/>
                <a:ea typeface="黑体" panose="02010609060101010101" pitchFamily="49" charset="-122"/>
              </a:rPr>
              <a:t> 进行 </a:t>
            </a:r>
            <a:r>
              <a:rPr lang="en-US" altLang="zh-CN" sz="2000" dirty="0">
                <a:solidFill>
                  <a:prstClr val="black"/>
                </a:solidFill>
                <a:latin typeface="Arial" panose="020B0604020202020204" pitchFamily="34" charset="0"/>
                <a:ea typeface="黑体" panose="02010609060101010101" pitchFamily="49" charset="-122"/>
              </a:rPr>
              <a:t>early stopping</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7" name="圆角矩形 11">
                <a:extLst>
                  <a:ext uri="{FF2B5EF4-FFF2-40B4-BE49-F238E27FC236}">
                    <a16:creationId xmlns:a16="http://schemas.microsoft.com/office/drawing/2014/main" id="{F574D20E-BCDB-981E-CAE4-B66623F95C78}"/>
                  </a:ext>
                </a:extLst>
              </p:cNvPr>
              <p:cNvSpPr/>
              <p:nvPr/>
            </p:nvSpPr>
            <p:spPr bwMode="auto">
              <a:xfrm>
                <a:off x="2395448" y="5014436"/>
                <a:ext cx="2268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Validation</a:t>
                </a:r>
                <a:r>
                  <a:rPr kumimoji="0" lang="zh-CN" altLang="en-US"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1" i="0"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𝐱</m:t>
                                  </m:r>
                                </m:e>
                                <m:sub>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m:t>
                              </m:r>
                            </m:sup>
                          </m:s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baseline="0" noProof="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m:t>
                              </m:r>
                            </m:sup>
                          </m:sSup>
                        </m:e>
                      </m:d>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accent3">
                              <a:lumMod val="75000"/>
                            </a:schemeClr>
                          </a:solidFill>
                          <a:effectLst/>
                          <a:uLnTx/>
                          <a:uFillTx/>
                          <a:latin typeface="Cambria Math" panose="02040503050406030204" pitchFamily="18" charset="0"/>
                          <a:ea typeface="微软雅黑" pitchFamily="34" charset="-122"/>
                          <a:cs typeface="Times New Roman" pitchFamily="18" charset="0"/>
                        </a:rPr>
                        <m:t>𝑘</m:t>
                      </m:r>
                    </m:oMath>
                  </m:oMathPara>
                </a14:m>
                <a:endParaRPr kumimoji="0" lang="en-US" altLang="zh-CN" sz="2000" i="0" u="none" strike="noStrike" kern="0" cap="none" spc="0" normalizeH="0" baseline="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圆角矩形 11">
                <a:extLst>
                  <a:ext uri="{FF2B5EF4-FFF2-40B4-BE49-F238E27FC236}">
                    <a16:creationId xmlns:a16="http://schemas.microsoft.com/office/drawing/2014/main" id="{F574D20E-BCDB-981E-CAE4-B66623F95C78}"/>
                  </a:ext>
                </a:extLst>
              </p:cNvPr>
              <p:cNvSpPr>
                <a:spLocks noRot="1" noChangeAspect="1" noMove="1" noResize="1" noEditPoints="1" noAdjustHandles="1" noChangeArrowheads="1" noChangeShapeType="1" noTextEdit="1"/>
              </p:cNvSpPr>
              <p:nvPr/>
            </p:nvSpPr>
            <p:spPr bwMode="auto">
              <a:xfrm>
                <a:off x="2395448" y="5014436"/>
                <a:ext cx="2268000" cy="855027"/>
              </a:xfrm>
              <a:prstGeom prst="roundRect">
                <a:avLst/>
              </a:prstGeom>
              <a:blipFill>
                <a:blip r:embed="rId4"/>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8" name="文本框 7">
            <a:extLst>
              <a:ext uri="{FF2B5EF4-FFF2-40B4-BE49-F238E27FC236}">
                <a16:creationId xmlns:a16="http://schemas.microsoft.com/office/drawing/2014/main" id="{E82970D8-F8CA-BA1F-5F9B-CC2EB9B1847D}"/>
              </a:ext>
            </a:extLst>
          </p:cNvPr>
          <p:cNvSpPr txBox="1"/>
          <p:nvPr/>
        </p:nvSpPr>
        <p:spPr>
          <a:xfrm>
            <a:off x="38750" y="899689"/>
            <a:ext cx="484313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训练数据集、验证数据集和测试数据集</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5" name="标题 14">
            <a:extLst>
              <a:ext uri="{FF2B5EF4-FFF2-40B4-BE49-F238E27FC236}">
                <a16:creationId xmlns:a16="http://schemas.microsoft.com/office/drawing/2014/main" id="{918DB2AE-4F7C-0B7B-DEAE-6CCC77FD89E4}"/>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机器学习的基本概念</a:t>
            </a:r>
          </a:p>
        </p:txBody>
      </p:sp>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C1998B18-4FEE-C069-BCF7-941F0E506676}"/>
                  </a:ext>
                </a:extLst>
              </p:cNvPr>
              <p:cNvSpPr txBox="1"/>
              <p:nvPr/>
            </p:nvSpPr>
            <p:spPr>
              <a:xfrm>
                <a:off x="127313" y="1746875"/>
                <a:ext cx="2051999" cy="1231106"/>
              </a:xfrm>
              <a:prstGeom prst="rect">
                <a:avLst/>
              </a:prstGeom>
              <a:noFill/>
            </p:spPr>
            <p:txBody>
              <a:bodyPr wrap="square" lIns="0" tIns="0" rIns="0" bIns="0" rtlCol="0">
                <a:spAutoFit/>
              </a:bodyPr>
              <a:lstStyle/>
              <a:p>
                <a:r>
                  <a:rPr lang="zh-CN" altLang="en-US" sz="2000" dirty="0">
                    <a:solidFill>
                      <a:srgbClr val="9900CC"/>
                    </a:solidFill>
                    <a:latin typeface="Arial" panose="020B0604020202020204" pitchFamily="34" charset="0"/>
                    <a:ea typeface="黑体" panose="02010609060101010101" pitchFamily="49" charset="-122"/>
                  </a:rPr>
                  <a:t>从训练数据集 </a:t>
                </a:r>
                <a:r>
                  <a:rPr lang="en-US" altLang="zh-CN" sz="2000" dirty="0">
                    <a:solidFill>
                      <a:srgbClr val="9900CC"/>
                    </a:solidFill>
                    <a:latin typeface="Arial" panose="020B0604020202020204" pitchFamily="34" charset="0"/>
                    <a:ea typeface="黑体" panose="02010609060101010101" pitchFamily="49" charset="-122"/>
                  </a:rPr>
                  <a:t>(training dataset)</a:t>
                </a:r>
                <a:r>
                  <a:rPr lang="en-US" altLang="zh-CN" sz="2000" dirty="0">
                    <a:latin typeface="Arial" panose="020B0604020202020204" pitchFamily="34" charset="0"/>
                    <a:ea typeface="黑体" panose="02010609060101010101" pitchFamily="49" charset="-122"/>
                  </a:rPr>
                  <a:t> </a:t>
                </a:r>
              </a:p>
              <a:p>
                <a:r>
                  <a:rPr lang="zh-CN" altLang="en-US" sz="2000" dirty="0">
                    <a:latin typeface="Arial" panose="020B0604020202020204" pitchFamily="34" charset="0"/>
                    <a:ea typeface="黑体" panose="02010609060101010101" pitchFamily="49" charset="-122"/>
                  </a:rPr>
                  <a:t>学习得到映射函数 </a:t>
                </a:r>
                <a14:m>
                  <m:oMath xmlns:m="http://schemas.openxmlformats.org/officeDocument/2006/math">
                    <m:r>
                      <a:rPr lang="en-US" altLang="zh-CN" sz="2000" b="0" i="1" smtClean="0">
                        <a:latin typeface="Cambria Math" panose="02040503050406030204" pitchFamily="18" charset="0"/>
                      </a:rPr>
                      <m:t>𝑓</m:t>
                    </m:r>
                  </m:oMath>
                </a14:m>
                <a:endParaRPr lang="zh-CN" altLang="en-US" sz="2000" dirty="0">
                  <a:latin typeface="Arial" panose="020B0604020202020204" pitchFamily="34" charset="0"/>
                  <a:ea typeface="黑体" panose="02010609060101010101" pitchFamily="49" charset="-122"/>
                </a:endParaRPr>
              </a:p>
            </p:txBody>
          </p:sp>
        </mc:Choice>
        <mc:Fallback xmlns="">
          <p:sp>
            <p:nvSpPr>
              <p:cNvPr id="17" name="文本框 16">
                <a:extLst>
                  <a:ext uri="{FF2B5EF4-FFF2-40B4-BE49-F238E27FC236}">
                    <a16:creationId xmlns:a16="http://schemas.microsoft.com/office/drawing/2014/main" id="{C1998B18-4FEE-C069-BCF7-941F0E506676}"/>
                  </a:ext>
                </a:extLst>
              </p:cNvPr>
              <p:cNvSpPr txBox="1">
                <a:spLocks noRot="1" noChangeAspect="1" noMove="1" noResize="1" noEditPoints="1" noAdjustHandles="1" noChangeArrowheads="1" noChangeShapeType="1" noTextEdit="1"/>
              </p:cNvSpPr>
              <p:nvPr/>
            </p:nvSpPr>
            <p:spPr>
              <a:xfrm>
                <a:off x="127313" y="1746875"/>
                <a:ext cx="2051999" cy="1231106"/>
              </a:xfrm>
              <a:prstGeom prst="rect">
                <a:avLst/>
              </a:prstGeom>
              <a:blipFill>
                <a:blip r:embed="rId5"/>
                <a:stretch>
                  <a:fillRect l="-7738" t="-7426" r="-7440" b="-841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TextBox 13">
                <a:extLst>
                  <a:ext uri="{FF2B5EF4-FFF2-40B4-BE49-F238E27FC236}">
                    <a16:creationId xmlns:a16="http://schemas.microsoft.com/office/drawing/2014/main" id="{0A0E76D2-6DB3-1971-D1B4-CEE12CC65DDB}"/>
                  </a:ext>
                </a:extLst>
              </p:cNvPr>
              <p:cNvSpPr txBox="1"/>
              <p:nvPr/>
            </p:nvSpPr>
            <p:spPr>
              <a:xfrm>
                <a:off x="5018255" y="1746875"/>
                <a:ext cx="1753683"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在</a:t>
                </a:r>
                <a:r>
                  <a:rPr lang="zh-CN" altLang="en-US" sz="2000" dirty="0">
                    <a:solidFill>
                      <a:schemeClr val="accent6">
                        <a:lumMod val="75000"/>
                      </a:schemeClr>
                    </a:solidFill>
                    <a:latin typeface="Arial" panose="020B0604020202020204" pitchFamily="34" charset="0"/>
                    <a:ea typeface="黑体" panose="02010609060101010101" pitchFamily="49" charset="-122"/>
                  </a:rPr>
                  <a:t>测试数据集 </a:t>
                </a:r>
                <a:r>
                  <a:rPr lang="en-US" altLang="zh-CN" sz="2000" dirty="0">
                    <a:solidFill>
                      <a:schemeClr val="accent6">
                        <a:lumMod val="75000"/>
                      </a:schemeClr>
                    </a:solidFill>
                    <a:latin typeface="Arial" panose="020B0604020202020204" pitchFamily="34" charset="0"/>
                    <a:ea typeface="黑体" panose="02010609060101010101" pitchFamily="49" charset="-122"/>
                  </a:rPr>
                  <a:t>(test dataset)</a:t>
                </a:r>
                <a:r>
                  <a:rPr lang="zh-CN" altLang="en-US" sz="2000" dirty="0">
                    <a:solidFill>
                      <a:prstClr val="black"/>
                    </a:solidFill>
                    <a:latin typeface="Arial" panose="020B0604020202020204" pitchFamily="34" charset="0"/>
                    <a:ea typeface="黑体" panose="02010609060101010101" pitchFamily="49" charset="-122"/>
                  </a:rPr>
                  <a:t> 测试映射函数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18" name="TextBox 13">
                <a:extLst>
                  <a:ext uri="{FF2B5EF4-FFF2-40B4-BE49-F238E27FC236}">
                    <a16:creationId xmlns:a16="http://schemas.microsoft.com/office/drawing/2014/main" id="{0A0E76D2-6DB3-1971-D1B4-CEE12CC65DDB}"/>
                  </a:ext>
                </a:extLst>
              </p:cNvPr>
              <p:cNvSpPr txBox="1">
                <a:spLocks noRot="1" noChangeAspect="1" noMove="1" noResize="1" noEditPoints="1" noAdjustHandles="1" noChangeArrowheads="1" noChangeShapeType="1" noTextEdit="1"/>
              </p:cNvSpPr>
              <p:nvPr/>
            </p:nvSpPr>
            <p:spPr>
              <a:xfrm>
                <a:off x="5018255" y="1746875"/>
                <a:ext cx="1753683" cy="923330"/>
              </a:xfrm>
              <a:prstGeom prst="rect">
                <a:avLst/>
              </a:prstGeom>
              <a:blipFill>
                <a:blip r:embed="rId6"/>
                <a:stretch>
                  <a:fillRect l="-8681" t="-9934" r="-5556" b="-145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TextBox 13">
                <a:extLst>
                  <a:ext uri="{FF2B5EF4-FFF2-40B4-BE49-F238E27FC236}">
                    <a16:creationId xmlns:a16="http://schemas.microsoft.com/office/drawing/2014/main" id="{DCEC52E0-A7BE-2464-4220-E37D77B5D5DE}"/>
                  </a:ext>
                </a:extLst>
              </p:cNvPr>
              <p:cNvSpPr txBox="1"/>
              <p:nvPr/>
            </p:nvSpPr>
            <p:spPr>
              <a:xfrm>
                <a:off x="7189849" y="1746875"/>
                <a:ext cx="1907768" cy="923330"/>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prstClr val="black"/>
                    </a:solidFill>
                    <a:latin typeface="Arial" panose="020B0604020202020204" pitchFamily="34" charset="0"/>
                    <a:ea typeface="黑体" panose="02010609060101010101" pitchFamily="49" charset="-122"/>
                  </a:rPr>
                  <a:t>在未知数据集 </a:t>
                </a:r>
                <a:r>
                  <a:rPr lang="en-US" altLang="zh-CN" sz="2000" dirty="0">
                    <a:solidFill>
                      <a:schemeClr val="accent6">
                        <a:lumMod val="75000"/>
                      </a:schemeClr>
                    </a:solidFill>
                    <a:latin typeface="Arial" panose="020B0604020202020204" pitchFamily="34" charset="0"/>
                    <a:ea typeface="黑体" panose="02010609060101010101" pitchFamily="49" charset="-122"/>
                  </a:rPr>
                  <a:t>(test dataset)</a:t>
                </a:r>
                <a:r>
                  <a:rPr lang="zh-CN" altLang="en-US" sz="2000" dirty="0">
                    <a:solidFill>
                      <a:prstClr val="black"/>
                    </a:solidFill>
                    <a:latin typeface="Arial" panose="020B0604020202020204" pitchFamily="34" charset="0"/>
                    <a:ea typeface="黑体" panose="02010609060101010101" pitchFamily="49" charset="-122"/>
                  </a:rPr>
                  <a:t> 上使用映射函数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19" name="TextBox 13">
                <a:extLst>
                  <a:ext uri="{FF2B5EF4-FFF2-40B4-BE49-F238E27FC236}">
                    <a16:creationId xmlns:a16="http://schemas.microsoft.com/office/drawing/2014/main" id="{DCEC52E0-A7BE-2464-4220-E37D77B5D5DE}"/>
                  </a:ext>
                </a:extLst>
              </p:cNvPr>
              <p:cNvSpPr txBox="1">
                <a:spLocks noRot="1" noChangeAspect="1" noMove="1" noResize="1" noEditPoints="1" noAdjustHandles="1" noChangeArrowheads="1" noChangeShapeType="1" noTextEdit="1"/>
              </p:cNvSpPr>
              <p:nvPr/>
            </p:nvSpPr>
            <p:spPr>
              <a:xfrm>
                <a:off x="7189849" y="1746875"/>
                <a:ext cx="1907768" cy="923330"/>
              </a:xfrm>
              <a:prstGeom prst="rect">
                <a:avLst/>
              </a:prstGeom>
              <a:blipFill>
                <a:blip r:embed="rId7"/>
                <a:stretch>
                  <a:fillRect l="-7987" t="-9934" r="-2875" b="-14570"/>
                </a:stretch>
              </a:blipFill>
            </p:spPr>
            <p:txBody>
              <a:bodyPr/>
              <a:lstStyle/>
              <a:p>
                <a:r>
                  <a:rPr lang="zh-CN" altLang="en-US">
                    <a:noFill/>
                  </a:rPr>
                  <a:t> </a:t>
                </a:r>
              </a:p>
            </p:txBody>
          </p:sp>
        </mc:Fallback>
      </mc:AlternateContent>
      <p:sp>
        <p:nvSpPr>
          <p:cNvPr id="20" name="TextBox 13">
            <a:extLst>
              <a:ext uri="{FF2B5EF4-FFF2-40B4-BE49-F238E27FC236}">
                <a16:creationId xmlns:a16="http://schemas.microsoft.com/office/drawing/2014/main" id="{F59CCFC1-8D02-FE2C-4C46-26983FBD944D}"/>
              </a:ext>
            </a:extLst>
          </p:cNvPr>
          <p:cNvSpPr txBox="1"/>
          <p:nvPr/>
        </p:nvSpPr>
        <p:spPr>
          <a:xfrm>
            <a:off x="2442870" y="5996220"/>
            <a:ext cx="2129130" cy="30777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sz="2000" dirty="0">
                <a:solidFill>
                  <a:schemeClr val="accent3">
                    <a:lumMod val="75000"/>
                  </a:schemeClr>
                </a:solidFill>
                <a:latin typeface="Arial" panose="020B0604020202020204" pitchFamily="34" charset="0"/>
                <a:ea typeface="黑体" panose="02010609060101010101" pitchFamily="49" charset="-122"/>
              </a:rPr>
              <a:t>广义的训练数据集</a:t>
            </a:r>
            <a:endParaRPr kumimoji="0" lang="zh-CN" altLang="en-US" sz="2000" b="0" i="0" u="none" strike="noStrike" kern="1200" cap="none" spc="0" normalizeH="0" noProof="0" dirty="0">
              <a:ln>
                <a:noFill/>
              </a:ln>
              <a:solidFill>
                <a:schemeClr val="accent3">
                  <a:lumMod val="75000"/>
                </a:schemeClr>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21651368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sp>
        <p:nvSpPr>
          <p:cNvPr id="29" name="TextBox 27">
            <a:extLst>
              <a:ext uri="{FF2B5EF4-FFF2-40B4-BE49-F238E27FC236}">
                <a16:creationId xmlns:a16="http://schemas.microsoft.com/office/drawing/2014/main" id="{25FCAD2F-FAA0-0878-D8B5-A32801E123EA}"/>
              </a:ext>
            </a:extLst>
          </p:cNvPr>
          <p:cNvSpPr txBox="1"/>
          <p:nvPr/>
        </p:nvSpPr>
        <p:spPr>
          <a:xfrm>
            <a:off x="364358" y="1391960"/>
            <a:ext cx="5899051" cy="307777"/>
          </a:xfrm>
          <a:prstGeom prst="rect">
            <a:avLst/>
          </a:prstGeom>
          <a:noFill/>
        </p:spPr>
        <p:txBody>
          <a:bodyPr vert="horz" wrap="none" lIns="0" tIns="0" rIns="0" bIns="0" rtlCol="0">
            <a:spAutoFit/>
          </a:bodyPr>
          <a:lstStyle/>
          <a:p>
            <a:r>
              <a:rPr lang="zh-CN" altLang="en-US" sz="2000" dirty="0">
                <a:solidFill>
                  <a:srgbClr val="000000"/>
                </a:solidFill>
                <a:latin typeface="Arial" panose="020B0604020202020204" pitchFamily="34" charset="0"/>
                <a:ea typeface="黑体" panose="02010609060101010101" pitchFamily="49" charset="-122"/>
              </a:rPr>
              <a:t>机器学习算法在学习过程中对某种类型假设的偏好。</a:t>
            </a:r>
          </a:p>
        </p:txBody>
      </p:sp>
      <p:sp>
        <p:nvSpPr>
          <p:cNvPr id="31" name="TextBox 28">
            <a:extLst>
              <a:ext uri="{FF2B5EF4-FFF2-40B4-BE49-F238E27FC236}">
                <a16:creationId xmlns:a16="http://schemas.microsoft.com/office/drawing/2014/main" id="{6A34C731-DCAB-D066-55F6-24C07FDB7934}"/>
              </a:ext>
            </a:extLst>
          </p:cNvPr>
          <p:cNvSpPr txBox="1"/>
          <p:nvPr/>
        </p:nvSpPr>
        <p:spPr>
          <a:xfrm>
            <a:off x="5092680" y="2210013"/>
            <a:ext cx="940963" cy="615553"/>
          </a:xfrm>
          <a:prstGeom prst="rect">
            <a:avLst/>
          </a:prstGeom>
          <a:noFill/>
        </p:spPr>
        <p:txBody>
          <a:bodyPr vert="horz" wrap="none" lIns="0" tIns="0" rIns="0" bIns="0" rtlCol="0">
            <a:spAutoFit/>
          </a:bodyPr>
          <a:lstStyle/>
          <a:p>
            <a:r>
              <a:rPr lang="en-US" altLang="zh-CN" sz="2000" dirty="0">
                <a:solidFill>
                  <a:srgbClr val="000000"/>
                </a:solidFill>
                <a:latin typeface="Arial" panose="020B0604020202020204" pitchFamily="34" charset="0"/>
                <a:ea typeface="黑体" panose="02010609060101010101" pitchFamily="49" charset="-122"/>
              </a:rPr>
              <a:t>A</a:t>
            </a:r>
            <a:r>
              <a:rPr lang="zh-CN" altLang="en-US" sz="2000" dirty="0">
                <a:solidFill>
                  <a:srgbClr val="000000"/>
                </a:solidFill>
                <a:latin typeface="Arial" panose="020B0604020202020204" pitchFamily="34" charset="0"/>
                <a:ea typeface="黑体" panose="02010609060101010101" pitchFamily="49" charset="-122"/>
              </a:rPr>
              <a:t>更好？</a:t>
            </a:r>
          </a:p>
          <a:p>
            <a:r>
              <a:rPr lang="en-US" altLang="zh-CN" sz="2000" dirty="0">
                <a:solidFill>
                  <a:srgbClr val="000000"/>
                </a:solidFill>
                <a:latin typeface="Arial" panose="020B0604020202020204" pitchFamily="34" charset="0"/>
                <a:ea typeface="黑体" panose="02010609060101010101" pitchFamily="49" charset="-122"/>
              </a:rPr>
              <a:t>B</a:t>
            </a:r>
            <a:r>
              <a:rPr lang="zh-CN" altLang="en-US" sz="2000" dirty="0">
                <a:solidFill>
                  <a:srgbClr val="000000"/>
                </a:solidFill>
                <a:latin typeface="Arial" panose="020B0604020202020204" pitchFamily="34" charset="0"/>
                <a:ea typeface="黑体" panose="02010609060101010101" pitchFamily="49" charset="-122"/>
              </a:rPr>
              <a:t>更好？</a:t>
            </a:r>
          </a:p>
        </p:txBody>
      </p:sp>
      <p:sp>
        <p:nvSpPr>
          <p:cNvPr id="32" name="TextBox 29">
            <a:extLst>
              <a:ext uri="{FF2B5EF4-FFF2-40B4-BE49-F238E27FC236}">
                <a16:creationId xmlns:a16="http://schemas.microsoft.com/office/drawing/2014/main" id="{939D45EF-5238-548C-CF0A-EB51B2E86730}"/>
              </a:ext>
            </a:extLst>
          </p:cNvPr>
          <p:cNvSpPr txBox="1"/>
          <p:nvPr/>
        </p:nvSpPr>
        <p:spPr>
          <a:xfrm>
            <a:off x="6552009" y="2182235"/>
            <a:ext cx="2080953" cy="925253"/>
          </a:xfrm>
          <a:prstGeom prst="rect">
            <a:avLst/>
          </a:prstGeom>
          <a:noFill/>
        </p:spPr>
        <p:txBody>
          <a:bodyPr vert="horz" wrap="square" lIns="0" tIns="0" rIns="0" bIns="0" rtlCol="0">
            <a:spAutoFit/>
          </a:bodyPr>
          <a:lstStyle/>
          <a:p>
            <a:r>
              <a:rPr lang="zh-CN" altLang="en-US" sz="2004" dirty="0">
                <a:solidFill>
                  <a:srgbClr val="0000FF"/>
                </a:solidFill>
                <a:latin typeface="Arial" panose="020B0604020202020204" pitchFamily="34" charset="0"/>
                <a:ea typeface="黑体" panose="02010609060101010101" pitchFamily="49" charset="-122"/>
              </a:rPr>
              <a:t>一般原则：</a:t>
            </a:r>
          </a:p>
          <a:p>
            <a:r>
              <a:rPr lang="zh-CN" altLang="en-US" sz="2004" dirty="0">
                <a:solidFill>
                  <a:srgbClr val="0000FF"/>
                </a:solidFill>
                <a:latin typeface="Arial" panose="020B0604020202020204" pitchFamily="34" charset="0"/>
                <a:ea typeface="黑体" panose="02010609060101010101" pitchFamily="49" charset="-122"/>
              </a:rPr>
              <a:t>奥卡姆剃刀</a:t>
            </a:r>
            <a:endParaRPr lang="en-US" altLang="zh-CN" sz="2004" dirty="0">
              <a:solidFill>
                <a:srgbClr val="0000FF"/>
              </a:solidFill>
              <a:latin typeface="Arial" panose="020B0604020202020204" pitchFamily="34" charset="0"/>
              <a:ea typeface="黑体" panose="02010609060101010101" pitchFamily="49" charset="-122"/>
            </a:endParaRPr>
          </a:p>
          <a:p>
            <a:r>
              <a:rPr lang="en-US" altLang="zh-CN" sz="2004" dirty="0">
                <a:solidFill>
                  <a:srgbClr val="0000FF"/>
                </a:solidFill>
                <a:latin typeface="Arial" panose="020B0604020202020204" pitchFamily="34" charset="0"/>
                <a:ea typeface="黑体" panose="02010609060101010101" pitchFamily="49" charset="-122"/>
              </a:rPr>
              <a:t>(</a:t>
            </a:r>
            <a:r>
              <a:rPr lang="en-US" altLang="zh-CN" sz="2004" dirty="0" err="1">
                <a:solidFill>
                  <a:srgbClr val="0000FF"/>
                </a:solidFill>
                <a:latin typeface="Arial" panose="020B0604020202020204" pitchFamily="34" charset="0"/>
                <a:ea typeface="黑体" panose="02010609060101010101" pitchFamily="49" charset="-122"/>
              </a:rPr>
              <a:t>Ocam’s</a:t>
            </a:r>
            <a:r>
              <a:rPr lang="en-US" altLang="zh-CN" sz="2004" dirty="0">
                <a:solidFill>
                  <a:srgbClr val="0000FF"/>
                </a:solidFill>
                <a:latin typeface="Arial" panose="020B0604020202020204" pitchFamily="34" charset="0"/>
                <a:ea typeface="黑体" panose="02010609060101010101" pitchFamily="49" charset="-122"/>
              </a:rPr>
              <a:t> razor)</a:t>
            </a:r>
            <a:endParaRPr lang="zh-CN" altLang="en-US" sz="2004" dirty="0">
              <a:solidFill>
                <a:srgbClr val="0000FF"/>
              </a:solidFill>
              <a:latin typeface="Arial" panose="020B0604020202020204" pitchFamily="34" charset="0"/>
              <a:ea typeface="黑体" panose="02010609060101010101" pitchFamily="49" charset="-122"/>
            </a:endParaRPr>
          </a:p>
        </p:txBody>
      </p:sp>
      <p:sp>
        <p:nvSpPr>
          <p:cNvPr id="33" name="TextBox 30">
            <a:extLst>
              <a:ext uri="{FF2B5EF4-FFF2-40B4-BE49-F238E27FC236}">
                <a16:creationId xmlns:a16="http://schemas.microsoft.com/office/drawing/2014/main" id="{6F97E790-E045-5846-CDFF-E69F9A7AD47C}"/>
              </a:ext>
            </a:extLst>
          </p:cNvPr>
          <p:cNvSpPr txBox="1"/>
          <p:nvPr/>
        </p:nvSpPr>
        <p:spPr>
          <a:xfrm>
            <a:off x="426135" y="4106007"/>
            <a:ext cx="8397300" cy="2462213"/>
          </a:xfrm>
          <a:prstGeom prst="rect">
            <a:avLst/>
          </a:prstGeom>
          <a:noFill/>
        </p:spPr>
        <p:txBody>
          <a:bodyPr vert="horz" wrap="square" lIns="0" tIns="0" rIns="0" bIns="0" rtlCol="0">
            <a:spAutoFit/>
          </a:bodyPr>
          <a:lstStyle/>
          <a:p>
            <a:pPr>
              <a:tabLst>
                <a:tab pos="228600" algn="l"/>
                <a:tab pos="800100" algn="l"/>
                <a:tab pos="5727700" algn="l"/>
              </a:tabLst>
              <a:defRPr/>
            </a:pPr>
            <a:r>
              <a:rPr lang="zh-CN" altLang="en-US" sz="2000" dirty="0">
                <a:solidFill>
                  <a:srgbClr val="FF0000"/>
                </a:solidFill>
                <a:latin typeface="Arial" panose="020B0604020202020204" pitchFamily="34" charset="0"/>
                <a:ea typeface="黑体" panose="02010609060101010101" pitchFamily="49" charset="-122"/>
              </a:rPr>
              <a:t>任何一个有效的机器学习算法必有其归纳偏好，</a:t>
            </a:r>
            <a:r>
              <a:rPr lang="zh-CN" altLang="en-US" sz="2000" dirty="0">
                <a:latin typeface="Arial" panose="020B0604020202020204" pitchFamily="34" charset="0"/>
                <a:ea typeface="黑体" panose="02010609060101010101" pitchFamily="49" charset="-122"/>
              </a:rPr>
              <a:t>否则它将被假设空间中看似在训练集上</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等效</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的假设所迷惑，而无法产生确定的学习结果。</a:t>
            </a:r>
            <a:endParaRPr lang="en-US" altLang="zh-CN" sz="2000" dirty="0">
              <a:latin typeface="Arial" panose="020B0604020202020204" pitchFamily="34" charset="0"/>
              <a:ea typeface="黑体" panose="02010609060101010101" pitchFamily="49" charset="-122"/>
            </a:endParaRPr>
          </a:p>
          <a:p>
            <a:pPr>
              <a:tabLst>
                <a:tab pos="228600" algn="l"/>
                <a:tab pos="800100" algn="l"/>
                <a:tab pos="5727700" algn="l"/>
              </a:tabLst>
              <a:defRPr/>
            </a:pPr>
            <a:endParaRPr lang="en-US" altLang="zh-CN" sz="2000" dirty="0">
              <a:latin typeface="Arial" panose="020B0604020202020204" pitchFamily="34" charset="0"/>
              <a:ea typeface="黑体" panose="02010609060101010101" pitchFamily="49" charset="-122"/>
            </a:endParaRPr>
          </a:p>
          <a:p>
            <a:pPr>
              <a:tabLst>
                <a:tab pos="228600" algn="l"/>
                <a:tab pos="800100" algn="l"/>
                <a:tab pos="5727700" algn="l"/>
              </a:tabLst>
              <a:defRPr/>
            </a:pPr>
            <a:r>
              <a:rPr lang="zh-CN" altLang="en-US" sz="2000" dirty="0">
                <a:solidFill>
                  <a:srgbClr val="669900"/>
                </a:solidFill>
                <a:latin typeface="Arial" panose="020B0604020202020204" pitchFamily="34" charset="0"/>
                <a:ea typeface="黑体" panose="02010609060101010101" pitchFamily="49" charset="-122"/>
              </a:rPr>
              <a:t>归纳偏好</a:t>
            </a:r>
            <a:r>
              <a:rPr lang="zh-CN" altLang="en-US" sz="2000" dirty="0">
                <a:latin typeface="Arial" panose="020B0604020202020204" pitchFamily="34" charset="0"/>
                <a:ea typeface="黑体" panose="02010609060101010101" pitchFamily="49" charset="-122"/>
              </a:rPr>
              <a:t>可看作学习算法自身在一个可能很庞大的假设空间中对假设进行选择的启发式或</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价值观</a:t>
            </a:r>
            <a:r>
              <a:rPr lang="en-US" altLang="zh-CN" sz="2000" dirty="0">
                <a:latin typeface="Arial" panose="020B0604020202020204" pitchFamily="34" charset="0"/>
                <a:ea typeface="黑体" panose="02010609060101010101" pitchFamily="49" charset="-122"/>
              </a:rPr>
              <a:t>“</a:t>
            </a:r>
            <a:r>
              <a:rPr lang="zh-CN" altLang="en-US" sz="2000" dirty="0">
                <a:latin typeface="Arial" panose="020B0604020202020204" pitchFamily="34" charset="0"/>
                <a:ea typeface="黑体" panose="02010609060101010101" pitchFamily="49" charset="-122"/>
              </a:rPr>
              <a:t>。</a:t>
            </a:r>
          </a:p>
          <a:p>
            <a:pPr>
              <a:tabLst>
                <a:tab pos="228600" algn="l"/>
                <a:tab pos="800100" algn="l"/>
                <a:tab pos="5727700" algn="l"/>
              </a:tabLst>
              <a:defRPr/>
            </a:pPr>
            <a:endParaRPr lang="zh-CN" altLang="en-US" sz="2000" dirty="0">
              <a:solidFill>
                <a:srgbClr val="FF0000"/>
              </a:solidFill>
              <a:latin typeface="Arial" panose="020B0604020202020204" pitchFamily="34" charset="0"/>
              <a:ea typeface="黑体" panose="02010609060101010101" pitchFamily="49" charset="-122"/>
            </a:endParaRPr>
          </a:p>
          <a:p>
            <a:pPr>
              <a:tabLst>
                <a:tab pos="228600" algn="l"/>
                <a:tab pos="800100" algn="l"/>
                <a:tab pos="5727700" algn="l"/>
              </a:tabLst>
              <a:defRPr/>
            </a:pPr>
            <a:r>
              <a:rPr lang="zh-CN" altLang="en-US" sz="2000" dirty="0">
                <a:solidFill>
                  <a:srgbClr val="000000"/>
                </a:solidFill>
                <a:latin typeface="Arial" panose="020B0604020202020204" pitchFamily="34" charset="0"/>
                <a:ea typeface="黑体" panose="02010609060101010101" pitchFamily="49" charset="-122"/>
              </a:rPr>
              <a:t>学习算法的归纳偏好是否与问题本身匹配，</a:t>
            </a:r>
          </a:p>
          <a:p>
            <a:pPr>
              <a:tabLst>
                <a:tab pos="228600" algn="l"/>
                <a:tab pos="800100" algn="l"/>
                <a:tab pos="5727700" algn="l"/>
              </a:tabLst>
              <a:defRPr/>
            </a:pPr>
            <a:r>
              <a:rPr lang="zh-CN" altLang="en-US" sz="2000" dirty="0">
                <a:solidFill>
                  <a:srgbClr val="000000"/>
                </a:solidFill>
                <a:latin typeface="Arial" panose="020B0604020202020204" pitchFamily="34" charset="0"/>
                <a:ea typeface="黑体" panose="02010609060101010101" pitchFamily="49" charset="-122"/>
              </a:rPr>
              <a:t>大多数时候直接决定了算法能否取得好的性能！</a:t>
            </a:r>
          </a:p>
        </p:txBody>
      </p:sp>
      <p:pic>
        <p:nvPicPr>
          <p:cNvPr id="34" name="图片 33">
            <a:extLst>
              <a:ext uri="{FF2B5EF4-FFF2-40B4-BE49-F238E27FC236}">
                <a16:creationId xmlns:a16="http://schemas.microsoft.com/office/drawing/2014/main" id="{210C91E4-CA19-7362-7B08-4C2373D731DC}"/>
              </a:ext>
            </a:extLst>
          </p:cNvPr>
          <p:cNvPicPr>
            <a:picLocks noChangeAspect="1"/>
          </p:cNvPicPr>
          <p:nvPr/>
        </p:nvPicPr>
        <p:blipFill rotWithShape="1">
          <a:blip r:embed="rId3"/>
          <a:srcRect b="22708"/>
          <a:stretch/>
        </p:blipFill>
        <p:spPr>
          <a:xfrm>
            <a:off x="1031747" y="1840682"/>
            <a:ext cx="3632956" cy="1983436"/>
          </a:xfrm>
          <a:prstGeom prst="rect">
            <a:avLst/>
          </a:prstGeom>
        </p:spPr>
      </p:pic>
      <p:sp>
        <p:nvSpPr>
          <p:cNvPr id="2" name="文本框 1">
            <a:extLst>
              <a:ext uri="{FF2B5EF4-FFF2-40B4-BE49-F238E27FC236}">
                <a16:creationId xmlns:a16="http://schemas.microsoft.com/office/drawing/2014/main" id="{6ED9CEDB-5564-A68E-0CDF-2A58D93E4050}"/>
              </a:ext>
            </a:extLst>
          </p:cNvPr>
          <p:cNvSpPr txBox="1"/>
          <p:nvPr/>
        </p:nvSpPr>
        <p:spPr>
          <a:xfrm>
            <a:off x="38750" y="899689"/>
            <a:ext cx="484313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归纳偏好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(inductive bias):</a:t>
            </a:r>
          </a:p>
        </p:txBody>
      </p:sp>
    </p:spTree>
    <p:extLst>
      <p:ext uri="{BB962C8B-B14F-4D97-AF65-F5344CB8AC3E}">
        <p14:creationId xmlns:p14="http://schemas.microsoft.com/office/powerpoint/2010/main" val="10131697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A3AAF8-A33E-4A25-B1DB-DB7F1256A98F}"/>
              </a:ext>
            </a:extLst>
          </p:cNvPr>
          <p:cNvSpPr/>
          <p:nvPr/>
        </p:nvSpPr>
        <p:spPr>
          <a:xfrm>
            <a:off x="239602" y="6074205"/>
            <a:ext cx="8664796" cy="553998"/>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Char char="ü"/>
              <a:tabLst/>
              <a:defRPr/>
            </a:pP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a:cs typeface="+mn-cs"/>
              </a:rPr>
              <a:t>Wolpert, D.H., Macready, W.G. (1997), No Free Lunch Theorems for Optimization, IEEE Transactions on Evolutionary Computation 1, 67</a:t>
            </a: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a:cs typeface="+mn-cs"/>
            </a:endParaRPr>
          </a:p>
        </p:txBody>
      </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p:pic>
        <p:nvPicPr>
          <p:cNvPr id="6" name="图片 5" descr="ws_E884.tmp">
            <a:extLst>
              <a:ext uri="{FF2B5EF4-FFF2-40B4-BE49-F238E27FC236}">
                <a16:creationId xmlns:a16="http://schemas.microsoft.com/office/drawing/2014/main" id="{E1AD871D-65F3-7D21-DEC0-FBE1696DC135}"/>
              </a:ext>
            </a:extLst>
          </p:cNvPr>
          <p:cNvPicPr>
            <a:picLocks noChangeAspect="1"/>
          </p:cNvPicPr>
          <p:nvPr/>
        </p:nvPicPr>
        <p:blipFill rotWithShape="1">
          <a:blip r:embed="rId2" cstate="print"/>
          <a:srcRect l="8166" t="30493" r="12389" b="43586"/>
          <a:stretch/>
        </p:blipFill>
        <p:spPr>
          <a:xfrm>
            <a:off x="232977" y="2103522"/>
            <a:ext cx="7649691" cy="1872000"/>
          </a:xfrm>
          <a:prstGeom prst="rect">
            <a:avLst/>
          </a:prstGeom>
        </p:spPr>
      </p:pic>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C9E191BC-FB27-4784-981C-1C50E10A6D02}"/>
                  </a:ext>
                </a:extLst>
              </p:cNvPr>
              <p:cNvSpPr txBox="1"/>
              <p:nvPr/>
            </p:nvSpPr>
            <p:spPr>
              <a:xfrm>
                <a:off x="239602" y="3957979"/>
                <a:ext cx="8844168" cy="2050433"/>
              </a:xfrm>
              <a:prstGeom prst="rect">
                <a:avLst/>
              </a:prstGeom>
              <a:noFill/>
            </p:spPr>
            <p:txBody>
              <a:bodyPr vert="horz" wrap="square" lIns="0" tIns="0" rIns="0" bIns="0" rtlCol="0">
                <a:spAutoFit/>
              </a:bodyPr>
              <a:lstStyle/>
              <a:p>
                <a:r>
                  <a:rPr lang="zh-CN" altLang="en-US" sz="2000" dirty="0">
                    <a:ea typeface="黑体" panose="02010609060101010101" pitchFamily="49" charset="-122"/>
                  </a:rPr>
                  <a:t>简短论述</a:t>
                </a:r>
                <a:r>
                  <a:rPr lang="en-US" altLang="zh-CN" sz="2000" dirty="0">
                    <a:ea typeface="黑体" panose="02010609060101010101" pitchFamily="49" charset="-122"/>
                  </a:rPr>
                  <a:t>: </a:t>
                </a:r>
                <a:r>
                  <a:rPr lang="zh-CN" altLang="en-US" sz="2000" dirty="0">
                    <a:ea typeface="黑体" panose="02010609060101010101" pitchFamily="49" charset="-122"/>
                  </a:rPr>
                  <a:t>训练集之外所有样本上的误差</a:t>
                </a:r>
                <a:endParaRPr lang="en-US" altLang="zh-CN" sz="2000" dirty="0">
                  <a:ea typeface="黑体" panose="02010609060101010101" pitchFamily="49" charset="-122"/>
                </a:endParaRPr>
              </a:p>
              <a:p>
                <a:r>
                  <a:rPr lang="en-US" altLang="zh-CN" sz="2000" dirty="0">
                    <a:solidFill>
                      <a:schemeClr val="tx1"/>
                    </a:solidFill>
                    <a:ea typeface="黑体" panose="02010609060101010101" pitchFamily="49" charset="-122"/>
                  </a:rPr>
                  <a:t> </a:t>
                </a:r>
                <a14:m>
                  <m:oMath xmlns:m="http://schemas.openxmlformats.org/officeDocument/2006/math">
                    <m:sSub>
                      <m:sSubPr>
                        <m:ctrlPr>
                          <a:rPr lang="en-US" altLang="zh-CN" sz="2000" i="1" smtClean="0">
                            <a:solidFill>
                              <a:schemeClr val="tx1"/>
                            </a:solidFill>
                            <a:latin typeface="Cambria Math" panose="02040503050406030204" pitchFamily="18" charset="0"/>
                            <a:ea typeface="黑体" panose="02010609060101010101" pitchFamily="49" charset="-122"/>
                          </a:rPr>
                        </m:ctrlPr>
                      </m:sSubPr>
                      <m:e>
                        <m:r>
                          <a:rPr lang="en-US" altLang="zh-CN" sz="2000" b="0" i="1" smtClean="0">
                            <a:solidFill>
                              <a:schemeClr val="tx1"/>
                            </a:solidFill>
                            <a:latin typeface="Cambria Math" panose="02040503050406030204" pitchFamily="18" charset="0"/>
                            <a:ea typeface="黑体" panose="02010609060101010101" pitchFamily="49" charset="-122"/>
                          </a:rPr>
                          <m:t>𝐸</m:t>
                        </m:r>
                      </m:e>
                      <m:sub>
                        <m:r>
                          <a:rPr lang="en-US" altLang="zh-CN" sz="2000" b="0" i="1" smtClean="0">
                            <a:solidFill>
                              <a:schemeClr val="tx1"/>
                            </a:solidFill>
                            <a:latin typeface="Cambria Math" panose="02040503050406030204" pitchFamily="18" charset="0"/>
                            <a:ea typeface="黑体" panose="02010609060101010101" pitchFamily="49" charset="-122"/>
                          </a:rPr>
                          <m:t>𝑜𝑡𝑒</m:t>
                        </m:r>
                      </m:sub>
                    </m:sSub>
                    <m:d>
                      <m:dPr>
                        <m:ctrlPr>
                          <a:rPr lang="en-US" altLang="zh-CN" sz="2000" b="0" i="1" smtClean="0">
                            <a:solidFill>
                              <a:schemeClr val="tx1"/>
                            </a:solidFill>
                            <a:latin typeface="Cambria Math" panose="02040503050406030204" pitchFamily="18" charset="0"/>
                            <a:ea typeface="黑体" panose="02010609060101010101" pitchFamily="49" charset="-122"/>
                          </a:rPr>
                        </m:ctrlPr>
                      </m:dPr>
                      <m:e>
                        <m:sSub>
                          <m:sSubPr>
                            <m:ctrlPr>
                              <a:rPr lang="en-US" altLang="zh-CN" sz="2000" b="0" i="1" smtClean="0">
                                <a:solidFill>
                                  <a:schemeClr val="tx1"/>
                                </a:solidFill>
                                <a:latin typeface="Cambria Math" panose="02040503050406030204" pitchFamily="18" charset="0"/>
                                <a:ea typeface="黑体" panose="02010609060101010101" pitchFamily="49" charset="-122"/>
                              </a:rPr>
                            </m:ctrlPr>
                          </m:sSubPr>
                          <m:e>
                            <m:r>
                              <a:rPr lang="zh-CN" altLang="en-US" sz="2000" b="0" i="1" smtClean="0">
                                <a:solidFill>
                                  <a:schemeClr val="tx1"/>
                                </a:solidFill>
                                <a:latin typeface="Cambria Math" panose="02040503050406030204" pitchFamily="18" charset="0"/>
                                <a:ea typeface="Cambria Math" panose="02040503050406030204" pitchFamily="18" charset="0"/>
                              </a:rPr>
                              <m:t>𝔏</m:t>
                            </m:r>
                          </m:e>
                          <m:sub>
                            <m:r>
                              <a:rPr lang="en-US" altLang="zh-CN" sz="2000" b="0" i="1" smtClean="0">
                                <a:solidFill>
                                  <a:schemeClr val="tx1"/>
                                </a:solidFill>
                                <a:latin typeface="Cambria Math" panose="02040503050406030204" pitchFamily="18" charset="0"/>
                                <a:ea typeface="黑体" panose="02010609060101010101" pitchFamily="49" charset="-122"/>
                              </a:rPr>
                              <m:t>𝑎</m:t>
                            </m:r>
                          </m:sub>
                        </m:sSub>
                      </m:e>
                      <m:e>
                        <m:r>
                          <a:rPr lang="en-US" altLang="zh-CN" sz="2000" b="0" i="1" smtClean="0">
                            <a:solidFill>
                              <a:schemeClr val="tx1"/>
                            </a:solidFill>
                            <a:latin typeface="Cambria Math" panose="02040503050406030204" pitchFamily="18" charset="0"/>
                            <a:ea typeface="黑体" panose="02010609060101010101" pitchFamily="49" charset="-122"/>
                          </a:rPr>
                          <m:t>𝑋</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b="0" i="1" smtClean="0">
                            <a:solidFill>
                              <a:schemeClr val="tx1"/>
                            </a:solidFill>
                            <a:latin typeface="Cambria Math" panose="02040503050406030204" pitchFamily="18" charset="0"/>
                            <a:ea typeface="黑体" panose="02010609060101010101" pitchFamily="49" charset="-122"/>
                          </a:rPr>
                          <m:t>𝑐</m:t>
                        </m:r>
                      </m:e>
                    </m:d>
                    <m:r>
                      <a:rPr lang="en-US" altLang="zh-CN" sz="2000" b="0" i="1" smtClean="0">
                        <a:solidFill>
                          <a:schemeClr val="tx1"/>
                        </a:solidFill>
                        <a:latin typeface="Cambria Math" panose="02040503050406030204" pitchFamily="18" charset="0"/>
                        <a:ea typeface="黑体" panose="02010609060101010101" pitchFamily="49" charset="-122"/>
                      </a:rPr>
                      <m:t>=</m:t>
                    </m:r>
                    <m:nary>
                      <m:naryPr>
                        <m:chr m:val="∑"/>
                        <m:supHide m:val="on"/>
                        <m:ctrlPr>
                          <a:rPr lang="en-US" altLang="zh-CN" sz="2000" b="0" i="1" smtClean="0">
                            <a:solidFill>
                              <a:schemeClr val="tx1"/>
                            </a:solidFill>
                            <a:latin typeface="Cambria Math" panose="02040503050406030204" pitchFamily="18" charset="0"/>
                            <a:ea typeface="黑体" panose="02010609060101010101" pitchFamily="49" charset="-122"/>
                          </a:rPr>
                        </m:ctrlPr>
                      </m:naryPr>
                      <m:sub>
                        <m:r>
                          <m:rPr>
                            <m:brk m:alnAt="7"/>
                          </m:rPr>
                          <a:rPr lang="en-US" altLang="zh-CN" sz="2000" b="0" i="1" smtClean="0">
                            <a:solidFill>
                              <a:schemeClr val="tx1"/>
                            </a:solidFill>
                            <a:latin typeface="Cambria Math" panose="02040503050406030204" pitchFamily="18" charset="0"/>
                            <a:ea typeface="黑体" panose="02010609060101010101" pitchFamily="49" charset="-122"/>
                          </a:rPr>
                          <m:t>h</m:t>
                        </m:r>
                      </m:sub>
                      <m:sup/>
                      <m:e>
                        <m:nary>
                          <m:naryPr>
                            <m:chr m:val="∑"/>
                            <m:supHide m:val="on"/>
                            <m:ctrlPr>
                              <a:rPr lang="en-US" altLang="zh-CN" sz="2000" b="0" i="1" smtClean="0">
                                <a:solidFill>
                                  <a:schemeClr val="tx1"/>
                                </a:solidFill>
                                <a:latin typeface="Cambria Math" panose="02040503050406030204" pitchFamily="18" charset="0"/>
                                <a:ea typeface="黑体" panose="02010609060101010101" pitchFamily="49" charset="-122"/>
                              </a:rPr>
                            </m:ctrlPr>
                          </m:naryPr>
                          <m:sub>
                            <m:r>
                              <m:rPr>
                                <m:brk m:alnAt="7"/>
                              </m:rPr>
                              <a:rPr lang="en-US" altLang="zh-CN" sz="2000" b="1" i="0" smtClean="0">
                                <a:solidFill>
                                  <a:schemeClr val="tx1"/>
                                </a:solidFill>
                                <a:latin typeface="Cambria Math" panose="02040503050406030204" pitchFamily="18" charset="0"/>
                                <a:ea typeface="黑体" panose="02010609060101010101" pitchFamily="49" charset="-122"/>
                              </a:rPr>
                              <m:t>𝐱</m:t>
                            </m:r>
                            <m:r>
                              <m:rPr>
                                <m:brk m:alnAt="7"/>
                              </m:rPr>
                              <a:rPr lang="en-US" altLang="zh-CN" sz="2000" b="0" i="1" smtClean="0">
                                <a:solidFill>
                                  <a:schemeClr val="tx1"/>
                                </a:solidFill>
                                <a:latin typeface="Cambria Math" panose="02040503050406030204" pitchFamily="18" charset="0"/>
                                <a:ea typeface="Cambria Math" panose="02040503050406030204" pitchFamily="18" charset="0"/>
                              </a:rPr>
                              <m:t>∈</m:t>
                            </m:r>
                            <m:r>
                              <a:rPr lang="zh-CN" altLang="en-US" sz="2000" b="0" i="1" smtClean="0">
                                <a:solidFill>
                                  <a:schemeClr val="tx1"/>
                                </a:solidFill>
                                <a:latin typeface="Cambria Math" panose="02040503050406030204" pitchFamily="18" charset="0"/>
                                <a:ea typeface="Cambria Math" panose="02040503050406030204" pitchFamily="18" charset="0"/>
                              </a:rPr>
                              <m:t>𝒳</m:t>
                            </m:r>
                            <m:r>
                              <a:rPr lang="en-US" altLang="zh-CN" sz="2000" b="0" i="1" smtClean="0">
                                <a:solidFill>
                                  <a:schemeClr val="tx1"/>
                                </a:solidFill>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Cambria Math" panose="02040503050406030204" pitchFamily="18" charset="0"/>
                              </a:rPr>
                              <m:t>𝑋</m:t>
                            </m:r>
                          </m:sub>
                          <m:sup/>
                          <m:e>
                            <m:r>
                              <a:rPr lang="en-US" altLang="zh-CN" sz="2000" b="0" i="1" smtClean="0">
                                <a:solidFill>
                                  <a:schemeClr val="tx1"/>
                                </a:solidFill>
                                <a:latin typeface="Cambria Math" panose="02040503050406030204" pitchFamily="18" charset="0"/>
                                <a:ea typeface="黑体" panose="02010609060101010101" pitchFamily="49" charset="-122"/>
                              </a:rPr>
                              <m:t>𝑃</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b="1" i="0" smtClean="0">
                                <a:solidFill>
                                  <a:schemeClr val="tx1"/>
                                </a:solidFill>
                                <a:latin typeface="Cambria Math" panose="02040503050406030204" pitchFamily="18" charset="0"/>
                                <a:ea typeface="黑体" panose="02010609060101010101" pitchFamily="49" charset="-122"/>
                              </a:rPr>
                              <m:t>𝐱</m:t>
                            </m:r>
                            <m:r>
                              <a:rPr lang="en-US" altLang="zh-CN" sz="2000" b="0" i="1" smtClean="0">
                                <a:solidFill>
                                  <a:schemeClr val="tx1"/>
                                </a:solidFill>
                                <a:latin typeface="Cambria Math" panose="02040503050406030204" pitchFamily="18" charset="0"/>
                                <a:ea typeface="黑体" panose="02010609060101010101" pitchFamily="49" charset="-122"/>
                              </a:rPr>
                              <m:t>) </m:t>
                            </m:r>
                            <m:r>
                              <a:rPr lang="zh-CN" altLang="en-US" sz="2000" b="0" i="1" smtClean="0">
                                <a:solidFill>
                                  <a:schemeClr val="tx1"/>
                                </a:solidFill>
                                <a:latin typeface="Cambria Math" panose="02040503050406030204" pitchFamily="18" charset="0"/>
                                <a:ea typeface="黑体" panose="02010609060101010101" pitchFamily="49" charset="-122"/>
                              </a:rPr>
                              <m:t>𝕀</m:t>
                            </m:r>
                            <m:r>
                              <a:rPr lang="en-US" altLang="zh-CN" sz="2000" b="0" i="1" smtClean="0">
                                <a:solidFill>
                                  <a:schemeClr val="tx1"/>
                                </a:solidFill>
                                <a:latin typeface="Cambria Math" panose="02040503050406030204" pitchFamily="18" charset="0"/>
                                <a:ea typeface="黑体" panose="02010609060101010101" pitchFamily="49" charset="-122"/>
                              </a:rPr>
                              <m:t>(</m:t>
                            </m:r>
                            <m:r>
                              <a:rPr lang="en-US" altLang="zh-CN" sz="2000" i="1">
                                <a:latin typeface="Cambria Math" panose="02040503050406030204" pitchFamily="18" charset="0"/>
                                <a:ea typeface="黑体" panose="02010609060101010101" pitchFamily="49" charset="-122"/>
                              </a:rPr>
                              <m:t>h</m:t>
                            </m:r>
                            <m:r>
                              <a:rPr lang="en-US" altLang="zh-CN" sz="2000" i="1">
                                <a:latin typeface="Cambria Math" panose="02040503050406030204" pitchFamily="18" charset="0"/>
                                <a:ea typeface="黑体" panose="02010609060101010101" pitchFamily="49" charset="-122"/>
                              </a:rPr>
                              <m:t>(</m:t>
                            </m:r>
                            <m:r>
                              <a:rPr lang="en-US" altLang="zh-CN" sz="2000" b="1" i="0">
                                <a:latin typeface="Cambria Math" panose="02040503050406030204" pitchFamily="18" charset="0"/>
                                <a:ea typeface="黑体" panose="02010609060101010101" pitchFamily="49" charset="-122"/>
                              </a:rPr>
                              <m:t>𝐱</m:t>
                            </m:r>
                            <m:r>
                              <a:rPr lang="en-US" altLang="zh-CN" sz="2000" i="1">
                                <a:latin typeface="Cambria Math" panose="02040503050406030204" pitchFamily="18" charset="0"/>
                                <a:ea typeface="黑体" panose="02010609060101010101" pitchFamily="49" charset="-122"/>
                              </a:rPr>
                              <m:t>) </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𝑐</m:t>
                            </m:r>
                            <m:r>
                              <a:rPr lang="en-US" altLang="zh-CN" sz="2000" i="1">
                                <a:latin typeface="Cambria Math" panose="02040503050406030204" pitchFamily="18" charset="0"/>
                                <a:ea typeface="Cambria Math" panose="02040503050406030204" pitchFamily="18" charset="0"/>
                              </a:rPr>
                              <m:t>(</m:t>
                            </m:r>
                            <m:r>
                              <a:rPr lang="en-US" altLang="zh-CN" sz="2000" b="1" i="0">
                                <a:latin typeface="Cambria Math" panose="02040503050406030204" pitchFamily="18" charset="0"/>
                                <a:ea typeface="Cambria Math" panose="02040503050406030204" pitchFamily="18" charset="0"/>
                              </a:rPr>
                              <m:t>𝐱</m:t>
                            </m:r>
                            <m:r>
                              <a:rPr lang="en-US" altLang="zh-CN" sz="2000" i="1">
                                <a:latin typeface="Cambria Math" panose="02040503050406030204" pitchFamily="18" charset="0"/>
                                <a:ea typeface="Cambria Math" panose="02040503050406030204" pitchFamily="18" charset="0"/>
                              </a:rPr>
                              <m:t>)</m:t>
                            </m:r>
                            <m:r>
                              <a:rPr lang="en-US" altLang="zh-CN" sz="2000" b="0" i="1" smtClean="0">
                                <a:solidFill>
                                  <a:schemeClr val="tx1"/>
                                </a:solidFill>
                                <a:latin typeface="Cambria Math" panose="02040503050406030204" pitchFamily="18" charset="0"/>
                                <a:ea typeface="黑体" panose="02010609060101010101" pitchFamily="49" charset="-122"/>
                              </a:rPr>
                              <m:t>) </m:t>
                            </m:r>
                            <m:r>
                              <a:rPr lang="en-US" altLang="zh-CN" sz="2000" b="0" i="1" smtClean="0">
                                <a:latin typeface="Cambria Math" panose="02040503050406030204" pitchFamily="18" charset="0"/>
                                <a:ea typeface="黑体" panose="02010609060101010101" pitchFamily="49" charset="-122"/>
                              </a:rPr>
                              <m:t>𝑃</m:t>
                            </m:r>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黑体" panose="02010609060101010101" pitchFamily="49" charset="-122"/>
                              </a:rPr>
                              <m:t>h</m:t>
                            </m:r>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黑体" panose="02010609060101010101" pitchFamily="49" charset="-122"/>
                              </a:rPr>
                              <m:t>𝑋</m:t>
                            </m:r>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zh-CN" altLang="en-US" sz="2000" b="0" i="1" smtClean="0">
                                    <a:latin typeface="Cambria Math" panose="02040503050406030204" pitchFamily="18" charset="0"/>
                                    <a:ea typeface="Cambria Math" panose="02040503050406030204" pitchFamily="18" charset="0"/>
                                  </a:rPr>
                                  <m:t>𝔏</m:t>
                                </m:r>
                              </m:e>
                              <m:sub>
                                <m:r>
                                  <a:rPr lang="en-US" altLang="zh-CN" sz="2000" b="0" i="1" smtClean="0">
                                    <a:latin typeface="Cambria Math" panose="02040503050406030204" pitchFamily="18" charset="0"/>
                                    <a:ea typeface="黑体" panose="02010609060101010101" pitchFamily="49" charset="-122"/>
                                  </a:rPr>
                                  <m:t>𝑎</m:t>
                                </m:r>
                              </m:sub>
                            </m:sSub>
                            <m:r>
                              <a:rPr lang="en-US" altLang="zh-CN" sz="2000" b="0" i="1" smtClean="0">
                                <a:latin typeface="Cambria Math" panose="02040503050406030204" pitchFamily="18" charset="0"/>
                                <a:ea typeface="黑体" panose="02010609060101010101" pitchFamily="49" charset="-122"/>
                              </a:rPr>
                              <m:t>)</m:t>
                            </m:r>
                          </m:e>
                        </m:nary>
                      </m:e>
                    </m:nary>
                  </m:oMath>
                </a14:m>
                <a:endParaRPr lang="en-US" altLang="zh-CN" sz="2000" dirty="0">
                  <a:solidFill>
                    <a:srgbClr val="0000FF"/>
                  </a:solidFill>
                  <a:latin typeface="Arial" panose="020B0604020202020204" pitchFamily="34" charset="0"/>
                  <a:ea typeface="黑体" panose="02010609060101010101" pitchFamily="49" charset="-122"/>
                </a:endParaRPr>
              </a:p>
              <a:p>
                <a:pPr>
                  <a:spcBef>
                    <a:spcPts val="600"/>
                  </a:spcBef>
                </a:pPr>
                <a:r>
                  <a:rPr lang="zh-CN" altLang="en-US" sz="2000" dirty="0">
                    <a:latin typeface="Arial" panose="020B0604020202020204" pitchFamily="34" charset="0"/>
                    <a:ea typeface="黑体" panose="02010609060101010101" pitchFamily="49" charset="-122"/>
                  </a:rPr>
                  <a:t>考虑二分类问题，真实的目标函数可以是任何函数</a:t>
                </a:r>
                <a14:m>
                  <m:oMath xmlns:m="http://schemas.openxmlformats.org/officeDocument/2006/math">
                    <m:r>
                      <m:rPr>
                        <m:brk m:alnAt="7"/>
                      </m:rPr>
                      <a:rPr lang="zh-CN" altLang="en-US" sz="2000" i="1">
                        <a:solidFill>
                          <a:prstClr val="black"/>
                        </a:solidFill>
                        <a:latin typeface="Cambria Math" panose="02040503050406030204" pitchFamily="18" charset="0"/>
                        <a:ea typeface="Cambria Math" panose="02040503050406030204" pitchFamily="18" charset="0"/>
                      </a:rPr>
                      <m:t>𝒳</m:t>
                    </m:r>
                    <m:r>
                      <a:rPr lang="zh-CN" altLang="en-US" sz="2000" i="1" smtClean="0">
                        <a:solidFill>
                          <a:prstClr val="black"/>
                        </a:solidFill>
                        <a:latin typeface="Cambria Math" panose="02040503050406030204" pitchFamily="18" charset="0"/>
                        <a:ea typeface="Cambria Math" panose="020405030504060302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rPr>
                      <m:t>{0,1}</m:t>
                    </m:r>
                  </m:oMath>
                </a14:m>
                <a:r>
                  <a:rPr lang="en-US" altLang="zh-CN" sz="2000" dirty="0">
                    <a:latin typeface="Arial" panose="020B0604020202020204" pitchFamily="34" charset="0"/>
                    <a:ea typeface="黑体" panose="02010609060101010101" pitchFamily="49" charset="-122"/>
                  </a:rPr>
                  <a:t>. </a:t>
                </a:r>
                <a:r>
                  <a:rPr lang="zh-CN" altLang="en-US" sz="2000" dirty="0">
                    <a:solidFill>
                      <a:srgbClr val="0000FF"/>
                    </a:solidFill>
                    <a:latin typeface="Arial" panose="020B0604020202020204" pitchFamily="34" charset="0"/>
                    <a:ea typeface="黑体" panose="02010609060101010101" pitchFamily="49" charset="-122"/>
                  </a:rPr>
                  <a:t>对所有可能的 </a:t>
                </a:r>
                <a14:m>
                  <m:oMath xmlns:m="http://schemas.openxmlformats.org/officeDocument/2006/math">
                    <m:r>
                      <a:rPr lang="en-US" altLang="zh-CN" sz="2000" b="0" i="1" smtClean="0">
                        <a:solidFill>
                          <a:srgbClr val="0000FF"/>
                        </a:solidFill>
                        <a:latin typeface="Cambria Math" panose="02040503050406030204" pitchFamily="18" charset="0"/>
                        <a:ea typeface="黑体" panose="02010609060101010101" pitchFamily="49" charset="-122"/>
                      </a:rPr>
                      <m:t>𝑐</m:t>
                    </m:r>
                  </m:oMath>
                </a14:m>
                <a:r>
                  <a:rPr lang="zh-CN" altLang="en-US" sz="2000" dirty="0">
                    <a:solidFill>
                      <a:srgbClr val="0000FF"/>
                    </a:solidFill>
                    <a:latin typeface="Arial" panose="020B0604020202020204" pitchFamily="34" charset="0"/>
                    <a:ea typeface="黑体" panose="02010609060101010101" pitchFamily="49" charset="-122"/>
                  </a:rPr>
                  <a:t> 按均匀分布对误差求和</a:t>
                </a:r>
                <a:r>
                  <a:rPr lang="en-US" altLang="zh-CN" sz="2000" dirty="0">
                    <a:latin typeface="Arial" panose="020B0604020202020204" pitchFamily="34" charset="0"/>
                    <a:ea typeface="黑体" panose="02010609060101010101" pitchFamily="49" charset="-122"/>
                  </a:rPr>
                  <a:t>:</a:t>
                </a:r>
              </a:p>
              <a:p>
                <a:r>
                  <a:rPr kumimoji="0" lang="en-US" altLang="zh-CN" sz="2000" b="0" u="none" strike="noStrike" kern="1200" cap="none" spc="0" normalizeH="0" baseline="0" noProof="0" dirty="0">
                    <a:ln>
                      <a:noFill/>
                    </a:ln>
                    <a:solidFill>
                      <a:prstClr val="black"/>
                    </a:solidFill>
                    <a:effectLst/>
                    <a:uLnTx/>
                    <a:uFillTx/>
                    <a:ea typeface="黑体" panose="02010609060101010101" pitchFamily="49" charset="-122"/>
                    <a:cs typeface="+mn-cs"/>
                  </a:rPr>
                  <a:t> </a:t>
                </a:r>
                <a14:m>
                  <m:oMath xmlns:m="http://schemas.openxmlformats.org/officeDocument/2006/math">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sub>
                      <m:sup/>
                      <m:e>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en-US" altLang="zh-CN" sz="2000" i="1">
                                <a:solidFill>
                                  <a:prstClr val="black"/>
                                </a:solidFill>
                                <a:latin typeface="Cambria Math" panose="02040503050406030204" pitchFamily="18" charset="0"/>
                                <a:ea typeface="黑体" panose="02010609060101010101" pitchFamily="49" charset="-122"/>
                              </a:rPr>
                              <m:t>𝐸</m:t>
                            </m:r>
                          </m:e>
                          <m:sub>
                            <m:r>
                              <a:rPr lang="en-US" altLang="zh-CN" sz="2000" i="1">
                                <a:solidFill>
                                  <a:prstClr val="black"/>
                                </a:solidFill>
                                <a:latin typeface="Cambria Math" panose="02040503050406030204" pitchFamily="18" charset="0"/>
                                <a:ea typeface="黑体" panose="02010609060101010101" pitchFamily="49" charset="-122"/>
                              </a:rPr>
                              <m:t>𝑜𝑡𝑒</m:t>
                            </m:r>
                          </m:sub>
                        </m:sSub>
                        <m:d>
                          <m:dPr>
                            <m:ctrlPr>
                              <a:rPr lang="en-US" altLang="zh-CN" sz="2000" i="1">
                                <a:solidFill>
                                  <a:prstClr val="black"/>
                                </a:solidFill>
                                <a:latin typeface="Cambria Math" panose="02040503050406030204" pitchFamily="18" charset="0"/>
                                <a:ea typeface="黑体" panose="02010609060101010101" pitchFamily="49" charset="-122"/>
                              </a:rPr>
                            </m:ctrlPr>
                          </m:dPr>
                          <m:e>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zh-CN" altLang="en-US" sz="2000" i="1" smtClean="0">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黑体" panose="02010609060101010101" pitchFamily="49" charset="-122"/>
                                  </a:rPr>
                                  <m:t>𝑎</m:t>
                                </m:r>
                              </m:sub>
                            </m:sSub>
                          </m:e>
                          <m:e>
                            <m:r>
                              <a:rPr lang="en-US" altLang="zh-CN" sz="2000" i="1">
                                <a:solidFill>
                                  <a:prstClr val="black"/>
                                </a:solidFill>
                                <a:latin typeface="Cambria Math" panose="02040503050406030204" pitchFamily="18" charset="0"/>
                                <a:ea typeface="黑体" panose="02010609060101010101" pitchFamily="49" charset="-122"/>
                              </a:rPr>
                              <m:t>𝑋</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𝑐</m:t>
                            </m:r>
                          </m:e>
                        </m:d>
                      </m:e>
                    </m:nary>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lang="en-US" altLang="zh-CN" sz="2000" b="1" i="1">
                            <a:solidFill>
                              <a:prstClr val="black"/>
                            </a:solidFill>
                            <a:latin typeface="Cambria Math" panose="02040503050406030204" pitchFamily="18" charset="0"/>
                            <a:ea typeface="黑体" panose="02010609060101010101" pitchFamily="49" charset="-122"/>
                          </a:rPr>
                          <m:t>𝒙</m:t>
                        </m:r>
                        <m:r>
                          <a:rPr lang="en-US" altLang="zh-CN" sz="2000" i="1">
                            <a:solidFill>
                              <a:prstClr val="black"/>
                            </a:solidFill>
                            <a:latin typeface="Cambria Math" panose="02040503050406030204" pitchFamily="18" charset="0"/>
                            <a:ea typeface="Cambria Math" panose="02040503050406030204" pitchFamily="18" charset="0"/>
                          </a:rPr>
                          <m:t>∈</m:t>
                        </m:r>
                        <m:r>
                          <a:rPr lang="zh-CN" altLang="en-US" sz="2000" i="1">
                            <a:solidFill>
                              <a:prstClr val="black"/>
                            </a:solidFill>
                            <a:latin typeface="Cambria Math" panose="02040503050406030204" pitchFamily="18" charset="0"/>
                            <a:ea typeface="Cambria Math" panose="02040503050406030204" pitchFamily="18" charset="0"/>
                          </a:rPr>
                          <m:t>𝒳</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𝑋</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1" i="0" smtClean="0">
                            <a:solidFill>
                              <a:prstClr val="black"/>
                            </a:solidFill>
                            <a:latin typeface="Cambria Math" panose="02040503050406030204" pitchFamily="18" charset="0"/>
                            <a:ea typeface="黑体" panose="02010609060101010101" pitchFamily="49" charset="-122"/>
                          </a:rPr>
                          <m:t>𝐱</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i="1" smtClean="0">
                            <a:solidFill>
                              <a:prstClr val="black"/>
                            </a:solidFill>
                            <a:latin typeface="Cambria Math" panose="02040503050406030204" pitchFamily="18" charset="0"/>
                            <a:ea typeface="黑体" panose="02010609060101010101" pitchFamily="49" charset="-122"/>
                          </a:rPr>
                          <m:t> </m:t>
                        </m:r>
                        <m:nary>
                          <m:naryPr>
                            <m:chr m:val="∑"/>
                            <m:supHide m:val="on"/>
                            <m:ctrlPr>
                              <a:rPr lang="en-US" altLang="zh-CN" sz="2000" i="1">
                                <a:solidFill>
                                  <a:prstClr val="black"/>
                                </a:solidFill>
                                <a:latin typeface="Cambria Math" panose="02040503050406030204" pitchFamily="18" charset="0"/>
                                <a:ea typeface="黑体" panose="02010609060101010101" pitchFamily="49" charset="-122"/>
                              </a:rPr>
                            </m:ctrlPr>
                          </m:naryPr>
                          <m:sub>
                            <m:r>
                              <m:rPr>
                                <m:brk m:alnAt="7"/>
                              </m:rPr>
                              <a:rPr lang="en-US" altLang="zh-CN" sz="2000" i="1">
                                <a:solidFill>
                                  <a:prstClr val="black"/>
                                </a:solidFill>
                                <a:latin typeface="Cambria Math" panose="02040503050406030204" pitchFamily="18" charset="0"/>
                                <a:ea typeface="黑体" panose="02010609060101010101" pitchFamily="49" charset="-122"/>
                              </a:rPr>
                              <m:t>h</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h</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𝑋</m:t>
                            </m:r>
                            <m:r>
                              <a:rPr lang="en-US" altLang="zh-CN" sz="2000" i="1">
                                <a:solidFill>
                                  <a:prstClr val="black"/>
                                </a:solidFill>
                                <a:latin typeface="Cambria Math" panose="02040503050406030204" pitchFamily="18" charset="0"/>
                                <a:ea typeface="黑体" panose="02010609060101010101" pitchFamily="49" charset="-122"/>
                              </a:rPr>
                              <m:t>,</m:t>
                            </m:r>
                            <m:sSub>
                              <m:sSubPr>
                                <m:ctrlPr>
                                  <a:rPr lang="en-US" altLang="zh-CN" sz="2000" i="1">
                                    <a:solidFill>
                                      <a:prstClr val="black"/>
                                    </a:solidFill>
                                    <a:latin typeface="Cambria Math" panose="02040503050406030204" pitchFamily="18" charset="0"/>
                                    <a:ea typeface="黑体" panose="02010609060101010101" pitchFamily="49" charset="-122"/>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黑体" panose="02010609060101010101" pitchFamily="49" charset="-122"/>
                                  </a:rPr>
                                  <m:t>𝑎</m:t>
                                </m:r>
                              </m:sub>
                            </m:sSub>
                            <m:r>
                              <a:rPr lang="en-US" altLang="zh-CN" sz="2000" i="1">
                                <a:solidFill>
                                  <a:prstClr val="black"/>
                                </a:solidFill>
                                <a:latin typeface="Cambria Math" panose="02040503050406030204" pitchFamily="18" charset="0"/>
                                <a:ea typeface="黑体" panose="02010609060101010101" pitchFamily="49" charset="-122"/>
                              </a:rPr>
                              <m:t>)</m:t>
                            </m:r>
                            <m:nary>
                              <m:naryPr>
                                <m:chr m:val="∑"/>
                                <m:supHide m:val="on"/>
                                <m:ctrlPr>
                                  <a:rPr lang="en-US" altLang="zh-CN" sz="2000" i="1">
                                    <a:solidFill>
                                      <a:prstClr val="black"/>
                                    </a:solidFill>
                                    <a:latin typeface="Cambria Math" panose="02040503050406030204" pitchFamily="18" charset="0"/>
                                    <a:ea typeface="黑体" panose="02010609060101010101" pitchFamily="49" charset="-122"/>
                                  </a:rPr>
                                </m:ctrlPr>
                              </m:naryPr>
                              <m:sub>
                                <m:r>
                                  <m:rPr>
                                    <m:brk m:alnAt="7"/>
                                  </m:rPr>
                                  <a:rPr lang="en-US" altLang="zh-CN" sz="2000" b="0" i="1" smtClean="0">
                                    <a:solidFill>
                                      <a:prstClr val="black"/>
                                    </a:solidFill>
                                    <a:latin typeface="Cambria Math" panose="02040503050406030204" pitchFamily="18" charset="0"/>
                                    <a:ea typeface="黑体" panose="02010609060101010101" pitchFamily="49" charset="-122"/>
                                  </a:rPr>
                                  <m:t>𝑐</m:t>
                                </m:r>
                              </m:sub>
                              <m:sup/>
                              <m:e>
                                <m:r>
                                  <a:rPr lang="zh-CN" altLang="en-US" sz="2000" i="1">
                                    <a:latin typeface="Cambria Math" panose="02040503050406030204" pitchFamily="18" charset="0"/>
                                    <a:ea typeface="黑体" panose="02010609060101010101" pitchFamily="49" charset="-122"/>
                                  </a:rPr>
                                  <m:t>𝕀</m:t>
                                </m:r>
                                <m:r>
                                  <a:rPr lang="en-US" altLang="zh-CN" sz="2000" i="1">
                                    <a:latin typeface="Cambria Math" panose="02040503050406030204" pitchFamily="18" charset="0"/>
                                    <a:ea typeface="黑体" panose="02010609060101010101" pitchFamily="49" charset="-122"/>
                                  </a:rPr>
                                  <m:t>(</m:t>
                                </m:r>
                                <m:r>
                                  <a:rPr lang="en-US" altLang="zh-CN" sz="2000" i="1">
                                    <a:latin typeface="Cambria Math" panose="02040503050406030204" pitchFamily="18" charset="0"/>
                                    <a:ea typeface="黑体" panose="02010609060101010101" pitchFamily="49" charset="-122"/>
                                  </a:rPr>
                                  <m:t>h</m:t>
                                </m:r>
                                <m:r>
                                  <a:rPr lang="en-US" altLang="zh-CN" sz="2000" b="0" i="1" smtClean="0">
                                    <a:latin typeface="Cambria Math" panose="02040503050406030204" pitchFamily="18" charset="0"/>
                                    <a:ea typeface="黑体" panose="02010609060101010101" pitchFamily="49" charset="-122"/>
                                  </a:rPr>
                                  <m:t>(</m:t>
                                </m:r>
                                <m:r>
                                  <a:rPr lang="en-US" altLang="zh-CN" sz="2000" b="1" i="0" smtClean="0">
                                    <a:latin typeface="Cambria Math" panose="02040503050406030204" pitchFamily="18" charset="0"/>
                                    <a:ea typeface="黑体" panose="02010609060101010101" pitchFamily="49" charset="-122"/>
                                  </a:rPr>
                                  <m:t>𝐱</m:t>
                                </m:r>
                                <m:r>
                                  <a:rPr lang="en-US" altLang="zh-CN" sz="2000" b="0" i="1" smtClean="0">
                                    <a:latin typeface="Cambria Math" panose="02040503050406030204" pitchFamily="18" charset="0"/>
                                    <a:ea typeface="黑体" panose="02010609060101010101" pitchFamily="49" charset="-122"/>
                                  </a:rPr>
                                  <m:t>)</m:t>
                                </m:r>
                                <m:r>
                                  <a:rPr lang="en-US" altLang="zh-CN" sz="2000" i="1" smtClean="0">
                                    <a:latin typeface="Cambria Math" panose="02040503050406030204" pitchFamily="18" charset="0"/>
                                    <a:ea typeface="黑体" panose="02010609060101010101" pitchFamily="49" charset="-122"/>
                                  </a:rPr>
                                  <m:t> </m:t>
                                </m:r>
                                <m:r>
                                  <a:rPr lang="en-US" altLang="zh-CN" sz="2000" i="1">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Cambria Math" panose="02040503050406030204" pitchFamily="18" charset="0"/>
                                  </a:rPr>
                                  <m:t>𝑐</m:t>
                                </m:r>
                                <m:r>
                                  <a:rPr lang="en-US" altLang="zh-CN" sz="2000" b="0" i="1" smtClean="0">
                                    <a:latin typeface="Cambria Math" panose="02040503050406030204" pitchFamily="18" charset="0"/>
                                    <a:ea typeface="Cambria Math" panose="02040503050406030204" pitchFamily="18" charset="0"/>
                                  </a:rPr>
                                  <m:t>(</m:t>
                                </m:r>
                                <m:r>
                                  <a:rPr lang="en-US" altLang="zh-CN" sz="2000" b="1" i="0" smtClean="0">
                                    <a:latin typeface="Cambria Math" panose="02040503050406030204" pitchFamily="18" charset="0"/>
                                    <a:ea typeface="Cambria Math" panose="02040503050406030204" pitchFamily="18" charset="0"/>
                                  </a:rPr>
                                  <m:t>𝐱</m:t>
                                </m:r>
                                <m:r>
                                  <a:rPr lang="en-US" altLang="zh-CN" sz="2000" b="0" i="1" smtClean="0">
                                    <a:latin typeface="Cambria Math" panose="02040503050406030204" pitchFamily="18" charset="0"/>
                                    <a:ea typeface="Cambria Math" panose="02040503050406030204" pitchFamily="18" charset="0"/>
                                  </a:rPr>
                                  <m:t>)</m:t>
                                </m:r>
                                <m:r>
                                  <a:rPr lang="en-US" altLang="zh-CN" sz="2000" i="1">
                                    <a:latin typeface="Cambria Math" panose="02040503050406030204" pitchFamily="18" charset="0"/>
                                    <a:ea typeface="黑体" panose="02010609060101010101" pitchFamily="49" charset="-122"/>
                                  </a:rPr>
                                  <m:t>)</m:t>
                                </m:r>
                              </m:e>
                            </m:nary>
                          </m:e>
                        </m:nary>
                      </m:e>
                    </m:nary>
                  </m:oMath>
                </a14:m>
                <a:endParaRPr lang="en-US" altLang="zh-CN" sz="2000" dirty="0">
                  <a:latin typeface="Arial" panose="020B0604020202020204" pitchFamily="34" charset="0"/>
                  <a:ea typeface="黑体" panose="02010609060101010101" pitchFamily="49" charset="-122"/>
                </a:endParaRPr>
              </a:p>
              <a:p>
                <a:r>
                  <a:rPr kumimoji="0" lang="en-US" altLang="zh-CN" sz="2000" b="0" u="none" strike="noStrike" kern="1200" cap="none" spc="0" normalizeH="0" baseline="0" noProof="0" dirty="0">
                    <a:ln>
                      <a:noFill/>
                    </a:ln>
                    <a:solidFill>
                      <a:prstClr val="black"/>
                    </a:solidFill>
                    <a:effectLst/>
                    <a:uLnTx/>
                    <a:uFillTx/>
                    <a:ea typeface="黑体" panose="02010609060101010101" pitchFamily="49" charset="-122"/>
                    <a:cs typeface="+mn-cs"/>
                  </a:rPr>
                  <a:t>                             </a:t>
                </a:r>
                <a14:m>
                  <m:oMath xmlns:m="http://schemas.openxmlformats.org/officeDocument/2006/math">
                    <m:r>
                      <a:rPr kumimoji="0" lang="en-US" altLang="zh-CN" sz="2000" b="0" i="0"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nary>
                      <m:naryPr>
                        <m:chr m:val="∑"/>
                        <m:supHide m:val="on"/>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1"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𝒙</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𝒳</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𝑋</m:t>
                        </m:r>
                      </m:sub>
                      <m:sup/>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𝑃</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1" i="0"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𝐱</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 </m:t>
                        </m:r>
                        <m:nary>
                          <m:naryPr>
                            <m:chr m:val="∑"/>
                            <m:supHide m:val="on"/>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ctrlPr>
                          </m:naryPr>
                          <m:sub>
                            <m:r>
                              <m:rPr>
                                <m:brk m:alnAt="7"/>
                              </m:r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h</m:t>
                            </m:r>
                          </m:sub>
                          <m:sup/>
                          <m:e>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𝑃</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𝑋</m:t>
                            </m:r>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𝑎</m:t>
                                </m:r>
                              </m:sub>
                            </m:sSub>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2</m:t>
                                </m:r>
                              </m:den>
                            </m:f>
                            <m:sSup>
                              <m:sSup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sSup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2</m:t>
                                </m:r>
                              </m:e>
                              <m:sup>
                                <m:d>
                                  <m:dPr>
                                    <m:begChr m:val="|"/>
                                    <m:endChr m:val="|"/>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𝒳</m:t>
                                    </m:r>
                                  </m:e>
                                </m:d>
                              </m:sup>
                            </m:sSup>
                          </m:e>
                        </m:nary>
                      </m:e>
                    </m:nary>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sSup>
                      <m:sSupPr>
                        <m:ctrlPr>
                          <a:rPr lang="en-US" altLang="zh-CN" sz="2000" i="1">
                            <a:solidFill>
                              <a:prstClr val="black"/>
                            </a:solidFill>
                            <a:latin typeface="Cambria Math" panose="02040503050406030204" pitchFamily="18" charset="0"/>
                            <a:ea typeface="黑体" panose="02010609060101010101" pitchFamily="49" charset="-122"/>
                          </a:rPr>
                        </m:ctrlPr>
                      </m:sSupPr>
                      <m:e>
                        <m:r>
                          <a:rPr lang="en-US" altLang="zh-CN" sz="2000" i="1">
                            <a:solidFill>
                              <a:prstClr val="black"/>
                            </a:solidFill>
                            <a:latin typeface="Cambria Math" panose="02040503050406030204" pitchFamily="18" charset="0"/>
                            <a:ea typeface="黑体" panose="02010609060101010101" pitchFamily="49" charset="-122"/>
                          </a:rPr>
                          <m:t>2</m:t>
                        </m:r>
                      </m:e>
                      <m:sup>
                        <m:d>
                          <m:dPr>
                            <m:begChr m:val="|"/>
                            <m:endChr m:val="|"/>
                            <m:ctrlPr>
                              <a:rPr lang="en-US" altLang="zh-CN" sz="2000" i="1">
                                <a:solidFill>
                                  <a:prstClr val="black"/>
                                </a:solidFill>
                                <a:latin typeface="Cambria Math" panose="02040503050406030204" pitchFamily="18" charset="0"/>
                                <a:ea typeface="黑体" panose="02010609060101010101" pitchFamily="49" charset="-122"/>
                              </a:rPr>
                            </m:ctrlPr>
                          </m:dPr>
                          <m:e>
                            <m:r>
                              <a:rPr lang="zh-CN" altLang="en-US" sz="2000" i="1">
                                <a:solidFill>
                                  <a:prstClr val="black"/>
                                </a:solidFill>
                                <a:latin typeface="Cambria Math" panose="02040503050406030204" pitchFamily="18" charset="0"/>
                                <a:ea typeface="黑体" panose="02010609060101010101" pitchFamily="49" charset="-122"/>
                              </a:rPr>
                              <m:t>𝒳</m:t>
                            </m:r>
                          </m:e>
                        </m:d>
                        <m:r>
                          <a:rPr lang="en-US" altLang="zh-CN" sz="2000" b="0" i="1" smtClean="0">
                            <a:solidFill>
                              <a:prstClr val="black"/>
                            </a:solidFill>
                            <a:latin typeface="Cambria Math" panose="02040503050406030204" pitchFamily="18" charset="0"/>
                            <a:ea typeface="黑体" panose="02010609060101010101" pitchFamily="49" charset="-122"/>
                          </a:rPr>
                          <m:t>−1</m:t>
                        </m:r>
                      </m:sup>
                    </m:sSup>
                    <m:nary>
                      <m:naryPr>
                        <m:chr m:val="∑"/>
                        <m:supHide m:val="on"/>
                        <m:ctrlPr>
                          <a:rPr lang="zh-CN" altLang="en-US" sz="2000" i="1" smtClean="0">
                            <a:solidFill>
                              <a:prstClr val="black"/>
                            </a:solidFill>
                            <a:latin typeface="Cambria Math" panose="02040503050406030204" pitchFamily="18" charset="0"/>
                            <a:ea typeface="黑体" panose="02010609060101010101" pitchFamily="49" charset="-122"/>
                          </a:rPr>
                        </m:ctrlPr>
                      </m:naryPr>
                      <m:sub>
                        <m:r>
                          <m:rPr>
                            <m:brk m:alnAt="7"/>
                          </m:rPr>
                          <a:rPr lang="en-US" altLang="zh-CN" sz="2000" b="1" i="1">
                            <a:solidFill>
                              <a:prstClr val="black"/>
                            </a:solidFill>
                            <a:latin typeface="Cambria Math" panose="02040503050406030204" pitchFamily="18" charset="0"/>
                            <a:ea typeface="黑体" panose="02010609060101010101" pitchFamily="49" charset="-122"/>
                          </a:rPr>
                          <m:t>𝒙</m:t>
                        </m:r>
                        <m:r>
                          <a:rPr lang="en-US" altLang="zh-CN" sz="2000" i="1">
                            <a:solidFill>
                              <a:prstClr val="black"/>
                            </a:solidFill>
                            <a:latin typeface="Cambria Math" panose="02040503050406030204" pitchFamily="18" charset="0"/>
                            <a:ea typeface="Cambria Math" panose="02040503050406030204" pitchFamily="18" charset="0"/>
                          </a:rPr>
                          <m:t>∈</m:t>
                        </m:r>
                        <m:r>
                          <a:rPr lang="zh-CN" altLang="en-US" sz="2000" i="1">
                            <a:solidFill>
                              <a:prstClr val="black"/>
                            </a:solidFill>
                            <a:latin typeface="Cambria Math" panose="02040503050406030204" pitchFamily="18" charset="0"/>
                            <a:ea typeface="Cambria Math" panose="02040503050406030204" pitchFamily="18" charset="0"/>
                          </a:rPr>
                          <m:t>𝒳</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𝑋</m:t>
                        </m:r>
                      </m:sub>
                      <m:sup/>
                      <m:e>
                        <m:r>
                          <a:rPr lang="en-US" altLang="zh-CN" sz="2000" i="1">
                            <a:solidFill>
                              <a:prstClr val="black"/>
                            </a:solidFill>
                            <a:latin typeface="Cambria Math" panose="02040503050406030204" pitchFamily="18" charset="0"/>
                            <a:ea typeface="黑体" panose="02010609060101010101" pitchFamily="49" charset="-122"/>
                          </a:rPr>
                          <m:t>𝑃</m:t>
                        </m:r>
                        <m:r>
                          <a:rPr lang="en-US" altLang="zh-CN" sz="2000" i="1">
                            <a:solidFill>
                              <a:prstClr val="black"/>
                            </a:solidFill>
                            <a:latin typeface="Cambria Math" panose="02040503050406030204" pitchFamily="18" charset="0"/>
                            <a:ea typeface="黑体" panose="02010609060101010101" pitchFamily="49" charset="-122"/>
                          </a:rPr>
                          <m:t>(</m:t>
                        </m:r>
                        <m:r>
                          <a:rPr lang="en-US" altLang="zh-CN" sz="2000" b="1" i="0">
                            <a:solidFill>
                              <a:prstClr val="black"/>
                            </a:solidFill>
                            <a:latin typeface="Cambria Math" panose="02040503050406030204" pitchFamily="18" charset="0"/>
                            <a:ea typeface="黑体" panose="02010609060101010101" pitchFamily="49" charset="-122"/>
                          </a:rPr>
                          <m:t>𝐱</m:t>
                        </m:r>
                        <m:r>
                          <a:rPr lang="en-US" altLang="zh-CN" sz="2000" i="1">
                            <a:solidFill>
                              <a:prstClr val="black"/>
                            </a:solidFill>
                            <a:latin typeface="Cambria Math" panose="02040503050406030204" pitchFamily="18" charset="0"/>
                            <a:ea typeface="黑体" panose="02010609060101010101" pitchFamily="49" charset="-122"/>
                          </a:rPr>
                          <m:t>)</m:t>
                        </m:r>
                      </m:e>
                    </m:nary>
                    <m:r>
                      <a:rPr lang="en-US" altLang="zh-CN" sz="2000" i="1" smtClean="0">
                        <a:solidFill>
                          <a:prstClr val="black"/>
                        </a:solidFill>
                        <a:latin typeface="Cambria Math" panose="02040503050406030204" pitchFamily="18" charset="0"/>
                        <a:ea typeface="Cambria Math" panose="02040503050406030204" pitchFamily="18" charset="0"/>
                      </a:rPr>
                      <m:t>∙</m:t>
                    </m:r>
                    <m:r>
                      <a:rPr lang="en-US" altLang="zh-CN" sz="2000" b="0" i="1" smtClean="0">
                        <a:solidFill>
                          <a:prstClr val="black"/>
                        </a:solidFill>
                        <a:latin typeface="Cambria Math" panose="02040503050406030204" pitchFamily="18" charset="0"/>
                        <a:ea typeface="Cambria Math" panose="02040503050406030204" pitchFamily="18" charset="0"/>
                      </a:rPr>
                      <m:t>1</m:t>
                    </m:r>
                  </m:oMath>
                </a14:m>
                <a:endParaRPr lang="en-US" altLang="zh-CN" sz="2000" dirty="0">
                  <a:latin typeface="Arial" panose="020B0604020202020204" pitchFamily="34" charset="0"/>
                  <a:ea typeface="黑体" panose="02010609060101010101" pitchFamily="49" charset="-122"/>
                </a:endParaRPr>
              </a:p>
            </p:txBody>
          </p:sp>
        </mc:Choice>
        <mc:Fallback xmlns="">
          <p:sp>
            <p:nvSpPr>
              <p:cNvPr id="26" name="TextBox 24">
                <a:extLst>
                  <a:ext uri="{FF2B5EF4-FFF2-40B4-BE49-F238E27FC236}">
                    <a16:creationId xmlns:a16="http://schemas.microsoft.com/office/drawing/2014/main" id="{C9E191BC-FB27-4784-981C-1C50E10A6D02}"/>
                  </a:ext>
                </a:extLst>
              </p:cNvPr>
              <p:cNvSpPr txBox="1">
                <a:spLocks noRot="1" noChangeAspect="1" noMove="1" noResize="1" noEditPoints="1" noAdjustHandles="1" noChangeArrowheads="1" noChangeShapeType="1" noTextEdit="1"/>
              </p:cNvSpPr>
              <p:nvPr/>
            </p:nvSpPr>
            <p:spPr>
              <a:xfrm>
                <a:off x="239602" y="3957979"/>
                <a:ext cx="8844168" cy="2050433"/>
              </a:xfrm>
              <a:prstGeom prst="rect">
                <a:avLst/>
              </a:prstGeom>
              <a:blipFill>
                <a:blip r:embed="rId3"/>
                <a:stretch>
                  <a:fillRect l="-4549" t="-10979" b="-3412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760DC-513F-5D62-134A-917B4D55455F}"/>
                  </a:ext>
                </a:extLst>
              </p:cNvPr>
              <p:cNvSpPr txBox="1"/>
              <p:nvPr/>
            </p:nvSpPr>
            <p:spPr>
              <a:xfrm>
                <a:off x="91440" y="838545"/>
                <a:ext cx="8992330" cy="1267458"/>
              </a:xfrm>
              <a:prstGeom prst="rect">
                <a:avLst/>
              </a:prstGeom>
              <a:noFill/>
            </p:spPr>
            <p:txBody>
              <a:bodyPr wrap="square" lIns="0" tIns="0" rIns="0" bIns="0">
                <a:spAutoFit/>
              </a:bodyPr>
              <a:lstStyle/>
              <a:p>
                <a:pPr marL="342900" lvl="0" indent="-342900">
                  <a:buFont typeface="Wingdings" panose="05000000000000000000" pitchFamily="2" charset="2"/>
                  <a:buChar char="l"/>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没有免费午餐定理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NFL</a:t>
                </a:r>
                <a:r>
                  <a:rPr lang="en-US" altLang="zh-CN" sz="2000" dirty="0">
                    <a:solidFill>
                      <a:srgbClr val="347F5F"/>
                    </a:solidFill>
                    <a:latin typeface="Arial" panose="020B0604020202020204" pitchFamily="34" charset="0"/>
                    <a:ea typeface="黑体"/>
                  </a:rPr>
                  <a:t>)</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Wolpert 和 Macerday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1997</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年在最优化理论中提出，指出“任何机器学习模型</a:t>
                </a:r>
                <a:r>
                  <a:rPr kumimoji="0" lang="zh-CN" altLang="en-US" sz="2000" b="0" i="0" u="none" strike="noStrike" kern="1200" cap="none" spc="0" normalizeH="0" baseline="0" noProof="0" dirty="0">
                    <a:ln>
                      <a:noFill/>
                    </a:ln>
                    <a:solidFill>
                      <a:srgbClr val="CC3399"/>
                    </a:solidFill>
                    <a:effectLst/>
                    <a:uLnTx/>
                    <a:uFillTx/>
                    <a:latin typeface="Arial" panose="020B0604020202020204" pitchFamily="34" charset="0"/>
                    <a:ea typeface="黑体"/>
                    <a:cs typeface="+mn-cs"/>
                  </a:rPr>
                  <a:t>在所有问题上</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的性能都是相同的，其总误差和模型本身没有关系。一种学习算法</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ctrlPr>
                      </m:sSubPr>
                      <m:e>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t>𝐴</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在某些问题上的表现优于另一种算法 </a:t>
                </a:r>
                <a:r>
                  <a:rPr lang="en-US" altLang="zh-CN" sz="2000" noProof="0" dirty="0">
                    <a:solidFill>
                      <a:prstClr val="black"/>
                    </a:solidFill>
                    <a:latin typeface="Arial" panose="020B0604020202020204" pitchFamily="34" charset="0"/>
                    <a:ea typeface="黑体"/>
                  </a:rPr>
                  <a:t>(</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smtClean="0">
                            <a:solidFill>
                              <a:prstClr val="black"/>
                            </a:solidFill>
                            <a:latin typeface="Cambria Math" panose="02040503050406030204" pitchFamily="18" charset="0"/>
                            <a:ea typeface="Cambria Math" panose="02040503050406030204" pitchFamily="18" charset="0"/>
                          </a:rPr>
                          <m:t>𝔏</m:t>
                        </m:r>
                      </m:e>
                      <m:sub>
                        <m:r>
                          <a:rPr lang="en-US" altLang="zh-CN" sz="2000" b="0" i="1" smtClean="0">
                            <a:solidFill>
                              <a:prstClr val="black"/>
                            </a:solidFill>
                            <a:latin typeface="Cambria Math" panose="02040503050406030204" pitchFamily="18" charset="0"/>
                            <a:ea typeface="Cambria Math" panose="02040503050406030204" pitchFamily="18" charset="0"/>
                          </a:rPr>
                          <m:t>𝐵</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的同时，一定伴随着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rPr>
                          <m:t>𝐴</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在另外某一</a:t>
                </a:r>
                <a:r>
                  <a:rPr lang="zh-CN" altLang="en-US" sz="2000" dirty="0">
                    <a:solidFill>
                      <a:prstClr val="black"/>
                    </a:solidFill>
                    <a:latin typeface="Arial" panose="020B0604020202020204" pitchFamily="34" charset="0"/>
                    <a:ea typeface="黑体"/>
                  </a:rPr>
                  <a:t>些问题</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上有着不如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Cambria Math" panose="02040503050406030204" pitchFamily="18" charset="0"/>
                          </a:rPr>
                          <m:t>𝐵</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的表现</a:t>
                </a:r>
                <a:r>
                  <a:rPr lang="zh-CN" altLang="en-US" sz="2000" noProof="0" dirty="0">
                    <a:solidFill>
                      <a:prstClr val="black"/>
                    </a:solidFill>
                    <a:latin typeface="Arial" panose="020B0604020202020204" pitchFamily="34" charset="0"/>
                    <a:ea typeface="黑体"/>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endParaRPr>
              </a:p>
            </p:txBody>
          </p:sp>
        </mc:Choice>
        <mc:Fallback xmlns="">
          <p:sp>
            <p:nvSpPr>
              <p:cNvPr id="30" name="文本框 29">
                <a:extLst>
                  <a:ext uri="{FF2B5EF4-FFF2-40B4-BE49-F238E27FC236}">
                    <a16:creationId xmlns:a16="http://schemas.microsoft.com/office/drawing/2014/main" id="{8A5760DC-513F-5D62-134A-917B4D55455F}"/>
                  </a:ext>
                </a:extLst>
              </p:cNvPr>
              <p:cNvSpPr txBox="1">
                <a:spLocks noRot="1" noChangeAspect="1" noMove="1" noResize="1" noEditPoints="1" noAdjustHandles="1" noChangeArrowheads="1" noChangeShapeType="1" noTextEdit="1"/>
              </p:cNvSpPr>
              <p:nvPr/>
            </p:nvSpPr>
            <p:spPr>
              <a:xfrm>
                <a:off x="91440" y="838545"/>
                <a:ext cx="8992330" cy="1267458"/>
              </a:xfrm>
              <a:prstGeom prst="rect">
                <a:avLst/>
              </a:prstGeom>
              <a:blipFill>
                <a:blip r:embed="rId4"/>
                <a:stretch>
                  <a:fillRect l="-1627" t="-7246" r="-2237" b="-7729"/>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492CA859-FC9E-06DD-E788-ADEAC0B23D2A}"/>
              </a:ext>
            </a:extLst>
          </p:cNvPr>
          <p:cNvSpPr txBox="1"/>
          <p:nvPr/>
        </p:nvSpPr>
        <p:spPr>
          <a:xfrm>
            <a:off x="7260442" y="2580643"/>
            <a:ext cx="1757385" cy="615553"/>
          </a:xfrm>
          <a:prstGeom prst="rect">
            <a:avLst/>
          </a:prstGeom>
          <a:noFill/>
        </p:spPr>
        <p:txBody>
          <a:bodyPr wrap="square" lIns="0" tIns="0" rIns="0" bIns="0" rtlCol="0">
            <a:spAutoFit/>
          </a:bodyPr>
          <a:lstStyle/>
          <a:p>
            <a:r>
              <a:rPr lang="zh-CN" altLang="en-US" sz="2000" dirty="0"/>
              <a:t>黑点</a:t>
            </a:r>
            <a:r>
              <a:rPr lang="en-US" altLang="zh-CN" sz="2000" dirty="0"/>
              <a:t>: </a:t>
            </a:r>
            <a:r>
              <a:rPr lang="zh-CN" altLang="en-US" sz="2000" dirty="0"/>
              <a:t>训练样本</a:t>
            </a:r>
            <a:r>
              <a:rPr lang="en-US" altLang="zh-CN" sz="2000" dirty="0"/>
              <a:t>; </a:t>
            </a:r>
            <a:r>
              <a:rPr lang="zh-CN" altLang="en-US" sz="2000" dirty="0"/>
              <a:t>白点</a:t>
            </a:r>
            <a:r>
              <a:rPr lang="en-US" altLang="zh-CN" sz="2000" dirty="0"/>
              <a:t>: </a:t>
            </a:r>
            <a:r>
              <a:rPr lang="zh-CN" altLang="en-US" sz="2000" dirty="0"/>
              <a:t>测试样本</a:t>
            </a:r>
          </a:p>
        </p:txBody>
      </p:sp>
      <p:sp>
        <p:nvSpPr>
          <p:cNvPr id="4" name="文本框 3">
            <a:extLst>
              <a:ext uri="{FF2B5EF4-FFF2-40B4-BE49-F238E27FC236}">
                <a16:creationId xmlns:a16="http://schemas.microsoft.com/office/drawing/2014/main" id="{E84BAB52-1F4A-58EE-DE1A-8EDB9CBF8C31}"/>
              </a:ext>
            </a:extLst>
          </p:cNvPr>
          <p:cNvSpPr txBox="1"/>
          <p:nvPr/>
        </p:nvSpPr>
        <p:spPr>
          <a:xfrm>
            <a:off x="1100564" y="3558737"/>
            <a:ext cx="1224951"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(a) A</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B</a:t>
            </a:r>
            <a:endParaRPr lang="zh-CN" altLang="en-US" sz="2000" dirty="0">
              <a:latin typeface="Arial" panose="020B0604020202020204" pitchFamily="34" charset="0"/>
              <a:ea typeface="黑体" panose="02010609060101010101" pitchFamily="49" charset="-122"/>
            </a:endParaRPr>
          </a:p>
        </p:txBody>
      </p:sp>
      <p:sp>
        <p:nvSpPr>
          <p:cNvPr id="5" name="文本框 4">
            <a:extLst>
              <a:ext uri="{FF2B5EF4-FFF2-40B4-BE49-F238E27FC236}">
                <a16:creationId xmlns:a16="http://schemas.microsoft.com/office/drawing/2014/main" id="{D75BB19A-39D6-1C84-A4BD-8710416FE710}"/>
              </a:ext>
            </a:extLst>
          </p:cNvPr>
          <p:cNvSpPr txBox="1"/>
          <p:nvPr/>
        </p:nvSpPr>
        <p:spPr>
          <a:xfrm>
            <a:off x="4724490" y="3567074"/>
            <a:ext cx="1239122"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(b) B</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A</a:t>
            </a:r>
            <a:endParaRPr lang="zh-CN" altLang="en-US" sz="2000" dirty="0">
              <a:latin typeface="Arial" panose="020B0604020202020204" pitchFamily="34" charset="0"/>
              <a:ea typeface="黑体" panose="02010609060101010101" pitchFamily="49" charset="-122"/>
            </a:endParaRPr>
          </a:p>
        </p:txBody>
      </p:sp>
      <p:sp>
        <p:nvSpPr>
          <p:cNvPr id="8" name="文本框 7">
            <a:extLst>
              <a:ext uri="{FF2B5EF4-FFF2-40B4-BE49-F238E27FC236}">
                <a16:creationId xmlns:a16="http://schemas.microsoft.com/office/drawing/2014/main" id="{05284B8C-8A95-D555-6031-E5EAF9D7993D}"/>
              </a:ext>
            </a:extLst>
          </p:cNvPr>
          <p:cNvSpPr txBox="1"/>
          <p:nvPr/>
        </p:nvSpPr>
        <p:spPr>
          <a:xfrm>
            <a:off x="7061888" y="4952608"/>
            <a:ext cx="1641559" cy="307777"/>
          </a:xfrm>
          <a:prstGeom prst="rect">
            <a:avLst/>
          </a:prstGeom>
          <a:noFill/>
        </p:spPr>
        <p:txBody>
          <a:bodyPr wrap="square" lIns="0" tIns="0" rIns="0" bIns="0">
            <a:spAutoFit/>
          </a:bodyPr>
          <a:lstStyle/>
          <a:p>
            <a:r>
              <a:rPr lang="zh-CN" altLang="en-US" sz="2000" dirty="0">
                <a:solidFill>
                  <a:schemeClr val="accent6">
                    <a:lumMod val="75000"/>
                  </a:schemeClr>
                </a:solidFill>
                <a:latin typeface="Arial" panose="020B0604020202020204" pitchFamily="34" charset="0"/>
                <a:ea typeface="黑体" panose="02010609060101010101" pitchFamily="49" charset="-122"/>
              </a:rPr>
              <a:t>最一般的情况</a:t>
            </a:r>
            <a:endParaRPr lang="en-US" altLang="zh-CN" sz="20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4098735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D0A3AAF8-A33E-4A25-B1DB-DB7F1256A98F}"/>
              </a:ext>
            </a:extLst>
          </p:cNvPr>
          <p:cNvSpPr/>
          <p:nvPr/>
        </p:nvSpPr>
        <p:spPr>
          <a:xfrm>
            <a:off x="239602" y="6074205"/>
            <a:ext cx="8664796" cy="553998"/>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Char char="ü"/>
              <a:tabLst/>
              <a:defRPr/>
            </a:pP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a:cs typeface="+mn-cs"/>
              </a:rPr>
              <a:t>Wolpert, D.H., Macready, W.G. (1997), No Free Lunch Theorems for Optimization, IEEE Transactions on Evolutionary Computation 1, 67</a:t>
            </a: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a:cs typeface="+mn-cs"/>
            </a:endParaRPr>
          </a:p>
        </p:txBody>
      </p:sp>
      <p:sp>
        <p:nvSpPr>
          <p:cNvPr id="17" name="标题 16">
            <a:extLst>
              <a:ext uri="{FF2B5EF4-FFF2-40B4-BE49-F238E27FC236}">
                <a16:creationId xmlns:a16="http://schemas.microsoft.com/office/drawing/2014/main" id="{9DB3E436-78B5-A498-0D62-507D786B6FEE}"/>
              </a:ext>
            </a:extLst>
          </p:cNvPr>
          <p:cNvSpPr>
            <a:spLocks noGrp="1"/>
          </p:cNvSpPr>
          <p:nvPr>
            <p:ph type="title"/>
          </p:nvPr>
        </p:nvSpPr>
        <p:spPr/>
        <p:txBody>
          <a:bodyPr/>
          <a:lstStyle/>
          <a:p>
            <a:r>
              <a:rPr lang="zh-CN" altLang="en-US" dirty="0"/>
              <a:t>机器学习的基本概念</a:t>
            </a:r>
          </a:p>
        </p:txBody>
      </p:sp>
      <mc:AlternateContent xmlns:mc="http://schemas.openxmlformats.org/markup-compatibility/2006" xmlns:a14="http://schemas.microsoft.com/office/drawing/2010/main">
        <mc:Choice Requires="a14">
          <p:sp>
            <p:nvSpPr>
              <p:cNvPr id="26" name="TextBox 24">
                <a:extLst>
                  <a:ext uri="{FF2B5EF4-FFF2-40B4-BE49-F238E27FC236}">
                    <a16:creationId xmlns:a16="http://schemas.microsoft.com/office/drawing/2014/main" id="{C9E191BC-FB27-4784-981C-1C50E10A6D02}"/>
                  </a:ext>
                </a:extLst>
              </p:cNvPr>
              <p:cNvSpPr txBox="1"/>
              <p:nvPr/>
            </p:nvSpPr>
            <p:spPr>
              <a:xfrm>
                <a:off x="286417" y="4557436"/>
                <a:ext cx="8578335" cy="1308050"/>
              </a:xfrm>
              <a:prstGeom prst="rect">
                <a:avLst/>
              </a:prstGeom>
              <a:noFill/>
            </p:spPr>
            <p:txBody>
              <a:bodyPr vert="horz" wrap="square" lIns="0" tIns="0" rIns="0" bIns="0" rtlCol="0">
                <a:spAutoFit/>
              </a:bodyPr>
              <a:lstStyle/>
              <a:p>
                <a:r>
                  <a:rPr lang="en-US" altLang="zh-CN" sz="2000" dirty="0">
                    <a:solidFill>
                      <a:srgbClr val="669900"/>
                    </a:solidFill>
                    <a:latin typeface="Arial" panose="020B0604020202020204" pitchFamily="34" charset="0"/>
                    <a:ea typeface="黑体" panose="02010609060101010101" pitchFamily="49" charset="-122"/>
                  </a:rPr>
                  <a:t>NFL</a:t>
                </a:r>
                <a:r>
                  <a:rPr lang="zh-CN" altLang="en-US" sz="2000" dirty="0">
                    <a:solidFill>
                      <a:srgbClr val="669900"/>
                    </a:solidFill>
                    <a:latin typeface="Arial" panose="020B0604020202020204" pitchFamily="34" charset="0"/>
                    <a:ea typeface="黑体" panose="02010609060101010101" pitchFamily="49" charset="-122"/>
                  </a:rPr>
                  <a:t>定理的重要前提：</a:t>
                </a:r>
                <a:r>
                  <a:rPr lang="zh-CN" altLang="en-US" sz="2000" dirty="0">
                    <a:solidFill>
                      <a:srgbClr val="0000FF"/>
                    </a:solidFill>
                    <a:latin typeface="Arial" panose="020B0604020202020204" pitchFamily="34" charset="0"/>
                    <a:ea typeface="黑体" panose="02010609060101010101" pitchFamily="49" charset="-122"/>
                  </a:rPr>
                  <a:t>所有“问题”出现的机会相同，或所有问题同等重要。</a:t>
                </a:r>
                <a:endParaRPr lang="en-US" altLang="zh-CN" sz="2000" dirty="0">
                  <a:solidFill>
                    <a:srgbClr val="0000FF"/>
                  </a:solidFill>
                  <a:latin typeface="Arial" panose="020B0604020202020204" pitchFamily="34" charset="0"/>
                  <a:ea typeface="黑体" panose="02010609060101010101" pitchFamily="49" charset="-122"/>
                </a:endParaRPr>
              </a:p>
              <a:p>
                <a:r>
                  <a:rPr lang="zh-CN" altLang="en-US" sz="2000" dirty="0">
                    <a:latin typeface="Arial" panose="020B0604020202020204" pitchFamily="34" charset="0"/>
                    <a:ea typeface="黑体" panose="02010609060101010101" pitchFamily="49" charset="-122"/>
                  </a:rPr>
                  <a:t>脱离具体问题，空泛地谈论“什么学习算法更好”没有意义！</a:t>
                </a:r>
                <a:endParaRPr lang="en-US" altLang="zh-CN" sz="2000" dirty="0">
                  <a:latin typeface="Arial" panose="020B0604020202020204" pitchFamily="34" charset="0"/>
                  <a:ea typeface="黑体" panose="02010609060101010101" pitchFamily="49" charset="-122"/>
                </a:endParaRPr>
              </a:p>
              <a:p>
                <a:pPr>
                  <a:spcBef>
                    <a:spcPts val="600"/>
                  </a:spcBef>
                </a:pPr>
                <a:r>
                  <a:rPr lang="zh-CN" altLang="en-US" sz="2000" dirty="0">
                    <a:latin typeface="Arial" panose="020B0604020202020204" pitchFamily="34" charset="0"/>
                    <a:ea typeface="黑体" panose="02010609060101010101" pitchFamily="49" charset="-122"/>
                  </a:rPr>
                  <a:t>上面的论述中假设所有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𝑐</m:t>
                    </m:r>
                  </m:oMath>
                </a14:m>
                <a:r>
                  <a:rPr lang="zh-CN" altLang="en-US" sz="2000" dirty="0">
                    <a:latin typeface="Arial" panose="020B0604020202020204" pitchFamily="34" charset="0"/>
                    <a:ea typeface="黑体" panose="02010609060101010101" pitchFamily="49" charset="-122"/>
                  </a:rPr>
                  <a:t> 的分布为均匀分布，没有加入统计学样本估计的概率约束这一先验，而实际情况并非如此。</a:t>
                </a:r>
              </a:p>
            </p:txBody>
          </p:sp>
        </mc:Choice>
        <mc:Fallback xmlns="">
          <p:sp>
            <p:nvSpPr>
              <p:cNvPr id="26" name="TextBox 24">
                <a:extLst>
                  <a:ext uri="{FF2B5EF4-FFF2-40B4-BE49-F238E27FC236}">
                    <a16:creationId xmlns:a16="http://schemas.microsoft.com/office/drawing/2014/main" id="{C9E191BC-FB27-4784-981C-1C50E10A6D02}"/>
                  </a:ext>
                </a:extLst>
              </p:cNvPr>
              <p:cNvSpPr txBox="1">
                <a:spLocks noRot="1" noChangeAspect="1" noMove="1" noResize="1" noEditPoints="1" noAdjustHandles="1" noChangeArrowheads="1" noChangeShapeType="1" noTextEdit="1"/>
              </p:cNvSpPr>
              <p:nvPr/>
            </p:nvSpPr>
            <p:spPr>
              <a:xfrm>
                <a:off x="286417" y="4557436"/>
                <a:ext cx="8578335" cy="1308050"/>
              </a:xfrm>
              <a:prstGeom prst="rect">
                <a:avLst/>
              </a:prstGeom>
              <a:blipFill>
                <a:blip r:embed="rId2"/>
                <a:stretch>
                  <a:fillRect l="-1848" t="-7009" r="-2203" b="-981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文本框 29">
                <a:extLst>
                  <a:ext uri="{FF2B5EF4-FFF2-40B4-BE49-F238E27FC236}">
                    <a16:creationId xmlns:a16="http://schemas.microsoft.com/office/drawing/2014/main" id="{8A5760DC-513F-5D62-134A-917B4D55455F}"/>
                  </a:ext>
                </a:extLst>
              </p:cNvPr>
              <p:cNvSpPr txBox="1"/>
              <p:nvPr/>
            </p:nvSpPr>
            <p:spPr>
              <a:xfrm>
                <a:off x="91440" y="838545"/>
                <a:ext cx="8992330" cy="1267458"/>
              </a:xfrm>
              <a:prstGeom prst="rect">
                <a:avLst/>
              </a:prstGeom>
              <a:noFill/>
            </p:spPr>
            <p:txBody>
              <a:bodyPr wrap="square" lIns="0" tIns="0" rIns="0" bIns="0">
                <a:spAutoFit/>
              </a:bodyPr>
              <a:lstStyle/>
              <a:p>
                <a:pPr marL="342900" lvl="0" indent="-342900">
                  <a:buFont typeface="Wingdings" panose="05000000000000000000" pitchFamily="2" charset="2"/>
                  <a:buChar char="l"/>
                  <a:defRPr/>
                </a:pP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没有免费午餐定理 </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a:t>
                </a:r>
                <a:r>
                  <a:rPr kumimoji="0" lang="zh-CN" altLang="en-US"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NFL</a:t>
                </a:r>
                <a:r>
                  <a:rPr lang="en-US" altLang="zh-CN" sz="2000" dirty="0">
                    <a:solidFill>
                      <a:srgbClr val="347F5F"/>
                    </a:solidFill>
                    <a:latin typeface="Arial" panose="020B0604020202020204" pitchFamily="34" charset="0"/>
                    <a:ea typeface="黑体"/>
                  </a:rPr>
                  <a:t>)</a:t>
                </a:r>
                <a:r>
                  <a:rPr kumimoji="0" lang="en-US" altLang="zh-CN" sz="2000" b="0" i="0" u="none" strike="noStrike" kern="1200" cap="none" spc="0" normalizeH="0" baseline="0" noProof="0" dirty="0">
                    <a:ln>
                      <a:noFill/>
                    </a:ln>
                    <a:solidFill>
                      <a:srgbClr val="347F5F"/>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Wolpert 和 Macerday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1997</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年在最优化理论中提出，指出“任何机器学习模型</a:t>
                </a:r>
                <a:r>
                  <a:rPr kumimoji="0" lang="zh-CN" altLang="en-US" sz="2000" b="0" i="0" u="none" strike="noStrike" kern="1200" cap="none" spc="0" normalizeH="0" baseline="0" noProof="0" dirty="0">
                    <a:ln>
                      <a:noFill/>
                    </a:ln>
                    <a:solidFill>
                      <a:srgbClr val="CC3399"/>
                    </a:solidFill>
                    <a:effectLst/>
                    <a:uLnTx/>
                    <a:uFillTx/>
                    <a:latin typeface="Arial" panose="020B0604020202020204" pitchFamily="34" charset="0"/>
                    <a:ea typeface="黑体"/>
                    <a:cs typeface="+mn-cs"/>
                  </a:rPr>
                  <a:t>在所有问题上</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的性能都是相同的，其总误差和模型本身没有关系。一种学习算法</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a:cs typeface="+mn-cs"/>
                  </a:rPr>
                  <a:t>(</a:t>
                </a:r>
                <a14:m>
                  <m:oMath xmlns:m="http://schemas.openxmlformats.org/officeDocument/2006/math">
                    <m:sSub>
                      <m:sSubPr>
                        <m:ctrlP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a:cs typeface="+mn-cs"/>
                          </a:rPr>
                          <m:t>𝐴</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在某些问题上的表现优于另一种算法 </a:t>
                </a:r>
                <a:r>
                  <a:rPr lang="en-US" altLang="zh-CN" sz="2000" noProof="0" dirty="0">
                    <a:solidFill>
                      <a:prstClr val="black"/>
                    </a:solidFill>
                    <a:latin typeface="Arial" panose="020B0604020202020204" pitchFamily="34" charset="0"/>
                    <a:ea typeface="黑体"/>
                  </a:rPr>
                  <a:t>(</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b="0" i="1" smtClean="0">
                            <a:solidFill>
                              <a:prstClr val="black"/>
                            </a:solidFill>
                            <a:latin typeface="Cambria Math" panose="02040503050406030204" pitchFamily="18" charset="0"/>
                            <a:ea typeface="Cambria Math" panose="02040503050406030204" pitchFamily="18" charset="0"/>
                          </a:rPr>
                          <m:t>𝐵</m:t>
                        </m:r>
                      </m:sub>
                    </m:sSub>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的同时，一定伴随着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rPr>
                          <m:t>𝐴</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在另外某一</a:t>
                </a:r>
                <a:r>
                  <a:rPr lang="zh-CN" altLang="en-US" sz="2000" dirty="0">
                    <a:solidFill>
                      <a:prstClr val="black"/>
                    </a:solidFill>
                    <a:latin typeface="Arial" panose="020B0604020202020204" pitchFamily="34" charset="0"/>
                    <a:ea typeface="黑体"/>
                  </a:rPr>
                  <a:t>些问题</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上有着不如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ea typeface="Cambria Math" panose="02040503050406030204" pitchFamily="18" charset="0"/>
                          </a:rPr>
                          <m:t>𝔏</m:t>
                        </m:r>
                      </m:e>
                      <m:sub>
                        <m:r>
                          <a:rPr lang="en-US" altLang="zh-CN" sz="2000" i="1">
                            <a:solidFill>
                              <a:prstClr val="black"/>
                            </a:solidFill>
                            <a:latin typeface="Cambria Math" panose="02040503050406030204" pitchFamily="18" charset="0"/>
                            <a:ea typeface="Cambria Math" panose="02040503050406030204" pitchFamily="18" charset="0"/>
                          </a:rPr>
                          <m:t>𝐵</m:t>
                        </m:r>
                      </m:sub>
                    </m:sSub>
                  </m:oMath>
                </a14:m>
                <a:r>
                  <a:rPr lang="zh-CN" altLang="en-US" sz="2000" dirty="0">
                    <a:solidFill>
                      <a:prstClr val="black"/>
                    </a:solidFill>
                    <a:latin typeface="Arial" panose="020B0604020202020204" pitchFamily="34" charset="0"/>
                    <a:ea typeface="黑体"/>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的表现</a:t>
                </a:r>
                <a:r>
                  <a:rPr lang="zh-CN" altLang="en-US" sz="2000" noProof="0" dirty="0">
                    <a:solidFill>
                      <a:prstClr val="black"/>
                    </a:solidFill>
                    <a:latin typeface="Arial" panose="020B0604020202020204" pitchFamily="34" charset="0"/>
                    <a:ea typeface="黑体"/>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rPr>
                  <a:t>”</a:t>
                </a:r>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黑体"/>
                  <a:cs typeface="+mn-cs"/>
                </a:endParaRPr>
              </a:p>
            </p:txBody>
          </p:sp>
        </mc:Choice>
        <mc:Fallback xmlns="">
          <p:sp>
            <p:nvSpPr>
              <p:cNvPr id="30" name="文本框 29">
                <a:extLst>
                  <a:ext uri="{FF2B5EF4-FFF2-40B4-BE49-F238E27FC236}">
                    <a16:creationId xmlns:a16="http://schemas.microsoft.com/office/drawing/2014/main" id="{8A5760DC-513F-5D62-134A-917B4D55455F}"/>
                  </a:ext>
                </a:extLst>
              </p:cNvPr>
              <p:cNvSpPr txBox="1">
                <a:spLocks noRot="1" noChangeAspect="1" noMove="1" noResize="1" noEditPoints="1" noAdjustHandles="1" noChangeArrowheads="1" noChangeShapeType="1" noTextEdit="1"/>
              </p:cNvSpPr>
              <p:nvPr/>
            </p:nvSpPr>
            <p:spPr>
              <a:xfrm>
                <a:off x="91440" y="838545"/>
                <a:ext cx="8992330" cy="1267458"/>
              </a:xfrm>
              <a:prstGeom prst="rect">
                <a:avLst/>
              </a:prstGeom>
              <a:blipFill>
                <a:blip r:embed="rId3"/>
                <a:stretch>
                  <a:fillRect l="-1627" t="-7246" r="-2237" b="-7729"/>
                </a:stretch>
              </a:blipFill>
            </p:spPr>
            <p:txBody>
              <a:bodyPr/>
              <a:lstStyle/>
              <a:p>
                <a:r>
                  <a:rPr lang="zh-CN" altLang="en-US">
                    <a:noFill/>
                  </a:rPr>
                  <a:t> </a:t>
                </a:r>
              </a:p>
            </p:txBody>
          </p:sp>
        </mc:Fallback>
      </mc:AlternateContent>
      <p:pic>
        <p:nvPicPr>
          <p:cNvPr id="3" name="图片 2" descr="ws_E884.tmp">
            <a:extLst>
              <a:ext uri="{FF2B5EF4-FFF2-40B4-BE49-F238E27FC236}">
                <a16:creationId xmlns:a16="http://schemas.microsoft.com/office/drawing/2014/main" id="{846B69B3-0652-9820-EE56-27647FF3456D}"/>
              </a:ext>
            </a:extLst>
          </p:cNvPr>
          <p:cNvPicPr>
            <a:picLocks noChangeAspect="1"/>
          </p:cNvPicPr>
          <p:nvPr/>
        </p:nvPicPr>
        <p:blipFill rotWithShape="1">
          <a:blip r:embed="rId4" cstate="print"/>
          <a:srcRect l="8166" t="30493" r="12389" b="43586"/>
          <a:stretch/>
        </p:blipFill>
        <p:spPr>
          <a:xfrm>
            <a:off x="232977" y="2103522"/>
            <a:ext cx="7649691" cy="1872000"/>
          </a:xfrm>
          <a:prstGeom prst="rect">
            <a:avLst/>
          </a:prstGeom>
        </p:spPr>
      </p:pic>
      <p:sp>
        <p:nvSpPr>
          <p:cNvPr id="4" name="文本框 3">
            <a:extLst>
              <a:ext uri="{FF2B5EF4-FFF2-40B4-BE49-F238E27FC236}">
                <a16:creationId xmlns:a16="http://schemas.microsoft.com/office/drawing/2014/main" id="{3362CE1A-922E-7C22-21D9-6E56477FD3D8}"/>
              </a:ext>
            </a:extLst>
          </p:cNvPr>
          <p:cNvSpPr txBox="1"/>
          <p:nvPr/>
        </p:nvSpPr>
        <p:spPr>
          <a:xfrm>
            <a:off x="7260442" y="2580643"/>
            <a:ext cx="1757385" cy="615553"/>
          </a:xfrm>
          <a:prstGeom prst="rect">
            <a:avLst/>
          </a:prstGeom>
          <a:noFill/>
        </p:spPr>
        <p:txBody>
          <a:bodyPr wrap="square" lIns="0" tIns="0" rIns="0" bIns="0" rtlCol="0">
            <a:spAutoFit/>
          </a:bodyPr>
          <a:lstStyle/>
          <a:p>
            <a:r>
              <a:rPr lang="zh-CN" altLang="en-US" sz="2000" dirty="0"/>
              <a:t>黑点</a:t>
            </a:r>
            <a:r>
              <a:rPr lang="en-US" altLang="zh-CN" sz="2000" dirty="0"/>
              <a:t>: </a:t>
            </a:r>
            <a:r>
              <a:rPr lang="zh-CN" altLang="en-US" sz="2000" dirty="0"/>
              <a:t>训练样本</a:t>
            </a:r>
            <a:r>
              <a:rPr lang="en-US" altLang="zh-CN" sz="2000" dirty="0"/>
              <a:t>; </a:t>
            </a:r>
            <a:r>
              <a:rPr lang="zh-CN" altLang="en-US" sz="2000" dirty="0"/>
              <a:t>白点</a:t>
            </a:r>
            <a:r>
              <a:rPr lang="en-US" altLang="zh-CN" sz="2000" dirty="0"/>
              <a:t>: </a:t>
            </a:r>
            <a:r>
              <a:rPr lang="zh-CN" altLang="en-US" sz="2000" dirty="0"/>
              <a:t>测试样本</a:t>
            </a:r>
          </a:p>
        </p:txBody>
      </p:sp>
      <p:sp>
        <p:nvSpPr>
          <p:cNvPr id="5" name="文本框 4">
            <a:extLst>
              <a:ext uri="{FF2B5EF4-FFF2-40B4-BE49-F238E27FC236}">
                <a16:creationId xmlns:a16="http://schemas.microsoft.com/office/drawing/2014/main" id="{1FB034A5-5183-9285-2C44-4ED862A3D7B8}"/>
              </a:ext>
            </a:extLst>
          </p:cNvPr>
          <p:cNvSpPr txBox="1"/>
          <p:nvPr/>
        </p:nvSpPr>
        <p:spPr>
          <a:xfrm>
            <a:off x="1100564" y="3558737"/>
            <a:ext cx="1224951"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(a) A</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B</a:t>
            </a:r>
            <a:endParaRPr lang="zh-CN" altLang="en-US" sz="2000" dirty="0">
              <a:latin typeface="Arial" panose="020B0604020202020204" pitchFamily="34" charset="0"/>
              <a:ea typeface="黑体" panose="02010609060101010101" pitchFamily="49" charset="-122"/>
            </a:endParaRPr>
          </a:p>
        </p:txBody>
      </p:sp>
      <p:sp>
        <p:nvSpPr>
          <p:cNvPr id="7" name="文本框 6">
            <a:extLst>
              <a:ext uri="{FF2B5EF4-FFF2-40B4-BE49-F238E27FC236}">
                <a16:creationId xmlns:a16="http://schemas.microsoft.com/office/drawing/2014/main" id="{498130D7-2A53-C2BC-CAB9-F5B5C04F80C2}"/>
              </a:ext>
            </a:extLst>
          </p:cNvPr>
          <p:cNvSpPr txBox="1"/>
          <p:nvPr/>
        </p:nvSpPr>
        <p:spPr>
          <a:xfrm>
            <a:off x="4724490" y="3567074"/>
            <a:ext cx="1239122" cy="307777"/>
          </a:xfrm>
          <a:prstGeom prst="rect">
            <a:avLst/>
          </a:prstGeom>
          <a:noFill/>
        </p:spPr>
        <p:txBody>
          <a:bodyPr wrap="none" lIns="0" tIns="0" rIns="0" bIns="0" rtlCol="0">
            <a:spAutoFit/>
          </a:bodyPr>
          <a:lstStyle/>
          <a:p>
            <a:r>
              <a:rPr lang="en-US" altLang="zh-CN" sz="2000" dirty="0">
                <a:latin typeface="Arial" panose="020B0604020202020204" pitchFamily="34" charset="0"/>
                <a:ea typeface="黑体" panose="02010609060101010101" pitchFamily="49" charset="-122"/>
              </a:rPr>
              <a:t>(b) B</a:t>
            </a:r>
            <a:r>
              <a:rPr lang="zh-CN" altLang="en-US" sz="2000" dirty="0">
                <a:latin typeface="Arial" panose="020B0604020202020204" pitchFamily="34" charset="0"/>
                <a:ea typeface="黑体" panose="02010609060101010101" pitchFamily="49" charset="-122"/>
              </a:rPr>
              <a:t>优于</a:t>
            </a:r>
            <a:r>
              <a:rPr lang="en-US" altLang="zh-CN" sz="2000" dirty="0">
                <a:latin typeface="Arial" panose="020B0604020202020204" pitchFamily="34" charset="0"/>
                <a:ea typeface="黑体" panose="02010609060101010101" pitchFamily="49" charset="-122"/>
              </a:rPr>
              <a:t>A</a:t>
            </a:r>
            <a:endParaRPr lang="zh-CN" altLang="en-US" sz="2000" dirty="0">
              <a:latin typeface="Arial" panose="020B0604020202020204" pitchFamily="34" charset="0"/>
              <a:ea typeface="黑体" panose="02010609060101010101" pitchFamily="49" charset="-122"/>
            </a:endParaRPr>
          </a:p>
        </p:txBody>
      </p:sp>
      <p:sp>
        <p:nvSpPr>
          <p:cNvPr id="6" name="文本框 5">
            <a:extLst>
              <a:ext uri="{FF2B5EF4-FFF2-40B4-BE49-F238E27FC236}">
                <a16:creationId xmlns:a16="http://schemas.microsoft.com/office/drawing/2014/main" id="{DE1289A4-DCFC-CCC8-8AE7-344A4A06EE33}"/>
              </a:ext>
            </a:extLst>
          </p:cNvPr>
          <p:cNvSpPr txBox="1"/>
          <p:nvPr/>
        </p:nvSpPr>
        <p:spPr>
          <a:xfrm>
            <a:off x="6362760" y="4211296"/>
            <a:ext cx="1795363" cy="307777"/>
          </a:xfrm>
          <a:prstGeom prst="rect">
            <a:avLst/>
          </a:prstGeom>
          <a:noFill/>
        </p:spPr>
        <p:txBody>
          <a:bodyPr wrap="none" lIns="0" tIns="0" rIns="0" bIns="0" rtlCol="0">
            <a:spAutoFit/>
          </a:bodyPr>
          <a:lstStyle/>
          <a:p>
            <a:r>
              <a:rPr lang="zh-CN" altLang="en-US" sz="2000" dirty="0">
                <a:solidFill>
                  <a:srgbClr val="0000FF"/>
                </a:solidFill>
                <a:latin typeface="Arial" panose="020B0604020202020204" pitchFamily="34" charset="0"/>
                <a:ea typeface="黑体" panose="02010609060101010101" pitchFamily="49" charset="-122"/>
              </a:rPr>
              <a:t>纯经验主义视角</a:t>
            </a:r>
          </a:p>
        </p:txBody>
      </p:sp>
      <p:sp>
        <p:nvSpPr>
          <p:cNvPr id="8" name="文本框 7">
            <a:extLst>
              <a:ext uri="{FF2B5EF4-FFF2-40B4-BE49-F238E27FC236}">
                <a16:creationId xmlns:a16="http://schemas.microsoft.com/office/drawing/2014/main" id="{05284B8C-8A95-D555-6031-E5EAF9D7993D}"/>
              </a:ext>
            </a:extLst>
          </p:cNvPr>
          <p:cNvSpPr txBox="1"/>
          <p:nvPr/>
        </p:nvSpPr>
        <p:spPr>
          <a:xfrm>
            <a:off x="7260442" y="4845766"/>
            <a:ext cx="1641559" cy="307777"/>
          </a:xfrm>
          <a:prstGeom prst="rect">
            <a:avLst/>
          </a:prstGeom>
          <a:noFill/>
        </p:spPr>
        <p:txBody>
          <a:bodyPr wrap="square" lIns="0" tIns="0" rIns="0" bIns="0">
            <a:spAutoFit/>
          </a:bodyPr>
          <a:ls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zh-CN" altLang="en-US" sz="2000" dirty="0">
                <a:solidFill>
                  <a:schemeClr val="accent6">
                    <a:lumMod val="75000"/>
                  </a:schemeClr>
                </a:solidFill>
                <a:latin typeface="Arial" panose="020B0604020202020204" pitchFamily="34" charset="0"/>
                <a:ea typeface="黑体" panose="02010609060101010101" pitchFamily="49" charset="-122"/>
              </a:rPr>
              <a:t>最一般的情况</a:t>
            </a:r>
            <a:endParaRPr lang="en-US" altLang="zh-CN" sz="2000" dirty="0">
              <a:solidFill>
                <a:schemeClr val="accent6">
                  <a:lumMod val="75000"/>
                </a:schemeClr>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75366497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00917" y="2852231"/>
            <a:ext cx="2536939" cy="2015936"/>
          </a:xfrm>
          <a:prstGeom prst="rect">
            <a:avLst/>
          </a:prstGeom>
          <a:solidFill>
            <a:schemeClr val="bg2">
              <a:lumMod val="90000"/>
            </a:schemeClr>
          </a:solidFill>
        </p:spPr>
        <p:txBody>
          <a:bodyPr wrap="square" lIns="36000" tIns="36000" rIns="36000" bIns="36000">
            <a:spAutoFit/>
          </a:bodyPr>
          <a:lstStyle/>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经验风险 </a:t>
            </a:r>
            <a:r>
              <a:rPr kumimoji="0" lang="en-US" altLang="zh-CN" sz="2000" i="0" u="none" strike="noStrike" kern="120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(empirical risk):</a:t>
            </a:r>
          </a:p>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训练集中数据产生的损失。经验风险越小说明学习模型对训练数据拟合程度越好</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5" name="矩形 14"/>
          <p:cNvSpPr/>
          <p:nvPr/>
        </p:nvSpPr>
        <p:spPr>
          <a:xfrm>
            <a:off x="6412688" y="2849502"/>
            <a:ext cx="2731312" cy="2015936"/>
          </a:xfrm>
          <a:prstGeom prst="rect">
            <a:avLst/>
          </a:prstGeom>
          <a:solidFill>
            <a:schemeClr val="bg2">
              <a:lumMod val="90000"/>
            </a:schemeClr>
          </a:solidFill>
        </p:spPr>
        <p:txBody>
          <a:bodyPr wrap="square" lIns="36000" tIns="36000" rIns="36000" bIns="36000">
            <a:spAutoFit/>
          </a:bodyPr>
          <a:lstStyle/>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期望风险 </a:t>
            </a:r>
            <a:r>
              <a:rPr kumimoji="0" lang="en-US" altLang="zh-CN"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rPr>
              <a:t>(expected risk):</a:t>
            </a:r>
          </a:p>
          <a:p>
            <a:pPr marL="0" marR="0" lvl="0" indent="0" defTabSz="914400" rtl="0" eaLnBrk="1" fontAlgn="auto" latinLnBrk="0" hangingPunct="1">
              <a:spcBef>
                <a:spcPts val="600"/>
              </a:spcBef>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当测试集中存在无穷多数据时产生的损失。期望风险越小，学习所得模型越好。</a:t>
            </a:r>
          </a:p>
        </p:txBody>
      </p:sp>
      <p:sp>
        <p:nvSpPr>
          <p:cNvPr id="3" name="文本框 2">
            <a:extLst>
              <a:ext uri="{FF2B5EF4-FFF2-40B4-BE49-F238E27FC236}">
                <a16:creationId xmlns:a16="http://schemas.microsoft.com/office/drawing/2014/main" id="{7A078E94-778D-036C-320D-3915889CE2AE}"/>
              </a:ext>
            </a:extLst>
          </p:cNvPr>
          <p:cNvSpPr txBox="1"/>
          <p:nvPr/>
        </p:nvSpPr>
        <p:spPr>
          <a:xfrm>
            <a:off x="38750" y="899689"/>
            <a:ext cx="438762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经验风险与期望风险    监督学习</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1" name="标题 14">
            <a:extLst>
              <a:ext uri="{FF2B5EF4-FFF2-40B4-BE49-F238E27FC236}">
                <a16:creationId xmlns:a16="http://schemas.microsoft.com/office/drawing/2014/main" id="{F31660D4-0C90-F0AF-81A6-CED2173DA3D8}"/>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
        <p:nvSpPr>
          <p:cNvPr id="12" name="流程图: 磁盘 11">
            <a:extLst>
              <a:ext uri="{FF2B5EF4-FFF2-40B4-BE49-F238E27FC236}">
                <a16:creationId xmlns:a16="http://schemas.microsoft.com/office/drawing/2014/main" id="{DAB05147-4226-6E5C-48BA-1303C3332B5C}"/>
              </a:ext>
            </a:extLst>
          </p:cNvPr>
          <p:cNvSpPr/>
          <p:nvPr/>
        </p:nvSpPr>
        <p:spPr>
          <a:xfrm>
            <a:off x="2972547" y="3456553"/>
            <a:ext cx="972000" cy="1440000"/>
          </a:xfrm>
          <a:prstGeom prst="flowChartMagneticDisk">
            <a:avLst/>
          </a:prstGeom>
          <a:solidFill>
            <a:srgbClr val="E1D6F2"/>
          </a:solidFill>
          <a:ln>
            <a:solidFill>
              <a:srgbClr val="6600CC"/>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6" name="圆角矩形 12">
                <a:extLst>
                  <a:ext uri="{FF2B5EF4-FFF2-40B4-BE49-F238E27FC236}">
                    <a16:creationId xmlns:a16="http://schemas.microsoft.com/office/drawing/2014/main" id="{0BAFB958-54AD-F8AA-5758-49C2CC2F4F51}"/>
                  </a:ext>
                </a:extLst>
              </p:cNvPr>
              <p:cNvSpPr/>
              <p:nvPr/>
            </p:nvSpPr>
            <p:spPr bwMode="auto">
              <a:xfrm>
                <a:off x="2520000" y="5161810"/>
                <a:ext cx="2052000" cy="85502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i="0" u="none" strike="noStrike" kern="0" cap="none" spc="0" normalizeH="0" baseline="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Training dataset</a:t>
                </a: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𝑥</m:t>
                              </m:r>
                            </m:e>
                            <m: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sub>
                          </m:s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sSub>
                            <m:sSubPr>
                              <m:ctrlPr>
                                <a:rPr kumimoji="0" lang="en-US" altLang="zh-CN" i="1" u="none" strike="noStrike" kern="0" cap="none" spc="0" normalizeH="0" baseline="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𝑦</m:t>
                              </m:r>
                            </m:e>
                            <m:sub>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sub>
                          </m:sSub>
                        </m:e>
                      </m:d>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𝑖</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1</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rgbClr val="9900FF"/>
                          </a:solidFill>
                          <a:effectLst/>
                          <a:uLnTx/>
                          <a:uFillTx/>
                          <a:latin typeface="Cambria Math"/>
                          <a:ea typeface="微软雅黑" pitchFamily="34" charset="-122"/>
                          <a:cs typeface="Times New Roman" pitchFamily="18" charset="0"/>
                        </a:rPr>
                        <m:t>𝑛</m:t>
                      </m:r>
                    </m:oMath>
                  </m:oMathPara>
                </a14:m>
                <a:endParaRPr kumimoji="0" lang="en-US" altLang="zh-CN" i="0" u="none" strike="noStrike" kern="0" cap="none" spc="0" normalizeH="0" baseline="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圆角矩形 12">
                <a:extLst>
                  <a:ext uri="{FF2B5EF4-FFF2-40B4-BE49-F238E27FC236}">
                    <a16:creationId xmlns:a16="http://schemas.microsoft.com/office/drawing/2014/main" id="{0BAFB958-54AD-F8AA-5758-49C2CC2F4F51}"/>
                  </a:ext>
                </a:extLst>
              </p:cNvPr>
              <p:cNvSpPr>
                <a:spLocks noRot="1" noChangeAspect="1" noMove="1" noResize="1" noEditPoints="1" noAdjustHandles="1" noChangeArrowheads="1" noChangeShapeType="1" noTextEdit="1"/>
              </p:cNvSpPr>
              <p:nvPr/>
            </p:nvSpPr>
            <p:spPr bwMode="auto">
              <a:xfrm>
                <a:off x="2520000" y="5161810"/>
                <a:ext cx="2052000" cy="855025"/>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文本框 16">
                <a:extLst>
                  <a:ext uri="{FF2B5EF4-FFF2-40B4-BE49-F238E27FC236}">
                    <a16:creationId xmlns:a16="http://schemas.microsoft.com/office/drawing/2014/main" id="{A6BFFECD-C390-647A-8B5B-B69AE6D06ED8}"/>
                  </a:ext>
                </a:extLst>
              </p:cNvPr>
              <p:cNvSpPr txBox="1"/>
              <p:nvPr/>
            </p:nvSpPr>
            <p:spPr>
              <a:xfrm>
                <a:off x="2637856" y="1900108"/>
                <a:ext cx="2052000" cy="830997"/>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从训练数据集 </a:t>
                </a:r>
                <a:r>
                  <a:rPr lang="en-US" altLang="zh-CN" dirty="0">
                    <a:latin typeface="Arial" panose="020B0604020202020204" pitchFamily="34" charset="0"/>
                    <a:ea typeface="黑体" panose="02010609060101010101" pitchFamily="49" charset="-122"/>
                  </a:rPr>
                  <a:t>(training dataset) </a:t>
                </a:r>
              </a:p>
              <a:p>
                <a:r>
                  <a:rPr lang="zh-CN" altLang="en-US" dirty="0">
                    <a:latin typeface="Arial" panose="020B0604020202020204" pitchFamily="34" charset="0"/>
                    <a:ea typeface="黑体" panose="02010609060101010101" pitchFamily="49" charset="-122"/>
                  </a:rPr>
                  <a:t>学习得到映射函数 </a:t>
                </a:r>
                <a14:m>
                  <m:oMath xmlns:m="http://schemas.openxmlformats.org/officeDocument/2006/math">
                    <m:r>
                      <a:rPr lang="en-US" altLang="zh-CN" b="0" i="1" smtClean="0">
                        <a:latin typeface="Cambria Math" panose="02040503050406030204" pitchFamily="18" charset="0"/>
                      </a:rPr>
                      <m:t>𝑓</m:t>
                    </m:r>
                  </m:oMath>
                </a14:m>
                <a:endParaRPr lang="zh-CN" altLang="en-US" dirty="0">
                  <a:latin typeface="Arial" panose="020B0604020202020204" pitchFamily="34" charset="0"/>
                  <a:ea typeface="黑体" panose="02010609060101010101" pitchFamily="49" charset="-122"/>
                </a:endParaRPr>
              </a:p>
            </p:txBody>
          </p:sp>
        </mc:Choice>
        <mc:Fallback xmlns="">
          <p:sp>
            <p:nvSpPr>
              <p:cNvPr id="17" name="文本框 16">
                <a:extLst>
                  <a:ext uri="{FF2B5EF4-FFF2-40B4-BE49-F238E27FC236}">
                    <a16:creationId xmlns:a16="http://schemas.microsoft.com/office/drawing/2014/main" id="{A6BFFECD-C390-647A-8B5B-B69AE6D06ED8}"/>
                  </a:ext>
                </a:extLst>
              </p:cNvPr>
              <p:cNvSpPr txBox="1">
                <a:spLocks noRot="1" noChangeAspect="1" noMove="1" noResize="1" noEditPoints="1" noAdjustHandles="1" noChangeArrowheads="1" noChangeShapeType="1" noTextEdit="1"/>
              </p:cNvSpPr>
              <p:nvPr/>
            </p:nvSpPr>
            <p:spPr>
              <a:xfrm>
                <a:off x="2637856" y="1900108"/>
                <a:ext cx="2052000" cy="830997"/>
              </a:xfrm>
              <a:prstGeom prst="rect">
                <a:avLst/>
              </a:prstGeom>
              <a:blipFill>
                <a:blip r:embed="rId3"/>
                <a:stretch>
                  <a:fillRect l="-7143" t="-11029" r="-3869" b="-14706"/>
                </a:stretch>
              </a:blipFill>
            </p:spPr>
            <p:txBody>
              <a:bodyPr/>
              <a:lstStyle/>
              <a:p>
                <a:r>
                  <a:rPr lang="zh-CN" altLang="en-US">
                    <a:noFill/>
                  </a:rPr>
                  <a:t> </a:t>
                </a:r>
              </a:p>
            </p:txBody>
          </p:sp>
        </mc:Fallback>
      </mc:AlternateContent>
      <p:sp>
        <p:nvSpPr>
          <p:cNvPr id="18" name="流程图: 磁盘 17">
            <a:extLst>
              <a:ext uri="{FF2B5EF4-FFF2-40B4-BE49-F238E27FC236}">
                <a16:creationId xmlns:a16="http://schemas.microsoft.com/office/drawing/2014/main" id="{62FA5763-045C-B293-C718-2F03896AC2FB}"/>
              </a:ext>
            </a:extLst>
          </p:cNvPr>
          <p:cNvSpPr/>
          <p:nvPr/>
        </p:nvSpPr>
        <p:spPr>
          <a:xfrm>
            <a:off x="5244469" y="3429000"/>
            <a:ext cx="972000" cy="1440000"/>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9" name="圆角矩形 11">
                <a:extLst>
                  <a:ext uri="{FF2B5EF4-FFF2-40B4-BE49-F238E27FC236}">
                    <a16:creationId xmlns:a16="http://schemas.microsoft.com/office/drawing/2014/main" id="{5384B2BF-4D98-6F99-86CC-E727719001F2}"/>
                  </a:ext>
                </a:extLst>
              </p:cNvPr>
              <p:cNvSpPr/>
              <p:nvPr/>
            </p:nvSpPr>
            <p:spPr bwMode="auto">
              <a:xfrm>
                <a:off x="4869690" y="5161808"/>
                <a:ext cx="2052000" cy="855027"/>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lang="en-US" altLang="zh-CN"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Test</a:t>
                </a:r>
                <a:r>
                  <a:rPr lang="zh-CN" altLang="en-US"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 </a:t>
                </a:r>
                <a:r>
                  <a:rPr lang="en-US" altLang="zh-CN" kern="0" dirty="0">
                    <a:solidFill>
                      <a:schemeClr val="accent6">
                        <a:lumMod val="75000"/>
                      </a:schemeClr>
                    </a:solidFill>
                    <a:latin typeface="Arial" panose="020B0604020202020204" pitchFamily="34" charset="0"/>
                    <a:ea typeface="黑体" panose="02010609060101010101" pitchFamily="49" charset="-122"/>
                    <a:cs typeface="Times New Roman" panose="02020603050405020304" pitchFamily="18" charset="0"/>
                  </a:rPr>
                  <a:t>dataset</a:t>
                </a:r>
                <a:endParaRPr kumimoji="0" lang="en-US" altLang="zh-CN"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𝑥</m:t>
                                  </m:r>
                                </m:e>
                                <m:sub>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Sup>
                            <m:sSup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i="1" u="none" strike="noStrike" kern="0" cap="none" spc="0" normalizeH="0" baseline="0" noProof="0">
                                      <a:ln>
                                        <a:noFill/>
                                      </a:ln>
                                      <a:solidFill>
                                        <a:schemeClr val="accent6">
                                          <a:lumMod val="75000"/>
                                        </a:schemeClr>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𝑦</m:t>
                                  </m:r>
                                </m:e>
                                <m:sub>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sub>
                              </m:sSub>
                            </m:e>
                            <m:sup>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sup>
                          </m:sSup>
                        </m:e>
                      </m:d>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𝑖</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1</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m:t>
                      </m:r>
                      <m:r>
                        <a:rPr kumimoji="0" lang="en-US" altLang="zh-CN" b="0" i="1" u="none" strike="noStrike" kern="0" cap="none" spc="0" normalizeH="0" baseline="0" noProof="0" smtClean="0">
                          <a:ln>
                            <a:noFill/>
                          </a:ln>
                          <a:solidFill>
                            <a:schemeClr val="accent6">
                              <a:lumMod val="75000"/>
                            </a:schemeClr>
                          </a:solidFill>
                          <a:effectLst/>
                          <a:uLnTx/>
                          <a:uFillTx/>
                          <a:latin typeface="Cambria Math"/>
                          <a:ea typeface="微软雅黑" pitchFamily="34" charset="-122"/>
                          <a:cs typeface="Times New Roman" pitchFamily="18" charset="0"/>
                        </a:rPr>
                        <m:t>𝑚</m:t>
                      </m:r>
                    </m:oMath>
                  </m:oMathPara>
                </a14:m>
                <a:endParaRPr kumimoji="0" lang="en-US" altLang="zh-CN" i="0" u="none" strike="noStrike" kern="0" cap="none" spc="0" normalizeH="0" baseline="0" noProof="0" dirty="0">
                  <a:ln>
                    <a:noFill/>
                  </a:ln>
                  <a:solidFill>
                    <a:schemeClr val="accent6">
                      <a:lumMod val="75000"/>
                    </a:schemeClr>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9" name="圆角矩形 11">
                <a:extLst>
                  <a:ext uri="{FF2B5EF4-FFF2-40B4-BE49-F238E27FC236}">
                    <a16:creationId xmlns:a16="http://schemas.microsoft.com/office/drawing/2014/main" id="{5384B2BF-4D98-6F99-86CC-E727719001F2}"/>
                  </a:ext>
                </a:extLst>
              </p:cNvPr>
              <p:cNvSpPr>
                <a:spLocks noRot="1" noChangeAspect="1" noMove="1" noResize="1" noEditPoints="1" noAdjustHandles="1" noChangeArrowheads="1" noChangeShapeType="1" noTextEdit="1"/>
              </p:cNvSpPr>
              <p:nvPr/>
            </p:nvSpPr>
            <p:spPr bwMode="auto">
              <a:xfrm>
                <a:off x="4869690" y="5161808"/>
                <a:ext cx="2052000" cy="855027"/>
              </a:xfrm>
              <a:prstGeom prst="roundRect">
                <a:avLst/>
              </a:prstGeom>
              <a:blipFill>
                <a:blip r:embed="rId4"/>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TextBox 13">
                <a:extLst>
                  <a:ext uri="{FF2B5EF4-FFF2-40B4-BE49-F238E27FC236}">
                    <a16:creationId xmlns:a16="http://schemas.microsoft.com/office/drawing/2014/main" id="{09D418AB-2B98-59A2-6CB9-94BEA15DAB62}"/>
                  </a:ext>
                </a:extLst>
              </p:cNvPr>
              <p:cNvSpPr txBox="1"/>
              <p:nvPr/>
            </p:nvSpPr>
            <p:spPr>
              <a:xfrm>
                <a:off x="5037330" y="1907581"/>
                <a:ext cx="1604846" cy="8309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solidFill>
                      <a:prstClr val="black"/>
                    </a:solidFill>
                    <a:latin typeface="Arial" panose="020B0604020202020204" pitchFamily="34" charset="0"/>
                    <a:ea typeface="黑体" panose="02010609060101010101" pitchFamily="49" charset="-122"/>
                  </a:rPr>
                  <a:t>在测试数据集 </a:t>
                </a:r>
                <a:r>
                  <a:rPr lang="en-US" altLang="zh-CN" dirty="0">
                    <a:solidFill>
                      <a:prstClr val="black"/>
                    </a:solidFill>
                    <a:latin typeface="Arial" panose="020B0604020202020204" pitchFamily="34" charset="0"/>
                    <a:ea typeface="黑体" panose="02010609060101010101" pitchFamily="49" charset="-122"/>
                  </a:rPr>
                  <a:t>(test dataset)</a:t>
                </a:r>
                <a:r>
                  <a:rPr lang="zh-CN" altLang="en-US" dirty="0">
                    <a:solidFill>
                      <a:prstClr val="black"/>
                    </a:solidFill>
                    <a:latin typeface="Arial" panose="020B0604020202020204" pitchFamily="34" charset="0"/>
                    <a:ea typeface="黑体" panose="02010609060101010101" pitchFamily="49" charset="-122"/>
                  </a:rPr>
                  <a:t> 测试映射函数 </a:t>
                </a:r>
                <a14:m>
                  <m:oMath xmlns:m="http://schemas.openxmlformats.org/officeDocument/2006/math">
                    <m:r>
                      <a:rPr lang="en-US" altLang="zh-CN" b="0" i="1" smtClean="0">
                        <a:solidFill>
                          <a:prstClr val="black"/>
                        </a:solidFill>
                        <a:latin typeface="Cambria Math" panose="02040503050406030204" pitchFamily="18" charset="0"/>
                        <a:ea typeface="黑体" panose="02010609060101010101" pitchFamily="49" charset="-122"/>
                      </a:rPr>
                      <m:t>𝑓</m:t>
                    </m:r>
                  </m:oMath>
                </a14:m>
                <a:endPar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20" name="TextBox 13">
                <a:extLst>
                  <a:ext uri="{FF2B5EF4-FFF2-40B4-BE49-F238E27FC236}">
                    <a16:creationId xmlns:a16="http://schemas.microsoft.com/office/drawing/2014/main" id="{09D418AB-2B98-59A2-6CB9-94BEA15DAB62}"/>
                  </a:ext>
                </a:extLst>
              </p:cNvPr>
              <p:cNvSpPr txBox="1">
                <a:spLocks noRot="1" noChangeAspect="1" noMove="1" noResize="1" noEditPoints="1" noAdjustHandles="1" noChangeArrowheads="1" noChangeShapeType="1" noTextEdit="1"/>
              </p:cNvSpPr>
              <p:nvPr/>
            </p:nvSpPr>
            <p:spPr>
              <a:xfrm>
                <a:off x="5037330" y="1907581"/>
                <a:ext cx="1604846" cy="830997"/>
              </a:xfrm>
              <a:prstGeom prst="rect">
                <a:avLst/>
              </a:prstGeom>
              <a:blipFill>
                <a:blip r:embed="rId5"/>
                <a:stretch>
                  <a:fillRect l="-8712" t="-11029" r="-3788" b="-14706"/>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79361478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流程图: 磁盘 1"/>
          <p:cNvSpPr/>
          <p:nvPr/>
        </p:nvSpPr>
        <p:spPr>
          <a:xfrm>
            <a:off x="1333524" y="4514022"/>
            <a:ext cx="421591" cy="549667"/>
          </a:xfrm>
          <a:prstGeom prst="flowChartMagneticDisk">
            <a:avLst/>
          </a:prstGeom>
          <a:solidFill>
            <a:srgbClr val="9900FF">
              <a:alpha val="20000"/>
            </a:srgbClr>
          </a:solidFill>
          <a:ln>
            <a:solidFill>
              <a:srgbClr val="9900FF"/>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5" name="流程图: 磁盘 4"/>
          <p:cNvSpPr/>
          <p:nvPr/>
        </p:nvSpPr>
        <p:spPr>
          <a:xfrm>
            <a:off x="6317671" y="2791316"/>
            <a:ext cx="439387" cy="518001"/>
          </a:xfrm>
          <a:prstGeom prst="flowChartMagneticDisk">
            <a:avLst/>
          </a:prstGeom>
          <a:ln>
            <a:solidFill>
              <a:schemeClr val="accent6">
                <a:lumMod val="75000"/>
              </a:schemeClr>
            </a:solidFill>
          </a:ln>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圆角矩形 9"/>
              <p:cNvSpPr/>
              <p:nvPr/>
            </p:nvSpPr>
            <p:spPr bwMode="auto">
              <a:xfrm>
                <a:off x="477004" y="5175918"/>
                <a:ext cx="2096457" cy="918363"/>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rPr>
                  <a:t>训练数据集</a:t>
                </a:r>
                <a:endParaRPr kumimoji="0" lang="en-US" altLang="zh-CN"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dPr>
                        <m:e>
                          <m:sSub>
                            <m:sSub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noProof="0" smtClean="0">
                                  <a:ln>
                                    <a:noFill/>
                                  </a:ln>
                                  <a:solidFill>
                                    <a:srgbClr val="9900FF"/>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sub>
                          </m:sSub>
                        </m:e>
                      </m:d>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rgbClr val="9900FF"/>
                          </a:solidFill>
                          <a:effectLst/>
                          <a:uLnTx/>
                          <a:uFillTx/>
                          <a:latin typeface="Cambria Math"/>
                          <a:ea typeface="微软雅黑" pitchFamily="34" charset="-122"/>
                          <a:cs typeface="Times New Roman" pitchFamily="18" charset="0"/>
                        </a:rPr>
                        <m:t>𝑛</m:t>
                      </m:r>
                    </m:oMath>
                  </m:oMathPara>
                </a14:m>
                <a:endParaRPr kumimoji="0" lang="en-US" altLang="zh-CN" sz="2000" i="0" u="none" strike="noStrike" kern="0" cap="none" spc="0" normalizeH="0" noProof="0" dirty="0">
                  <a:ln>
                    <a:noFill/>
                  </a:ln>
                  <a:solidFill>
                    <a:srgbClr val="9900FF"/>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0" name="圆角矩形 9"/>
              <p:cNvSpPr>
                <a:spLocks noRot="1" noChangeAspect="1" noMove="1" noResize="1" noEditPoints="1" noAdjustHandles="1" noChangeArrowheads="1" noChangeShapeType="1" noTextEdit="1"/>
              </p:cNvSpPr>
              <p:nvPr/>
            </p:nvSpPr>
            <p:spPr bwMode="auto">
              <a:xfrm>
                <a:off x="477004" y="5175918"/>
                <a:ext cx="2096457" cy="918363"/>
              </a:xfrm>
              <a:prstGeom prst="roundRect">
                <a:avLst/>
              </a:prstGeom>
              <a:blipFill>
                <a:blip r:embed="rId2"/>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圆角矩形 10"/>
              <p:cNvSpPr/>
              <p:nvPr/>
            </p:nvSpPr>
            <p:spPr bwMode="auto">
              <a:xfrm>
                <a:off x="5142020" y="3409973"/>
                <a:ext cx="2873830" cy="823360"/>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rPr>
                  <a:t>测试数据集数据无穷多</a:t>
                </a:r>
                <a:endParaRPr kumimoji="0" lang="en-US" altLang="zh-CN"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14:m>
                  <m:oMathPara xmlns:m="http://schemas.openxmlformats.org/officeDocument/2006/math">
                    <m:oMathParaPr>
                      <m:jc m:val="centerGroup"/>
                    </m:oMathParaPr>
                    <m:oMath xmlns:m="http://schemas.openxmlformats.org/officeDocument/2006/math">
                      <m:d>
                        <m:d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dPr>
                        <m:e>
                          <m:sSup>
                            <m:sSupPr>
                              <m:ctrlPr>
                                <a:rPr kumimoji="0" lang="en-US" altLang="zh-CN" sz="2000" i="1" u="none" strike="noStrike" kern="0" cap="none" spc="0" normalizeH="0" noProof="0" smtClean="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noProof="0" smtClean="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up>
                          </m:s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Sup>
                            <m:sSup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pPr>
                            <m:e>
                              <m:sSub>
                                <m:sSubPr>
                                  <m:ctrlPr>
                                    <a:rPr kumimoji="0" lang="en-US" altLang="zh-CN" sz="2000" i="1" u="none" strike="noStrike" kern="0" cap="none" spc="0" normalizeH="0" noProof="0">
                                      <a:ln>
                                        <a:noFill/>
                                      </a:ln>
                                      <a:solidFill>
                                        <a:schemeClr val="accent6"/>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sub>
                              </m:sSub>
                            </m:e>
                            <m:sup>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sup>
                          </m:sSup>
                        </m:e>
                      </m:d>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accent6"/>
                          </a:solidFill>
                          <a:effectLst/>
                          <a:uLnTx/>
                          <a:uFillTx/>
                          <a:latin typeface="Cambria Math"/>
                          <a:ea typeface="微软雅黑" pitchFamily="34" charset="-122"/>
                          <a:cs typeface="Times New Roman" pitchFamily="18" charset="0"/>
                        </a:rPr>
                        <m:t>∞</m:t>
                      </m:r>
                    </m:oMath>
                  </m:oMathPara>
                </a14:m>
                <a:endParaRPr kumimoji="0" lang="en-US" altLang="zh-CN" sz="2000" i="0" u="none" strike="noStrike" kern="0" cap="none" spc="0" normalizeH="0" noProof="0" dirty="0">
                  <a:ln>
                    <a:noFill/>
                  </a:ln>
                  <a:solidFill>
                    <a:schemeClr val="accent6"/>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圆角矩形 10"/>
              <p:cNvSpPr>
                <a:spLocks noRot="1" noChangeAspect="1" noMove="1" noResize="1" noEditPoints="1" noAdjustHandles="1" noChangeArrowheads="1" noChangeShapeType="1" noTextEdit="1"/>
              </p:cNvSpPr>
              <p:nvPr/>
            </p:nvSpPr>
            <p:spPr bwMode="auto">
              <a:xfrm>
                <a:off x="5142020" y="3409973"/>
                <a:ext cx="2873830" cy="823360"/>
              </a:xfrm>
              <a:prstGeom prst="roundRect">
                <a:avLst/>
              </a:prstGeom>
              <a:blipFill>
                <a:blip r:embed="rId3"/>
                <a:stretch>
                  <a:fillRect/>
                </a:stretch>
              </a:blip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a:lstStyle/>
              <a:p>
                <a:r>
                  <a:rPr lang="zh-CN" altLang="en-US">
                    <a:noFill/>
                  </a:rPr>
                  <a:t> </a:t>
                </a:r>
              </a:p>
            </p:txBody>
          </p:sp>
        </mc:Fallback>
      </mc:AlternateContent>
      <p:sp>
        <p:nvSpPr>
          <p:cNvPr id="4" name="矩形 3"/>
          <p:cNvSpPr/>
          <p:nvPr/>
        </p:nvSpPr>
        <p:spPr>
          <a:xfrm>
            <a:off x="271484" y="1256437"/>
            <a:ext cx="4300516" cy="70788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映射函数训练目标：经验风险最小化</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(empirical risk minimization</a:t>
            </a:r>
            <a:r>
              <a:rPr lang="en-US" altLang="zh-CN"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ERM)</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3" name="TextBox 12"/>
              <p:cNvSpPr txBox="1"/>
              <p:nvPr/>
            </p:nvSpPr>
            <p:spPr>
              <a:xfrm>
                <a:off x="539422" y="2007046"/>
                <a:ext cx="3082552" cy="932628"/>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TextBox 12"/>
              <p:cNvSpPr txBox="1">
                <a:spLocks noRot="1" noChangeAspect="1" noMove="1" noResize="1" noEditPoints="1" noAdjustHandles="1" noChangeArrowheads="1" noChangeShapeType="1" noTextEdit="1"/>
              </p:cNvSpPr>
              <p:nvPr/>
            </p:nvSpPr>
            <p:spPr>
              <a:xfrm>
                <a:off x="539422" y="2007046"/>
                <a:ext cx="3082552" cy="932628"/>
              </a:xfrm>
              <a:prstGeom prst="rect">
                <a:avLst/>
              </a:prstGeom>
              <a:blipFill>
                <a:blip r:embed="rId4"/>
                <a:stretch>
                  <a:fillRect/>
                </a:stretch>
              </a:blipFill>
            </p:spPr>
            <p:txBody>
              <a:bodyPr/>
              <a:lstStyle/>
              <a:p>
                <a:r>
                  <a:rPr lang="zh-CN" altLang="en-US">
                    <a:noFill/>
                  </a:rPr>
                  <a:t> </a:t>
                </a:r>
              </a:p>
            </p:txBody>
          </p:sp>
        </mc:Fallback>
      </mc:AlternateContent>
      <p:sp>
        <p:nvSpPr>
          <p:cNvPr id="14" name="椭圆 13"/>
          <p:cNvSpPr/>
          <p:nvPr/>
        </p:nvSpPr>
        <p:spPr>
          <a:xfrm>
            <a:off x="238318" y="2982397"/>
            <a:ext cx="3555854" cy="1502422"/>
          </a:xfrm>
          <a:prstGeom prst="ellipse">
            <a:avLst/>
          </a:prstGeom>
          <a:noFill/>
          <a:ln>
            <a:solidFill>
              <a:srgbClr val="C00000"/>
            </a:solidFill>
          </a:ln>
        </p:spPr>
        <p:style>
          <a:lnRef idx="2">
            <a:schemeClr val="accent1"/>
          </a:lnRef>
          <a:fillRef idx="1">
            <a:schemeClr val="lt1"/>
          </a:fillRef>
          <a:effectRef idx="0">
            <a:schemeClr val="accent1"/>
          </a:effectRef>
          <a:fontRef idx="minor">
            <a:schemeClr val="dk1"/>
          </a:fontRef>
        </p:style>
        <p:txBody>
          <a:bodyPr lIns="36000" tIns="36000" rIns="36000" bIns="3600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选取一个使得训练集所有数据损失平均值最小的映射函数。这样的考虑是否够？</a:t>
            </a:r>
          </a:p>
        </p:txBody>
      </p:sp>
      <p:sp>
        <p:nvSpPr>
          <p:cNvPr id="22" name="矩形 21"/>
          <p:cNvSpPr/>
          <p:nvPr/>
        </p:nvSpPr>
        <p:spPr>
          <a:xfrm>
            <a:off x="4723804" y="1254822"/>
            <a:ext cx="4300516" cy="707886"/>
          </a:xfrm>
          <a:prstGeom prst="rect">
            <a:avLst/>
          </a:prstGeom>
        </p:spPr>
        <p:txBody>
          <a:bodyPr wrap="square">
            <a:spAutoFit/>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映射函数训练目标：期望风险最小化</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(expected risk minimization)</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3" name="TextBox 22"/>
              <p:cNvSpPr txBox="1"/>
              <p:nvPr/>
            </p:nvSpPr>
            <p:spPr>
              <a:xfrm>
                <a:off x="4911138" y="1920321"/>
                <a:ext cx="3793439" cy="845681"/>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nary>
                        <m:nary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𝑃</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𝑑𝑥𝑑𝑦</m:t>
                          </m:r>
                        </m:e>
                      </m:nary>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23" name="TextBox 22"/>
              <p:cNvSpPr txBox="1">
                <a:spLocks noRot="1" noChangeAspect="1" noMove="1" noResize="1" noEditPoints="1" noAdjustHandles="1" noChangeArrowheads="1" noChangeShapeType="1" noTextEdit="1"/>
              </p:cNvSpPr>
              <p:nvPr/>
            </p:nvSpPr>
            <p:spPr>
              <a:xfrm>
                <a:off x="4911138" y="1920321"/>
                <a:ext cx="3793439" cy="845681"/>
              </a:xfrm>
              <a:prstGeom prst="rect">
                <a:avLst/>
              </a:prstGeom>
              <a:blipFill>
                <a:blip r:embed="rId5"/>
                <a:stretch>
                  <a:fillRect r="-1447"/>
                </a:stretch>
              </a:blipFill>
            </p:spPr>
            <p:txBody>
              <a:bodyPr/>
              <a:lstStyle/>
              <a:p>
                <a:r>
                  <a:rPr lang="zh-CN" altLang="en-US">
                    <a:noFill/>
                  </a:rPr>
                  <a:t> </a:t>
                </a:r>
              </a:p>
            </p:txBody>
          </p:sp>
        </mc:Fallback>
      </mc:AlternateContent>
      <p:sp>
        <p:nvSpPr>
          <p:cNvPr id="19" name="矩形 18"/>
          <p:cNvSpPr/>
          <p:nvPr/>
        </p:nvSpPr>
        <p:spPr>
          <a:xfrm>
            <a:off x="2785793" y="4442329"/>
            <a:ext cx="6271953" cy="2154436"/>
          </a:xfrm>
          <a:prstGeom prst="rect">
            <a:avLst/>
          </a:prstGeom>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期望风险是模型关于联合分布期望损失，经验风险是模型关于训练样本集平均损失。</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根据大数定律，当样本容量趋于无穷时，经验风险趋于期望风险。所以在实践中很自然用经验风险来估计期望风险。</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由于现实中训练样本数目有限，用经验风险估计期望风险并不理想，要对经验风险进行一定的约束。</a:t>
            </a:r>
          </a:p>
        </p:txBody>
      </p:sp>
      <p:sp>
        <p:nvSpPr>
          <p:cNvPr id="7" name="标题 14">
            <a:extLst>
              <a:ext uri="{FF2B5EF4-FFF2-40B4-BE49-F238E27FC236}">
                <a16:creationId xmlns:a16="http://schemas.microsoft.com/office/drawing/2014/main" id="{C782D44A-6D8D-4B73-6712-2968CADCF826}"/>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
        <p:nvSpPr>
          <p:cNvPr id="8" name="文本框 7">
            <a:extLst>
              <a:ext uri="{FF2B5EF4-FFF2-40B4-BE49-F238E27FC236}">
                <a16:creationId xmlns:a16="http://schemas.microsoft.com/office/drawing/2014/main" id="{45D89785-DEBF-D3D2-7F6F-04471D37CD9F}"/>
              </a:ext>
            </a:extLst>
          </p:cNvPr>
          <p:cNvSpPr txBox="1"/>
          <p:nvPr/>
        </p:nvSpPr>
        <p:spPr>
          <a:xfrm>
            <a:off x="38750" y="899689"/>
            <a:ext cx="438762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经验风险与期望风险    监督学习</a:t>
            </a:r>
            <a:endParaRPr lang="zh-CN" altLang="en-US" sz="1600" dirty="0">
              <a:solidFill>
                <a:srgbClr val="347F5F"/>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45299866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2" name="表格 11"/>
          <p:cNvGraphicFramePr>
            <a:graphicFrameLocks noGrp="1"/>
          </p:cNvGraphicFramePr>
          <p:nvPr>
            <p:extLst>
              <p:ext uri="{D42A27DB-BD31-4B8C-83A1-F6EECF244321}">
                <p14:modId xmlns:p14="http://schemas.microsoft.com/office/powerpoint/2010/main" val="700567618"/>
              </p:ext>
            </p:extLst>
          </p:nvPr>
        </p:nvGraphicFramePr>
        <p:xfrm>
          <a:off x="3870960" y="1420986"/>
          <a:ext cx="5220502" cy="4538567"/>
        </p:xfrm>
        <a:graphic>
          <a:graphicData uri="http://schemas.openxmlformats.org/drawingml/2006/table">
            <a:tbl>
              <a:tblPr firstRow="1" bandRow="1">
                <a:tableStyleId>{5C22544A-7EE6-4342-B048-85BDC9FD1C3A}</a:tableStyleId>
              </a:tblPr>
              <a:tblGrid>
                <a:gridCol w="1884680">
                  <a:extLst>
                    <a:ext uri="{9D8B030D-6E8A-4147-A177-3AD203B41FA5}">
                      <a16:colId xmlns:a16="http://schemas.microsoft.com/office/drawing/2014/main" val="20000"/>
                    </a:ext>
                  </a:extLst>
                </a:gridCol>
                <a:gridCol w="1717040">
                  <a:extLst>
                    <a:ext uri="{9D8B030D-6E8A-4147-A177-3AD203B41FA5}">
                      <a16:colId xmlns:a16="http://schemas.microsoft.com/office/drawing/2014/main" val="20001"/>
                    </a:ext>
                  </a:extLst>
                </a:gridCol>
                <a:gridCol w="1618782">
                  <a:extLst>
                    <a:ext uri="{9D8B030D-6E8A-4147-A177-3AD203B41FA5}">
                      <a16:colId xmlns:a16="http://schemas.microsoft.com/office/drawing/2014/main" val="20002"/>
                    </a:ext>
                  </a:extLst>
                </a:gridCol>
              </a:tblGrid>
              <a:tr h="1150513">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经验风险小（训练集上表现好）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期望风险小（测试集上表现好</a:t>
                      </a:r>
                      <a:r>
                        <a:rPr lang="en-US" altLang="zh-CN"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rgbClr val="C00000"/>
                          </a:solidFill>
                          <a:latin typeface="Arial" panose="020B0604020202020204" pitchFamily="34" charset="0"/>
                          <a:ea typeface="黑体" panose="02010609060101010101" pitchFamily="49" charset="-122"/>
                          <a:cs typeface="Times New Roman" panose="02020603050405020304" pitchFamily="18" charset="0"/>
                        </a:rPr>
                        <a:t>泛化能力强</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1150513">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经验风险小（训练集上表现好）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期望风险大（测试集上表现不好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过学习（模型过于复杂）</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150513">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经验风险大（训练集上表现不好）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期望风险大（测试集上表现不好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欠学习</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r h="1087028">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经验风险大（训练集上表现不好）</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期望风险小（测试集上表现好</a:t>
                      </a:r>
                      <a:r>
                        <a:rPr lang="en-US" altLang="zh-CN"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a:t>
                      </a:r>
                      <a:endPar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endParaRP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lstStyle/>
                    <a:p>
                      <a:pPr algn="ctr">
                        <a:lnSpc>
                          <a:spcPct val="100000"/>
                        </a:lnSpc>
                      </a:pPr>
                      <a:r>
                        <a:rPr lang="zh-CN" altLang="en-US" sz="1800" b="0" baseline="0" dirty="0">
                          <a:solidFill>
                            <a:schemeClr val="tx1"/>
                          </a:solidFill>
                          <a:latin typeface="Arial" panose="020B0604020202020204" pitchFamily="34" charset="0"/>
                          <a:ea typeface="黑体" panose="02010609060101010101" pitchFamily="49" charset="-122"/>
                          <a:cs typeface="Times New Roman" panose="02020603050405020304" pitchFamily="18" charset="0"/>
                        </a:rPr>
                        <a:t>“神仙算法”或“黄粱美梦”</a:t>
                      </a:r>
                    </a:p>
                  </a:txBody>
                  <a:tcPr marL="0" marR="0" marT="0" marB="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3"/>
                  </a:ext>
                </a:extLst>
              </a:tr>
            </a:tbl>
          </a:graphicData>
        </a:graphic>
      </p:graphicFrame>
      <mc:AlternateContent xmlns:mc="http://schemas.openxmlformats.org/markup-compatibility/2006" xmlns:a14="http://schemas.microsoft.com/office/drawing/2010/main">
        <mc:Choice Requires="a14">
          <p:sp>
            <p:nvSpPr>
              <p:cNvPr id="15" name="TextBox 14"/>
              <p:cNvSpPr txBox="1"/>
              <p:nvPr/>
            </p:nvSpPr>
            <p:spPr>
              <a:xfrm>
                <a:off x="52538" y="2067483"/>
                <a:ext cx="3082552" cy="8402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52538" y="2067483"/>
                <a:ext cx="3082552" cy="840295"/>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52538" y="4315200"/>
                <a:ext cx="3709546" cy="7533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cs typeface="+mn-cs"/>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r>
                                <a:rPr kumimoji="0" lang="el-GR" altLang="zh-CN" sz="2000" b="0" i="1" u="none" strike="noStrike" kern="1200" cap="none" spc="0" normalizeH="0" noProof="0" smtClean="0">
                                  <a:ln>
                                    <a:noFill/>
                                  </a:ln>
                                  <a:solidFill>
                                    <a:prstClr val="black"/>
                                  </a:solidFill>
                                  <a:effectLst/>
                                  <a:uLnTx/>
                                  <a:uFillTx/>
                                  <a:latin typeface="Cambria Math"/>
                                  <a:ea typeface="Cambria Math"/>
                                  <a:cs typeface="+mn-cs"/>
                                </a:rPr>
                                <m:t>𝛷</m:t>
                              </m:r>
                            </m:lim>
                          </m:limLow>
                        </m:fName>
                        <m:e>
                          <m:nary>
                            <m:nary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𝑓</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𝑃</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cs typeface="+mn-cs"/>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cs typeface="+mn-cs"/>
                                </a:rPr>
                                <m:t>𝑑𝑥𝑑𝑦</m:t>
                              </m:r>
                            </m:e>
                          </m:nary>
                        </m:e>
                      </m:func>
                    </m:oMath>
                  </m:oMathPara>
                </a14:m>
                <a:endParaRPr kumimoji="0" lang="zh-CN" altLang="en-US" sz="18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52538" y="4315200"/>
                <a:ext cx="3709546" cy="753348"/>
              </a:xfrm>
              <a:prstGeom prst="rect">
                <a:avLst/>
              </a:prstGeom>
              <a:blipFill>
                <a:blip r:embed="rId3"/>
                <a:stretch>
                  <a:fillRect r="-1316"/>
                </a:stretch>
              </a:blipFill>
            </p:spPr>
            <p:txBody>
              <a:bodyPr/>
              <a:lstStyle/>
              <a:p>
                <a:r>
                  <a:rPr lang="zh-CN" altLang="en-US">
                    <a:noFill/>
                  </a:rPr>
                  <a:t> </a:t>
                </a:r>
              </a:p>
            </p:txBody>
          </p:sp>
        </mc:Fallback>
      </mc:AlternateContent>
      <p:sp>
        <p:nvSpPr>
          <p:cNvPr id="3" name="矩形 2"/>
          <p:cNvSpPr/>
          <p:nvPr/>
        </p:nvSpPr>
        <p:spPr>
          <a:xfrm>
            <a:off x="52538" y="1330228"/>
            <a:ext cx="198002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经验风险最小化</a:t>
            </a:r>
          </a:p>
        </p:txBody>
      </p:sp>
      <p:sp>
        <p:nvSpPr>
          <p:cNvPr id="7" name="矩形 6"/>
          <p:cNvSpPr/>
          <p:nvPr/>
        </p:nvSpPr>
        <p:spPr>
          <a:xfrm>
            <a:off x="52538" y="3690270"/>
            <a:ext cx="1980029"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期望风险最小化</a:t>
            </a:r>
          </a:p>
        </p:txBody>
      </p:sp>
      <p:sp>
        <p:nvSpPr>
          <p:cNvPr id="2" name="矩形 1"/>
          <p:cNvSpPr/>
          <p:nvPr/>
        </p:nvSpPr>
        <p:spPr>
          <a:xfrm>
            <a:off x="3899304" y="6085311"/>
            <a:ext cx="5035076" cy="276999"/>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表</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4.3  </a:t>
            </a:r>
            <a:r>
              <a:rPr kumimoji="0" lang="zh-CN"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模型泛化能力与经验风险、期望风险的关系</a:t>
            </a:r>
          </a:p>
        </p:txBody>
      </p:sp>
      <p:sp>
        <p:nvSpPr>
          <p:cNvPr id="4" name="文本框 3">
            <a:extLst>
              <a:ext uri="{FF2B5EF4-FFF2-40B4-BE49-F238E27FC236}">
                <a16:creationId xmlns:a16="http://schemas.microsoft.com/office/drawing/2014/main" id="{E7FE4EF2-B1AB-F7F9-C7D9-A625B429F1B0}"/>
              </a:ext>
            </a:extLst>
          </p:cNvPr>
          <p:cNvSpPr txBox="1"/>
          <p:nvPr/>
        </p:nvSpPr>
        <p:spPr>
          <a:xfrm>
            <a:off x="38750" y="899689"/>
            <a:ext cx="6808740"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过拟合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(over-fitting) </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与 欠拟合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(under-fitting)</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监督学习</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9" name="标题 14">
            <a:extLst>
              <a:ext uri="{FF2B5EF4-FFF2-40B4-BE49-F238E27FC236}">
                <a16:creationId xmlns:a16="http://schemas.microsoft.com/office/drawing/2014/main" id="{86FD760B-A8D7-BCF0-236A-7A4CB2F0638B}"/>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Tree>
    <p:extLst>
      <p:ext uri="{BB962C8B-B14F-4D97-AF65-F5344CB8AC3E}">
        <p14:creationId xmlns:p14="http://schemas.microsoft.com/office/powerpoint/2010/main" val="21479146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椭圆形标注 4"/>
          <p:cNvSpPr/>
          <p:nvPr/>
        </p:nvSpPr>
        <p:spPr>
          <a:xfrm>
            <a:off x="5681609" y="3613116"/>
            <a:ext cx="3262255" cy="1631842"/>
          </a:xfrm>
          <a:prstGeom prst="wedgeEllipseCallout">
            <a:avLst/>
          </a:prstGeom>
        </p:spPr>
        <p:style>
          <a:lnRef idx="2">
            <a:schemeClr val="accent1"/>
          </a:lnRef>
          <a:fillRef idx="1">
            <a:schemeClr val="lt1"/>
          </a:fillRef>
          <a:effectRef idx="0">
            <a:schemeClr val="accent1"/>
          </a:effectRef>
          <a:fontRef idx="minor">
            <a:schemeClr val="dk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5" name="TextBox 14"/>
              <p:cNvSpPr txBox="1"/>
              <p:nvPr/>
            </p:nvSpPr>
            <p:spPr>
              <a:xfrm>
                <a:off x="364020" y="2518909"/>
                <a:ext cx="2931955" cy="838884"/>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5" name="TextBox 14"/>
              <p:cNvSpPr txBox="1">
                <a:spLocks noRot="1" noChangeAspect="1" noMove="1" noResize="1" noEditPoints="1" noAdjustHandles="1" noChangeArrowheads="1" noChangeShapeType="1" noTextEdit="1"/>
              </p:cNvSpPr>
              <p:nvPr/>
            </p:nvSpPr>
            <p:spPr>
              <a:xfrm>
                <a:off x="364020" y="2518909"/>
                <a:ext cx="2931955" cy="83888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5"/>
              <p:cNvSpPr txBox="1"/>
              <p:nvPr/>
            </p:nvSpPr>
            <p:spPr>
              <a:xfrm>
                <a:off x="200136" y="4694400"/>
                <a:ext cx="3862039" cy="753348"/>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nary>
                            <m:nary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𝑦</m:t>
                              </m:r>
                            </m:sub>
                            <m:sup/>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e>
                                  </m:d>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𝑃</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𝑥</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𝑦</m:t>
                                  </m:r>
                                </m:e>
                              </m:d>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𝑑𝑥𝑑𝑦</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6" name="TextBox 15"/>
              <p:cNvSpPr txBox="1">
                <a:spLocks noRot="1" noChangeAspect="1" noMove="1" noResize="1" noEditPoints="1" noAdjustHandles="1" noChangeArrowheads="1" noChangeShapeType="1" noTextEdit="1"/>
              </p:cNvSpPr>
              <p:nvPr/>
            </p:nvSpPr>
            <p:spPr>
              <a:xfrm>
                <a:off x="200136" y="4694400"/>
                <a:ext cx="3862039" cy="753348"/>
              </a:xfrm>
              <a:prstGeom prst="rect">
                <a:avLst/>
              </a:prstGeom>
              <a:blipFill>
                <a:blip r:embed="rId3"/>
                <a:stretch>
                  <a:fillRect/>
                </a:stretch>
              </a:blipFill>
            </p:spPr>
            <p:txBody>
              <a:bodyPr/>
              <a:lstStyle/>
              <a:p>
                <a:r>
                  <a:rPr lang="zh-CN" altLang="en-US">
                    <a:noFill/>
                  </a:rPr>
                  <a:t> </a:t>
                </a:r>
              </a:p>
            </p:txBody>
          </p:sp>
        </mc:Fallback>
      </mc:AlternateContent>
      <p:sp>
        <p:nvSpPr>
          <p:cNvPr id="3" name="矩形 2"/>
          <p:cNvSpPr/>
          <p:nvPr/>
        </p:nvSpPr>
        <p:spPr>
          <a:xfrm>
            <a:off x="38750" y="1812079"/>
            <a:ext cx="3988271" cy="307777"/>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经验风险最小化</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仅反映了局部数据</a:t>
            </a:r>
          </a:p>
        </p:txBody>
      </p:sp>
      <p:sp>
        <p:nvSpPr>
          <p:cNvPr id="7" name="矩形 6"/>
          <p:cNvSpPr/>
          <p:nvPr/>
        </p:nvSpPr>
        <p:spPr>
          <a:xfrm>
            <a:off x="88164" y="4149437"/>
            <a:ext cx="3988271" cy="307777"/>
          </a:xfrm>
          <a:prstGeom prst="rect">
            <a:avLst/>
          </a:prstGeom>
        </p:spPr>
        <p:txBody>
          <a:bodyPr wrap="none" lIns="0" tIns="0" rIns="0" bIns="0">
            <a:spAutoFit/>
          </a:bodyPr>
          <a:lstStyle/>
          <a:p>
            <a:pPr marL="0" marR="0" lvl="0" indent="0"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期望风险最小化</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无法得到全量数据</a:t>
            </a:r>
          </a:p>
        </p:txBody>
      </p:sp>
      <p:sp>
        <p:nvSpPr>
          <p:cNvPr id="2" name="矩形 1"/>
          <p:cNvSpPr/>
          <p:nvPr/>
        </p:nvSpPr>
        <p:spPr>
          <a:xfrm>
            <a:off x="4524055" y="1812079"/>
            <a:ext cx="4581195" cy="1231106"/>
          </a:xfrm>
          <a:prstGeom prst="rect">
            <a:avLst/>
          </a:prstGeom>
        </p:spPr>
        <p:txBody>
          <a:bodyPr wrap="square" lIns="0" tIns="0" rIns="0" bIns="0">
            <a:spAutoFit/>
          </a:bodyPr>
          <a:lstStyle/>
          <a:p>
            <a:pPr marL="0" marR="0" lvl="0" indent="0"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结构风险最小化 </a:t>
            </a:r>
            <a:r>
              <a:rPr kumimoji="0" lang="en-US" altLang="zh-CN"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Times New Roman" panose="02020603050405020304" pitchFamily="18" charset="0"/>
              </a:rPr>
              <a:t>(structural risk minimization)</a:t>
            </a:r>
            <a:r>
              <a:rPr lang="en-US" altLang="zh-CN"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a:t>
            </a:r>
            <a:r>
              <a:rPr lang="zh-CN" altLang="en-US"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为了防止过拟合，在经验风险上加上表示模型复杂度的正则化项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en-US" altLang="zh-CN" sz="2000" i="0" u="none" strike="noStrike" kern="1200" cap="none" spc="0" normalizeH="0" noProof="0" dirty="0" err="1">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regularizer</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或惩罚项 </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(penalty term)</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p:txBody>
      </p:sp>
      <mc:AlternateContent xmlns:mc="http://schemas.openxmlformats.org/markup-compatibility/2006" xmlns:a14="http://schemas.microsoft.com/office/drawing/2010/main">
        <mc:Choice Requires="a14">
          <p:sp>
            <p:nvSpPr>
              <p:cNvPr id="11" name="TextBox 10"/>
              <p:cNvSpPr txBox="1"/>
              <p:nvPr/>
            </p:nvSpPr>
            <p:spPr>
              <a:xfrm>
                <a:off x="4441267" y="3913955"/>
                <a:ext cx="4123505" cy="840295"/>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itchFamily="49" charset="-122"/>
                                </a:rPr>
                                <m:t>min</m:t>
                              </m:r>
                            </m:e>
                            <m:li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𝑓</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l-GR" altLang="zh-CN" sz="2000" b="0" i="1" u="none" strike="noStrike" kern="1200" cap="none" spc="0" normalizeH="0" noProof="0" smtClean="0">
                                  <a:ln>
                                    <a:noFill/>
                                  </a:ln>
                                  <a:solidFill>
                                    <a:prstClr val="black"/>
                                  </a:solidFill>
                                  <a:effectLst/>
                                  <a:uLnTx/>
                                  <a:uFillTx/>
                                  <a:latin typeface="Cambria Math"/>
                                  <a:ea typeface="Cambria Math"/>
                                </a:rPr>
                                <m:t>𝛷</m:t>
                              </m:r>
                            </m:lim>
                          </m:limLow>
                        </m:fName>
                        <m:e>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den>
                          </m:f>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sup>
                            <m:e>
                              <m:r>
                                <a:rPr kumimoji="0" lang="en-US" altLang="zh-CN" sz="2000" b="0" i="1" u="none" strike="noStrike" kern="1200" cap="none" spc="0" normalizeH="0" noProof="0" smtClean="0">
                                  <a:ln>
                                    <a:noFill/>
                                  </a:ln>
                                  <a:solidFill>
                                    <a:prstClr val="black"/>
                                  </a:solidFill>
                                  <a:effectLst/>
                                  <a:uLnTx/>
                                  <a:uFillTx/>
                                  <a:latin typeface="Cambria Math"/>
                                </a:rPr>
                                <m:t>𝐿𝑜𝑠𝑠</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dPr>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𝑦</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𝑥</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e>
                              </m:d>
                              <m:r>
                                <a:rPr kumimoji="0" lang="en-US" altLang="zh-CN" sz="2000" b="0" i="1" u="none" strike="noStrike" kern="1200" cap="none" spc="0" normalizeH="0" noProof="0" smtClean="0">
                                  <a:ln>
                                    <a:noFill/>
                                  </a:ln>
                                  <a:solidFill>
                                    <a:prstClr val="black"/>
                                  </a:solidFill>
                                  <a:effectLst/>
                                  <a:uLnTx/>
                                  <a:uFillTx/>
                                  <a:latin typeface="Cambria Math"/>
                                </a:rPr>
                                <m:t>)+</m:t>
                              </m:r>
                              <m:r>
                                <a:rPr kumimoji="0" lang="zh-CN" altLang="en-US" sz="2000" b="0" i="1" u="none" strike="noStrike" kern="1200" cap="none" spc="0" normalizeH="0" noProof="0" smtClean="0">
                                  <a:ln>
                                    <a:noFill/>
                                  </a:ln>
                                  <a:solidFill>
                                    <a:prstClr val="black"/>
                                  </a:solidFill>
                                  <a:effectLst/>
                                  <a:uLnTx/>
                                  <a:uFillTx/>
                                  <a:latin typeface="Cambria Math"/>
                                </a:rPr>
                                <m:t>𝜆</m:t>
                              </m:r>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𝑟</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𝑓</m:t>
                              </m:r>
                              <m:r>
                                <a:rPr kumimoji="0" lang="en-US" altLang="zh-CN" sz="2000" b="0" i="1" u="none" strike="noStrike" kern="1200" cap="none" spc="0" normalizeH="0" noProof="0" smtClean="0">
                                  <a:ln>
                                    <a:noFill/>
                                  </a:ln>
                                  <a:solidFill>
                                    <a:prstClr val="black"/>
                                  </a:solidFill>
                                  <a:effectLst/>
                                  <a:uLnTx/>
                                  <a:uFillTx/>
                                  <a:latin typeface="Cambria Math"/>
                                </a:rPr>
                                <m:t>)</m:t>
                              </m:r>
                            </m:e>
                          </m:nary>
                        </m:e>
                      </m:func>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TextBox 10"/>
              <p:cNvSpPr txBox="1">
                <a:spLocks noRot="1" noChangeAspect="1" noMove="1" noResize="1" noEditPoints="1" noAdjustHandles="1" noChangeArrowheads="1" noChangeShapeType="1" noTextEdit="1"/>
              </p:cNvSpPr>
              <p:nvPr/>
            </p:nvSpPr>
            <p:spPr>
              <a:xfrm>
                <a:off x="4441267" y="3913955"/>
                <a:ext cx="4123505" cy="840295"/>
              </a:xfrm>
              <a:prstGeom prst="rect">
                <a:avLst/>
              </a:prstGeom>
              <a:blipFill>
                <a:blip r:embed="rId4"/>
                <a:stretch>
                  <a:fillRect/>
                </a:stretch>
              </a:blipFill>
            </p:spPr>
            <p:txBody>
              <a:bodyPr/>
              <a:lstStyle/>
              <a:p>
                <a:r>
                  <a:rPr lang="zh-CN" altLang="en-US">
                    <a:noFill/>
                  </a:rPr>
                  <a:t> </a:t>
                </a:r>
              </a:p>
            </p:txBody>
          </p:sp>
        </mc:Fallback>
      </mc:AlternateContent>
      <p:sp>
        <p:nvSpPr>
          <p:cNvPr id="4" name="矩形 3"/>
          <p:cNvSpPr/>
          <p:nvPr/>
        </p:nvSpPr>
        <p:spPr>
          <a:xfrm>
            <a:off x="7523225" y="4489677"/>
            <a:ext cx="146706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模型复杂度</a:t>
            </a:r>
          </a:p>
        </p:txBody>
      </p:sp>
      <p:sp>
        <p:nvSpPr>
          <p:cNvPr id="13" name="矩形 12"/>
          <p:cNvSpPr/>
          <p:nvPr/>
        </p:nvSpPr>
        <p:spPr>
          <a:xfrm>
            <a:off x="5757229" y="4489677"/>
            <a:ext cx="1210588" cy="40011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经验风险</a:t>
            </a:r>
          </a:p>
        </p:txBody>
      </p:sp>
      <p:sp>
        <p:nvSpPr>
          <p:cNvPr id="8" name="矩形 7"/>
          <p:cNvSpPr/>
          <p:nvPr/>
        </p:nvSpPr>
        <p:spPr>
          <a:xfrm>
            <a:off x="5047019" y="5589527"/>
            <a:ext cx="3758540"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srgbClr val="4F80BD"/>
                </a:solidFill>
                <a:effectLst/>
                <a:uLnTx/>
                <a:uFillTx/>
                <a:latin typeface="Arial" panose="020B0604020202020204" pitchFamily="34" charset="0"/>
                <a:ea typeface="黑体" panose="02010609060101010101" pitchFamily="49" charset="-122"/>
                <a:cs typeface="Times New Roman" panose="02020603050405020304" pitchFamily="18" charset="0"/>
              </a:rPr>
              <a:t>在最小化经验风险与降低模型复杂度之间寻找平衡</a:t>
            </a:r>
          </a:p>
        </p:txBody>
      </p:sp>
      <p:sp>
        <p:nvSpPr>
          <p:cNvPr id="9" name="文本框 8">
            <a:extLst>
              <a:ext uri="{FF2B5EF4-FFF2-40B4-BE49-F238E27FC236}">
                <a16:creationId xmlns:a16="http://schemas.microsoft.com/office/drawing/2014/main" id="{31BD3A76-1D18-BBFA-533A-DD3269B6E26C}"/>
              </a:ext>
            </a:extLst>
          </p:cNvPr>
          <p:cNvSpPr txBox="1"/>
          <p:nvPr/>
        </p:nvSpPr>
        <p:spPr>
          <a:xfrm>
            <a:off x="38750" y="899689"/>
            <a:ext cx="560096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结构风险最小化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(structural risk minimization)</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4" name="标题 14">
            <a:extLst>
              <a:ext uri="{FF2B5EF4-FFF2-40B4-BE49-F238E27FC236}">
                <a16:creationId xmlns:a16="http://schemas.microsoft.com/office/drawing/2014/main" id="{617218BB-BAB7-B5F2-4769-193D1B743591}"/>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p:spTree>
    <p:extLst>
      <p:ext uri="{BB962C8B-B14F-4D97-AF65-F5344CB8AC3E}">
        <p14:creationId xmlns:p14="http://schemas.microsoft.com/office/powerpoint/2010/main" val="68210035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3A225-E1C9-32E8-0DD3-114C4BC11F27}"/>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5" name="TextBox 14">
                <a:extLst>
                  <a:ext uri="{FF2B5EF4-FFF2-40B4-BE49-F238E27FC236}">
                    <a16:creationId xmlns:a16="http://schemas.microsoft.com/office/drawing/2014/main" id="{BC56DB49-90A4-64A9-2C4D-6959C907E359}"/>
                  </a:ext>
                </a:extLst>
              </p:cNvPr>
              <p:cNvSpPr txBox="1"/>
              <p:nvPr/>
            </p:nvSpPr>
            <p:spPr>
              <a:xfrm>
                <a:off x="3228827" y="2728181"/>
                <a:ext cx="2931955" cy="407997"/>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func>
                      <m:func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funcPr>
                      <m:fName>
                        <m:limLow>
                          <m:limLow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rPr>
                              <m:t>max</m:t>
                            </m:r>
                          </m:e>
                          <m:lim/>
                        </m:limLow>
                      </m:fName>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𝐼</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𝑍</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rPr>
                          <m:t>𝛽</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𝐼</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𝑍</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e>
                    </m:func>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p>
            </p:txBody>
          </p:sp>
        </mc:Choice>
        <mc:Fallback xmlns="">
          <p:sp>
            <p:nvSpPr>
              <p:cNvPr id="15" name="TextBox 14">
                <a:extLst>
                  <a:ext uri="{FF2B5EF4-FFF2-40B4-BE49-F238E27FC236}">
                    <a16:creationId xmlns:a16="http://schemas.microsoft.com/office/drawing/2014/main" id="{BC56DB49-90A4-64A9-2C4D-6959C907E359}"/>
                  </a:ext>
                </a:extLst>
              </p:cNvPr>
              <p:cNvSpPr txBox="1">
                <a:spLocks noRot="1" noChangeAspect="1" noMove="1" noResize="1" noEditPoints="1" noAdjustHandles="1" noChangeArrowheads="1" noChangeShapeType="1" noTextEdit="1"/>
              </p:cNvSpPr>
              <p:nvPr/>
            </p:nvSpPr>
            <p:spPr>
              <a:xfrm>
                <a:off x="3228827" y="2728181"/>
                <a:ext cx="2931955" cy="407997"/>
              </a:xfrm>
              <a:prstGeom prst="rect">
                <a:avLst/>
              </a:prstGeom>
              <a:blipFill>
                <a:blip r:embed="rId2"/>
                <a:stretch>
                  <a:fillRect l="-2287" t="-1515" b="-4545"/>
                </a:stretch>
              </a:blipFill>
            </p:spPr>
            <p:txBody>
              <a:bodyPr/>
              <a:lstStyle/>
              <a:p>
                <a:r>
                  <a:rPr lang="zh-CN" altLang="en-US">
                    <a:noFill/>
                  </a:rPr>
                  <a:t> </a:t>
                </a:r>
              </a:p>
            </p:txBody>
          </p:sp>
        </mc:Fallback>
      </mc:AlternateContent>
      <p:sp>
        <p:nvSpPr>
          <p:cNvPr id="9" name="文本框 8">
            <a:extLst>
              <a:ext uri="{FF2B5EF4-FFF2-40B4-BE49-F238E27FC236}">
                <a16:creationId xmlns:a16="http://schemas.microsoft.com/office/drawing/2014/main" id="{AC58A9CF-8825-DD89-67DB-9042BFBA10C1}"/>
              </a:ext>
            </a:extLst>
          </p:cNvPr>
          <p:cNvSpPr txBox="1"/>
          <p:nvPr/>
        </p:nvSpPr>
        <p:spPr>
          <a:xfrm>
            <a:off x="38750" y="899689"/>
            <a:ext cx="5600964" cy="307777"/>
          </a:xfrm>
          <a:prstGeom prst="rect">
            <a:avLst/>
          </a:prstGeom>
          <a:noFill/>
        </p:spPr>
        <p:txBody>
          <a:bodyPr wrap="square" lIns="0" tIns="0" rIns="0" bIns="0">
            <a:spAutoFit/>
          </a:bodyPr>
          <a:lstStyle/>
          <a:p>
            <a:pPr marL="342900" indent="-342900">
              <a:buFont typeface="Wingdings" panose="05000000000000000000" pitchFamily="2" charset="2"/>
              <a:buChar char="l"/>
            </a:pP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信息瓶颈理论 </a:t>
            </a:r>
            <a:r>
              <a:rPr lang="en-US" altLang="zh-CN"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(information bottleneck theory)</a:t>
            </a:r>
            <a:r>
              <a:rPr lang="zh-CN" altLang="en-US" sz="2000" dirty="0">
                <a:solidFill>
                  <a:srgbClr val="347F5F"/>
                </a:solidFill>
                <a:latin typeface="Arial" panose="020B0604020202020204" pitchFamily="34" charset="0"/>
                <a:ea typeface="黑体" panose="02010609060101010101" pitchFamily="49" charset="-122"/>
                <a:cs typeface="Times New Roman" panose="02020603050405020304" pitchFamily="18" charset="0"/>
              </a:rPr>
              <a:t> </a:t>
            </a:r>
            <a:endParaRPr lang="zh-CN" altLang="en-US" sz="1600" dirty="0">
              <a:solidFill>
                <a:srgbClr val="347F5F"/>
              </a:solidFill>
              <a:latin typeface="Arial" panose="020B0604020202020204" pitchFamily="34" charset="0"/>
              <a:ea typeface="黑体" panose="02010609060101010101" pitchFamily="49" charset="-122"/>
            </a:endParaRPr>
          </a:p>
        </p:txBody>
      </p:sp>
      <p:sp>
        <p:nvSpPr>
          <p:cNvPr id="14" name="标题 14">
            <a:extLst>
              <a:ext uri="{FF2B5EF4-FFF2-40B4-BE49-F238E27FC236}">
                <a16:creationId xmlns:a16="http://schemas.microsoft.com/office/drawing/2014/main" id="{45E104BD-647C-2FCB-338B-719201942B41}"/>
              </a:ext>
            </a:extLst>
          </p:cNvPr>
          <p:cNvSpPr>
            <a:spLocks noGrp="1"/>
          </p:cNvSpPr>
          <p:nvPr>
            <p:ph type="title"/>
          </p:nvPr>
        </p:nvSpPr>
        <p:spPr>
          <a:xfrm>
            <a:off x="0" y="4399"/>
            <a:ext cx="9144000" cy="817721"/>
          </a:xfrm>
        </p:spPr>
        <p:txBody>
          <a:bodyPr/>
          <a:lstStyle/>
          <a:p>
            <a:r>
              <a:rPr lang="zh-CN" altLang="en-US" dirty="0">
                <a:latin typeface="Arial" panose="020B0604020202020204" pitchFamily="34" charset="0"/>
                <a:ea typeface="黑体" panose="02010609060101010101" pitchFamily="49" charset="-122"/>
              </a:rPr>
              <a:t>机器学习的基本概念</a:t>
            </a:r>
          </a:p>
        </p:txBody>
      </p:sp>
      <mc:AlternateContent xmlns:mc="http://schemas.openxmlformats.org/markup-compatibility/2006" xmlns:a14="http://schemas.microsoft.com/office/drawing/2010/main">
        <mc:Choice Requires="a14">
          <p:sp>
            <p:nvSpPr>
              <p:cNvPr id="10" name="文本框 9">
                <a:extLst>
                  <a:ext uri="{FF2B5EF4-FFF2-40B4-BE49-F238E27FC236}">
                    <a16:creationId xmlns:a16="http://schemas.microsoft.com/office/drawing/2014/main" id="{CB8956B0-1123-BA27-DB1F-29721030F89A}"/>
                  </a:ext>
                </a:extLst>
              </p:cNvPr>
              <p:cNvSpPr txBox="1"/>
              <p:nvPr/>
            </p:nvSpPr>
            <p:spPr>
              <a:xfrm>
                <a:off x="307729" y="3142668"/>
                <a:ext cx="8774150" cy="923330"/>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where </a:t>
                </a:r>
                <a14:m>
                  <m:oMath xmlns:m="http://schemas.openxmlformats.org/officeDocument/2006/math">
                    <m:r>
                      <a:rPr lang="en-US" altLang="zh-CN" sz="2000" b="0" i="1" smtClean="0">
                        <a:latin typeface="Cambria Math" panose="02040503050406030204" pitchFamily="18" charset="0"/>
                      </a:rPr>
                      <m:t>𝑋</m:t>
                    </m:r>
                  </m:oMath>
                </a14:m>
                <a:r>
                  <a:rPr lang="en-US" altLang="zh-CN" sz="2000" dirty="0">
                    <a:latin typeface="Arial" panose="020B0604020202020204" pitchFamily="34" charset="0"/>
                    <a:ea typeface="黑体" panose="02010609060101010101" pitchFamily="49" charset="-122"/>
                  </a:rPr>
                  <a:t> represents the original input to be compressed, </a:t>
                </a:r>
                <a14:m>
                  <m:oMath xmlns:m="http://schemas.openxmlformats.org/officeDocument/2006/math">
                    <m:r>
                      <a:rPr lang="en-US" altLang="zh-CN" sz="2000" b="0" i="1" smtClean="0">
                        <a:latin typeface="Cambria Math" panose="02040503050406030204" pitchFamily="18" charset="0"/>
                      </a:rPr>
                      <m:t>𝑌</m:t>
                    </m:r>
                  </m:oMath>
                </a14:m>
                <a:r>
                  <a:rPr lang="en-US" altLang="zh-CN" sz="2000" dirty="0">
                    <a:latin typeface="Arial" panose="020B0604020202020204" pitchFamily="34" charset="0"/>
                    <a:ea typeface="黑体" panose="02010609060101010101" pitchFamily="49" charset="-122"/>
                  </a:rPr>
                  <a:t> represents the objective task, </a:t>
                </a:r>
                <a14:m>
                  <m:oMath xmlns:m="http://schemas.openxmlformats.org/officeDocument/2006/math">
                    <m:r>
                      <a:rPr lang="en-US" altLang="zh-CN" sz="2000" b="0" i="1" smtClean="0">
                        <a:latin typeface="Cambria Math" panose="02040503050406030204" pitchFamily="18" charset="0"/>
                      </a:rPr>
                      <m:t>𝑍</m:t>
                    </m:r>
                  </m:oMath>
                </a14:m>
                <a:r>
                  <a:rPr lang="en-US" altLang="zh-CN" sz="2000" dirty="0">
                    <a:latin typeface="Arial" panose="020B0604020202020204" pitchFamily="34" charset="0"/>
                    <a:ea typeface="黑体" panose="02010609060101010101" pitchFamily="49" charset="-122"/>
                  </a:rPr>
                  <a:t> is the compressed representations for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𝑋</m:t>
                    </m:r>
                  </m:oMath>
                </a14:m>
                <a:r>
                  <a:rPr lang="en-US" altLang="zh-CN" sz="2000" dirty="0">
                    <a:latin typeface="Arial" panose="020B0604020202020204" pitchFamily="34" charset="0"/>
                    <a:ea typeface="黑体" panose="02010609060101010101" pitchFamily="49" charset="-122"/>
                  </a:rPr>
                  <a:t>, and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𝐼</m:t>
                    </m:r>
                    <m:r>
                      <a:rPr lang="en-US" altLang="zh-CN" sz="2000" b="0" i="1" smtClean="0">
                        <a:latin typeface="Cambria Math" panose="02040503050406030204" pitchFamily="18" charset="0"/>
                        <a:ea typeface="黑体" panose="02010609060101010101" pitchFamily="49" charset="-122"/>
                      </a:rPr>
                      <m:t>(;)</m:t>
                    </m:r>
                  </m:oMath>
                </a14:m>
                <a:r>
                  <a:rPr lang="en-US" altLang="zh-CN" sz="2000" dirty="0">
                    <a:latin typeface="Arial" panose="020B0604020202020204" pitchFamily="34" charset="0"/>
                    <a:ea typeface="黑体" panose="02010609060101010101" pitchFamily="49" charset="-122"/>
                  </a:rPr>
                  <a:t> stands for mutual information.</a:t>
                </a:r>
                <a:endParaRPr lang="zh-CN" altLang="en-US" sz="2000" dirty="0">
                  <a:latin typeface="Arial" panose="020B0604020202020204" pitchFamily="34" charset="0"/>
                  <a:ea typeface="黑体" panose="02010609060101010101" pitchFamily="49" charset="-122"/>
                </a:endParaRPr>
              </a:p>
            </p:txBody>
          </p:sp>
        </mc:Choice>
        <mc:Fallback xmlns="">
          <p:sp>
            <p:nvSpPr>
              <p:cNvPr id="10" name="文本框 9">
                <a:extLst>
                  <a:ext uri="{FF2B5EF4-FFF2-40B4-BE49-F238E27FC236}">
                    <a16:creationId xmlns:a16="http://schemas.microsoft.com/office/drawing/2014/main" id="{CB8956B0-1123-BA27-DB1F-29721030F89A}"/>
                  </a:ext>
                </a:extLst>
              </p:cNvPr>
              <p:cNvSpPr txBox="1">
                <a:spLocks noRot="1" noChangeAspect="1" noMove="1" noResize="1" noEditPoints="1" noAdjustHandles="1" noChangeArrowheads="1" noChangeShapeType="1" noTextEdit="1"/>
              </p:cNvSpPr>
              <p:nvPr/>
            </p:nvSpPr>
            <p:spPr>
              <a:xfrm>
                <a:off x="307729" y="3142668"/>
                <a:ext cx="8774150" cy="923330"/>
              </a:xfrm>
              <a:prstGeom prst="rect">
                <a:avLst/>
              </a:prstGeom>
              <a:blipFill>
                <a:blip r:embed="rId3"/>
                <a:stretch>
                  <a:fillRect l="-1736" t="-7947" r="-903" b="-16556"/>
                </a:stretch>
              </a:blipFill>
            </p:spPr>
            <p:txBody>
              <a:bodyPr/>
              <a:lstStyle/>
              <a:p>
                <a:r>
                  <a:rPr lang="zh-CN" altLang="en-US">
                    <a:noFill/>
                  </a:rPr>
                  <a:t> </a:t>
                </a:r>
              </a:p>
            </p:txBody>
          </p:sp>
        </mc:Fallback>
      </mc:AlternateContent>
      <p:sp>
        <p:nvSpPr>
          <p:cNvPr id="17" name="文本框 16">
            <a:extLst>
              <a:ext uri="{FF2B5EF4-FFF2-40B4-BE49-F238E27FC236}">
                <a16:creationId xmlns:a16="http://schemas.microsoft.com/office/drawing/2014/main" id="{85564F9D-9449-6E67-F3BB-0BF8AC95B4F6}"/>
              </a:ext>
            </a:extLst>
          </p:cNvPr>
          <p:cNvSpPr txBox="1"/>
          <p:nvPr/>
        </p:nvSpPr>
        <p:spPr>
          <a:xfrm>
            <a:off x="307729" y="4185184"/>
            <a:ext cx="8640327" cy="1107996"/>
          </a:xfrm>
          <a:prstGeom prst="rect">
            <a:avLst/>
          </a:prstGeom>
          <a:noFill/>
        </p:spPr>
        <p:txBody>
          <a:bodyPr wrap="square" lIns="0" tIns="0" rIns="0" bIns="0">
            <a:spAutoFit/>
          </a:bodyPr>
          <a:lstStyle/>
          <a:p>
            <a:r>
              <a:rPr lang="en-US" altLang="zh-CN" dirty="0">
                <a:latin typeface="Arial" panose="020B0604020202020204" pitchFamily="34" charset="0"/>
                <a:ea typeface="黑体" panose="02010609060101010101" pitchFamily="49" charset="-122"/>
              </a:rPr>
              <a:t>2023</a:t>
            </a:r>
            <a:r>
              <a:rPr lang="zh-CN" altLang="en-US" dirty="0">
                <a:latin typeface="Arial" panose="020B0604020202020204" pitchFamily="34" charset="0"/>
                <a:ea typeface="黑体" panose="02010609060101010101" pitchFamily="49" charset="-122"/>
              </a:rPr>
              <a:t>年</a:t>
            </a:r>
            <a:r>
              <a:rPr lang="en-US" altLang="zh-CN" dirty="0">
                <a:latin typeface="Arial" panose="020B0604020202020204" pitchFamily="34" charset="0"/>
                <a:ea typeface="黑体" panose="02010609060101010101" pitchFamily="49" charset="-122"/>
              </a:rPr>
              <a:t>2</a:t>
            </a:r>
            <a:r>
              <a:rPr lang="zh-CN" altLang="en-US" dirty="0">
                <a:latin typeface="Arial" panose="020B0604020202020204" pitchFamily="34" charset="0"/>
                <a:ea typeface="黑体" panose="02010609060101010101" pitchFamily="49" charset="-122"/>
              </a:rPr>
              <a:t>月</a:t>
            </a:r>
            <a:r>
              <a:rPr lang="en-US" altLang="zh-CN" dirty="0">
                <a:latin typeface="Arial" panose="020B0604020202020204" pitchFamily="34" charset="0"/>
                <a:ea typeface="黑体" panose="02010609060101010101" pitchFamily="49" charset="-122"/>
              </a:rPr>
              <a:t>OpenAI</a:t>
            </a:r>
            <a:r>
              <a:rPr lang="zh-CN" altLang="en-US" dirty="0">
                <a:latin typeface="Arial" panose="020B0604020202020204" pitchFamily="34" charset="0"/>
                <a:ea typeface="黑体" panose="02010609060101010101" pitchFamily="49" charset="-122"/>
              </a:rPr>
              <a:t>研究员 </a:t>
            </a:r>
            <a:r>
              <a:rPr lang="en-US" altLang="zh-CN" dirty="0">
                <a:latin typeface="Arial" panose="020B0604020202020204" pitchFamily="34" charset="0"/>
                <a:ea typeface="黑体" panose="02010609060101010101" pitchFamily="49" charset="-122"/>
              </a:rPr>
              <a:t>Jack Rae</a:t>
            </a:r>
            <a:r>
              <a:rPr lang="zh-CN" altLang="en-US" dirty="0">
                <a:latin typeface="Arial" panose="020B0604020202020204" pitchFamily="34" charset="0"/>
                <a:ea typeface="黑体" panose="02010609060101010101" pitchFamily="49" charset="-122"/>
              </a:rPr>
              <a:t>在斯坦福的报告 </a:t>
            </a:r>
            <a:r>
              <a:rPr lang="en-US" altLang="zh-CN" dirty="0">
                <a:latin typeface="Arial" panose="020B0604020202020204" pitchFamily="34" charset="0"/>
                <a:ea typeface="黑体" panose="02010609060101010101" pitchFamily="49" charset="-122"/>
              </a:rPr>
              <a:t>“Compression For AGI”[3]</a:t>
            </a:r>
            <a:r>
              <a:rPr lang="zh-CN" altLang="en-US" dirty="0">
                <a:latin typeface="Arial" panose="020B0604020202020204" pitchFamily="34" charset="0"/>
                <a:ea typeface="黑体" panose="02010609060101010101" pitchFamily="49" charset="-122"/>
              </a:rPr>
              <a:t>，</a:t>
            </a:r>
            <a:r>
              <a:rPr lang="en-US" altLang="zh-CN" dirty="0">
                <a:latin typeface="Arial" panose="020B0604020202020204" pitchFamily="34" charset="0"/>
                <a:ea typeface="黑体" panose="02010609060101010101" pitchFamily="49" charset="-122"/>
              </a:rPr>
              <a:t>2023</a:t>
            </a:r>
            <a:r>
              <a:rPr lang="zh-CN" altLang="en-US" dirty="0">
                <a:latin typeface="Arial" panose="020B0604020202020204" pitchFamily="34" charset="0"/>
                <a:ea typeface="黑体" panose="02010609060101010101" pitchFamily="49" charset="-122"/>
              </a:rPr>
              <a:t>年</a:t>
            </a:r>
            <a:r>
              <a:rPr lang="en-US" altLang="zh-CN" dirty="0">
                <a:latin typeface="Arial" panose="020B0604020202020204" pitchFamily="34" charset="0"/>
                <a:ea typeface="黑体" panose="02010609060101010101" pitchFamily="49" charset="-122"/>
              </a:rPr>
              <a:t>8</a:t>
            </a:r>
            <a:r>
              <a:rPr lang="zh-CN" altLang="en-US" dirty="0">
                <a:latin typeface="Arial" panose="020B0604020202020204" pitchFamily="34" charset="0"/>
                <a:ea typeface="黑体" panose="02010609060101010101" pitchFamily="49" charset="-122"/>
              </a:rPr>
              <a:t>月</a:t>
            </a:r>
            <a:r>
              <a:rPr lang="en-US" altLang="zh-CN" dirty="0">
                <a:latin typeface="Arial" panose="020B0604020202020204" pitchFamily="34" charset="0"/>
                <a:ea typeface="黑体" panose="02010609060101010101" pitchFamily="49" charset="-122"/>
              </a:rPr>
              <a:t>Ilya</a:t>
            </a:r>
            <a:r>
              <a:rPr lang="zh-CN" altLang="en-US" dirty="0">
                <a:latin typeface="Arial" panose="020B0604020202020204" pitchFamily="34" charset="0"/>
                <a:ea typeface="黑体" panose="02010609060101010101" pitchFamily="49" charset="-122"/>
              </a:rPr>
              <a:t>在伯克利的报告</a:t>
            </a:r>
            <a:r>
              <a:rPr lang="en-US" altLang="zh-CN" dirty="0">
                <a:latin typeface="Arial" panose="020B0604020202020204" pitchFamily="34" charset="0"/>
                <a:ea typeface="黑体" panose="02010609060101010101" pitchFamily="49" charset="-122"/>
              </a:rPr>
              <a:t> “An observation on Generalization”[4]</a:t>
            </a:r>
            <a:r>
              <a:rPr lang="zh-CN" altLang="en-US" dirty="0">
                <a:latin typeface="Arial" panose="020B0604020202020204" pitchFamily="34" charset="0"/>
                <a:ea typeface="黑体" panose="02010609060101010101" pitchFamily="49" charset="-122"/>
              </a:rPr>
              <a:t>。报告的主要意思可以概括为“预测即压缩，压缩即泛化，泛化即智能”</a:t>
            </a:r>
            <a:r>
              <a:rPr lang="en-US" altLang="zh-CN" dirty="0">
                <a:latin typeface="Arial" panose="020B0604020202020204" pitchFamily="34" charset="0"/>
                <a:ea typeface="黑体" panose="02010609060101010101" pitchFamily="49" charset="-122"/>
              </a:rPr>
              <a:t>[5]</a:t>
            </a:r>
            <a:r>
              <a:rPr lang="zh-CN" altLang="en-US" dirty="0">
                <a:latin typeface="Arial" panose="020B0604020202020204" pitchFamily="34" charset="0"/>
                <a:ea typeface="黑体" panose="02010609060101010101" pitchFamily="49" charset="-122"/>
              </a:rPr>
              <a:t>。其中</a:t>
            </a:r>
            <a:r>
              <a:rPr lang="en-US" altLang="zh-CN" dirty="0">
                <a:latin typeface="Arial" panose="020B0604020202020204" pitchFamily="34" charset="0"/>
                <a:ea typeface="黑体" panose="02010609060101010101" pitchFamily="49" charset="-122"/>
              </a:rPr>
              <a:t>Jack Rae</a:t>
            </a:r>
            <a:r>
              <a:rPr lang="zh-CN" altLang="en-US" dirty="0">
                <a:latin typeface="Arial" panose="020B0604020202020204" pitchFamily="34" charset="0"/>
                <a:ea typeface="黑体" panose="02010609060101010101" pitchFamily="49" charset="-122"/>
              </a:rPr>
              <a:t>的报告表达了 “预测即压缩”，</a:t>
            </a:r>
            <a:r>
              <a:rPr lang="en-US" altLang="zh-CN" dirty="0">
                <a:latin typeface="Arial" panose="020B0604020202020204" pitchFamily="34" charset="0"/>
                <a:ea typeface="黑体" panose="02010609060101010101" pitchFamily="49" charset="-122"/>
              </a:rPr>
              <a:t>Ilya</a:t>
            </a:r>
            <a:r>
              <a:rPr lang="zh-CN" altLang="en-US" dirty="0">
                <a:latin typeface="Arial" panose="020B0604020202020204" pitchFamily="34" charset="0"/>
                <a:ea typeface="黑体" panose="02010609060101010101" pitchFamily="49" charset="-122"/>
              </a:rPr>
              <a:t>的报告则表达了“压缩即泛化，泛化即智能”。</a:t>
            </a:r>
          </a:p>
        </p:txBody>
      </p:sp>
      <p:sp>
        <p:nvSpPr>
          <p:cNvPr id="19" name="文本框 18">
            <a:extLst>
              <a:ext uri="{FF2B5EF4-FFF2-40B4-BE49-F238E27FC236}">
                <a16:creationId xmlns:a16="http://schemas.microsoft.com/office/drawing/2014/main" id="{45A224F5-341C-3BD1-5202-3619AED920D6}"/>
              </a:ext>
            </a:extLst>
          </p:cNvPr>
          <p:cNvSpPr txBox="1"/>
          <p:nvPr/>
        </p:nvSpPr>
        <p:spPr>
          <a:xfrm>
            <a:off x="307730" y="5435669"/>
            <a:ext cx="8313756" cy="615553"/>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“Everything should be made as simple as possible, but not simpler.”</a:t>
            </a:r>
          </a:p>
          <a:p>
            <a:pPr algn="r"/>
            <a:r>
              <a:rPr lang="en-US" altLang="zh-CN" sz="2000" dirty="0">
                <a:latin typeface="Arial" panose="020B0604020202020204" pitchFamily="34" charset="0"/>
                <a:ea typeface="黑体" panose="02010609060101010101" pitchFamily="49" charset="-122"/>
              </a:rPr>
              <a:t>——Albert Einstein</a:t>
            </a:r>
            <a:endParaRPr lang="zh-CN" altLang="en-US" sz="2000" dirty="0">
              <a:latin typeface="Arial" panose="020B0604020202020204" pitchFamily="34" charset="0"/>
              <a:ea typeface="黑体" panose="02010609060101010101" pitchFamily="49" charset="-122"/>
            </a:endParaRPr>
          </a:p>
        </p:txBody>
      </p:sp>
      <p:sp>
        <p:nvSpPr>
          <p:cNvPr id="21" name="文本框 20">
            <a:extLst>
              <a:ext uri="{FF2B5EF4-FFF2-40B4-BE49-F238E27FC236}">
                <a16:creationId xmlns:a16="http://schemas.microsoft.com/office/drawing/2014/main" id="{5D1354C9-F2F5-C888-6354-B3C1FC823E74}"/>
              </a:ext>
            </a:extLst>
          </p:cNvPr>
          <p:cNvSpPr txBox="1"/>
          <p:nvPr/>
        </p:nvSpPr>
        <p:spPr>
          <a:xfrm>
            <a:off x="307730" y="6052153"/>
            <a:ext cx="7767376" cy="553998"/>
          </a:xfrm>
          <a:prstGeom prst="rect">
            <a:avLst/>
          </a:prstGeom>
          <a:noFill/>
        </p:spPr>
        <p:txBody>
          <a:bodyPr wrap="square" lIns="0" tIns="0" rIns="0" bIns="0">
            <a:spAutoFit/>
          </a:bodyPr>
          <a:lstStyle/>
          <a:p>
            <a:pPr algn="just"/>
            <a:r>
              <a:rPr lang="en-US" altLang="zh-CN" b="0" i="1" dirty="0">
                <a:effectLst/>
                <a:latin typeface="PingFang SC"/>
                <a:ea typeface="宋体" panose="02010600030101010101" pitchFamily="2" charset="-122"/>
              </a:rPr>
              <a:t>[3] Jack Rae’s talk: Compression For AGI, 2023.02.28</a:t>
            </a:r>
            <a:endParaRPr lang="en-US" altLang="zh-CN" b="0" i="0" dirty="0">
              <a:effectLst/>
              <a:latin typeface="PingFang SC"/>
              <a:ea typeface="宋体" panose="02010600030101010101" pitchFamily="2" charset="-122"/>
            </a:endParaRPr>
          </a:p>
          <a:p>
            <a:pPr algn="just"/>
            <a:r>
              <a:rPr lang="en-US" altLang="zh-CN" b="0" i="1" dirty="0">
                <a:effectLst/>
                <a:latin typeface="PingFang SC"/>
                <a:ea typeface="宋体" panose="02010600030101010101" pitchFamily="2" charset="-122"/>
              </a:rPr>
              <a:t>[4] Ilya’s talk: An observation on Generalization, 2023.08.15</a:t>
            </a:r>
            <a:endParaRPr lang="en-US" altLang="zh-CN" b="0" i="0" dirty="0">
              <a:effectLst/>
              <a:latin typeface="PingFang SC"/>
              <a:ea typeface="宋体" panose="02010600030101010101" pitchFamily="2" charset="-122"/>
            </a:endParaRPr>
          </a:p>
        </p:txBody>
      </p:sp>
      <p:sp>
        <p:nvSpPr>
          <p:cNvPr id="23" name="文本框 22">
            <a:extLst>
              <a:ext uri="{FF2B5EF4-FFF2-40B4-BE49-F238E27FC236}">
                <a16:creationId xmlns:a16="http://schemas.microsoft.com/office/drawing/2014/main" id="{FA7AD981-514C-39F3-9330-E29E201850EC}"/>
              </a:ext>
            </a:extLst>
          </p:cNvPr>
          <p:cNvSpPr txBox="1"/>
          <p:nvPr/>
        </p:nvSpPr>
        <p:spPr>
          <a:xfrm>
            <a:off x="307730" y="1235710"/>
            <a:ext cx="8774150" cy="1538883"/>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The core of information bottleneck (IB) is to find a compressed representation of input data that captures the information most relevant to predicting a target variable. In a neural network, for example, this representation should ideally retain only what’s necessary for the output prediction, discarding irrelevant data.</a:t>
            </a:r>
            <a:endParaRPr lang="zh-CN" altLang="en-US" sz="2000" dirty="0">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17855389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103476" y="2311263"/>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矩形 8">
            <a:extLst>
              <a:ext uri="{FF2B5EF4-FFF2-40B4-BE49-F238E27FC236}">
                <a16:creationId xmlns:a16="http://schemas.microsoft.com/office/drawing/2014/main" id="{FD1B5169-79C7-45B7-65F9-0164F7528B7B}"/>
              </a:ext>
            </a:extLst>
          </p:cNvPr>
          <p:cNvSpPr/>
          <p:nvPr/>
        </p:nvSpPr>
        <p:spPr>
          <a:xfrm>
            <a:off x="0" y="837359"/>
            <a:ext cx="9030410" cy="1015663"/>
          </a:xfrm>
          <a:prstGeom prst="rect">
            <a:avLst/>
          </a:prstGeom>
        </p:spPr>
        <p:txBody>
          <a:bodyPr wrap="square">
            <a:spAutoFit/>
          </a:bodyPr>
          <a:lstStyle/>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主成分分析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(principle components analysis)</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 是一种特征降维的方法。</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endParaRPr>
          </a:p>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人类在认知过程中会主动“化繁为简”</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endParaRPr>
          </a:p>
          <a:p>
            <a:pPr marR="0" lvl="0" algn="l" defTabSz="914400" rtl="0" eaLnBrk="1" fontAlgn="auto" latinLnBrk="0" hangingPunct="1">
              <a:spcBef>
                <a:spcPts val="0"/>
              </a:spcBef>
              <a:spcAft>
                <a:spcPts val="0"/>
              </a:spcAft>
              <a:buClrTx/>
              <a:buSzTx/>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奥卡姆剃刀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(Occam’s Razor</a:t>
            </a:r>
            <a:r>
              <a:rPr lang="en-US" altLang="zh-CN" sz="2000" dirty="0">
                <a:solidFill>
                  <a:prstClr val="black"/>
                </a:solidFill>
                <a:latin typeface="Arial" panose="020B0604020202020204" pitchFamily="34" charset="0"/>
                <a:ea typeface="黑体"/>
                <a:cs typeface="Times New Roman" panose="02020603050405020304" pitchFamily="18" charset="0"/>
              </a:rPr>
              <a:t>) </a:t>
            </a:r>
            <a:r>
              <a:rPr lang="zh-CN" altLang="en-US" sz="2000" dirty="0">
                <a:solidFill>
                  <a:prstClr val="black"/>
                </a:solidFill>
                <a:latin typeface="Arial" panose="020B0604020202020204" pitchFamily="34" charset="0"/>
                <a:ea typeface="黑体"/>
                <a:cs typeface="Times New Roman" panose="02020603050405020304" pitchFamily="18" charset="0"/>
              </a:rPr>
              <a:t>原则</a:t>
            </a:r>
            <a:r>
              <a:rPr lang="en-US" altLang="zh-CN" sz="2000" dirty="0">
                <a:solidFill>
                  <a:prstClr val="black"/>
                </a:solidFill>
                <a:latin typeface="Arial" panose="020B0604020202020204" pitchFamily="34" charset="0"/>
                <a:ea typeface="黑体"/>
                <a:cs typeface="Times New Roman" panose="02020603050405020304" pitchFamily="18" charset="0"/>
              </a:rPr>
              <a:t>:</a:t>
            </a:r>
            <a:r>
              <a:rPr lang="zh-CN" altLang="en-US" sz="2000" dirty="0">
                <a:solidFill>
                  <a:prstClr val="black"/>
                </a:solidFill>
                <a:latin typeface="Arial" panose="020B0604020202020204" pitchFamily="34" charset="0"/>
                <a:ea typeface="黑体"/>
                <a:cs typeface="Times New Roman" panose="02020603050405020304" pitchFamily="18" charset="0"/>
              </a:rPr>
              <a:t> </a:t>
            </a:r>
            <a:r>
              <a:rPr lang="en-US" altLang="zh-CN" sz="2000" dirty="0">
                <a:solidFill>
                  <a:prstClr val="black"/>
                </a:solidFill>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如无必要，勿增实体</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，即</a:t>
            </a:r>
            <a:r>
              <a:rPr lang="en-US" altLang="zh-CN" sz="2000" dirty="0">
                <a:solidFill>
                  <a:prstClr val="black"/>
                </a:solidFill>
                <a:latin typeface="Arial" panose="020B0604020202020204" pitchFamily="34" charset="0"/>
                <a:ea typeface="黑体"/>
                <a:cs typeface="Times New Roman" panose="02020603050405020304" pitchFamily="18" charset="0"/>
              </a:rPr>
              <a:t>“</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简单有效原理</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a:cs typeface="Times New Roman" panose="02020603050405020304" pitchFamily="18" charset="0"/>
              </a:rPr>
              <a:t>”</a:t>
            </a:r>
          </a:p>
        </p:txBody>
      </p:sp>
      <p:sp>
        <p:nvSpPr>
          <p:cNvPr id="10" name="圆角矩形 7">
            <a:extLst>
              <a:ext uri="{FF2B5EF4-FFF2-40B4-BE49-F238E27FC236}">
                <a16:creationId xmlns:a16="http://schemas.microsoft.com/office/drawing/2014/main" id="{8601FFB7-3896-9D2A-6597-1198D3F62FAE}"/>
              </a:ext>
            </a:extLst>
          </p:cNvPr>
          <p:cNvSpPr/>
          <p:nvPr/>
        </p:nvSpPr>
        <p:spPr bwMode="auto">
          <a:xfrm>
            <a:off x="401158" y="2723820"/>
            <a:ext cx="2133600" cy="88623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数据样本的方差</a:t>
            </a:r>
            <a:endPar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altLang="zh-CN" sz="2000" b="1"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variance</a:t>
            </a:r>
          </a:p>
        </p:txBody>
      </p:sp>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AED9859D-2C0C-8710-D4B5-4B6BC477B4D1}"/>
                  </a:ext>
                </a:extLst>
              </p:cNvPr>
              <p:cNvSpPr/>
              <p:nvPr/>
            </p:nvSpPr>
            <p:spPr>
              <a:xfrm>
                <a:off x="2676745" y="2772801"/>
                <a:ext cx="5269158" cy="307777"/>
              </a:xfrm>
              <a:prstGeom prst="rect">
                <a:avLst/>
              </a:prstGeom>
            </p:spPr>
            <p:txBody>
              <a:bodyPr wrap="square" lIns="0" tIns="0" rIns="0" bIns="0">
                <a:spAutoFit/>
              </a:bodyPr>
              <a:lstStyle/>
              <a:p>
                <a:pPr lvl="0" fontAlgn="base">
                  <a:spcBef>
                    <a:spcPct val="0"/>
                  </a:spcBef>
                  <a:spcAft>
                    <a:spcPct val="0"/>
                  </a:spcAf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假设有</a:t>
                </a:r>
                <a14:m>
                  <m:oMath xmlns:m="http://schemas.openxmlformats.org/officeDocument/2006/math">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𝑛</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个数据，记为 </a:t>
                </a:r>
                <a14:m>
                  <m:oMath xmlns:m="http://schemas.openxmlformats.org/officeDocument/2006/math">
                    <m:r>
                      <a:rPr lang="en-US" altLang="zh-CN" sz="2000" b="1" i="1" kern="0" smtClean="0">
                        <a:solidFill>
                          <a:schemeClr val="tx1"/>
                        </a:solidFill>
                        <a:latin typeface="Cambria Math" panose="02040503050406030204" pitchFamily="18" charset="0"/>
                        <a:ea typeface="微软雅黑" pitchFamily="34" charset="-122"/>
                        <a:cs typeface="Times New Roman" pitchFamily="18" charset="0"/>
                      </a:rPr>
                      <m:t>𝑿</m:t>
                    </m:r>
                    <m:r>
                      <a:rPr lang="en-US" altLang="zh-CN" sz="2000" b="0" i="1" kern="0" smtClean="0">
                        <a:solidFill>
                          <a:schemeClr val="tx1"/>
                        </a:solidFill>
                        <a:latin typeface="Cambria Math" panose="02040503050406030204" pitchFamily="18" charset="0"/>
                        <a:ea typeface="微软雅黑" pitchFamily="34" charset="-122"/>
                        <a:cs typeface="Times New Roman" pitchFamily="18" charset="0"/>
                      </a:rPr>
                      <m:t>=</m:t>
                    </m:r>
                    <m:d>
                      <m:dPr>
                        <m:begChr m:val="{"/>
                        <m:endChr m:val="}"/>
                        <m:ctrlPr>
                          <a:rPr lang="en-US" altLang="zh-CN" sz="2000" i="1" kern="0">
                            <a:solidFill>
                              <a:schemeClr val="tx1"/>
                            </a:solidFill>
                            <a:latin typeface="Cambria Math" panose="02040503050406030204" pitchFamily="18" charset="0"/>
                            <a:ea typeface="微软雅黑" pitchFamily="34" charset="-122"/>
                            <a:cs typeface="Times New Roman" pitchFamily="18" charset="0"/>
                          </a:rPr>
                        </m:ctrlPr>
                      </m:dPr>
                      <m:e>
                        <m:sSub>
                          <m:sSubPr>
                            <m:ctrlPr>
                              <a:rPr lang="en-US" altLang="zh-CN" sz="2000" i="1" kern="0">
                                <a:solidFill>
                                  <a:schemeClr val="tx1"/>
                                </a:solidFill>
                                <a:latin typeface="Cambria Math" panose="02040503050406030204" pitchFamily="18" charset="0"/>
                                <a:ea typeface="微软雅黑" pitchFamily="34" charset="-122"/>
                                <a:cs typeface="Times New Roman" pitchFamily="18" charset="0"/>
                              </a:rPr>
                            </m:ctrlPr>
                          </m:sSubPr>
                          <m:e>
                            <m:r>
                              <a:rPr lang="en-US" altLang="zh-CN" sz="2000" b="1" i="1" kern="0">
                                <a:solidFill>
                                  <a:schemeClr val="tx1"/>
                                </a:solidFill>
                                <a:latin typeface="Cambria Math" panose="02040503050406030204" pitchFamily="18" charset="0"/>
                                <a:ea typeface="微软雅黑" pitchFamily="34" charset="-122"/>
                                <a:cs typeface="Times New Roman" pitchFamily="18" charset="0"/>
                              </a:rPr>
                              <m:t>𝒙</m:t>
                            </m:r>
                          </m:e>
                          <m:sub>
                            <m:r>
                              <a:rPr lang="en-US" altLang="zh-CN" sz="2000" i="1" kern="0">
                                <a:solidFill>
                                  <a:schemeClr val="tx1"/>
                                </a:solidFill>
                                <a:latin typeface="Cambria Math" panose="02040503050406030204" pitchFamily="18" charset="0"/>
                                <a:ea typeface="微软雅黑" pitchFamily="34" charset="-122"/>
                                <a:cs typeface="Times New Roman" pitchFamily="18" charset="0"/>
                              </a:rPr>
                              <m:t>𝑖</m:t>
                            </m:r>
                          </m:sub>
                        </m:sSub>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oMath>
                </a14:m>
                <a:endParaRPr kumimoji="0" lang="en-US" altLang="zh-CN" sz="2000" i="0" u="none" strike="noStrike" kern="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mc:Choice>
        <mc:Fallback xmlns="">
          <p:sp>
            <p:nvSpPr>
              <p:cNvPr id="11" name="矩形 10">
                <a:extLst>
                  <a:ext uri="{FF2B5EF4-FFF2-40B4-BE49-F238E27FC236}">
                    <a16:creationId xmlns:a16="http://schemas.microsoft.com/office/drawing/2014/main" id="{AED9859D-2C0C-8710-D4B5-4B6BC477B4D1}"/>
                  </a:ext>
                </a:extLst>
              </p:cNvPr>
              <p:cNvSpPr>
                <a:spLocks noRot="1" noChangeAspect="1" noMove="1" noResize="1" noEditPoints="1" noAdjustHandles="1" noChangeArrowheads="1" noChangeShapeType="1" noTextEdit="1"/>
              </p:cNvSpPr>
              <p:nvPr/>
            </p:nvSpPr>
            <p:spPr>
              <a:xfrm>
                <a:off x="2676745" y="2772801"/>
                <a:ext cx="5269158" cy="307777"/>
              </a:xfrm>
              <a:prstGeom prst="rect">
                <a:avLst/>
              </a:prstGeom>
              <a:blipFill>
                <a:blip r:embed="rId2"/>
                <a:stretch>
                  <a:fillRect l="-2894" t="-30000" b="-46000"/>
                </a:stretch>
              </a:blipFill>
            </p:spPr>
            <p:txBody>
              <a:bodyPr/>
              <a:lstStyle/>
              <a:p>
                <a:r>
                  <a:rPr lang="zh-CN" altLang="en-US">
                    <a:noFill/>
                  </a:rPr>
                  <a:t> </a:t>
                </a:r>
              </a:p>
            </p:txBody>
          </p:sp>
        </mc:Fallback>
      </mc:AlternateContent>
      <p:sp>
        <p:nvSpPr>
          <p:cNvPr id="12" name="矩形 11">
            <a:extLst>
              <a:ext uri="{FF2B5EF4-FFF2-40B4-BE49-F238E27FC236}">
                <a16:creationId xmlns:a16="http://schemas.microsoft.com/office/drawing/2014/main" id="{B5AC4A2D-EAEC-4DBD-FD0E-83E677246278}"/>
              </a:ext>
            </a:extLst>
          </p:cNvPr>
          <p:cNvSpPr/>
          <p:nvPr/>
        </p:nvSpPr>
        <p:spPr>
          <a:xfrm>
            <a:off x="510365" y="4467615"/>
            <a:ext cx="7247046" cy="615553"/>
          </a:xfrm>
          <a:prstGeom prst="rect">
            <a:avLst/>
          </a:prstGeom>
        </p:spPr>
        <p:txBody>
          <a:bodyPr wrap="square" lIns="0" tIns="0" rIns="0" bIns="0">
            <a:spAutoFit/>
          </a:bodyPr>
          <a:lstStyle/>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方差等于各个数据与样本均值之差的平方和之平均数</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方差描述了样本数据的波动程度</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3D714E3C-638C-43AF-BD7C-6B5117B3532E}"/>
                  </a:ext>
                </a:extLst>
              </p:cNvPr>
              <p:cNvSpPr/>
              <p:nvPr/>
            </p:nvSpPr>
            <p:spPr>
              <a:xfrm>
                <a:off x="3182649" y="3094286"/>
                <a:ext cx="3199146" cy="840295"/>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Var</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1"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𝑿</m:t>
                          </m:r>
                        </m:e>
                      </m:d>
                      <m:r>
                        <a:rPr kumimoji="0" lang="en-US" altLang="zh-CN" sz="2000" b="1"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1</m:t>
                          </m:r>
                        </m:num>
                        <m:den>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−1</m:t>
                          </m:r>
                        </m:den>
                      </m:f>
                      <m:nary>
                        <m:naryPr>
                          <m:chr m:val="∑"/>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naryPr>
                        <m:sub>
                          <m:r>
                            <m:rPr>
                              <m:brk m:alnAt="23"/>
                            </m:rP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=1</m:t>
                          </m:r>
                        </m:sub>
                        <m:sup>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𝑛</m:t>
                          </m:r>
                        </m:sup>
                        <m:e>
                          <m:sSup>
                            <m:sSup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p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schemeClr val="tx1"/>
                                      </a:solidFill>
                                      <a:effectLst/>
                                      <a:uLnTx/>
                                      <a:uFillTx/>
                                      <a:latin typeface="Cambria Math" panose="02040503050406030204" pitchFamily="18" charset="0"/>
                                    </a:rPr>
                                    <m:t>𝒙</m:t>
                                  </m:r>
                                </m:e>
                                <m:sub>
                                  <m:r>
                                    <a:rPr kumimoji="0" lang="en-US" altLang="zh-CN" sz="2000" b="0" i="1" u="none" strike="noStrike" kern="1200" cap="none" spc="0" normalizeH="0" noProof="0" smtClean="0">
                                      <a:ln>
                                        <a:noFill/>
                                      </a:ln>
                                      <a:solidFill>
                                        <a:schemeClr val="tx1"/>
                                      </a:solidFill>
                                      <a:effectLst/>
                                      <a:uLnTx/>
                                      <a:uFillTx/>
                                      <a:latin typeface="Cambria Math" panose="02040503050406030204" pitchFamily="18" charset="0"/>
                                    </a:rPr>
                                    <m:t>𝑖</m:t>
                                  </m:r>
                                </m:sub>
                              </m:sSub>
                              <m:r>
                                <a:rPr kumimoji="0" lang="en-US" altLang="zh-CN" sz="2000" b="0" i="1" u="none" strike="noStrike" kern="1200" cap="none" spc="0" normalizeH="0" noProof="0" smtClean="0">
                                  <a:ln>
                                    <a:noFill/>
                                  </a:ln>
                                  <a:solidFill>
                                    <a:schemeClr val="tx1"/>
                                  </a:solidFill>
                                  <a:effectLst/>
                                  <a:uLnTx/>
                                  <a:uFillTx/>
                                  <a:latin typeface="Cambria Math"/>
                                </a:rPr>
                                <m:t>−</m:t>
                              </m:r>
                              <m:r>
                                <a:rPr kumimoji="0" lang="en-US" altLang="zh-CN" sz="2000" b="1" i="1" u="none" strike="noStrike" kern="1200" cap="none" spc="0" normalizeH="0" noProof="0" smtClean="0">
                                  <a:ln>
                                    <a:noFill/>
                                  </a:ln>
                                  <a:solidFill>
                                    <a:schemeClr val="tx1"/>
                                  </a:solidFill>
                                  <a:effectLst/>
                                  <a:uLnTx/>
                                  <a:uFillTx/>
                                  <a:latin typeface="Cambria Math"/>
                                </a:rPr>
                                <m:t>𝒖</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e>
                            <m:sup>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2</m:t>
                              </m:r>
                            </m:sup>
                          </m:sSup>
                        </m:e>
                      </m:nary>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3" name="矩形 12">
                <a:extLst>
                  <a:ext uri="{FF2B5EF4-FFF2-40B4-BE49-F238E27FC236}">
                    <a16:creationId xmlns:a16="http://schemas.microsoft.com/office/drawing/2014/main" id="{3D714E3C-638C-43AF-BD7C-6B5117B3532E}"/>
                  </a:ext>
                </a:extLst>
              </p:cNvPr>
              <p:cNvSpPr>
                <a:spLocks noRot="1" noChangeAspect="1" noMove="1" noResize="1" noEditPoints="1" noAdjustHandles="1" noChangeArrowheads="1" noChangeShapeType="1" noTextEdit="1"/>
              </p:cNvSpPr>
              <p:nvPr/>
            </p:nvSpPr>
            <p:spPr>
              <a:xfrm>
                <a:off x="3182649" y="3094286"/>
                <a:ext cx="3199146" cy="840295"/>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4" name="矩形 13">
                <a:extLst>
                  <a:ext uri="{FF2B5EF4-FFF2-40B4-BE49-F238E27FC236}">
                    <a16:creationId xmlns:a16="http://schemas.microsoft.com/office/drawing/2014/main" id="{E1952FF6-23DD-54F8-97D9-230CEB35AB3E}"/>
                  </a:ext>
                </a:extLst>
              </p:cNvPr>
              <p:cNvSpPr/>
              <p:nvPr/>
            </p:nvSpPr>
            <p:spPr>
              <a:xfrm>
                <a:off x="3182649" y="3995686"/>
                <a:ext cx="3769063" cy="444609"/>
              </a:xfrm>
              <a:prstGeom prst="rect">
                <a:avLst/>
              </a:prstGeom>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其中 </a:t>
                </a:r>
                <a14:m>
                  <m:oMath xmlns:m="http://schemas.openxmlformats.org/officeDocument/2006/math">
                    <m:r>
                      <a:rPr kumimoji="0" lang="en-US" altLang="zh-CN" sz="2000" b="1" i="1" u="none" strike="noStrike" kern="1200" cap="none" spc="0" normalizeH="0" noProof="0">
                        <a:ln>
                          <a:noFill/>
                        </a:ln>
                        <a:solidFill>
                          <a:schemeClr val="tx1"/>
                        </a:solidFill>
                        <a:effectLst/>
                        <a:uLnTx/>
                        <a:uFillTx/>
                        <a:latin typeface="Cambria Math"/>
                      </a:rPr>
                      <m:t>𝒖</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是样本均值</a:t>
                </a:r>
                <a:r>
                  <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a:t>
                </a:r>
                <a:r>
                  <a:rPr kumimoji="0" lang="en-US" altLang="zh-CN" sz="2000" i="0" u="none" strike="noStrike" kern="1200" cap="none" spc="0" normalizeH="0" noProof="0" dirty="0">
                    <a:ln>
                      <a:noFill/>
                    </a:ln>
                    <a:solidFill>
                      <a:schemeClr val="tx1"/>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1" i="1" u="none" strike="noStrike" kern="1200" cap="none" spc="0" normalizeH="0" noProof="0">
                        <a:ln>
                          <a:noFill/>
                        </a:ln>
                        <a:solidFill>
                          <a:schemeClr val="tx1"/>
                        </a:solidFill>
                        <a:effectLst/>
                        <a:uLnTx/>
                        <a:uFillTx/>
                        <a:latin typeface="Cambria Math"/>
                      </a:rPr>
                      <m:t>𝒖</m:t>
                    </m:r>
                    <m:r>
                      <a:rPr kumimoji="0" lang="en-US" altLang="zh-CN" sz="2000" b="0" i="1" u="none" strike="noStrike" kern="1200" cap="none" spc="0" normalizeH="0" noProof="0" smtClean="0">
                        <a:ln>
                          <a:noFill/>
                        </a:ln>
                        <a:solidFill>
                          <a:schemeClr val="tx1"/>
                        </a:solidFill>
                        <a:effectLst/>
                        <a:uLnTx/>
                        <a:uFillTx/>
                        <a:latin typeface="Cambria Math"/>
                      </a:rPr>
                      <m:t>=</m:t>
                    </m:r>
                    <m:f>
                      <m:f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noProof="0" smtClean="0">
                            <a:ln>
                              <a:noFill/>
                            </a:ln>
                            <a:solidFill>
                              <a:schemeClr val="tx1"/>
                            </a:solidFill>
                            <a:effectLst/>
                            <a:uLnTx/>
                            <a:uFillTx/>
                            <a:latin typeface="Cambria Math"/>
                          </a:rPr>
                          <m:t>1</m:t>
                        </m:r>
                      </m:num>
                      <m:den>
                        <m:r>
                          <a:rPr kumimoji="0" lang="en-US" altLang="zh-CN" sz="2000" b="0" i="1" u="none" strike="noStrike" kern="1200" cap="none" spc="0" normalizeH="0" noProof="0" smtClean="0">
                            <a:ln>
                              <a:noFill/>
                            </a:ln>
                            <a:solidFill>
                              <a:schemeClr val="tx1"/>
                            </a:solidFill>
                            <a:effectLst/>
                            <a:uLnTx/>
                            <a:uFillTx/>
                            <a:latin typeface="Cambria Math"/>
                          </a:rPr>
                          <m:t>𝑛</m:t>
                        </m:r>
                      </m:den>
                    </m:f>
                    <m:nary>
                      <m:naryPr>
                        <m:chr m:val="∑"/>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noProof="0" smtClean="0">
                            <a:ln>
                              <a:noFill/>
                            </a:ln>
                            <a:solidFill>
                              <a:schemeClr val="tx1"/>
                            </a:solidFill>
                            <a:effectLst/>
                            <a:uLnTx/>
                            <a:uFillTx/>
                            <a:latin typeface="Cambria Math"/>
                          </a:rPr>
                          <m:t>𝑖</m:t>
                        </m:r>
                        <m:r>
                          <a:rPr kumimoji="0" lang="en-US" altLang="zh-CN" sz="2000" b="0" i="1" u="none" strike="noStrike" kern="1200" cap="none" spc="0" normalizeH="0" noProof="0" smtClean="0">
                            <a:ln>
                              <a:noFill/>
                            </a:ln>
                            <a:solidFill>
                              <a:schemeClr val="tx1"/>
                            </a:solidFill>
                            <a:effectLst/>
                            <a:uLnTx/>
                            <a:uFillTx/>
                            <a:latin typeface="Cambria Math"/>
                          </a:rPr>
                          <m:t>=1</m:t>
                        </m:r>
                      </m:sub>
                      <m:sup>
                        <m:r>
                          <a:rPr kumimoji="0" lang="en-US" altLang="zh-CN" sz="2000" b="0" i="1" u="none" strike="noStrike" kern="1200" cap="none" spc="0" normalizeH="0" noProof="0" smtClean="0">
                            <a:ln>
                              <a:noFill/>
                            </a:ln>
                            <a:solidFill>
                              <a:schemeClr val="tx1"/>
                            </a:solidFill>
                            <a:effectLst/>
                            <a:uLnTx/>
                            <a:uFillTx/>
                            <a:latin typeface="Cambria Math"/>
                          </a:rPr>
                          <m:t>𝑛</m:t>
                        </m:r>
                      </m:sup>
                      <m:e>
                        <m:sSub>
                          <m:sSubPr>
                            <m:ctrlPr>
                              <a:rPr kumimoji="0" lang="en-US" altLang="zh-CN" sz="2000" i="1" u="none" strike="noStrike" kern="1200" cap="none" spc="0" normalizeH="0" noProof="0" smtClean="0">
                                <a:ln>
                                  <a:noFill/>
                                </a:ln>
                                <a:solidFill>
                                  <a:schemeClr val="tx1"/>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schemeClr val="tx1"/>
                                </a:solidFill>
                                <a:effectLst/>
                                <a:uLnTx/>
                                <a:uFillTx/>
                                <a:latin typeface="Cambria Math"/>
                              </a:rPr>
                              <m:t>𝒙</m:t>
                            </m:r>
                          </m:e>
                          <m:sub>
                            <m:r>
                              <a:rPr kumimoji="0" lang="en-US" altLang="zh-CN" sz="2000" b="0" i="1" u="none" strike="noStrike" kern="1200" cap="none" spc="0" normalizeH="0" noProof="0" smtClean="0">
                                <a:ln>
                                  <a:noFill/>
                                </a:ln>
                                <a:solidFill>
                                  <a:schemeClr val="tx1"/>
                                </a:solidFill>
                                <a:effectLst/>
                                <a:uLnTx/>
                                <a:uFillTx/>
                                <a:latin typeface="Cambria Math"/>
                              </a:rPr>
                              <m:t>𝑖</m:t>
                            </m:r>
                          </m:sub>
                        </m:sSub>
                      </m:e>
                    </m:nary>
                  </m:oMath>
                </a14:m>
                <a:endPar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endParaRPr>
              </a:p>
            </p:txBody>
          </p:sp>
        </mc:Choice>
        <mc:Fallback xmlns="">
          <p:sp>
            <p:nvSpPr>
              <p:cNvPr id="14" name="矩形 13">
                <a:extLst>
                  <a:ext uri="{FF2B5EF4-FFF2-40B4-BE49-F238E27FC236}">
                    <a16:creationId xmlns:a16="http://schemas.microsoft.com/office/drawing/2014/main" id="{E1952FF6-23DD-54F8-97D9-230CEB35AB3E}"/>
                  </a:ext>
                </a:extLst>
              </p:cNvPr>
              <p:cNvSpPr>
                <a:spLocks noRot="1" noChangeAspect="1" noMove="1" noResize="1" noEditPoints="1" noAdjustHandles="1" noChangeArrowheads="1" noChangeShapeType="1" noTextEdit="1"/>
              </p:cNvSpPr>
              <p:nvPr/>
            </p:nvSpPr>
            <p:spPr>
              <a:xfrm>
                <a:off x="3182649" y="3995686"/>
                <a:ext cx="3769063" cy="444609"/>
              </a:xfrm>
              <a:prstGeom prst="rect">
                <a:avLst/>
              </a:prstGeom>
              <a:blipFill>
                <a:blip r:embed="rId4"/>
                <a:stretch>
                  <a:fillRect l="-4045" t="-105479" r="-6472" b="-1602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67147113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3" name="圆角矩形 7">
            <a:extLst>
              <a:ext uri="{FF2B5EF4-FFF2-40B4-BE49-F238E27FC236}">
                <a16:creationId xmlns:a16="http://schemas.microsoft.com/office/drawing/2014/main" id="{12C8E77D-F21A-9483-5209-481EC3324636}"/>
              </a:ext>
            </a:extLst>
          </p:cNvPr>
          <p:cNvSpPr/>
          <p:nvPr/>
        </p:nvSpPr>
        <p:spPr bwMode="auto">
          <a:xfrm>
            <a:off x="171450" y="1287848"/>
            <a:ext cx="2305051" cy="886235"/>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tIns="0" bIns="0" anchor="ctr"/>
          <a:lstStyle/>
          <a:p>
            <a:pPr marL="0" marR="0" lvl="0" indent="0" algn="ctr" defTabSz="914400" rtl="0" eaLnBrk="1" fontAlgn="base" latinLnBrk="0" hangingPunct="1">
              <a:lnSpc>
                <a:spcPct val="100000"/>
              </a:lnSpc>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数据样本的协方差</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ctr" defTabSz="914400" rtl="0" eaLnBrk="1" fontAlgn="base" latinLnBrk="0" hangingPunct="1">
              <a:lnSpc>
                <a:spcPct val="100000"/>
              </a:lnSpc>
              <a:buClrTx/>
              <a:buSzTx/>
              <a:buFontTx/>
              <a:buNone/>
              <a:tabLst/>
              <a:defRPr/>
            </a:pPr>
            <a:r>
              <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covariance</a:t>
            </a:r>
          </a:p>
        </p:txBody>
      </p:sp>
      <mc:AlternateContent xmlns:mc="http://schemas.openxmlformats.org/markup-compatibility/2006">
        <mc:Choice xmlns:a14="http://schemas.microsoft.com/office/drawing/2010/main" Requires="a14">
          <p:sp>
            <p:nvSpPr>
              <p:cNvPr id="5" name="矩形 4">
                <a:extLst>
                  <a:ext uri="{FF2B5EF4-FFF2-40B4-BE49-F238E27FC236}">
                    <a16:creationId xmlns:a16="http://schemas.microsoft.com/office/drawing/2014/main" id="{105DC00B-9AFD-166B-984A-65972975B5A2}"/>
                  </a:ext>
                </a:extLst>
              </p:cNvPr>
              <p:cNvSpPr/>
              <p:nvPr/>
            </p:nvSpPr>
            <p:spPr>
              <a:xfrm>
                <a:off x="2509513" y="1330855"/>
                <a:ext cx="6610349" cy="307777"/>
              </a:xfrm>
              <a:prstGeom prst="rect">
                <a:avLst/>
              </a:prstGeom>
            </p:spPr>
            <p:txBody>
              <a:bodyPr wrap="square" lIns="0" tIns="0" rIns="0" bIns="0">
                <a:spAutoFit/>
              </a:bodyPr>
              <a:lstStyle/>
              <a:p>
                <a:pPr lvl="0" fontAlgn="base">
                  <a:defRPr/>
                </a:pPr>
                <a:r>
                  <a:rPr kumimoji="0" lang="zh-CN" altLang="en-US" sz="200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假设</a:t>
                </a:r>
                <a:r>
                  <a:rPr lang="zh-CN" altLang="en-US" sz="2000" kern="0" dirty="0">
                    <a:solidFill>
                      <a:schemeClr val="tx1"/>
                    </a:solidFill>
                    <a:latin typeface="Arial" panose="020B0604020202020204" pitchFamily="34" charset="0"/>
                    <a:ea typeface="黑体" panose="02010609060101010101" pitchFamily="49" charset="-122"/>
                    <a:cs typeface="Times New Roman" pitchFamily="18" charset="0"/>
                  </a:rPr>
                  <a:t>两</a:t>
                </a:r>
                <a:r>
                  <a:rPr kumimoji="0" lang="zh-CN" altLang="en-US" sz="200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个随机变量的 </a:t>
                </a:r>
                <a14:m>
                  <m:oMath xmlns:m="http://schemas.openxmlformats.org/officeDocument/2006/math">
                    <m:r>
                      <a:rPr lang="en-US" altLang="zh-CN" sz="2000" b="0" i="1" kern="0">
                        <a:solidFill>
                          <a:schemeClr val="tx1"/>
                        </a:solidFill>
                        <a:latin typeface="Cambria Math" panose="02040503050406030204" pitchFamily="18" charset="0"/>
                        <a:ea typeface="微软雅黑" pitchFamily="34" charset="-122"/>
                        <a:cs typeface="Times New Roman" pitchFamily="18" charset="0"/>
                      </a:rPr>
                      <m:t>𝑛</m:t>
                    </m:r>
                  </m:oMath>
                </a14:m>
                <a:r>
                  <a:rPr kumimoji="0" lang="zh-CN" altLang="en-US" sz="200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组值 </a:t>
                </a:r>
                <a14:m>
                  <m:oMath xmlns:m="http://schemas.openxmlformats.org/officeDocument/2006/math">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𝑋</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𝑌</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sSub>
                          <m:sSubPr>
                            <m:ctrlPr>
                              <a:rPr lang="en-US" altLang="zh-CN" sz="2000" i="1" kern="0">
                                <a:latin typeface="Cambria Math" panose="02040503050406030204" pitchFamily="18" charset="0"/>
                                <a:ea typeface="微软雅黑" pitchFamily="34" charset="-122"/>
                                <a:cs typeface="Times New Roman" pitchFamily="18" charset="0"/>
                              </a:rPr>
                            </m:ctrlPr>
                          </m:sSubPr>
                          <m:e>
                            <m:r>
                              <a:rPr lang="en-US" altLang="zh-CN" sz="2000" b="0" i="1" kern="0" smtClean="0">
                                <a:latin typeface="Cambria Math" panose="02040503050406030204" pitchFamily="18" charset="0"/>
                                <a:ea typeface="微软雅黑" pitchFamily="34" charset="-122"/>
                                <a:cs typeface="Times New Roman" pitchFamily="18" charset="0"/>
                              </a:rPr>
                              <m:t>𝑥</m:t>
                            </m:r>
                          </m:e>
                          <m:sub>
                            <m:r>
                              <a:rPr lang="en-US" altLang="zh-CN" sz="2000" i="1" kern="0">
                                <a:latin typeface="Cambria Math"/>
                                <a:ea typeface="微软雅黑" pitchFamily="34" charset="-122"/>
                                <a:cs typeface="Times New Roman" pitchFamily="18" charset="0"/>
                              </a:rPr>
                              <m:t>𝑖</m:t>
                            </m:r>
                          </m:sub>
                        </m:sSub>
                        <m:r>
                          <a:rPr lang="en-US" altLang="zh-CN" sz="2000" b="0" i="1" kern="0" smtClean="0">
                            <a:latin typeface="Cambria Math" panose="02040503050406030204" pitchFamily="18" charset="0"/>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  (</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=1,…,</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oMath>
                </a14:m>
                <a:endParaRPr kumimoji="0" lang="en-US" altLang="zh-CN" sz="2000"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mc:Choice>
        <mc:Fallback>
          <p:sp>
            <p:nvSpPr>
              <p:cNvPr id="5" name="矩形 4">
                <a:extLst>
                  <a:ext uri="{FF2B5EF4-FFF2-40B4-BE49-F238E27FC236}">
                    <a16:creationId xmlns:a16="http://schemas.microsoft.com/office/drawing/2014/main" id="{105DC00B-9AFD-166B-984A-65972975B5A2}"/>
                  </a:ext>
                </a:extLst>
              </p:cNvPr>
              <p:cNvSpPr>
                <a:spLocks noRot="1" noChangeAspect="1" noMove="1" noResize="1" noEditPoints="1" noAdjustHandles="1" noChangeArrowheads="1" noChangeShapeType="1" noTextEdit="1"/>
              </p:cNvSpPr>
              <p:nvPr/>
            </p:nvSpPr>
            <p:spPr>
              <a:xfrm>
                <a:off x="2509513" y="1330855"/>
                <a:ext cx="6610349" cy="307777"/>
              </a:xfrm>
              <a:prstGeom prst="rect">
                <a:avLst/>
              </a:prstGeom>
              <a:blipFill>
                <a:blip r:embed="rId2"/>
                <a:stretch>
                  <a:fillRect l="-2399" t="-29412" r="-369" b="-45098"/>
                </a:stretch>
              </a:blipFill>
            </p:spPr>
            <p:txBody>
              <a:bodyPr/>
              <a:lstStyle/>
              <a:p>
                <a:r>
                  <a:rPr lang="zh-CN" altLang="en-US">
                    <a:noFill/>
                  </a:rPr>
                  <a:t> </a:t>
                </a:r>
              </a:p>
            </p:txBody>
          </p:sp>
        </mc:Fallback>
      </mc:AlternateContent>
      <p:sp>
        <p:nvSpPr>
          <p:cNvPr id="6" name="矩形 5">
            <a:extLst>
              <a:ext uri="{FF2B5EF4-FFF2-40B4-BE49-F238E27FC236}">
                <a16:creationId xmlns:a16="http://schemas.microsoft.com/office/drawing/2014/main" id="{D59D028D-7EBF-1B2C-1D2E-915FD8B1485A}"/>
              </a:ext>
            </a:extLst>
          </p:cNvPr>
          <p:cNvSpPr/>
          <p:nvPr/>
        </p:nvSpPr>
        <p:spPr>
          <a:xfrm>
            <a:off x="234989" y="3489153"/>
            <a:ext cx="4172305" cy="400110"/>
          </a:xfrm>
          <a:prstGeom prst="rect">
            <a:avLst/>
          </a:prstGeom>
        </p:spPr>
        <p:txBody>
          <a:bodyPr wrap="square">
            <a:spAutoFit/>
          </a:bodyPr>
          <a:lstStyle/>
          <a:p>
            <a:pPr marL="342900" marR="0" lvl="0" indent="-342900" algn="l" defTabSz="914400" rtl="0" eaLnBrk="1" fontAlgn="auto" latinLnBrk="0" hangingPunct="1">
              <a:lnSpc>
                <a:spcPct val="100000"/>
              </a:lnSpc>
              <a:buClrTx/>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衡量两个变量之间的相关度</a:t>
            </a:r>
            <a:endParaRPr kumimoji="0" lang="en-US" altLang="zh-CN"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7" name="矩形 6">
                <a:extLst>
                  <a:ext uri="{FF2B5EF4-FFF2-40B4-BE49-F238E27FC236}">
                    <a16:creationId xmlns:a16="http://schemas.microsoft.com/office/drawing/2014/main" id="{71FD03E4-D310-29FF-BCC5-0A8AE8270AF1}"/>
                  </a:ext>
                </a:extLst>
              </p:cNvPr>
              <p:cNvSpPr/>
              <p:nvPr/>
            </p:nvSpPr>
            <p:spPr>
              <a:xfrm>
                <a:off x="3124313" y="1627404"/>
                <a:ext cx="5235087" cy="931217"/>
              </a:xfrm>
              <a:prstGeom prst="rect">
                <a:avLst/>
              </a:prstGeom>
            </p:spPr>
            <p:txBody>
              <a:bodyPr wrap="none">
                <a:spAutoFit/>
              </a:bodyPr>
              <a:lstStyle/>
              <a:p>
                <a:pPr marL="0" marR="0" lvl="0" indent="0" algn="l" defTabSz="914400" rtl="0" eaLnBrk="1" fontAlgn="auto" latinLnBrk="0" hangingPunct="1">
                  <a:lnSpc>
                    <a:spcPct val="100000"/>
                  </a:lnSpc>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cov</m:t>
                      </m:r>
                      <m:d>
                        <m:d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𝑌</m:t>
                          </m:r>
                        </m:e>
                      </m:d>
                      <m:r>
                        <a:rPr kumimoji="0" lang="en-US" altLang="zh-CN" sz="2000" b="0" i="0"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1</m:t>
                          </m:r>
                        </m:num>
                        <m:den>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𝑛</m:t>
                          </m:r>
                          <m:r>
                            <a:rPr kumimoji="0" lang="en-US" altLang="zh-CN" sz="2000" b="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t>−1</m:t>
                          </m:r>
                        </m:den>
                      </m:f>
                      <m:nary>
                        <m:naryPr>
                          <m:chr m:val="∑"/>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naryPr>
                        <m:sub>
                          <m:r>
                            <m:rPr>
                              <m:brk m:alnAt="23"/>
                            </m:rP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=1</m:t>
                          </m:r>
                        </m:sub>
                        <m:sup>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𝑛</m:t>
                          </m:r>
                        </m:sup>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𝑥</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𝐸</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sSub>
                            <m:sSub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𝑦</m:t>
                              </m:r>
                            </m:e>
                            <m: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𝑖</m:t>
                              </m:r>
                            </m:sub>
                          </m:sSub>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𝐸</m:t>
                          </m:r>
                          <m:d>
                            <m:dPr>
                              <m:ctrlPr>
                                <a:rPr kumimoji="0" lang="en-US" altLang="zh-CN" sz="2000" i="1" u="none" strike="noStrike" kern="0" cap="none" spc="0" normalizeH="0" baseline="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baseline="0" noProof="0" smtClean="0">
                              <a:ln>
                                <a:noFill/>
                              </a:ln>
                              <a:solidFill>
                                <a:schemeClr val="tx1"/>
                              </a:solidFill>
                              <a:effectLst/>
                              <a:uLnTx/>
                              <a:uFillTx/>
                              <a:latin typeface="Cambria Math"/>
                              <a:ea typeface="微软雅黑" pitchFamily="34" charset="-122"/>
                              <a:cs typeface="Times New Roman" pitchFamily="18" charset="0"/>
                            </a:rPr>
                            <m:t>)</m:t>
                          </m:r>
                        </m:e>
                      </m:nary>
                    </m:oMath>
                  </m:oMathPara>
                </a14:m>
                <a:endPar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p:sp>
            <p:nvSpPr>
              <p:cNvPr id="7" name="矩形 6">
                <a:extLst>
                  <a:ext uri="{FF2B5EF4-FFF2-40B4-BE49-F238E27FC236}">
                    <a16:creationId xmlns:a16="http://schemas.microsoft.com/office/drawing/2014/main" id="{71FD03E4-D310-29FF-BCC5-0A8AE8270AF1}"/>
                  </a:ext>
                </a:extLst>
              </p:cNvPr>
              <p:cNvSpPr>
                <a:spLocks noRot="1" noChangeAspect="1" noMove="1" noResize="1" noEditPoints="1" noAdjustHandles="1" noChangeArrowheads="1" noChangeShapeType="1" noTextEdit="1"/>
              </p:cNvSpPr>
              <p:nvPr/>
            </p:nvSpPr>
            <p:spPr>
              <a:xfrm>
                <a:off x="3124313" y="1627404"/>
                <a:ext cx="5235087" cy="931217"/>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8" name="矩形 7">
                <a:extLst>
                  <a:ext uri="{FF2B5EF4-FFF2-40B4-BE49-F238E27FC236}">
                    <a16:creationId xmlns:a16="http://schemas.microsoft.com/office/drawing/2014/main" id="{2DFA7E52-A30A-F885-A74E-49D61951D09D}"/>
                  </a:ext>
                </a:extLst>
              </p:cNvPr>
              <p:cNvSpPr/>
              <p:nvPr/>
            </p:nvSpPr>
            <p:spPr>
              <a:xfrm>
                <a:off x="1045266" y="2552987"/>
                <a:ext cx="6610349" cy="836319"/>
              </a:xfrm>
              <a:prstGeom prst="rect">
                <a:avLst/>
              </a:prstGeom>
            </p:spPr>
            <p:txBody>
              <a:bodyPr wrap="square">
                <a:spAutoFit/>
              </a:bodyPr>
              <a:lstStyle/>
              <a:p>
                <a:pPr marL="0" marR="0" lvl="0" indent="0" algn="l" defTabSz="914400" rtl="0" eaLnBrk="1" fontAlgn="auto" latinLnBrk="0" hangingPunct="1">
                  <a:lnSpc>
                    <a:spcPct val="100000"/>
                  </a:lnSpc>
                  <a:buClrTx/>
                  <a:buSzTx/>
                  <a:buFontTx/>
                  <a:buNone/>
                  <a:tabLst/>
                  <a:defRPr/>
                </a:pPr>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其中</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𝐸</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和</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𝐸</m:t>
                    </m:r>
                    <m:d>
                      <m:dPr>
                        <m:ctrlPr>
                          <a:rPr kumimoji="0" lang="en-US" altLang="zh-CN" sz="2000" i="1" u="none" strike="noStrike" kern="0" cap="none" spc="0" normalizeH="0" baseline="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𝑌</m:t>
                        </m:r>
                      </m:e>
                    </m:d>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分别是</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和</a:t>
                </a:r>
                <a14:m>
                  <m:oMath xmlns:m="http://schemas.openxmlformats.org/officeDocument/2006/math">
                    <m:r>
                      <a:rPr kumimoji="0" lang="en-US" altLang="zh-CN" sz="2000" b="0" i="1" u="none" strike="noStrike" kern="0" cap="none" spc="0" normalizeH="0" baseline="0" noProof="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的样本均值</a:t>
                </a:r>
                <a:r>
                  <a:rPr kumimoji="0" lang="en-US" altLang="zh-CN"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a:t>
                </a:r>
                <a:r>
                  <a:rPr kumimoji="0" lang="zh-CN" altLang="en-US"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分别定义如下</a:t>
                </a:r>
                <a:endParaRPr kumimoji="0" lang="en-US" altLang="zh-CN"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endParaRPr>
              </a:p>
              <a:p>
                <a:pPr marL="0" marR="0" lvl="0" indent="0" algn="ctr" defTabSz="914400" rtl="0" eaLnBrk="1" fontAlgn="auto" latinLnBrk="0" hangingPunct="1">
                  <a:lnSpc>
                    <a:spcPct val="100000"/>
                  </a:lnSpc>
                  <a:buClrTx/>
                  <a:buSzTx/>
                  <a:buFontTx/>
                  <a:buNone/>
                  <a:tabLst/>
                  <a:defRPr/>
                </a:pPr>
                <a14:m>
                  <m:oMath xmlns:m="http://schemas.openxmlformats.org/officeDocument/2006/math">
                    <m:r>
                      <m:rPr>
                        <m:sty m:val="p"/>
                      </m:rPr>
                      <a:rPr kumimoji="0" lang="en-US" altLang="zh-CN" sz="2000" b="0" i="0" u="none" strike="noStrike" kern="1200" cap="none" spc="0" normalizeH="0" baseline="0" noProof="0" dirty="0">
                        <a:ln>
                          <a:noFill/>
                        </a:ln>
                        <a:solidFill>
                          <a:schemeClr val="tx1"/>
                        </a:solidFill>
                        <a:effectLst/>
                        <a:uLnTx/>
                        <a:uFillTx/>
                        <a:latin typeface="Cambria Math"/>
                      </a:rPr>
                      <m:t>E</m:t>
                    </m:r>
                    <m:d>
                      <m:dPr>
                        <m:ctrlPr>
                          <a:rPr kumimoji="0" lang="en-US" altLang="zh-CN" sz="2000" i="1" u="none" strike="noStrike" kern="1200" cap="none" spc="0" normalizeH="0" baseline="0" noProof="0" dirty="0" smtClean="0">
                            <a:ln>
                              <a:noFill/>
                            </a:ln>
                            <a:solidFill>
                              <a:schemeClr val="tx1"/>
                            </a:solidFill>
                            <a:effectLst/>
                            <a:uLnTx/>
                            <a:uFillTx/>
                            <a:latin typeface="Cambria Math" panose="02040503050406030204" pitchFamily="18" charset="0"/>
                          </a:rPr>
                        </m:ctrlPr>
                      </m:dPr>
                      <m:e>
                        <m:r>
                          <a:rPr kumimoji="0" lang="en-US" altLang="zh-CN" sz="2000" b="0" i="1" u="none" strike="noStrike" kern="1200" cap="none" spc="0" normalizeH="0" baseline="0" noProof="0" dirty="0" smtClean="0">
                            <a:ln>
                              <a:noFill/>
                            </a:ln>
                            <a:solidFill>
                              <a:schemeClr val="tx1"/>
                            </a:solidFill>
                            <a:effectLst/>
                            <a:uLnTx/>
                            <a:uFillTx/>
                            <a:latin typeface="Cambria Math"/>
                          </a:rPr>
                          <m:t>𝑋</m:t>
                        </m:r>
                      </m:e>
                    </m:d>
                    <m:r>
                      <a:rPr kumimoji="0" lang="en-US" altLang="zh-CN" sz="2000" b="0" i="1" u="none" strike="noStrike" kern="1200" cap="none" spc="0" normalizeH="0" baseline="0" noProof="0" smtClean="0">
                        <a:ln>
                          <a:noFill/>
                        </a:ln>
                        <a:solidFill>
                          <a:schemeClr val="tx1"/>
                        </a:solidFill>
                        <a:effectLst/>
                        <a:uLnTx/>
                        <a:uFillTx/>
                        <a:latin typeface="Cambria Math"/>
                      </a:rPr>
                      <m:t>=</m:t>
                    </m:r>
                    <m:f>
                      <m:fPr>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baseline="0" noProof="0" smtClean="0">
                            <a:ln>
                              <a:noFill/>
                            </a:ln>
                            <a:solidFill>
                              <a:schemeClr val="tx1"/>
                            </a:solidFill>
                            <a:effectLst/>
                            <a:uLnTx/>
                            <a:uFillTx/>
                            <a:latin typeface="Cambria Math"/>
                          </a:rPr>
                          <m:t>1</m:t>
                        </m:r>
                      </m:num>
                      <m:den>
                        <m:r>
                          <a:rPr kumimoji="0" lang="en-US" altLang="zh-CN" sz="2000" b="0" i="1" u="none" strike="noStrike" kern="1200" cap="none" spc="0" normalizeH="0" baseline="0" noProof="0" smtClean="0">
                            <a:ln>
                              <a:noFill/>
                            </a:ln>
                            <a:solidFill>
                              <a:schemeClr val="tx1"/>
                            </a:solidFill>
                            <a:effectLst/>
                            <a:uLnTx/>
                            <a:uFillTx/>
                            <a:latin typeface="Cambria Math"/>
                          </a:rPr>
                          <m:t>𝑛</m:t>
                        </m:r>
                      </m:den>
                    </m:f>
                    <m:nary>
                      <m:naryPr>
                        <m:chr m:val="∑"/>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baseline="0" noProof="0" smtClean="0">
                            <a:ln>
                              <a:noFill/>
                            </a:ln>
                            <a:solidFill>
                              <a:schemeClr val="tx1"/>
                            </a:solidFill>
                            <a:effectLst/>
                            <a:uLnTx/>
                            <a:uFillTx/>
                            <a:latin typeface="Cambria Math"/>
                          </a:rPr>
                          <m:t>𝑖</m:t>
                        </m:r>
                        <m:r>
                          <a:rPr kumimoji="0" lang="en-US" altLang="zh-CN" sz="2000" b="0" i="1" u="none" strike="noStrike" kern="1200" cap="none" spc="0" normalizeH="0" baseline="0" noProof="0" smtClean="0">
                            <a:ln>
                              <a:noFill/>
                            </a:ln>
                            <a:solidFill>
                              <a:schemeClr val="tx1"/>
                            </a:solidFill>
                            <a:effectLst/>
                            <a:uLnTx/>
                            <a:uFillTx/>
                            <a:latin typeface="Cambria Math"/>
                          </a:rPr>
                          <m:t>=1</m:t>
                        </m:r>
                      </m:sub>
                      <m:sup>
                        <m:r>
                          <a:rPr kumimoji="0" lang="en-US" altLang="zh-CN" sz="2000" b="0" i="1" u="none" strike="noStrike" kern="1200" cap="none" spc="0" normalizeH="0" baseline="0" noProof="0" smtClean="0">
                            <a:ln>
                              <a:noFill/>
                            </a:ln>
                            <a:solidFill>
                              <a:schemeClr val="tx1"/>
                            </a:solidFill>
                            <a:effectLst/>
                            <a:uLnTx/>
                            <a:uFillTx/>
                            <a:latin typeface="Cambria Math"/>
                          </a:rPr>
                          <m:t>𝑛</m:t>
                        </m:r>
                      </m:sup>
                      <m:e>
                        <m:sSub>
                          <m:sSubPr>
                            <m:ctrlPr>
                              <a:rPr kumimoji="0" lang="en-US" altLang="zh-CN" sz="2000" i="1" u="none" strike="noStrike" kern="1200" cap="none" spc="0" normalizeH="0" baseline="0" noProof="0" smtClean="0">
                                <a:ln>
                                  <a:noFill/>
                                </a:ln>
                                <a:solidFill>
                                  <a:schemeClr val="tx1"/>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schemeClr val="tx1"/>
                                </a:solidFill>
                                <a:effectLst/>
                                <a:uLnTx/>
                                <a:uFillTx/>
                                <a:latin typeface="Cambria Math"/>
                              </a:rPr>
                              <m:t>𝑥</m:t>
                            </m:r>
                          </m:e>
                          <m:sub>
                            <m:r>
                              <a:rPr kumimoji="0" lang="en-US" altLang="zh-CN" sz="2000" b="0" i="1" u="none" strike="noStrike" kern="1200" cap="none" spc="0" normalizeH="0" baseline="0" noProof="0" smtClean="0">
                                <a:ln>
                                  <a:noFill/>
                                </a:ln>
                                <a:solidFill>
                                  <a:schemeClr val="tx1"/>
                                </a:solidFill>
                                <a:effectLst/>
                                <a:uLnTx/>
                                <a:uFillTx/>
                                <a:latin typeface="Cambria Math"/>
                              </a:rPr>
                              <m:t>𝑖</m:t>
                            </m:r>
                          </m:sub>
                        </m:sSub>
                      </m:e>
                    </m:nary>
                  </m:oMath>
                </a14:m>
                <a:r>
                  <a:rPr kumimoji="0" lang="en-US" altLang="zh-CN" sz="2000" i="0" u="none" strike="noStrike" kern="0" cap="none" spc="0" normalizeH="0" baseline="0" noProof="0" dirty="0">
                    <a:ln>
                      <a:noFill/>
                    </a:ln>
                    <a:solidFill>
                      <a:schemeClr val="tx1"/>
                    </a:solidFill>
                    <a:effectLst/>
                    <a:uLnTx/>
                    <a:uFillTx/>
                    <a:latin typeface="Arial" panose="020B0604020202020204" pitchFamily="34" charset="0"/>
                    <a:ea typeface="黑体" panose="02010609060101010101" pitchFamily="49" charset="-122"/>
                    <a:cs typeface="Times New Roman" pitchFamily="18" charset="0"/>
                  </a:rPr>
                  <a:t>,        </a:t>
                </a:r>
                <a14:m>
                  <m:oMath xmlns:m="http://schemas.openxmlformats.org/officeDocument/2006/math">
                    <m:r>
                      <m:rPr>
                        <m:sty m:val="p"/>
                      </m:rPr>
                      <a:rPr kumimoji="0" lang="en-US" altLang="zh-CN" sz="2000" b="0" i="0" u="none" strike="noStrike" kern="1200" cap="none" spc="0" normalizeH="0" baseline="0" noProof="0" dirty="0">
                        <a:ln>
                          <a:noFill/>
                        </a:ln>
                        <a:solidFill>
                          <a:schemeClr val="tx1"/>
                        </a:solidFill>
                        <a:effectLst/>
                        <a:uLnTx/>
                        <a:uFillTx/>
                        <a:latin typeface="Cambria Math"/>
                      </a:rPr>
                      <m:t>E</m:t>
                    </m:r>
                    <m:d>
                      <m:dPr>
                        <m:ctrlPr>
                          <a:rPr kumimoji="0" lang="en-US" altLang="zh-CN" sz="2000" i="1" u="none" strike="noStrike" kern="1200" cap="none" spc="0" normalizeH="0" baseline="0" noProof="0" dirty="0">
                            <a:ln>
                              <a:noFill/>
                            </a:ln>
                            <a:solidFill>
                              <a:schemeClr val="tx1"/>
                            </a:solidFill>
                            <a:effectLst/>
                            <a:uLnTx/>
                            <a:uFillTx/>
                            <a:latin typeface="Cambria Math" panose="02040503050406030204" pitchFamily="18" charset="0"/>
                          </a:rPr>
                        </m:ctrlPr>
                      </m:dPr>
                      <m:e>
                        <m:r>
                          <a:rPr kumimoji="0" lang="en-US" altLang="zh-CN" sz="2000" b="0" i="1" u="none" strike="noStrike" kern="1200" cap="none" spc="0" normalizeH="0" baseline="0" noProof="0" dirty="0" smtClean="0">
                            <a:ln>
                              <a:noFill/>
                            </a:ln>
                            <a:solidFill>
                              <a:schemeClr val="tx1"/>
                            </a:solidFill>
                            <a:effectLst/>
                            <a:uLnTx/>
                            <a:uFillTx/>
                            <a:latin typeface="Cambria Math"/>
                          </a:rPr>
                          <m:t>𝑌</m:t>
                        </m:r>
                      </m:e>
                    </m:d>
                    <m:r>
                      <a:rPr kumimoji="0" lang="en-US" altLang="zh-CN" sz="2000" b="0" i="1" u="none" strike="noStrike" kern="1200" cap="none" spc="0" normalizeH="0" baseline="0" noProof="0">
                        <a:ln>
                          <a:noFill/>
                        </a:ln>
                        <a:solidFill>
                          <a:schemeClr val="tx1"/>
                        </a:solidFill>
                        <a:effectLst/>
                        <a:uLnTx/>
                        <a:uFillTx/>
                        <a:latin typeface="Cambria Math"/>
                      </a:rPr>
                      <m:t>=</m:t>
                    </m:r>
                    <m:f>
                      <m:fPr>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fPr>
                      <m:num>
                        <m:r>
                          <a:rPr kumimoji="0" lang="en-US" altLang="zh-CN" sz="2000" b="0" i="1" u="none" strike="noStrike" kern="1200" cap="none" spc="0" normalizeH="0" baseline="0" noProof="0">
                            <a:ln>
                              <a:noFill/>
                            </a:ln>
                            <a:solidFill>
                              <a:schemeClr val="tx1"/>
                            </a:solidFill>
                            <a:effectLst/>
                            <a:uLnTx/>
                            <a:uFillTx/>
                            <a:latin typeface="Cambria Math"/>
                          </a:rPr>
                          <m:t>1</m:t>
                        </m:r>
                      </m:num>
                      <m:den>
                        <m:r>
                          <a:rPr kumimoji="0" lang="en-US" altLang="zh-CN" sz="2000" b="0" i="1" u="none" strike="noStrike" kern="1200" cap="none" spc="0" normalizeH="0" baseline="0" noProof="0">
                            <a:ln>
                              <a:noFill/>
                            </a:ln>
                            <a:solidFill>
                              <a:schemeClr val="tx1"/>
                            </a:solidFill>
                            <a:effectLst/>
                            <a:uLnTx/>
                            <a:uFillTx/>
                            <a:latin typeface="Cambria Math"/>
                          </a:rPr>
                          <m:t>𝑛</m:t>
                        </m:r>
                      </m:den>
                    </m:f>
                    <m:nary>
                      <m:naryPr>
                        <m:chr m:val="∑"/>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naryPr>
                      <m:sub>
                        <m:r>
                          <m:rPr>
                            <m:brk m:alnAt="23"/>
                          </m:rPr>
                          <a:rPr kumimoji="0" lang="en-US" altLang="zh-CN" sz="2000" b="0" i="1" u="none" strike="noStrike" kern="1200" cap="none" spc="0" normalizeH="0" baseline="0" noProof="0">
                            <a:ln>
                              <a:noFill/>
                            </a:ln>
                            <a:solidFill>
                              <a:schemeClr val="tx1"/>
                            </a:solidFill>
                            <a:effectLst/>
                            <a:uLnTx/>
                            <a:uFillTx/>
                            <a:latin typeface="Cambria Math"/>
                          </a:rPr>
                          <m:t>𝑖</m:t>
                        </m:r>
                        <m:r>
                          <a:rPr kumimoji="0" lang="en-US" altLang="zh-CN" sz="2000" b="0" i="1" u="none" strike="noStrike" kern="1200" cap="none" spc="0" normalizeH="0" baseline="0" noProof="0">
                            <a:ln>
                              <a:noFill/>
                            </a:ln>
                            <a:solidFill>
                              <a:schemeClr val="tx1"/>
                            </a:solidFill>
                            <a:effectLst/>
                            <a:uLnTx/>
                            <a:uFillTx/>
                            <a:latin typeface="Cambria Math"/>
                          </a:rPr>
                          <m:t>=1</m:t>
                        </m:r>
                      </m:sub>
                      <m:sup>
                        <m:r>
                          <a:rPr kumimoji="0" lang="en-US" altLang="zh-CN" sz="2000" b="0" i="1" u="none" strike="noStrike" kern="1200" cap="none" spc="0" normalizeH="0" baseline="0" noProof="0">
                            <a:ln>
                              <a:noFill/>
                            </a:ln>
                            <a:solidFill>
                              <a:schemeClr val="tx1"/>
                            </a:solidFill>
                            <a:effectLst/>
                            <a:uLnTx/>
                            <a:uFillTx/>
                            <a:latin typeface="Cambria Math"/>
                          </a:rPr>
                          <m:t>𝑛</m:t>
                        </m:r>
                      </m:sup>
                      <m:e>
                        <m:sSub>
                          <m:sSubPr>
                            <m:ctrlPr>
                              <a:rPr kumimoji="0" lang="en-US" altLang="zh-CN" sz="2000" i="1" u="none" strike="noStrike" kern="1200" cap="none" spc="0" normalizeH="0" baseline="0" noProof="0">
                                <a:ln>
                                  <a:noFill/>
                                </a:ln>
                                <a:solidFill>
                                  <a:schemeClr val="tx1"/>
                                </a:solidFill>
                                <a:effectLst/>
                                <a:uLnTx/>
                                <a:uFillTx/>
                                <a:latin typeface="Cambria Math" panose="02040503050406030204" pitchFamily="18" charset="0"/>
                              </a:rPr>
                            </m:ctrlPr>
                          </m:sSubPr>
                          <m:e>
                            <m:r>
                              <a:rPr kumimoji="0" lang="en-US" altLang="zh-CN" sz="2000" b="0" i="1" u="none" strike="noStrike" kern="1200" cap="none" spc="0" normalizeH="0" baseline="0" noProof="0" smtClean="0">
                                <a:ln>
                                  <a:noFill/>
                                </a:ln>
                                <a:solidFill>
                                  <a:schemeClr val="tx1"/>
                                </a:solidFill>
                                <a:effectLst/>
                                <a:uLnTx/>
                                <a:uFillTx/>
                                <a:latin typeface="Cambria Math"/>
                              </a:rPr>
                              <m:t>𝑦</m:t>
                            </m:r>
                          </m:e>
                          <m:sub>
                            <m:r>
                              <a:rPr kumimoji="0" lang="en-US" altLang="zh-CN" sz="2000" b="0" i="1" u="none" strike="noStrike" kern="1200" cap="none" spc="0" normalizeH="0" baseline="0" noProof="0">
                                <a:ln>
                                  <a:noFill/>
                                </a:ln>
                                <a:solidFill>
                                  <a:schemeClr val="tx1"/>
                                </a:solidFill>
                                <a:effectLst/>
                                <a:uLnTx/>
                                <a:uFillTx/>
                                <a:latin typeface="Cambria Math"/>
                              </a:rPr>
                              <m:t>𝑖</m:t>
                            </m:r>
                          </m:sub>
                        </m:sSub>
                      </m:e>
                    </m:nary>
                  </m:oMath>
                </a14:m>
                <a:endPar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Times New Roman" pitchFamily="18" charset="0"/>
                </a:endParaRPr>
              </a:p>
            </p:txBody>
          </p:sp>
        </mc:Choice>
        <mc:Fallback>
          <p:sp>
            <p:nvSpPr>
              <p:cNvPr id="8" name="矩形 7">
                <a:extLst>
                  <a:ext uri="{FF2B5EF4-FFF2-40B4-BE49-F238E27FC236}">
                    <a16:creationId xmlns:a16="http://schemas.microsoft.com/office/drawing/2014/main" id="{2DFA7E52-A30A-F885-A74E-49D61951D09D}"/>
                  </a:ext>
                </a:extLst>
              </p:cNvPr>
              <p:cNvSpPr>
                <a:spLocks noRot="1" noChangeAspect="1" noMove="1" noResize="1" noEditPoints="1" noAdjustHandles="1" noChangeArrowheads="1" noChangeShapeType="1" noTextEdit="1"/>
              </p:cNvSpPr>
              <p:nvPr/>
            </p:nvSpPr>
            <p:spPr>
              <a:xfrm>
                <a:off x="1045266" y="2552987"/>
                <a:ext cx="6610349" cy="836319"/>
              </a:xfrm>
              <a:prstGeom prst="rect">
                <a:avLst/>
              </a:prstGeom>
              <a:blipFill>
                <a:blip r:embed="rId4"/>
                <a:stretch>
                  <a:fillRect l="-922" t="-14599" b="-802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42CABDDC-AF13-6476-E895-E1B8DC55BC39}"/>
                  </a:ext>
                </a:extLst>
              </p:cNvPr>
              <p:cNvSpPr/>
              <p:nvPr/>
            </p:nvSpPr>
            <p:spPr>
              <a:xfrm>
                <a:off x="290216" y="4397408"/>
                <a:ext cx="8586847" cy="1538883"/>
              </a:xfrm>
              <a:prstGeom prst="rect">
                <a:avLst/>
              </a:prstGeom>
            </p:spPr>
            <p:txBody>
              <a:bodyPr wrap="square" lIns="0" tIns="0" rIns="0" bIns="0">
                <a:spAutoFit/>
              </a:bodyPr>
              <a:lstStyle/>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对于两</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个</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变量（如广告投入</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商品销售、天气状况</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旅游出行等），可通过计算它们之间的协方差值来判断这组数据给出的两维变量是否存在</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相关</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关系：</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&gt;0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正相关</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&lt;0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负相关</a:t>
                </a: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当协方差</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𝑐𝑜𝑣</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=0</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时，称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与</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不相关（线性意义下）</a:t>
                </a:r>
              </a:p>
            </p:txBody>
          </p:sp>
        </mc:Choice>
        <mc:Fallback xmlns="">
          <p:sp>
            <p:nvSpPr>
              <p:cNvPr id="15" name="矩形 14">
                <a:extLst>
                  <a:ext uri="{FF2B5EF4-FFF2-40B4-BE49-F238E27FC236}">
                    <a16:creationId xmlns:a16="http://schemas.microsoft.com/office/drawing/2014/main" id="{42CABDDC-AF13-6476-E895-E1B8DC55BC39}"/>
                  </a:ext>
                </a:extLst>
              </p:cNvPr>
              <p:cNvSpPr>
                <a:spLocks noRot="1" noChangeAspect="1" noMove="1" noResize="1" noEditPoints="1" noAdjustHandles="1" noChangeArrowheads="1" noChangeShapeType="1" noTextEdit="1"/>
              </p:cNvSpPr>
              <p:nvPr/>
            </p:nvSpPr>
            <p:spPr>
              <a:xfrm>
                <a:off x="290216" y="4397408"/>
                <a:ext cx="8586847" cy="1538883"/>
              </a:xfrm>
              <a:prstGeom prst="rect">
                <a:avLst/>
              </a:prstGeom>
              <a:blipFill>
                <a:blip r:embed="rId5"/>
                <a:stretch>
                  <a:fillRect l="-1847" t="-5929" r="-1847" b="-830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065807314"/>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矩形 8">
            <a:extLst>
              <a:ext uri="{FF2B5EF4-FFF2-40B4-BE49-F238E27FC236}">
                <a16:creationId xmlns:a16="http://schemas.microsoft.com/office/drawing/2014/main" id="{C06569D2-C3D7-7150-8C2A-3E2D3A118F98}"/>
              </a:ext>
            </a:extLst>
          </p:cNvPr>
          <p:cNvSpPr/>
          <p:nvPr/>
        </p:nvSpPr>
        <p:spPr>
          <a:xfrm>
            <a:off x="209550" y="1345446"/>
            <a:ext cx="8382000" cy="923330"/>
          </a:xfrm>
          <a:prstGeom prst="rect">
            <a:avLst/>
          </a:prstGeom>
        </p:spPr>
        <p:txBody>
          <a:bodyPr wrap="square" lIns="0" tIns="0" rIns="0" bIns="0">
            <a:spAutoFit/>
          </a:bodyPr>
          <a:lstStyle/>
          <a:p>
            <a:pPr marL="0" marR="0" lvl="0" indent="0" algn="just"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协方差会受到变量取值尺度的影响，可通过皮尔逊相关系数（</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Pearson Correlation coefficient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）将两组变量之间的关联度规整到一定的取值范围内。皮尔逊相关系数定义如下：</a:t>
            </a:r>
          </a:p>
        </p:txBody>
      </p:sp>
      <mc:AlternateContent xmlns:mc="http://schemas.openxmlformats.org/markup-compatibility/2006" xmlns:a14="http://schemas.microsoft.com/office/drawing/2010/main">
        <mc:Choice Requires="a14">
          <p:sp>
            <p:nvSpPr>
              <p:cNvPr id="10" name="矩形 9">
                <a:extLst>
                  <a:ext uri="{FF2B5EF4-FFF2-40B4-BE49-F238E27FC236}">
                    <a16:creationId xmlns:a16="http://schemas.microsoft.com/office/drawing/2014/main" id="{66460FFF-788A-2B30-896F-CD71E64FDD33}"/>
                  </a:ext>
                </a:extLst>
              </p:cNvPr>
              <p:cNvSpPr/>
              <p:nvPr/>
            </p:nvSpPr>
            <p:spPr>
              <a:xfrm>
                <a:off x="1876082" y="2268776"/>
                <a:ext cx="4683911" cy="715389"/>
              </a:xfrm>
              <a:prstGeom prst="rect">
                <a:avLst/>
              </a:prstGeom>
            </p:spPr>
            <p:txBody>
              <a:bodyPr wrap="none" lIns="0" tIns="0" rIns="0" bIns="0">
                <a:spAutoFit/>
              </a:bodyPr>
              <a:lstStyle/>
              <a:p>
                <a:pPr marL="0" marR="0" lvl="0" indent="0" algn="l" defTabSz="914400" rtl="0" eaLnBrk="1" fontAlgn="auto" latinLnBrk="0" hangingPunct="1">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corr</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X</m:t>
                          </m:r>
                          <m: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m:rPr>
                              <m:sty m:val="p"/>
                            </m:rP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Y</m:t>
                          </m:r>
                        </m:e>
                      </m:d>
                      <m:r>
                        <a:rPr kumimoji="0" lang="en-US" altLang="zh-CN" sz="2000" b="0" i="0"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𝐶𝑜𝑣</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num>
                        <m:den>
                          <m:rad>
                            <m:radPr>
                              <m:degHide m:val="on"/>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radPr>
                            <m:deg/>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𝑉𝑎𝑟</m:t>
                              </m:r>
                              <m:d>
                                <m:d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𝑉𝑎𝑟</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e>
                          </m:rad>
                        </m:den>
                      </m:f>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f>
                        <m:f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fPr>
                        <m:num>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𝐶𝑜𝑣</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a:ln>
                                <a:noFill/>
                              </a:ln>
                              <a:solidFill>
                                <a:schemeClr val="tx1"/>
                              </a:solidFill>
                              <a:effectLst/>
                              <a:uLnTx/>
                              <a:uFillTx/>
                              <a:latin typeface="Cambria Math"/>
                              <a:ea typeface="微软雅黑" pitchFamily="34" charset="-122"/>
                              <a:cs typeface="Times New Roman" pitchFamily="18" charset="0"/>
                            </a:rPr>
                            <m:t>)</m:t>
                          </m:r>
                        </m:num>
                        <m:den>
                          <m:sSub>
                            <m:sSub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zh-CN" altLang="en-US"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𝜎</m:t>
                              </m:r>
                            </m:e>
                            <m:sub>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𝑥</m:t>
                              </m:r>
                            </m:sub>
                          </m:sSub>
                          <m:sSub>
                            <m:sSubPr>
                              <m:ctrlPr>
                                <a:rPr kumimoji="0" lang="en-US" altLang="zh-CN" sz="2000" i="1" u="none" strike="noStrike" kern="0" cap="none" spc="0" normalizeH="0" noProof="0" smtClean="0">
                                  <a:ln>
                                    <a:noFill/>
                                  </a:ln>
                                  <a:solidFill>
                                    <a:schemeClr val="tx1"/>
                                  </a:solidFill>
                                  <a:effectLst/>
                                  <a:uLnTx/>
                                  <a:uFillTx/>
                                  <a:latin typeface="Cambria Math" panose="02040503050406030204" pitchFamily="18" charset="0"/>
                                  <a:ea typeface="微软雅黑" pitchFamily="34" charset="-122"/>
                                  <a:cs typeface="Times New Roman" pitchFamily="18" charset="0"/>
                                </a:rPr>
                              </m:ctrlPr>
                            </m:sSubPr>
                            <m:e>
                              <m:r>
                                <a:rPr kumimoji="0" lang="zh-CN" altLang="en-US"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𝜎</m:t>
                              </m:r>
                            </m:e>
                            <m:sub>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𝑦</m:t>
                              </m:r>
                            </m:sub>
                          </m:sSub>
                        </m:den>
                      </m:f>
                    </m:oMath>
                  </m:oMathPara>
                </a14:m>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0" name="矩形 9">
                <a:extLst>
                  <a:ext uri="{FF2B5EF4-FFF2-40B4-BE49-F238E27FC236}">
                    <a16:creationId xmlns:a16="http://schemas.microsoft.com/office/drawing/2014/main" id="{66460FFF-788A-2B30-896F-CD71E64FDD33}"/>
                  </a:ext>
                </a:extLst>
              </p:cNvPr>
              <p:cNvSpPr>
                <a:spLocks noRot="1" noChangeAspect="1" noMove="1" noResize="1" noEditPoints="1" noAdjustHandles="1" noChangeArrowheads="1" noChangeShapeType="1" noTextEdit="1"/>
              </p:cNvSpPr>
              <p:nvPr/>
            </p:nvSpPr>
            <p:spPr>
              <a:xfrm>
                <a:off x="1876082" y="2268776"/>
                <a:ext cx="4683911" cy="71538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矩形 10">
                <a:extLst>
                  <a:ext uri="{FF2B5EF4-FFF2-40B4-BE49-F238E27FC236}">
                    <a16:creationId xmlns:a16="http://schemas.microsoft.com/office/drawing/2014/main" id="{D9EA62CC-3F4C-B480-E639-0AA34F0106A0}"/>
                  </a:ext>
                </a:extLst>
              </p:cNvPr>
              <p:cNvSpPr/>
              <p:nvPr/>
            </p:nvSpPr>
            <p:spPr>
              <a:xfrm>
                <a:off x="126194" y="3192106"/>
                <a:ext cx="8810625" cy="3170099"/>
              </a:xfrm>
              <a:prstGeom prst="rect">
                <a:avLst/>
              </a:prstGeom>
            </p:spPr>
            <p:txBody>
              <a:bodyPr wrap="square" lIns="0" tIns="0" rIns="0" bIns="0">
                <a:spAutoFit/>
              </a:bodyPr>
              <a:lstStyle/>
              <a:p>
                <a:pPr marL="0" marR="0" lvl="0" indent="0" algn="just" defTabSz="914400" rtl="0" eaLnBrk="1" fontAlgn="auto" latinLnBrk="0" hangingPunct="1">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皮尔逊相关系数所具有的性质如下：</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1</m:t>
                      </m:r>
                    </m:oMath>
                  </m:oMathPara>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1</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的充要条件是存在常数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𝑎</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和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𝑏</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使得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𝑎𝑋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𝑏</m:t>
                    </m:r>
                  </m:oMath>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皮尔逊相关系数是对称的，即</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e>
                    </m:d>
                  </m:oMath>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皮尔逊</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相关系数刻画了变量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之间线性相关程度，如果</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的取值越大，则两者在线性相关的意义下相关程度越大。</a:t>
                </a:r>
                <a14:m>
                  <m:oMath xmlns:m="http://schemas.openxmlformats.org/officeDocument/2006/math">
                    <m:d>
                      <m:dPr>
                        <m:begChr m:val="|"/>
                        <m:endChr m:val="|"/>
                        <m:ctrlP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prstClr val="black"/>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0</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表示两者不存在线性相关关系（可能存在其他非线性相关的关系）。</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just" defTabSz="914400" rtl="0" eaLnBrk="1" fontAlgn="auto" latinLnBrk="0" hangingPunct="1">
                  <a:spcBef>
                    <a:spcPts val="0"/>
                  </a:spcBef>
                  <a:spcAft>
                    <a:spcPts val="0"/>
                  </a:spcAft>
                  <a:buClrTx/>
                  <a:buSzTx/>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正线性相关意味着变量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增加的情况下，变量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也随之增加；负线性相关意味着变量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减少的情况下，变量</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随之增加。</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1" name="矩形 10">
                <a:extLst>
                  <a:ext uri="{FF2B5EF4-FFF2-40B4-BE49-F238E27FC236}">
                    <a16:creationId xmlns:a16="http://schemas.microsoft.com/office/drawing/2014/main" id="{D9EA62CC-3F4C-B480-E639-0AA34F0106A0}"/>
                  </a:ext>
                </a:extLst>
              </p:cNvPr>
              <p:cNvSpPr>
                <a:spLocks noRot="1" noChangeAspect="1" noMove="1" noResize="1" noEditPoints="1" noAdjustHandles="1" noChangeArrowheads="1" noChangeShapeType="1" noTextEdit="1"/>
              </p:cNvSpPr>
              <p:nvPr/>
            </p:nvSpPr>
            <p:spPr>
              <a:xfrm>
                <a:off x="126194" y="3192106"/>
                <a:ext cx="8810625" cy="3170099"/>
              </a:xfrm>
              <a:prstGeom prst="rect">
                <a:avLst/>
              </a:prstGeom>
              <a:blipFill>
                <a:blip r:embed="rId3"/>
                <a:stretch>
                  <a:fillRect l="-1799" t="-2885" r="-1730" b="-57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322952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8570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基础知识</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3" name="矩形 2">
                <a:extLst>
                  <a:ext uri="{FF2B5EF4-FFF2-40B4-BE49-F238E27FC236}">
                    <a16:creationId xmlns:a16="http://schemas.microsoft.com/office/drawing/2014/main" id="{B7B31078-00C1-3D54-6A79-BC155D0007A7}"/>
                  </a:ext>
                </a:extLst>
              </p:cNvPr>
              <p:cNvSpPr/>
              <p:nvPr/>
            </p:nvSpPr>
            <p:spPr>
              <a:xfrm>
                <a:off x="209549" y="1529715"/>
                <a:ext cx="8810625" cy="2640979"/>
              </a:xfrm>
              <a:prstGeom prst="rect">
                <a:avLst/>
              </a:prstGeom>
            </p:spPr>
            <p:txBody>
              <a:bodyPr wrap="square" lIns="0" tIns="0" rIns="0" bIns="0">
                <a:spAutoFit/>
              </a:bodyPr>
              <a:lstStyle/>
              <a:p>
                <a:pPr marL="342900" marR="0" lvl="0" indent="-342900" algn="just" defTabSz="914400" rtl="0" eaLnBrk="1" fontAlgn="auto" latinLnBrk="0" hangingPunct="1">
                  <a:lnSpc>
                    <a:spcPct val="120000"/>
                  </a:lnSpc>
                  <a:spcBef>
                    <a:spcPts val="0"/>
                  </a:spcBef>
                  <a:spcAft>
                    <a:spcPts val="0"/>
                  </a:spcAft>
                  <a:buClrTx/>
                  <a:buSzTx/>
                  <a:buFont typeface="Wingdings" panose="05000000000000000000" pitchFamily="2" charset="2"/>
                  <a:buChar char="l"/>
                  <a:tabLst/>
                  <a:defRPr/>
                </a:pPr>
                <a:r>
                  <a:rPr kumimoji="0" lang="zh-CN" altLang="en-US"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相关性</a:t>
                </a:r>
                <a:r>
                  <a:rPr kumimoji="0" lang="en-US" altLang="zh-CN"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(correlation)</a:t>
                </a:r>
                <a:r>
                  <a:rPr kumimoji="0" lang="zh-CN" altLang="en-US"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与独立性</a:t>
                </a:r>
                <a:r>
                  <a:rPr kumimoji="0" lang="en-US" altLang="zh-CN" sz="2000" i="0" u="none" strike="noStrike" kern="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(independence)</a:t>
                </a: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如果</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线性不相关，则</a:t>
                </a:r>
                <a14:m>
                  <m:oMath xmlns:m="http://schemas.openxmlformats.org/officeDocument/2006/math">
                    <m:d>
                      <m:dPr>
                        <m:begChr m:val="|"/>
                        <m:endChr m:val="|"/>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0</m:t>
                    </m:r>
                  </m:oMath>
                </a14:m>
                <a:endPar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如果</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彼此独立，则一定</a:t>
                </a:r>
                <a14:m>
                  <m:oMath xmlns:m="http://schemas.openxmlformats.org/officeDocument/2006/math">
                    <m:d>
                      <m:dPr>
                        <m:begChr m:val="|"/>
                        <m:endChr m:val="|"/>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𝑐𝑜𝑟𝑟</m:t>
                        </m:r>
                        <m:d>
                          <m:dPr>
                            <m:ctrlPr>
                              <a:rPr kumimoji="0" lang="en-US" altLang="zh-CN" sz="2000" i="1" u="none" strike="noStrike" kern="0" cap="none" spc="0" normalizeH="0" noProof="0">
                                <a:ln>
                                  <a:noFill/>
                                </a:ln>
                                <a:solidFill>
                                  <a:schemeClr val="tx1"/>
                                </a:solidFill>
                                <a:effectLst/>
                                <a:uLnTx/>
                                <a:uFillTx/>
                                <a:latin typeface="Cambria Math" panose="02040503050406030204" pitchFamily="18" charset="0"/>
                                <a:ea typeface="微软雅黑" pitchFamily="34" charset="-122"/>
                                <a:cs typeface="Times New Roman" pitchFamily="18" charset="0"/>
                              </a:rPr>
                            </m:ctrlPr>
                          </m:dPr>
                          <m:e>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e>
                        </m:d>
                      </m:e>
                    </m:d>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m:t>
                    </m:r>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0</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，且</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𝑋</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和</a:t>
                </a:r>
                <a14:m>
                  <m:oMath xmlns:m="http://schemas.openxmlformats.org/officeDocument/2006/math">
                    <m:r>
                      <a:rPr kumimoji="0" lang="en-US" altLang="zh-CN" sz="2000" b="0" i="1" u="none" strike="noStrike" kern="0" cap="none" spc="0" normalizeH="0" noProof="0" smtClean="0">
                        <a:ln>
                          <a:noFill/>
                        </a:ln>
                        <a:solidFill>
                          <a:schemeClr val="tx1"/>
                        </a:solidFill>
                        <a:effectLst/>
                        <a:uLnTx/>
                        <a:uFillTx/>
                        <a:latin typeface="Cambria Math"/>
                        <a:ea typeface="微软雅黑" pitchFamily="34" charset="-122"/>
                        <a:cs typeface="Times New Roman" pitchFamily="18" charset="0"/>
                      </a:rPr>
                      <m:t>𝑌</m:t>
                    </m:r>
                  </m:oMath>
                </a14:m>
                <a:r>
                  <a:rPr kumimoji="0" lang="zh-CN" altLang="en-US"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rPr>
                  <a:t>不存在任何线性或非线性关系</a:t>
                </a:r>
                <a:endParaRPr kumimoji="0" lang="en-US" altLang="zh-CN" sz="2000" i="0" u="none" strike="noStrike" kern="0" cap="none" spc="0" normalizeH="0" noProof="0" dirty="0">
                  <a:ln>
                    <a:noFill/>
                  </a:ln>
                  <a:solidFill>
                    <a:schemeClr val="tx1"/>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684900" marR="0" lvl="1" indent="-342900" algn="just" defTabSz="9144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“不相关”是一个比“独立”要弱的概念，即独立一定不相关，但是不相关不一定相互独立（可能存在其他复杂的关联关系）。独立指两个变量彼此之间不相互影响。</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矩形 2">
                <a:extLst>
                  <a:ext uri="{FF2B5EF4-FFF2-40B4-BE49-F238E27FC236}">
                    <a16:creationId xmlns:a16="http://schemas.microsoft.com/office/drawing/2014/main" id="{B7B31078-00C1-3D54-6A79-BC155D0007A7}"/>
                  </a:ext>
                </a:extLst>
              </p:cNvPr>
              <p:cNvSpPr>
                <a:spLocks noRot="1" noChangeAspect="1" noMove="1" noResize="1" noEditPoints="1" noAdjustHandles="1" noChangeArrowheads="1" noChangeShapeType="1" noTextEdit="1"/>
              </p:cNvSpPr>
              <p:nvPr/>
            </p:nvSpPr>
            <p:spPr>
              <a:xfrm>
                <a:off x="209549" y="1529715"/>
                <a:ext cx="8810625" cy="2640979"/>
              </a:xfrm>
              <a:prstGeom prst="rect">
                <a:avLst/>
              </a:prstGeom>
              <a:blipFill>
                <a:blip r:embed="rId2"/>
                <a:stretch>
                  <a:fillRect l="-1660" t="-2540" r="-1729" b="-92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7337463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9" name="文本框 18">
            <a:extLst>
              <a:ext uri="{FF2B5EF4-FFF2-40B4-BE49-F238E27FC236}">
                <a16:creationId xmlns:a16="http://schemas.microsoft.com/office/drawing/2014/main" id="{0725D53E-3B72-9C22-470A-FAE7BD1DEB07}"/>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算法动机</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pic>
        <p:nvPicPr>
          <p:cNvPr id="5" name="Picture 7">
            <a:extLst>
              <a:ext uri="{FF2B5EF4-FFF2-40B4-BE49-F238E27FC236}">
                <a16:creationId xmlns:a16="http://schemas.microsoft.com/office/drawing/2014/main" id="{0116BFF7-392A-651F-C95E-4A9A4BC61609}"/>
              </a:ext>
            </a:extLst>
          </p:cNvPr>
          <p:cNvPicPr>
            <a:picLocks noChangeAspect="1"/>
          </p:cNvPicPr>
          <p:nvPr/>
        </p:nvPicPr>
        <p:blipFill rotWithShape="1">
          <a:blip r:embed="rId2">
            <a:extLst>
              <a:ext uri="{28A0092B-C50C-407E-A947-70E740481C1C}">
                <a14:useLocalDpi xmlns:a14="http://schemas.microsoft.com/office/drawing/2010/main" val="0"/>
              </a:ext>
            </a:extLst>
          </a:blip>
          <a:srcRect l="2652" t="23089" b="24066"/>
          <a:stretch/>
        </p:blipFill>
        <p:spPr bwMode="auto">
          <a:xfrm>
            <a:off x="228657" y="3903178"/>
            <a:ext cx="3834024" cy="29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0DD8B698-ACA0-15DB-2BD2-BC84115C0731}"/>
                  </a:ext>
                </a:extLst>
              </p:cNvPr>
              <p:cNvSpPr txBox="1"/>
              <p:nvPr/>
            </p:nvSpPr>
            <p:spPr>
              <a:xfrm>
                <a:off x="3889162" y="3897107"/>
                <a:ext cx="5240935" cy="2862322"/>
              </a:xfrm>
              <a:prstGeom prst="rect">
                <a:avLst/>
              </a:prstGeom>
              <a:noFill/>
            </p:spPr>
            <p:txBody>
              <a:bodyPr wrap="square" lIns="0" tIns="0" rIns="0" bIns="0">
                <a:spAutoFit/>
              </a:bodyPr>
              <a:lstStyle/>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分</a:t>
                </a: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分析</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的</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思想是将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维特征数据映射到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维空间 </a:t>
                </a: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t>(</m:t>
                    </m:r>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𝑛</m:t>
                    </m:r>
                    <m:r>
                      <a:rPr kumimoji="0" lang="en-US" altLang="zh-CN" sz="2000" b="0" i="1" u="none" strike="noStrike" kern="1200" cap="none" spc="0" normalizeH="0" noProof="0">
                        <a:ln>
                          <a:noFill/>
                        </a:ln>
                        <a:solidFill>
                          <a:prstClr val="black"/>
                        </a:solidFill>
                        <a:effectLst/>
                        <a:uLnTx/>
                        <a:uFillTx/>
                        <a:latin typeface="Cambria Math"/>
                        <a:ea typeface="黑体" pitchFamily="49" charset="-122"/>
                      </a:rPr>
                      <m:t> ≫</m:t>
                    </m:r>
                    <m:r>
                      <a:rPr kumimoji="0" lang="en-US" altLang="zh-CN" sz="2000" b="0" i="1" u="none" strike="noStrike" kern="1200" cap="none" spc="0" normalizeH="0" noProof="0" smtClean="0">
                        <a:ln>
                          <a:noFill/>
                        </a:ln>
                        <a:solidFill>
                          <a:prstClr val="black"/>
                        </a:solidFill>
                        <a:effectLst/>
                        <a:uLnTx/>
                        <a:uFillTx/>
                        <a:latin typeface="Cambria Math"/>
                        <a:ea typeface="Cambria Math"/>
                      </a:rPr>
                      <m:t>𝑙</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a:rPr>
                      <m:t>)</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，去除原始数据之间的冗余性（通过去除相关性手段达到这一目的）。</a:t>
                </a: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将原始数据向这些数据方差最大的方向进行投影。一旦发现了方差最大的投影方向，则继续寻找保持方差第二的方向且进行投影。</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将每个数据从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维高维空间映射到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维低维空间，每个数据所得到最好的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𝑘</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维特征就是使得每一维上样本方差都尽可能大</a:t>
                </a:r>
                <a:r>
                  <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mc:Choice>
        <mc:Fallback xmlns="">
          <p:sp>
            <p:nvSpPr>
              <p:cNvPr id="7" name="文本框 6">
                <a:extLst>
                  <a:ext uri="{FF2B5EF4-FFF2-40B4-BE49-F238E27FC236}">
                    <a16:creationId xmlns:a16="http://schemas.microsoft.com/office/drawing/2014/main" id="{0DD8B698-ACA0-15DB-2BD2-BC84115C0731}"/>
                  </a:ext>
                </a:extLst>
              </p:cNvPr>
              <p:cNvSpPr txBox="1">
                <a:spLocks noRot="1" noChangeAspect="1" noMove="1" noResize="1" noEditPoints="1" noAdjustHandles="1" noChangeArrowheads="1" noChangeShapeType="1" noTextEdit="1"/>
              </p:cNvSpPr>
              <p:nvPr/>
            </p:nvSpPr>
            <p:spPr>
              <a:xfrm>
                <a:off x="3889162" y="3897107"/>
                <a:ext cx="5240935" cy="2862322"/>
              </a:xfrm>
              <a:prstGeom prst="rect">
                <a:avLst/>
              </a:prstGeom>
              <a:blipFill>
                <a:blip r:embed="rId3"/>
                <a:stretch>
                  <a:fillRect l="-2791" t="-3191" r="-2442" b="-851"/>
                </a:stretch>
              </a:blipFill>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B7B31078-00C1-3D54-6A79-BC155D0007A7}"/>
              </a:ext>
            </a:extLst>
          </p:cNvPr>
          <p:cNvSpPr/>
          <p:nvPr/>
        </p:nvSpPr>
        <p:spPr>
          <a:xfrm>
            <a:off x="263977" y="1173045"/>
            <a:ext cx="8692600" cy="2769989"/>
          </a:xfrm>
          <a:prstGeom prst="rect">
            <a:avLst/>
          </a:prstGeom>
        </p:spPr>
        <p:txBody>
          <a:bodyPr wrap="square" lIns="0" tIns="0" rIns="0" bIns="0">
            <a:spAutoFit/>
          </a:bodyPr>
          <a:lstStyle/>
          <a:p>
            <a:pPr marL="0" marR="0" lvl="1" algn="just" defTabSz="914400" rtl="0" eaLnBrk="1" fontAlgn="auto" latinLnBrk="0" hangingPunct="1">
              <a:spcBef>
                <a:spcPts val="0"/>
              </a:spcBef>
              <a:spcAft>
                <a:spcPts val="0"/>
              </a:spcAft>
              <a:buClrTx/>
              <a:buSzTx/>
              <a:tabLst/>
              <a:defRPr/>
            </a:pPr>
            <a:r>
              <a:rPr lang="zh-CN" altLang="en-US" sz="2000" kern="0" dirty="0">
                <a:solidFill>
                  <a:prstClr val="black"/>
                </a:solidFill>
                <a:latin typeface="Arial" panose="020B0604020202020204" pitchFamily="34" charset="0"/>
                <a:ea typeface="黑体" panose="02010609060101010101" pitchFamily="49" charset="-122"/>
                <a:cs typeface="Times New Roman" panose="02020603050405020304" pitchFamily="18" charset="0"/>
              </a:rPr>
              <a:t>主成分分析要求“降维后的结果要保持原始数据的原有结构”。例如，对于图像数据，要求保持视觉对象区域构成的空间分布；对于文本数据，要求保持单词之间（共现）相似或者不相似的特性。从数学角度，主成分分析要求最大程度保持原始高维数据的总体方差结构。</a:t>
            </a:r>
            <a:endParaRPr lang="en-US" altLang="zh-CN" sz="2000" kern="0" dirty="0">
              <a:solidFill>
                <a:prstClr val="black"/>
              </a:solidFill>
              <a:latin typeface="Arial" panose="020B0604020202020204" pitchFamily="34" charset="0"/>
              <a:ea typeface="黑体" panose="02010609060101010101" pitchFamily="49" charset="-122"/>
              <a:cs typeface="Times New Roman" panose="02020603050405020304" pitchFamily="18" charset="0"/>
            </a:endParaRPr>
          </a:p>
          <a:p>
            <a:pPr marL="0" lvl="1" algn="ju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在数理统计中，方差被经常用来度量数据和其数学期望之间偏离程度，这个偏离程度反映了数据分布</a:t>
            </a:r>
            <a:r>
              <a:rPr lang="zh-CN" altLang="en-US" sz="2000" dirty="0">
                <a:solidFill>
                  <a:prstClr val="black"/>
                </a:solidFill>
                <a:latin typeface="Arial" panose="020B0604020202020204" pitchFamily="34" charset="0"/>
                <a:ea typeface="黑体" panose="02010609060101010101" pitchFamily="49" charset="-122"/>
                <a:cs typeface="Times New Roman" panose="02020603050405020304" pitchFamily="18" charset="0"/>
              </a:rPr>
              <a:t>结构。在许多实际问题中，研究数据和其均值之间的偏离程度有着很重要的意义。</a:t>
            </a: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1" algn="just" defTabSz="914400" rtl="0" eaLnBrk="1" fontAlgn="auto" latinLnBrk="0" hangingPunct="1">
              <a:spcBef>
                <a:spcPts val="0"/>
              </a:spcBef>
              <a:spcAft>
                <a:spcPts val="0"/>
              </a:spcAft>
              <a:buClrTx/>
              <a:buSzTx/>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降维需要</a:t>
            </a:r>
            <a:r>
              <a:rPr kumimoji="0" lang="zh-CN" altLang="en-US" sz="200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尽可能将数据向方差最大方向进行投影，使得数据所蕴含信息丢失的经可能少</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p>
        </p:txBody>
      </p:sp>
    </p:spTree>
    <p:extLst>
      <p:ext uri="{BB962C8B-B14F-4D97-AF65-F5344CB8AC3E}">
        <p14:creationId xmlns:p14="http://schemas.microsoft.com/office/powerpoint/2010/main" val="286979721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pic>
        <p:nvPicPr>
          <p:cNvPr id="5" name="Picture 7">
            <a:extLst>
              <a:ext uri="{FF2B5EF4-FFF2-40B4-BE49-F238E27FC236}">
                <a16:creationId xmlns:a16="http://schemas.microsoft.com/office/drawing/2014/main" id="{0116BFF7-392A-651F-C95E-4A9A4BC61609}"/>
              </a:ext>
            </a:extLst>
          </p:cNvPr>
          <p:cNvPicPr>
            <a:picLocks noChangeAspect="1"/>
          </p:cNvPicPr>
          <p:nvPr/>
        </p:nvPicPr>
        <p:blipFill rotWithShape="1">
          <a:blip r:embed="rId2">
            <a:extLst>
              <a:ext uri="{28A0092B-C50C-407E-A947-70E740481C1C}">
                <a14:useLocalDpi xmlns:a14="http://schemas.microsoft.com/office/drawing/2010/main" val="0"/>
              </a:ext>
            </a:extLst>
          </a:blip>
          <a:srcRect l="2652" t="23089" b="24066"/>
          <a:stretch/>
        </p:blipFill>
        <p:spPr bwMode="auto">
          <a:xfrm>
            <a:off x="228657" y="3903178"/>
            <a:ext cx="3834024" cy="29463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流程图: 顺序访问存储器 8">
            <a:extLst>
              <a:ext uri="{FF2B5EF4-FFF2-40B4-BE49-F238E27FC236}">
                <a16:creationId xmlns:a16="http://schemas.microsoft.com/office/drawing/2014/main" id="{77B31448-8B9F-338C-DE5F-B6EF2CE6A369}"/>
              </a:ext>
            </a:extLst>
          </p:cNvPr>
          <p:cNvSpPr/>
          <p:nvPr/>
        </p:nvSpPr>
        <p:spPr>
          <a:xfrm>
            <a:off x="3873803" y="2998586"/>
            <a:ext cx="1274162" cy="477224"/>
          </a:xfrm>
          <a:prstGeom prst="flowChartMagneticTape">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R="0" lvl="0" indent="0" algn="ctr" defTabSz="914400" rtl="0" eaLnBrk="1" fontAlgn="auto" latinLnBrk="0" hangingPunct="1">
              <a:spcAft>
                <a:spcPts val="0"/>
              </a:spcAft>
              <a:buClrTx/>
              <a:buSzTx/>
              <a:buFontTx/>
              <a:buNone/>
              <a:tabLst/>
              <a:defRPr/>
            </a:pPr>
            <a:endParaRPr kumimoji="0" lang="zh-CN" altLang="en-US" sz="2000" b="1"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0" name="Rectangle 3">
                <a:extLst>
                  <a:ext uri="{FF2B5EF4-FFF2-40B4-BE49-F238E27FC236}">
                    <a16:creationId xmlns:a16="http://schemas.microsoft.com/office/drawing/2014/main" id="{E1177C5D-0054-321A-6848-6371F0A49694}"/>
                  </a:ext>
                </a:extLst>
              </p:cNvPr>
              <p:cNvSpPr txBox="1">
                <a:spLocks noChangeArrowheads="1"/>
              </p:cNvSpPr>
              <p:nvPr/>
            </p:nvSpPr>
            <p:spPr>
              <a:xfrm>
                <a:off x="139148" y="1201541"/>
                <a:ext cx="8865704" cy="2249060"/>
              </a:xfrm>
              <a:prstGeom prst="rect">
                <a:avLst/>
              </a:prstGeom>
            </p:spPr>
            <p:txBody>
              <a:bodyPr lIns="0" tIns="0" rIns="0" bIns="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假设有</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维样本数据所构成的集合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𝐷</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2</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 </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sSup>
                      <m:sSup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𝑅</m:t>
                        </m:r>
                      </m:e>
                      <m:sup>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sup>
                    </m:sSup>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集合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𝐷</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可以表示成一个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假定每一维度的特征均值均为零（已经标准化）。</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主成分分析的目的是求取一个且使用一个</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𝑙</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的映射矩阵</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给定一个样本</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，可将</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zh-CN" altLang="en-US" sz="2000" b="0" i="1"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从</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维空间如下映射到</a:t>
                </a:r>
                <a14:m>
                  <m:oMath xmlns:m="http://schemas.openxmlformats.org/officeDocument/2006/math">
                    <m:r>
                      <a:rPr kumimoji="0" lang="zh-CN" altLang="en-US" sz="2000" b="0" i="0" u="none" strike="noStrike" kern="1200" cap="none" spc="0" normalizeH="0" noProof="0" dirty="0">
                        <a:ln>
                          <a:noFill/>
                        </a:ln>
                        <a:solidFill>
                          <a:prstClr val="black"/>
                        </a:solidFill>
                        <a:effectLst/>
                        <a:uLnTx/>
                        <a:uFillTx/>
                        <a:latin typeface="Cambria Math" charset="0"/>
                      </a:rPr>
                      <m:t> </m:t>
                    </m:r>
                    <m:r>
                      <a:rPr kumimoji="0" lang="en-US" altLang="zh-CN" sz="2000" b="0" i="1" u="none" strike="noStrike" kern="1200" cap="none" spc="0" normalizeH="0" noProof="0" dirty="0">
                        <a:ln>
                          <a:noFill/>
                        </a:ln>
                        <a:solidFill>
                          <a:prstClr val="black"/>
                        </a:solidFill>
                        <a:effectLst/>
                        <a:uLnTx/>
                        <a:uFillTx/>
                        <a:latin typeface="Cambria Math" charset="0"/>
                      </a:rPr>
                      <m:t>𝑙</m:t>
                    </m:r>
                    <m:r>
                      <a:rPr kumimoji="0" lang="zh-CN" altLang="en-US" sz="2000" b="0" i="0" u="none" strike="noStrike" kern="1200" cap="none" spc="0" normalizeH="0" noProof="0" dirty="0">
                        <a:ln>
                          <a:noFill/>
                        </a:ln>
                        <a:solidFill>
                          <a:prstClr val="black"/>
                        </a:solidFill>
                        <a:effectLst/>
                        <a:uLnTx/>
                        <a:uFillTx/>
                        <a:latin typeface="Cambria Math" charset="0"/>
                      </a:rPr>
                      <m:t> </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维空间</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sub>
                    </m:sSub>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sub>
                    </m:sSub>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algn="l" defTabSz="914400" rtl="0" eaLnBrk="1" fontAlgn="auto" latinLnBrk="0" hangingPunct="1">
                  <a:lnSpc>
                    <a:spcPct val="100000"/>
                  </a:lnSpc>
                  <a:spcBef>
                    <a:spcPts val="0"/>
                  </a:spcBef>
                  <a:spcAft>
                    <a:spcPts val="0"/>
                  </a:spcAft>
                  <a:buClr>
                    <a:srgbClr val="16754D"/>
                  </a:buClr>
                  <a:buSzPct val="100000"/>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将所有降维后数据用</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zh-CN" altLang="en-US" sz="2000" b="0" i="0" u="none" strike="noStrike" kern="1200" cap="none" spc="0" normalizeH="0" noProof="0">
                        <a:ln>
                          <a:noFill/>
                        </a:ln>
                        <a:solidFill>
                          <a:prstClr val="black"/>
                        </a:solidFill>
                        <a:effectLst/>
                        <a:uLnTx/>
                        <a:uFillTx/>
                        <a:latin typeface="Cambria Math" charset="0"/>
                      </a:rPr>
                      <m:t> </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表示，有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𝑋𝑊</m:t>
                    </m:r>
                  </m:oMath>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0" name="Rectangle 3">
                <a:extLst>
                  <a:ext uri="{FF2B5EF4-FFF2-40B4-BE49-F238E27FC236}">
                    <a16:creationId xmlns:a16="http://schemas.microsoft.com/office/drawing/2014/main" id="{E1177C5D-0054-321A-6848-6371F0A49694}"/>
                  </a:ext>
                </a:extLst>
              </p:cNvPr>
              <p:cNvSpPr txBox="1">
                <a:spLocks noRot="1" noChangeAspect="1" noMove="1" noResize="1" noEditPoints="1" noAdjustHandles="1" noChangeArrowheads="1" noChangeShapeType="1" noTextEdit="1"/>
              </p:cNvSpPr>
              <p:nvPr/>
            </p:nvSpPr>
            <p:spPr>
              <a:xfrm>
                <a:off x="139148" y="1201541"/>
                <a:ext cx="8865704" cy="2249060"/>
              </a:xfrm>
              <a:prstGeom prst="rect">
                <a:avLst/>
              </a:prstGeom>
              <a:blipFill>
                <a:blip r:embed="rId3"/>
                <a:stretch>
                  <a:fillRect l="-1651" t="-4065" b="-1626"/>
                </a:stretch>
              </a:blipFill>
            </p:spPr>
            <p:txBody>
              <a:bodyPr/>
              <a:lstStyle/>
              <a:p>
                <a:r>
                  <a:rPr lang="zh-CN" altLang="en-US">
                    <a:noFill/>
                  </a:rPr>
                  <a:t> </a:t>
                </a:r>
              </a:p>
            </p:txBody>
          </p:sp>
        </mc:Fallback>
      </mc:AlternateContent>
      <p:cxnSp>
        <p:nvCxnSpPr>
          <p:cNvPr id="11" name="直接连接符 10">
            <a:extLst>
              <a:ext uri="{FF2B5EF4-FFF2-40B4-BE49-F238E27FC236}">
                <a16:creationId xmlns:a16="http://schemas.microsoft.com/office/drawing/2014/main" id="{73996F33-6BA2-45D7-5E2D-63B413798B09}"/>
              </a:ext>
            </a:extLst>
          </p:cNvPr>
          <p:cNvCxnSpPr/>
          <p:nvPr/>
        </p:nvCxnSpPr>
        <p:spPr>
          <a:xfrm>
            <a:off x="3937191"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2" name="直接连接符 11">
            <a:extLst>
              <a:ext uri="{FF2B5EF4-FFF2-40B4-BE49-F238E27FC236}">
                <a16:creationId xmlns:a16="http://schemas.microsoft.com/office/drawing/2014/main" id="{5268C9E4-2E62-18AD-1B15-794F0A9BAD6A}"/>
              </a:ext>
            </a:extLst>
          </p:cNvPr>
          <p:cNvCxnSpPr/>
          <p:nvPr/>
        </p:nvCxnSpPr>
        <p:spPr>
          <a:xfrm>
            <a:off x="4450242"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cxnSp>
        <p:nvCxnSpPr>
          <p:cNvPr id="13" name="直接连接符 12">
            <a:extLst>
              <a:ext uri="{FF2B5EF4-FFF2-40B4-BE49-F238E27FC236}">
                <a16:creationId xmlns:a16="http://schemas.microsoft.com/office/drawing/2014/main" id="{D46F86FA-C184-751E-0891-6B052BEAA9A7}"/>
              </a:ext>
            </a:extLst>
          </p:cNvPr>
          <p:cNvCxnSpPr/>
          <p:nvPr/>
        </p:nvCxnSpPr>
        <p:spPr>
          <a:xfrm>
            <a:off x="4749007" y="3532826"/>
            <a:ext cx="247650" cy="0"/>
          </a:xfrm>
          <a:prstGeom prst="line">
            <a:avLst/>
          </a:prstGeom>
          <a:ln w="25400">
            <a:solidFill>
              <a:srgbClr val="C00000"/>
            </a:solidFill>
          </a:ln>
        </p:spPr>
        <p:style>
          <a:lnRef idx="1">
            <a:schemeClr val="accent1"/>
          </a:lnRef>
          <a:fillRef idx="0">
            <a:schemeClr val="accent1"/>
          </a:fillRef>
          <a:effectRef idx="0">
            <a:schemeClr val="accent1"/>
          </a:effectRef>
          <a:fontRef idx="minor">
            <a:schemeClr val="tx1"/>
          </a:fontRef>
        </p:style>
      </p:cxnSp>
      <p:sp>
        <p:nvSpPr>
          <p:cNvPr id="14" name="矩形 13">
            <a:extLst>
              <a:ext uri="{FF2B5EF4-FFF2-40B4-BE49-F238E27FC236}">
                <a16:creationId xmlns:a16="http://schemas.microsoft.com/office/drawing/2014/main" id="{42692437-16C7-8B71-70D4-2973C0BAFD6A}"/>
              </a:ext>
            </a:extLst>
          </p:cNvPr>
          <p:cNvSpPr/>
          <p:nvPr/>
        </p:nvSpPr>
        <p:spPr>
          <a:xfrm>
            <a:off x="3551372"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降维结果</a:t>
            </a:r>
          </a:p>
        </p:txBody>
      </p:sp>
      <p:sp>
        <p:nvSpPr>
          <p:cNvPr id="15" name="矩形 14">
            <a:extLst>
              <a:ext uri="{FF2B5EF4-FFF2-40B4-BE49-F238E27FC236}">
                <a16:creationId xmlns:a16="http://schemas.microsoft.com/office/drawing/2014/main" id="{6B2EBE13-D799-9217-0DE7-7E0C71AC80DA}"/>
              </a:ext>
            </a:extLst>
          </p:cNvPr>
          <p:cNvSpPr/>
          <p:nvPr/>
        </p:nvSpPr>
        <p:spPr>
          <a:xfrm>
            <a:off x="4327426"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原始数据</a:t>
            </a:r>
          </a:p>
        </p:txBody>
      </p:sp>
      <p:sp>
        <p:nvSpPr>
          <p:cNvPr id="16" name="矩形 15">
            <a:extLst>
              <a:ext uri="{FF2B5EF4-FFF2-40B4-BE49-F238E27FC236}">
                <a16:creationId xmlns:a16="http://schemas.microsoft.com/office/drawing/2014/main" id="{5639C13C-8800-8BD2-0248-39B6B5474FE6}"/>
              </a:ext>
            </a:extLst>
          </p:cNvPr>
          <p:cNvSpPr/>
          <p:nvPr/>
        </p:nvSpPr>
        <p:spPr>
          <a:xfrm>
            <a:off x="4965131" y="3620802"/>
            <a:ext cx="609601" cy="615553"/>
          </a:xfrm>
          <a:prstGeom prst="rect">
            <a:avLst/>
          </a:prstGeom>
        </p:spPr>
        <p:txBody>
          <a:bodyPr wrap="square" lIns="0" tIns="0" rIns="0" bIns="0">
            <a:spAutoFit/>
          </a:bodyPr>
          <a:lstStyle/>
          <a:p>
            <a:pPr marR="0" lvl="0" indent="0" algn="l"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映射矩阵</a:t>
            </a:r>
          </a:p>
        </p:txBody>
      </p:sp>
      <mc:AlternateContent xmlns:mc="http://schemas.openxmlformats.org/markup-compatibility/2006" xmlns:a14="http://schemas.microsoft.com/office/drawing/2010/main">
        <mc:Choice Requires="a14">
          <p:sp>
            <p:nvSpPr>
              <p:cNvPr id="17" name="圆角矩形 19">
                <a:extLst>
                  <a:ext uri="{FF2B5EF4-FFF2-40B4-BE49-F238E27FC236}">
                    <a16:creationId xmlns:a16="http://schemas.microsoft.com/office/drawing/2014/main" id="{B4EB5EA5-9C71-D1BC-87D7-E0DCFA6EE20F}"/>
                  </a:ext>
                </a:extLst>
              </p:cNvPr>
              <p:cNvSpPr/>
              <p:nvPr/>
            </p:nvSpPr>
            <p:spPr>
              <a:xfrm>
                <a:off x="7327507" y="3173001"/>
                <a:ext cx="1589964" cy="1273138"/>
              </a:xfrm>
              <a:prstGeom prst="roundRec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R="0" lvl="0" indent="0" algn="ctr"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？如何求取</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R="0" lvl="0" indent="0" algn="ctr" defTabSz="914400" rtl="0" eaLnBrk="1" fontAlgn="auto" latinLnBrk="0" hangingPunct="1">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映射矩阵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rPr>
                      <m:t>𝑾</m:t>
                    </m:r>
                  </m:oMath>
                </a14:m>
                <a:endParaRPr kumimoji="0" lang="en-US" altLang="zh-CN" sz="2000" b="1"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7" name="圆角矩形 19">
                <a:extLst>
                  <a:ext uri="{FF2B5EF4-FFF2-40B4-BE49-F238E27FC236}">
                    <a16:creationId xmlns:a16="http://schemas.microsoft.com/office/drawing/2014/main" id="{B4EB5EA5-9C71-D1BC-87D7-E0DCFA6EE20F}"/>
                  </a:ext>
                </a:extLst>
              </p:cNvPr>
              <p:cNvSpPr>
                <a:spLocks noRot="1" noChangeAspect="1" noMove="1" noResize="1" noEditPoints="1" noAdjustHandles="1" noChangeArrowheads="1" noChangeShapeType="1" noTextEdit="1"/>
              </p:cNvSpPr>
              <p:nvPr/>
            </p:nvSpPr>
            <p:spPr>
              <a:xfrm>
                <a:off x="7327507" y="3173001"/>
                <a:ext cx="1589964" cy="1273138"/>
              </a:xfrm>
              <a:prstGeom prst="roundRect">
                <a:avLst/>
              </a:prstGeom>
              <a:blipFill>
                <a:blip r:embed="rId4"/>
                <a:stretch>
                  <a:fillRect l="-113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8" name="矩形 17">
                <a:extLst>
                  <a:ext uri="{FF2B5EF4-FFF2-40B4-BE49-F238E27FC236}">
                    <a16:creationId xmlns:a16="http://schemas.microsoft.com/office/drawing/2014/main" id="{D296B3DF-9EE1-12D7-09BC-07850F253E3F}"/>
                  </a:ext>
                </a:extLst>
              </p:cNvPr>
              <p:cNvSpPr/>
              <p:nvPr/>
            </p:nvSpPr>
            <p:spPr>
              <a:xfrm>
                <a:off x="6087761" y="4677449"/>
                <a:ext cx="1894189" cy="939873"/>
              </a:xfrm>
              <a:prstGeom prst="rect">
                <a:avLst/>
              </a:prstGeom>
            </p:spPr>
            <p:txBody>
              <a:bodyPr wrap="square" lIns="0" tIns="0" rIns="0" bIns="0">
                <a:spAutoFit/>
              </a:bodyPr>
              <a:lstStyle/>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i="1">
                              <a:solidFill>
                                <a:prstClr val="black"/>
                              </a:solidFill>
                              <a:latin typeface="Cambria Math"/>
                              <a:ea typeface="黑体" panose="02010609060101010101" pitchFamily="49" charset="-122"/>
                              <a:cs typeface="Times New Roman" panose="02020603050405020304" pitchFamily="18" charset="0"/>
                            </a:rPr>
                            <m:t>𝑛</m:t>
                          </m:r>
                          <m:r>
                            <a:rPr lang="en-US" altLang="zh-CN" sz="2000" i="1">
                              <a:solidFill>
                                <a:prstClr val="black"/>
                              </a:solidFill>
                              <a:latin typeface="Cambria Math"/>
                              <a:ea typeface="Cambria Math"/>
                              <a:cs typeface="Times New Roman" panose="02020603050405020304" pitchFamily="18" charset="0"/>
                            </a:rPr>
                            <m:t>×</m:t>
                          </m:r>
                          <m:r>
                            <a:rPr lang="en-US" altLang="zh-CN" sz="2000" i="1">
                              <a:solidFill>
                                <a:prstClr val="black"/>
                              </a:solidFill>
                              <a:latin typeface="Cambria Math"/>
                              <a:ea typeface="Cambria Math"/>
                              <a:cs typeface="Times New Roman" panose="02020603050405020304" pitchFamily="18" charset="0"/>
                            </a:rPr>
                            <m:t>𝑙</m:t>
                          </m:r>
                        </m:sup>
                      </m:sSup>
                      <m:r>
                        <a:rPr kumimoji="0" lang="en-US" altLang="zh-CN" sz="2000" b="0" i="1" u="none" strike="noStrike" kern="1200" cap="none" spc="0" normalizeH="0" noProof="0" dirty="0">
                          <a:ln>
                            <a:noFill/>
                          </a:ln>
                          <a:solidFill>
                            <a:prstClr val="black"/>
                          </a:solidFill>
                          <a:effectLst/>
                          <a:uLnTx/>
                          <a:uFillTx/>
                          <a:latin typeface="Cambria Math" charset="0"/>
                        </a:rPr>
                        <m:t> </m:t>
                      </m:r>
                    </m:oMath>
                  </m:oMathPara>
                </a14:m>
                <a:endParaRPr kumimoji="0" lang="en-US" altLang="zh-CN" sz="2000" b="1"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a:buClr>
                    <a:srgbClr val="2665AB"/>
                  </a:buClr>
                  <a:buSzPct val="100000"/>
                </a:pPr>
                <a14:m>
                  <m:oMathPara xmlns:m="http://schemas.openxmlformats.org/officeDocument/2006/math">
                    <m:oMathParaPr>
                      <m:jc m:val="centerGroup"/>
                    </m:oMathParaPr>
                    <m:oMath xmlns:m="http://schemas.openxmlformats.org/officeDocument/2006/math">
                      <m:r>
                        <a:rPr lang="en-US" altLang="zh-CN" sz="2000" b="1" i="1">
                          <a:solidFill>
                            <a:prstClr val="black"/>
                          </a:solidFill>
                          <a:latin typeface="Cambria Math" panose="02040503050406030204" pitchFamily="18" charset="0"/>
                          <a:ea typeface="黑体" panose="02010609060101010101" pitchFamily="49" charset="-122"/>
                          <a:cs typeface="Times New Roman" panose="02020603050405020304" pitchFamily="18" charset="0"/>
                        </a:rPr>
                        <m:t>𝑿</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𝑑</m:t>
                          </m:r>
                        </m:sup>
                      </m:sSup>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rPr>
                        <m:t>𝑾</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US" altLang="zh-CN" sz="200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𝑙</m:t>
                          </m:r>
                        </m:sup>
                      </m:sSup>
                    </m:oMath>
                  </m:oMathPara>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8" name="矩形 17">
                <a:extLst>
                  <a:ext uri="{FF2B5EF4-FFF2-40B4-BE49-F238E27FC236}">
                    <a16:creationId xmlns:a16="http://schemas.microsoft.com/office/drawing/2014/main" id="{D296B3DF-9EE1-12D7-09BC-07850F253E3F}"/>
                  </a:ext>
                </a:extLst>
              </p:cNvPr>
              <p:cNvSpPr>
                <a:spLocks noRot="1" noChangeAspect="1" noMove="1" noResize="1" noEditPoints="1" noAdjustHandles="1" noChangeArrowheads="1" noChangeShapeType="1" noTextEdit="1"/>
              </p:cNvSpPr>
              <p:nvPr/>
            </p:nvSpPr>
            <p:spPr>
              <a:xfrm>
                <a:off x="6087761" y="4677449"/>
                <a:ext cx="1894189" cy="939873"/>
              </a:xfrm>
              <a:prstGeom prst="rect">
                <a:avLst/>
              </a:prstGeom>
              <a:blipFill>
                <a:blip r:embed="rId5"/>
                <a:stretch>
                  <a:fillRect b="-2597"/>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126381310"/>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3" name="Rectangle 3">
                <a:extLst>
                  <a:ext uri="{FF2B5EF4-FFF2-40B4-BE49-F238E27FC236}">
                    <a16:creationId xmlns:a16="http://schemas.microsoft.com/office/drawing/2014/main" id="{F48B2778-7E88-D2C4-D4E8-4D298304DA63}"/>
                  </a:ext>
                </a:extLst>
              </p:cNvPr>
              <p:cNvSpPr txBox="1">
                <a:spLocks noChangeArrowheads="1"/>
              </p:cNvSpPr>
              <p:nvPr/>
            </p:nvSpPr>
            <p:spPr>
              <a:xfrm>
                <a:off x="85724" y="1746547"/>
                <a:ext cx="4105750" cy="4273252"/>
              </a:xfrm>
              <a:prstGeom prst="rect">
                <a:avLst/>
              </a:prstGeom>
              <a:noFill/>
              <a:ln w="19050">
                <a:solidFill>
                  <a:srgbClr val="FFC000"/>
                </a:solidFill>
              </a:ln>
            </p:spPr>
            <p:txBody>
              <a:bodyPr lIns="36000" tIns="36000" rIns="36000" bIns="360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降维后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a:t>
                </a:r>
                <a14:m>
                  <m:oMath xmlns:m="http://schemas.openxmlformats.org/officeDocument/2006/math">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Y</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的方差为：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var</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Pr>
                        <m:num>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num>
                        <m:den>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den>
                      </m:f>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e>
                      </m:d>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f>
                        <m:f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Pr>
                        <m:num>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1</m:t>
                          </m:r>
                        </m:num>
                        <m:den>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1</m:t>
                          </m:r>
                        </m:den>
                      </m:f>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tr</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ace</m:t>
                      </m:r>
                      <m:d>
                        <m:d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m:t>
                              </m:r>
                            </m:e>
                            <m:sup>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𝑋𝑊</m:t>
                          </m:r>
                        </m:e>
                      </m:d>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lvl="0" indent="0">
                  <a:lnSpc>
                    <a:spcPct val="150000"/>
                  </a:lnSpc>
                  <a:buClr>
                    <a:srgbClr val="2665AB"/>
                  </a:buClr>
                  <a:buSzPct val="100000"/>
                  <a:buNone/>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a:solidFill>
                                <a:prstClr val="black"/>
                              </a:solidFill>
                              <a:latin typeface="Cambria Math"/>
                              <a:ea typeface="黑体" panose="02010609060101010101" pitchFamily="49" charset="-122"/>
                              <a:cs typeface="Times New Roman" panose="02020603050405020304" pitchFamily="18" charset="0"/>
                            </a:rPr>
                            <m:t>𝑊</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𝑇</m:t>
                          </m:r>
                        </m:sup>
                      </m:sSup>
                      <m:f>
                        <m:fPr>
                          <m:ctrlPr>
                            <a:rPr lang="en-US" altLang="zh-CN" sz="2000" i="1">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fPr>
                        <m:num>
                          <m:r>
                            <a:rPr lang="en-US" altLang="zh-CN" sz="2000" b="0" i="1">
                              <a:solidFill>
                                <a:prstClr val="black"/>
                              </a:solidFill>
                              <a:latin typeface="Cambria Math"/>
                              <a:ea typeface="黑体" panose="02010609060101010101" pitchFamily="49" charset="-122"/>
                              <a:cs typeface="Times New Roman" panose="02020603050405020304" pitchFamily="18" charset="0"/>
                            </a:rPr>
                            <m:t>1</m:t>
                          </m:r>
                        </m:num>
                        <m:den>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黑体" panose="02010609060101010101" pitchFamily="49" charset="-122"/>
                              <a:cs typeface="Times New Roman" panose="02020603050405020304" pitchFamily="18" charset="0"/>
                            </a:rPr>
                            <m:t>−</m:t>
                          </m:r>
                          <m:r>
                            <a:rPr lang="en-US" altLang="zh-CN" sz="2000" b="0" i="1">
                              <a:solidFill>
                                <a:prstClr val="black"/>
                              </a:solidFill>
                              <a:latin typeface="Cambria Math"/>
                              <a:ea typeface="黑体" panose="02010609060101010101" pitchFamily="49" charset="-122"/>
                              <a:cs typeface="Times New Roman" panose="02020603050405020304" pitchFamily="18" charset="0"/>
                            </a:rPr>
                            <m:t>1</m:t>
                          </m:r>
                        </m:den>
                      </m:f>
                      <m:sSup>
                        <m:sSupPr>
                          <m:ctrlPr>
                            <a:rPr lang="en-US" altLang="zh-CN" sz="2000" i="1"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ctrlPr>
                        </m:sSupPr>
                        <m:e>
                          <m:r>
                            <a:rPr lang="en-US" altLang="zh-CN" sz="2000" b="0" i="1"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t>𝑋</m:t>
                          </m:r>
                        </m:e>
                        <m:sup>
                          <m:r>
                            <m:rPr>
                              <m:sty m:val="p"/>
                            </m:rPr>
                            <a:rPr lang="en-US" altLang="zh-CN" sz="2000" b="0" i="0" smtClean="0">
                              <a:solidFill>
                                <a:prstClr val="black"/>
                              </a:solidFill>
                              <a:latin typeface="Cambria Math" panose="02040503050406030204" pitchFamily="18" charset="0"/>
                              <a:ea typeface="黑体" panose="02010609060101010101" pitchFamily="49" charset="-122"/>
                              <a:cs typeface="Times New Roman" panose="02020603050405020304" pitchFamily="18" charset="0"/>
                            </a:rPr>
                            <m:t>T</m:t>
                          </m:r>
                        </m:sup>
                      </m:sSup>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𝑋𝑊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 name="Rectangle 3">
                <a:extLst>
                  <a:ext uri="{FF2B5EF4-FFF2-40B4-BE49-F238E27FC236}">
                    <a16:creationId xmlns:a16="http://schemas.microsoft.com/office/drawing/2014/main" id="{F48B2778-7E88-D2C4-D4E8-4D298304DA63}"/>
                  </a:ext>
                </a:extLst>
              </p:cNvPr>
              <p:cNvSpPr txBox="1">
                <a:spLocks noRot="1" noChangeAspect="1" noMove="1" noResize="1" noEditPoints="1" noAdjustHandles="1" noChangeArrowheads="1" noChangeShapeType="1" noTextEdit="1"/>
              </p:cNvSpPr>
              <p:nvPr/>
            </p:nvSpPr>
            <p:spPr>
              <a:xfrm>
                <a:off x="85724" y="1746547"/>
                <a:ext cx="4105750" cy="4273252"/>
              </a:xfrm>
              <a:prstGeom prst="rect">
                <a:avLst/>
              </a:prstGeom>
              <a:blipFill>
                <a:blip r:embed="rId2"/>
                <a:stretch>
                  <a:fillRect l="-2806" r="-8419"/>
                </a:stretch>
              </a:blipFill>
              <a:ln w="19050">
                <a:solidFill>
                  <a:srgbClr val="FFC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Rectangle 3">
                <a:extLst>
                  <a:ext uri="{FF2B5EF4-FFF2-40B4-BE49-F238E27FC236}">
                    <a16:creationId xmlns:a16="http://schemas.microsoft.com/office/drawing/2014/main" id="{8F830F46-6256-7B38-F2CF-DD2BD6B4E37C}"/>
                  </a:ext>
                </a:extLst>
              </p:cNvPr>
              <p:cNvSpPr txBox="1">
                <a:spLocks noChangeArrowheads="1"/>
              </p:cNvSpPr>
              <p:nvPr/>
            </p:nvSpPr>
            <p:spPr>
              <a:xfrm>
                <a:off x="4448176" y="1746546"/>
                <a:ext cx="4552950" cy="4273252"/>
              </a:xfrm>
              <a:prstGeom prst="rect">
                <a:avLst/>
              </a:prstGeom>
              <a:noFill/>
              <a:ln w="19050">
                <a:solidFill>
                  <a:srgbClr val="FFC000"/>
                </a:solidFill>
              </a:ln>
            </p:spPr>
            <p:txBody>
              <a:bodyPr lIns="36000" tIns="36000" rIns="36000" bIns="36000"/>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微软雅黑 Light" panose="020B0502040204020203" pitchFamily="34" charset="-122"/>
                    <a:ea typeface="微软雅黑 Light" panose="020B0502040204020203" pitchFamily="34" charset="-122"/>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微软雅黑 Light" panose="020B0502040204020203" pitchFamily="34" charset="-122"/>
                    <a:ea typeface="微软雅黑 Light" panose="020B0502040204020203" pitchFamily="34" charset="-122"/>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微软雅黑 Light" panose="020B0502040204020203" pitchFamily="34" charset="-122"/>
                    <a:ea typeface="微软雅黑 Light" panose="020B0502040204020203" pitchFamily="34" charset="-122"/>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微软雅黑 Light" panose="020B0502040204020203" pitchFamily="34" charset="-122"/>
                    <a:ea typeface="微软雅黑 Light" panose="020B0502040204020203"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降维前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a:t>
                </a:r>
                <a14:m>
                  <m:oMath xmlns:m="http://schemas.openxmlformats.org/officeDocument/2006/math">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X</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的协方差矩阵记为</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m:rPr>
                        <m:sty m:val="p"/>
                      </m:rPr>
                      <a:rPr kumimoji="0" lang="el-GR"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Σ</m:t>
                    </m:r>
                    <m:r>
                      <a:rPr kumimoji="0" lang="en-US"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f>
                      <m:f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fPr>
                      <m:num>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1</m:t>
                        </m:r>
                      </m:num>
                      <m:den>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1</m:t>
                        </m:r>
                      </m:den>
                    </m:f>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𝑋</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T</m:t>
                        </m:r>
                      </m:sup>
                    </m:sSup>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𝑋</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主成份分析的求解目标函数为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uncPr>
                        <m:fName>
                          <m:limLow>
                            <m:limLow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max</m:t>
                              </m:r>
                            </m:e>
                            <m:lim>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lim>
                          </m:limLow>
                        </m:fName>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𝛴</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𝑊</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func>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满足约束条件</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rPr>
                          </m:ctrlPr>
                        </m:sSubSup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up>
                          <m:r>
                            <a:rPr kumimoji="0" lang="en-US" altLang="zh-CN" sz="2000" b="0" i="1" u="none" strike="noStrike" kern="1200" cap="none" spc="0" normalizeH="0" noProof="0">
                              <a:ln>
                                <a:noFill/>
                              </a:ln>
                              <a:solidFill>
                                <a:prstClr val="black"/>
                              </a:solidFill>
                              <a:effectLst/>
                              <a:uLnTx/>
                              <a:uFillTx/>
                              <a:latin typeface="Cambria Math"/>
                            </a:rPr>
                            <m:t>𝑇</m:t>
                          </m:r>
                        </m:sup>
                      </m:sSubSup>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rPr>
                        <m:t>1</m:t>
                      </m:r>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0" i="1" u="none" strike="noStrike" kern="1200" cap="none" spc="0" normalizeH="0" noProof="0" smtClean="0">
                          <a:ln>
                            <a:noFill/>
                          </a:ln>
                          <a:solidFill>
                            <a:prstClr val="black"/>
                          </a:solidFill>
                          <a:effectLst/>
                          <a:uLnTx/>
                          <a:uFillTx/>
                          <a:latin typeface="Cambria Math"/>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2</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𝑙</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1000"/>
                  </a:spcBef>
                  <a:spcAft>
                    <a:spcPts val="0"/>
                  </a:spcAft>
                  <a:buClr>
                    <a:srgbClr val="2665AB"/>
                  </a:buClr>
                  <a:buSzPct val="100000"/>
                  <a:buFont typeface="Arial" panose="020B0604020202020204" pitchFamily="34" charset="0"/>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Rectangle 3">
                <a:extLst>
                  <a:ext uri="{FF2B5EF4-FFF2-40B4-BE49-F238E27FC236}">
                    <a16:creationId xmlns:a16="http://schemas.microsoft.com/office/drawing/2014/main" id="{8F830F46-6256-7B38-F2CF-DD2BD6B4E37C}"/>
                  </a:ext>
                </a:extLst>
              </p:cNvPr>
              <p:cNvSpPr txBox="1">
                <a:spLocks noRot="1" noChangeAspect="1" noMove="1" noResize="1" noEditPoints="1" noAdjustHandles="1" noChangeArrowheads="1" noChangeShapeType="1" noTextEdit="1"/>
              </p:cNvSpPr>
              <p:nvPr/>
            </p:nvSpPr>
            <p:spPr>
              <a:xfrm>
                <a:off x="4448176" y="1746546"/>
                <a:ext cx="4552950" cy="4273252"/>
              </a:xfrm>
              <a:prstGeom prst="rect">
                <a:avLst/>
              </a:prstGeom>
              <a:blipFill>
                <a:blip r:embed="rId3"/>
                <a:stretch>
                  <a:fillRect l="-2533"/>
                </a:stretch>
              </a:blipFill>
              <a:ln w="19050">
                <a:solidFill>
                  <a:srgbClr val="FFC000"/>
                </a:solidFill>
              </a:ln>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A12CA06A-13E1-3F86-9BD7-F5F7D8129222}"/>
                  </a:ext>
                </a:extLst>
              </p:cNvPr>
              <p:cNvSpPr/>
              <p:nvPr/>
            </p:nvSpPr>
            <p:spPr>
              <a:xfrm>
                <a:off x="4741719" y="928977"/>
                <a:ext cx="3760497" cy="313291"/>
              </a:xfrm>
              <a:prstGeom prst="rect">
                <a:avLst/>
              </a:prstGeom>
            </p:spPr>
            <p:txBody>
              <a:bodyPr wrap="square" lIns="0" tIns="0" rIns="0" bIns="0">
                <a:spAutoFit/>
              </a:bodyPr>
              <a:lstStyle/>
              <a:p>
                <a:pPr lvl="0">
                  <a:buClr>
                    <a:srgbClr val="2665AB"/>
                  </a:buClr>
                  <a:buSzPct val="100000"/>
                </a:pPr>
                <a14:m>
                  <m:oMathPara xmlns:m="http://schemas.openxmlformats.org/officeDocument/2006/math">
                    <m:oMathParaPr>
                      <m:jc m:val="centerGroup"/>
                    </m:oMathParaPr>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i="1">
                              <a:solidFill>
                                <a:prstClr val="black"/>
                              </a:solidFill>
                              <a:latin typeface="Cambria Math"/>
                              <a:ea typeface="黑体" panose="02010609060101010101" pitchFamily="49" charset="-122"/>
                              <a:cs typeface="Times New Roman" panose="02020603050405020304" pitchFamily="18" charset="0"/>
                            </a:rPr>
                            <m:t>𝑛</m:t>
                          </m:r>
                          <m:r>
                            <a:rPr lang="en-US" altLang="zh-CN" sz="2000" i="1">
                              <a:solidFill>
                                <a:prstClr val="black"/>
                              </a:solidFill>
                              <a:latin typeface="Cambria Math"/>
                              <a:ea typeface="Cambria Math"/>
                              <a:cs typeface="Times New Roman" panose="02020603050405020304" pitchFamily="18" charset="0"/>
                            </a:rPr>
                            <m:t>×</m:t>
                          </m:r>
                          <m:r>
                            <a:rPr lang="en-US" altLang="zh-CN" sz="2000" i="1">
                              <a:solidFill>
                                <a:prstClr val="black"/>
                              </a:solidFill>
                              <a:latin typeface="Cambria Math"/>
                              <a:ea typeface="Cambria Math"/>
                              <a:cs typeface="Times New Roman" panose="02020603050405020304" pitchFamily="18" charset="0"/>
                            </a:rPr>
                            <m:t>𝑙</m:t>
                          </m:r>
                        </m:sup>
                      </m:sSup>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0" u="none" strike="noStrike" kern="1200" cap="none" spc="0" normalizeH="0" noProof="0" smtClean="0">
                          <a:ln>
                            <a:noFill/>
                          </a:ln>
                          <a:solidFill>
                            <a:prstClr val="black"/>
                          </a:solidFill>
                          <a:effectLst/>
                          <a:uLnTx/>
                          <a:uFillTx/>
                          <a:latin typeface="Cambria Math"/>
                        </a:rPr>
                        <m:t> </m:t>
                      </m:r>
                      <m:r>
                        <a:rPr lang="en-US" altLang="zh-CN" sz="2000" b="1" i="1">
                          <a:solidFill>
                            <a:prstClr val="black"/>
                          </a:solidFill>
                          <a:latin typeface="Cambria Math" panose="02040503050406030204" pitchFamily="18" charset="0"/>
                          <a:ea typeface="黑体" panose="02010609060101010101" pitchFamily="49" charset="-122"/>
                          <a:cs typeface="Times New Roman" panose="02020603050405020304" pitchFamily="18" charset="0"/>
                        </a:rPr>
                        <m:t>𝑿</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b="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a:solidFill>
                                <a:prstClr val="black"/>
                              </a:solidFill>
                              <a:latin typeface="Cambria Math"/>
                              <a:ea typeface="黑体" panose="02010609060101010101" pitchFamily="49" charset="-122"/>
                              <a:cs typeface="Times New Roman" panose="02020603050405020304" pitchFamily="18" charset="0"/>
                            </a:rPr>
                            <m:t>𝑛</m:t>
                          </m:r>
                          <m:r>
                            <a:rPr lang="en-US" altLang="zh-CN" sz="2000" b="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𝑑</m:t>
                          </m:r>
                        </m:sup>
                      </m:sSup>
                      <m:r>
                        <a:rPr lang="en-US" altLang="zh-CN" sz="2000" b="1" i="1" smtClean="0">
                          <a:solidFill>
                            <a:prstClr val="black"/>
                          </a:solidFill>
                          <a:latin typeface="Cambria Math" panose="02040503050406030204" pitchFamily="18" charset="0"/>
                          <a:ea typeface="Cambria Math"/>
                          <a:cs typeface="Times New Roman" panose="02020603050405020304" pitchFamily="18" charset="0"/>
                        </a:rPr>
                        <m:t>  </m:t>
                      </m:r>
                      <m:r>
                        <a:rPr kumimoji="0" lang="en-US" altLang="zh-CN" sz="2000" b="1" i="1" u="none" strike="noStrike" kern="1200" cap="none" spc="0" normalizeH="0" noProof="0">
                          <a:ln>
                            <a:noFill/>
                          </a:ln>
                          <a:solidFill>
                            <a:prstClr val="black"/>
                          </a:solidFill>
                          <a:effectLst/>
                          <a:uLnTx/>
                          <a:uFillTx/>
                          <a:latin typeface="Cambria Math"/>
                        </a:rPr>
                        <m:t>𝑾</m:t>
                      </m:r>
                      <m:r>
                        <a:rPr lang="en-US" altLang="zh-CN" sz="2000" b="1"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m:t>
                      </m:r>
                      <m:sSup>
                        <m:sSupPr>
                          <m:ctrlP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t>ℝ</m:t>
                          </m:r>
                        </m:e>
                        <m:sup>
                          <m:r>
                            <a:rPr lang="en-US" altLang="zh-CN" sz="2000" b="0" i="1" smtClean="0">
                              <a:solidFill>
                                <a:prstClr val="black"/>
                              </a:solidFill>
                              <a:latin typeface="Cambria Math" panose="02040503050406030204" pitchFamily="18" charset="0"/>
                              <a:ea typeface="Cambria Math" panose="02040503050406030204" pitchFamily="18" charset="0"/>
                              <a:cs typeface="Times New Roman" panose="02020603050405020304" pitchFamily="18" charset="0"/>
                            </a:rPr>
                            <m:t>𝑑</m:t>
                          </m:r>
                          <m:r>
                            <a:rPr lang="en-US" altLang="zh-CN" sz="2000" i="1">
                              <a:solidFill>
                                <a:prstClr val="black"/>
                              </a:solidFill>
                              <a:latin typeface="Cambria Math"/>
                              <a:ea typeface="Cambria Math"/>
                              <a:cs typeface="Times New Roman" panose="02020603050405020304" pitchFamily="18" charset="0"/>
                            </a:rPr>
                            <m:t>×</m:t>
                          </m:r>
                          <m:r>
                            <a:rPr lang="en-US" altLang="zh-CN" sz="2000" b="0" i="1" smtClean="0">
                              <a:solidFill>
                                <a:prstClr val="black"/>
                              </a:solidFill>
                              <a:latin typeface="Cambria Math" panose="02040503050406030204" pitchFamily="18" charset="0"/>
                              <a:ea typeface="Cambria Math"/>
                              <a:cs typeface="Times New Roman" panose="02020603050405020304" pitchFamily="18" charset="0"/>
                            </a:rPr>
                            <m:t>𝑙</m:t>
                          </m:r>
                        </m:sup>
                      </m:sSup>
                    </m:oMath>
                  </m:oMathPara>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A12CA06A-13E1-3F86-9BD7-F5F7D8129222}"/>
                  </a:ext>
                </a:extLst>
              </p:cNvPr>
              <p:cNvSpPr>
                <a:spLocks noRot="1" noChangeAspect="1" noMove="1" noResize="1" noEditPoints="1" noAdjustHandles="1" noChangeArrowheads="1" noChangeShapeType="1" noTextEdit="1"/>
              </p:cNvSpPr>
              <p:nvPr/>
            </p:nvSpPr>
            <p:spPr>
              <a:xfrm>
                <a:off x="4741719" y="928977"/>
                <a:ext cx="3760497" cy="313291"/>
              </a:xfrm>
              <a:prstGeom prst="rect">
                <a:avLst/>
              </a:prstGeom>
              <a:blipFill>
                <a:blip r:embed="rId4"/>
                <a:stretch>
                  <a:fillRect b="-7692"/>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4AE48BB-9B34-30DA-B759-43A25100C59D}"/>
              </a:ext>
            </a:extLst>
          </p:cNvPr>
          <p:cNvSpPr txBox="1"/>
          <p:nvPr/>
        </p:nvSpPr>
        <p:spPr>
          <a:xfrm>
            <a:off x="7311431" y="2351314"/>
            <a:ext cx="1495949" cy="553998"/>
          </a:xfrm>
          <a:prstGeom prst="rect">
            <a:avLst/>
          </a:prstGeom>
          <a:noFill/>
        </p:spPr>
        <p:txBody>
          <a:bodyPr wrap="square" lIns="0" tIns="0" rIns="0" bIns="0" rtlCol="0">
            <a:spAutoFit/>
          </a:bodyPr>
          <a:lstStyle/>
          <a:p>
            <a:r>
              <a:rPr lang="zh-CN" altLang="en-US" dirty="0">
                <a:latin typeface="Arial" panose="020B0604020202020204" pitchFamily="34" charset="0"/>
                <a:ea typeface="黑体" panose="02010609060101010101" pitchFamily="49" charset="-122"/>
              </a:rPr>
              <a:t>特征向量各个维度的协方差</a:t>
            </a:r>
          </a:p>
        </p:txBody>
      </p:sp>
    </p:spTree>
    <p:extLst>
      <p:ext uri="{BB962C8B-B14F-4D97-AF65-F5344CB8AC3E}">
        <p14:creationId xmlns:p14="http://schemas.microsoft.com/office/powerpoint/2010/main" val="2743244766"/>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E6B2E14-5540-8934-99FD-39FE86435F81}"/>
                  </a:ext>
                </a:extLst>
              </p:cNvPr>
              <p:cNvSpPr/>
              <p:nvPr/>
            </p:nvSpPr>
            <p:spPr>
              <a:xfrm>
                <a:off x="4766072" y="1080090"/>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𝑌</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smtClean="0">
                        <a:ln>
                          <a:noFill/>
                        </a:ln>
                        <a:solidFill>
                          <a:prstClr val="black"/>
                        </a:solidFill>
                        <a:effectLst/>
                        <a:uLnTx/>
                        <a:uFillTx/>
                        <a:latin typeface="Cambria Math" charset="0"/>
                        <a:cs typeface="+mn-cs"/>
                      </a:rPr>
                      <m:t> </m:t>
                    </m:r>
                    <m:r>
                      <a:rPr kumimoji="0" lang="en-US" altLang="zh-CN" sz="2000" b="0" i="1" u="none" strike="noStrike" kern="1200" cap="none" spc="0" normalizeH="0" noProof="0" dirty="0" smtClean="0">
                        <a:ln>
                          <a:noFill/>
                        </a:ln>
                        <a:solidFill>
                          <a:prstClr val="black"/>
                        </a:solidFill>
                        <a:effectLst/>
                        <a:uLnTx/>
                        <a:uFillTx/>
                        <a:latin typeface="Cambria Math"/>
                        <a:cs typeface="+mn-cs"/>
                      </a:rPr>
                      <m:t>  </m:t>
                    </m:r>
                    <m:r>
                      <a:rPr kumimoji="0" lang="en-US" altLang="zh-CN" sz="2000" b="0" i="0" u="none" strike="noStrike" kern="1200" cap="none" spc="0" normalizeH="0" noProof="0" dirty="0" smtClean="0">
                        <a:ln>
                          <a:noFill/>
                        </a:ln>
                        <a:solidFill>
                          <a:prstClr val="black"/>
                        </a:solidFill>
                        <a:effectLst/>
                        <a:uLnTx/>
                        <a:uFillTx/>
                        <a:latin typeface="Cambria Math"/>
                        <a:cs typeface="+mn-cs"/>
                      </a:rPr>
                      <m:t>  </m:t>
                    </m:r>
                    <m:r>
                      <a:rPr kumimoji="0" lang="en-US" altLang="zh-CN" sz="2000" b="0" i="1" u="none" strike="noStrike" kern="1200" cap="none" spc="0" normalizeH="0" noProof="0" smtClean="0">
                        <a:ln>
                          <a:noFill/>
                        </a:ln>
                        <a:solidFill>
                          <a:prstClr val="black"/>
                        </a:solidFill>
                        <a:effectLst/>
                        <a:uLnTx/>
                        <a:uFillTx/>
                        <a:latin typeface="Cambria Math"/>
                        <a:cs typeface="+mn-cs"/>
                      </a:rPr>
                      <m:t>𝑋</m:t>
                    </m:r>
                    <m:r>
                      <a:rPr kumimoji="0" lang="en-US" altLang="zh-CN" sz="2000" b="0" i="1" u="none" strike="noStrike" kern="1200" cap="none" spc="0" normalizeH="0" noProof="0" smtClean="0">
                        <a:ln>
                          <a:noFill/>
                        </a:ln>
                        <a:solidFill>
                          <a:prstClr val="black"/>
                        </a:solidFill>
                        <a:effectLst/>
                        <a:uLnTx/>
                        <a:uFillTx/>
                        <a:latin typeface="Cambria Math"/>
                        <a:cs typeface="+mn-cs"/>
                      </a:rPr>
                      <m:t>=</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charset="0"/>
                        <a:cs typeface="+mn-cs"/>
                      </a:rPr>
                      <m:t> </m:t>
                    </m:r>
                    <m:r>
                      <a:rPr kumimoji="0" lang="en-US" altLang="zh-CN" sz="2000" b="0" i="1" u="none" strike="noStrike" kern="1200" cap="none" spc="0" normalizeH="0" noProof="0" dirty="0" smtClean="0">
                        <a:ln>
                          <a:noFill/>
                        </a:ln>
                        <a:solidFill>
                          <a:prstClr val="black"/>
                        </a:solidFill>
                        <a:effectLst/>
                        <a:uLnTx/>
                        <a:uFillTx/>
                        <a:latin typeface="Cambria Math"/>
                        <a:cs typeface="+mn-cs"/>
                      </a:rPr>
                      <m:t>    </m:t>
                    </m:r>
                    <m:r>
                      <a:rPr kumimoji="0" lang="en-US" altLang="zh-CN" sz="2000" b="0" i="1" u="none" strike="noStrike" kern="1200" cap="none" spc="0" normalizeH="0" noProof="0" smtClean="0">
                        <a:ln>
                          <a:noFill/>
                        </a:ln>
                        <a:solidFill>
                          <a:prstClr val="black"/>
                        </a:solidFill>
                        <a:effectLst/>
                        <a:uLnTx/>
                        <a:uFillTx/>
                        <a:latin typeface="Cambria Math"/>
                        <a:cs typeface="+mn-cs"/>
                      </a:rPr>
                      <m:t>𝑊</m:t>
                    </m:r>
                    <m:r>
                      <a:rPr kumimoji="0" lang="en-US" altLang="zh-CN" sz="2000" b="0" i="0" u="none" strike="noStrike" kern="1200" cap="none" spc="0" normalizeH="0" noProof="0" smtClean="0">
                        <a:ln>
                          <a:noFill/>
                        </a:ln>
                        <a:solidFill>
                          <a:prstClr val="black"/>
                        </a:solidFill>
                        <a:effectLst/>
                        <a:uLnTx/>
                        <a:uFillTx/>
                        <a:latin typeface="Cambria Math"/>
                        <a:cs typeface="+mn-cs"/>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E6B2E14-5540-8934-99FD-39FE86435F81}"/>
                  </a:ext>
                </a:extLst>
              </p:cNvPr>
              <p:cNvSpPr>
                <a:spLocks noRot="1" noChangeAspect="1" noMove="1" noResize="1" noEditPoints="1" noAdjustHandles="1" noChangeArrowheads="1" noChangeShapeType="1" noTextEdit="1"/>
              </p:cNvSpPr>
              <p:nvPr/>
            </p:nvSpPr>
            <p:spPr>
              <a:xfrm>
                <a:off x="4766072" y="1080090"/>
                <a:ext cx="4076699" cy="404663"/>
              </a:xfrm>
              <a:prstGeom prst="rect">
                <a:avLst/>
              </a:prstGeom>
              <a:blipFill>
                <a:blip r:embed="rId2"/>
                <a:stretch>
                  <a:fillRect l="-897" b="-59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061BBAC9-C9AF-14D9-5309-7A3C1828AA93}"/>
                  </a:ext>
                </a:extLst>
              </p:cNvPr>
              <p:cNvSpPr/>
              <p:nvPr/>
            </p:nvSpPr>
            <p:spPr>
              <a:xfrm>
                <a:off x="194520" y="2430323"/>
                <a:ext cx="3219450" cy="2577372"/>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主成份分析求解目标函数为</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func>
                        <m:func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funcPr>
                        <m:fName>
                          <m:limLow>
                            <m:limLow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limLowPr>
                            <m:e>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max</m:t>
                              </m:r>
                            </m:e>
                            <m:lim>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lim>
                          </m:limLow>
                        </m:fName>
                        <m:e>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e>
                      </m:func>
                    </m:oMath>
                  </m:oMathPara>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满足约束条件</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Sup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up>
                          <m:r>
                            <m:rPr>
                              <m:sty m:val="p"/>
                            </m:rPr>
                            <a:rPr kumimoji="0" lang="en-US" altLang="zh-CN" sz="2000" b="0" i="0" u="none" strike="noStrike" kern="1200" cap="none" spc="0" normalizeH="0" noProof="0" smtClean="0">
                              <a:ln>
                                <a:noFill/>
                              </a:ln>
                              <a:solidFill>
                                <a:prstClr val="black"/>
                              </a:solidFill>
                              <a:effectLst/>
                              <a:uLnTx/>
                              <a:uFillTx/>
                              <a:latin typeface="Cambria Math"/>
                              <a:cs typeface="+mn-cs"/>
                            </a:rPr>
                            <m:t>T</m:t>
                          </m:r>
                        </m:sup>
                      </m:sSubSup>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r>
                        <a:rPr kumimoji="0" lang="en-US" altLang="zh-CN" sz="2000" b="0" i="1" u="none" strike="noStrike" kern="1200" cap="none" spc="0" normalizeH="0" noProof="0" smtClean="0">
                          <a:ln>
                            <a:noFill/>
                          </a:ln>
                          <a:solidFill>
                            <a:prstClr val="black"/>
                          </a:solidFill>
                          <a:effectLst/>
                          <a:uLnTx/>
                          <a:uFillTx/>
                          <a:latin typeface="Cambria Math"/>
                          <a:cs typeface="+mn-cs"/>
                        </a:rPr>
                        <m:t>=1     </m:t>
                      </m:r>
                      <m:r>
                        <a:rPr kumimoji="0" lang="en-US" altLang="zh-CN" sz="2000" b="0" i="1" u="none" strike="noStrike" kern="1200" cap="none" spc="0" normalizeH="0" noProof="0" smtClean="0">
                          <a:ln>
                            <a:noFill/>
                          </a:ln>
                          <a:solidFill>
                            <a:prstClr val="black"/>
                          </a:solidFill>
                          <a:effectLst/>
                          <a:uLnTx/>
                          <a:uFillTx/>
                          <a:latin typeface="Cambria Math"/>
                          <a:cs typeface="+mn-cs"/>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∈{1,2,…,</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𝑙</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mn-cs"/>
                        </a:rPr>
                        <m:t>}</m:t>
                      </m:r>
                    </m:oMath>
                  </m:oMathPara>
                </a14:m>
                <a:endParaRPr kumimoji="0" lang="zh-CN"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061BBAC9-C9AF-14D9-5309-7A3C1828AA93}"/>
                  </a:ext>
                </a:extLst>
              </p:cNvPr>
              <p:cNvSpPr>
                <a:spLocks noRot="1" noChangeAspect="1" noMove="1" noResize="1" noEditPoints="1" noAdjustHandles="1" noChangeArrowheads="1" noChangeShapeType="1" noTextEdit="1"/>
              </p:cNvSpPr>
              <p:nvPr/>
            </p:nvSpPr>
            <p:spPr>
              <a:xfrm>
                <a:off x="194520" y="2430323"/>
                <a:ext cx="3219450" cy="2577372"/>
              </a:xfrm>
              <a:prstGeom prst="rect">
                <a:avLst/>
              </a:prstGeom>
              <a:blipFill>
                <a:blip r:embed="rId3"/>
                <a:stretch>
                  <a:fillRect l="-4924"/>
                </a:stretch>
              </a:blipFill>
            </p:spPr>
            <p:txBody>
              <a:bodyPr/>
              <a:lstStyle/>
              <a:p>
                <a:r>
                  <a:rPr lang="zh-CN" altLang="en-US">
                    <a:noFill/>
                  </a:rPr>
                  <a:t> </a:t>
                </a:r>
              </a:p>
            </p:txBody>
          </p:sp>
        </mc:Fallback>
      </mc:AlternateContent>
      <p:sp>
        <p:nvSpPr>
          <p:cNvPr id="10" name="矩形 9">
            <a:extLst>
              <a:ext uri="{FF2B5EF4-FFF2-40B4-BE49-F238E27FC236}">
                <a16:creationId xmlns:a16="http://schemas.microsoft.com/office/drawing/2014/main" id="{A0D1AB09-AF5B-61D5-A8C4-17925CED6CFD}"/>
              </a:ext>
            </a:extLst>
          </p:cNvPr>
          <p:cNvSpPr/>
          <p:nvPr/>
        </p:nvSpPr>
        <p:spPr>
          <a:xfrm>
            <a:off x="48080" y="1515899"/>
            <a:ext cx="3512330"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所有带约束的最优化问题，可通过拉格朗日乘子法将其转化为无约束最优化问题</a:t>
            </a:r>
          </a:p>
        </p:txBody>
      </p:sp>
      <p:sp>
        <p:nvSpPr>
          <p:cNvPr id="11" name="右箭头 3">
            <a:extLst>
              <a:ext uri="{FF2B5EF4-FFF2-40B4-BE49-F238E27FC236}">
                <a16:creationId xmlns:a16="http://schemas.microsoft.com/office/drawing/2014/main" id="{1B8266A5-4ADF-E3C7-1D23-8418B1E9491B}"/>
              </a:ext>
            </a:extLst>
          </p:cNvPr>
          <p:cNvSpPr/>
          <p:nvPr/>
        </p:nvSpPr>
        <p:spPr>
          <a:xfrm>
            <a:off x="3219450" y="3460749"/>
            <a:ext cx="1162050" cy="571500"/>
          </a:xfrm>
          <a:prstGeom prst="right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2" name="矩形 11">
            <a:extLst>
              <a:ext uri="{FF2B5EF4-FFF2-40B4-BE49-F238E27FC236}">
                <a16:creationId xmlns:a16="http://schemas.microsoft.com/office/drawing/2014/main" id="{2B62971A-6FA0-A1FE-95AA-F178679460FE}"/>
              </a:ext>
            </a:extLst>
          </p:cNvPr>
          <p:cNvSpPr/>
          <p:nvPr/>
        </p:nvSpPr>
        <p:spPr>
          <a:xfrm>
            <a:off x="3251866" y="4320565"/>
            <a:ext cx="1149126" cy="615553"/>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拉格朗日</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函数</a:t>
            </a:r>
          </a:p>
        </p:txBody>
      </p:sp>
      <mc:AlternateContent xmlns:mc="http://schemas.openxmlformats.org/markup-compatibility/2006" xmlns:a14="http://schemas.microsoft.com/office/drawing/2010/main">
        <mc:Choice Requires="a14">
          <p:sp>
            <p:nvSpPr>
              <p:cNvPr id="13" name="矩形 12">
                <a:extLst>
                  <a:ext uri="{FF2B5EF4-FFF2-40B4-BE49-F238E27FC236}">
                    <a16:creationId xmlns:a16="http://schemas.microsoft.com/office/drawing/2014/main" id="{1971CCDC-B581-75CE-5921-DD5A57D8A720}"/>
                  </a:ext>
                </a:extLst>
              </p:cNvPr>
              <p:cNvSpPr/>
              <p:nvPr/>
            </p:nvSpPr>
            <p:spPr>
              <a:xfrm>
                <a:off x="4572000" y="1639960"/>
                <a:ext cx="4522436" cy="4250138"/>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𝐿</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trace</m:t>
                      </m:r>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
                            <m:sSub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d>
                            <m:dPr>
                              <m:ctrlP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bSup>
                                <m:sSubSupPr>
                                  <m:ctrlPr>
                                    <a:rPr kumimoji="0" lang="zh-CN"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Sup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up>
                                  <m:r>
                                    <m:rPr>
                                      <m:sty m:val="p"/>
                                    </m:rPr>
                                    <a:rPr kumimoji="0" lang="en-US" altLang="zh-CN" sz="2000" b="0" i="0" u="none" strike="noStrike" kern="1200" cap="none" spc="0" normalizeH="0" noProof="0" smtClean="0">
                                      <a:ln>
                                        <a:noFill/>
                                      </a:ln>
                                      <a:solidFill>
                                        <a:prstClr val="black"/>
                                      </a:solidFill>
                                      <a:effectLst/>
                                      <a:uLnTx/>
                                      <a:uFillTx/>
                                      <a:latin typeface="Cambria Math"/>
                                      <a:cs typeface="+mn-cs"/>
                                    </a:rPr>
                                    <m:t>T</m:t>
                                  </m:r>
                                </m:sup>
                              </m:sSubSup>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r>
                                <a:rPr kumimoji="0" lang="en-US" altLang="zh-CN" sz="2000" b="0" i="1" u="none" strike="noStrike" kern="1200" cap="none" spc="0" normalizeH="0" noProof="0" smtClean="0">
                                  <a:ln>
                                    <a:noFill/>
                                  </a:ln>
                                  <a:solidFill>
                                    <a:prstClr val="black"/>
                                  </a:solidFill>
                                  <a:effectLst/>
                                  <a:uLnTx/>
                                  <a:uFillTx/>
                                  <a:latin typeface="Cambria Math"/>
                                  <a:cs typeface="+mn-cs"/>
                                </a:rPr>
                                <m:t>−1</m:t>
                              </m:r>
                            </m:e>
                          </m:d>
                        </m:e>
                      </m:nary>
                    </m:oMath>
                  </m:oMathPara>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其中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为拉格朗日乘子，</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为矩阵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第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𝑖</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列。</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对上述拉格朗日函数中变量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求偏导并令导数为零，得到</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oMath>
                </a14:m>
                <a:r>
                  <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smtClean="0">
                            <a:ln>
                              <a:noFill/>
                            </a:ln>
                            <a:solidFill>
                              <a:prstClr val="black"/>
                            </a:solidFill>
                            <a:effectLst/>
                            <a:uLnTx/>
                            <a:uFillTx/>
                            <a:latin typeface="Cambria Math"/>
                          </a:rPr>
                          <m:t>𝑖</m:t>
                        </m:r>
                      </m:sub>
                    </m:sSub>
                  </m:oMath>
                </a14:m>
                <a:endParaRPr kumimoji="0" lang="en-US" altLang="zh-CN" sz="2000" i="1"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上式表明：每一个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a:cs typeface="+mn-cs"/>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都是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维样本数据 </a:t>
                </a:r>
                <a14:m>
                  <m:oMath xmlns:m="http://schemas.openxmlformats.org/officeDocument/2006/math">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的协方差矩阵 </a:t>
                </a: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的一个特征向量，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是这个特征向量所对应的特征值。</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13" name="矩形 12">
                <a:extLst>
                  <a:ext uri="{FF2B5EF4-FFF2-40B4-BE49-F238E27FC236}">
                    <a16:creationId xmlns:a16="http://schemas.microsoft.com/office/drawing/2014/main" id="{1971CCDC-B581-75CE-5921-DD5A57D8A720}"/>
                  </a:ext>
                </a:extLst>
              </p:cNvPr>
              <p:cNvSpPr>
                <a:spLocks noRot="1" noChangeAspect="1" noMove="1" noResize="1" noEditPoints="1" noAdjustHandles="1" noChangeArrowheads="1" noChangeShapeType="1" noTextEdit="1"/>
              </p:cNvSpPr>
              <p:nvPr/>
            </p:nvSpPr>
            <p:spPr>
              <a:xfrm>
                <a:off x="4572000" y="1639960"/>
                <a:ext cx="4522436" cy="4250138"/>
              </a:xfrm>
              <a:prstGeom prst="rect">
                <a:avLst/>
              </a:prstGeom>
              <a:blipFill>
                <a:blip r:embed="rId4"/>
                <a:stretch>
                  <a:fillRect l="-3369" r="-9030" b="-2439"/>
                </a:stretch>
              </a:blipFill>
            </p:spPr>
            <p:txBody>
              <a:bodyPr/>
              <a:lstStyle/>
              <a:p>
                <a:r>
                  <a:rPr lang="zh-CN" altLang="en-US">
                    <a:noFill/>
                  </a:rPr>
                  <a:t> </a:t>
                </a:r>
              </a:p>
            </p:txBody>
          </p:sp>
        </mc:Fallback>
      </mc:AlternateContent>
      <p:cxnSp>
        <p:nvCxnSpPr>
          <p:cNvPr id="14" name="直接连接符 13">
            <a:extLst>
              <a:ext uri="{FF2B5EF4-FFF2-40B4-BE49-F238E27FC236}">
                <a16:creationId xmlns:a16="http://schemas.microsoft.com/office/drawing/2014/main" id="{4A8AEA0F-FBE2-4CA9-CE3D-8A7017E2D20A}"/>
              </a:ext>
            </a:extLst>
          </p:cNvPr>
          <p:cNvCxnSpPr/>
          <p:nvPr/>
        </p:nvCxnSpPr>
        <p:spPr>
          <a:xfrm>
            <a:off x="499321" y="4354742"/>
            <a:ext cx="1104900" cy="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p:sp>
        <p:nvSpPr>
          <p:cNvPr id="15" name="上箭头 12">
            <a:extLst>
              <a:ext uri="{FF2B5EF4-FFF2-40B4-BE49-F238E27FC236}">
                <a16:creationId xmlns:a16="http://schemas.microsoft.com/office/drawing/2014/main" id="{80D04006-B8F9-3A49-47A3-E3B2104FA165}"/>
              </a:ext>
            </a:extLst>
          </p:cNvPr>
          <p:cNvSpPr/>
          <p:nvPr/>
        </p:nvSpPr>
        <p:spPr>
          <a:xfrm>
            <a:off x="1029156" y="4508230"/>
            <a:ext cx="45719" cy="306836"/>
          </a:xfrm>
          <a:prstGeom prst="upArrow">
            <a:avLst/>
          </a:prstGeom>
          <a:ln>
            <a:solidFill>
              <a:srgbClr val="FFC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6" name="矩形 15">
            <a:extLst>
              <a:ext uri="{FF2B5EF4-FFF2-40B4-BE49-F238E27FC236}">
                <a16:creationId xmlns:a16="http://schemas.microsoft.com/office/drawing/2014/main" id="{1614A70A-091F-D575-74E3-DE138CA2E8DE}"/>
              </a:ext>
            </a:extLst>
          </p:cNvPr>
          <p:cNvSpPr/>
          <p:nvPr/>
        </p:nvSpPr>
        <p:spPr>
          <a:xfrm>
            <a:off x="48080" y="4862066"/>
            <a:ext cx="2258120"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保证降维后结果正交以去除相关性（即冗余度）</a:t>
            </a:r>
          </a:p>
        </p:txBody>
      </p:sp>
    </p:spTree>
    <p:extLst>
      <p:ext uri="{BB962C8B-B14F-4D97-AF65-F5344CB8AC3E}">
        <p14:creationId xmlns:p14="http://schemas.microsoft.com/office/powerpoint/2010/main" val="219256935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主成分分析</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8" name="文本框 7">
            <a:extLst>
              <a:ext uri="{FF2B5EF4-FFF2-40B4-BE49-F238E27FC236}">
                <a16:creationId xmlns:a16="http://schemas.microsoft.com/office/drawing/2014/main" id="{5AB7A6FA-FFE0-6560-BB38-24A2EEEFC74C}"/>
              </a:ext>
            </a:extLst>
          </p:cNvPr>
          <p:cNvSpPr txBox="1"/>
          <p:nvPr/>
        </p:nvSpPr>
        <p:spPr>
          <a:xfrm>
            <a:off x="69399" y="862987"/>
            <a:ext cx="281044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算法</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描述</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5" name="矩形 4">
                <a:extLst>
                  <a:ext uri="{FF2B5EF4-FFF2-40B4-BE49-F238E27FC236}">
                    <a16:creationId xmlns:a16="http://schemas.microsoft.com/office/drawing/2014/main" id="{1E6B2E14-5540-8934-99FD-39FE86435F81}"/>
                  </a:ext>
                </a:extLst>
              </p:cNvPr>
              <p:cNvSpPr/>
              <p:nvPr/>
            </p:nvSpPr>
            <p:spPr>
              <a:xfrm>
                <a:off x="4766072" y="999209"/>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𝒀</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smtClean="0">
                        <a:ln>
                          <a:noFill/>
                        </a:ln>
                        <a:solidFill>
                          <a:prstClr val="black"/>
                        </a:solidFill>
                        <a:effectLst/>
                        <a:uLnTx/>
                        <a:uFillTx/>
                        <a:latin typeface="Cambria Math" charset="0"/>
                      </a:rPr>
                      <m:t> </m:t>
                    </m:r>
                    <m:r>
                      <a:rPr kumimoji="0" lang="en-US" altLang="zh-CN" sz="2000" b="0" i="1" u="none" strike="noStrike" kern="1200" cap="none" spc="0" normalizeH="0" noProof="0" dirty="0" smtClean="0">
                        <a:ln>
                          <a:noFill/>
                        </a:ln>
                        <a:solidFill>
                          <a:prstClr val="black"/>
                        </a:solidFill>
                        <a:effectLst/>
                        <a:uLnTx/>
                        <a:uFillTx/>
                        <a:latin typeface="Cambria Math"/>
                      </a:rPr>
                      <m:t>  </m:t>
                    </m:r>
                    <m:r>
                      <a:rPr kumimoji="0" lang="en-US" altLang="zh-CN" sz="2000" b="0" i="0" u="none" strike="noStrike" kern="1200" cap="none" spc="0" normalizeH="0" noProof="0" dirty="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𝑿</m:t>
                    </m:r>
                    <m:r>
                      <a:rPr kumimoji="0" lang="en-US" altLang="zh-CN" sz="2000" b="0" i="1" u="none" strike="noStrike" kern="1200" cap="none" spc="0" normalizeH="0" noProof="0" smtClean="0">
                        <a:ln>
                          <a:noFill/>
                        </a:ln>
                        <a:solidFill>
                          <a:prstClr val="black"/>
                        </a:solidFill>
                        <a:effectLst/>
                        <a:uLnTx/>
                        <a:uFillTx/>
                        <a:latin typeface="Cambria Math"/>
                      </a:rPr>
                      <m:t>=</m:t>
                    </m:r>
                  </m:oMath>
                </a14:m>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smtClean="0">
                        <a:ln>
                          <a:noFill/>
                        </a:ln>
                        <a:solidFill>
                          <a:prstClr val="black"/>
                        </a:solidFill>
                        <a:effectLst/>
                        <a:uLnTx/>
                        <a:uFillTx/>
                        <a:latin typeface="Cambria Math" charset="0"/>
                      </a:rPr>
                      <m:t> </m:t>
                    </m:r>
                    <m:r>
                      <a:rPr kumimoji="0" lang="en-US" altLang="zh-CN" sz="2000" b="0" i="1" u="none" strike="noStrike" kern="1200" cap="none" spc="0" normalizeH="0" noProof="0" dirty="0" smtClean="0">
                        <a:ln>
                          <a:noFill/>
                        </a:ln>
                        <a:solidFill>
                          <a:prstClr val="black"/>
                        </a:solidFill>
                        <a:effectLst/>
                        <a:uLnTx/>
                        <a:uFillTx/>
                        <a:latin typeface="Cambria Math"/>
                      </a:rPr>
                      <m:t>    </m:t>
                    </m:r>
                    <m:r>
                      <a:rPr kumimoji="0" lang="en-US" altLang="zh-CN" sz="2000" b="1" i="1" u="none" strike="noStrike" kern="1200" cap="none" spc="0" normalizeH="0" noProof="0" smtClean="0">
                        <a:ln>
                          <a:noFill/>
                        </a:ln>
                        <a:solidFill>
                          <a:prstClr val="black"/>
                        </a:solidFill>
                        <a:effectLst/>
                        <a:uLnTx/>
                        <a:uFillTx/>
                        <a:latin typeface="Cambria Math"/>
                      </a:rPr>
                      <m:t>𝑾</m:t>
                    </m:r>
                    <m:r>
                      <a:rPr kumimoji="0" lang="en-US" altLang="zh-CN" sz="2000" b="0" i="0"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smtClean="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5" name="矩形 4">
                <a:extLst>
                  <a:ext uri="{FF2B5EF4-FFF2-40B4-BE49-F238E27FC236}">
                    <a16:creationId xmlns:a16="http://schemas.microsoft.com/office/drawing/2014/main" id="{1E6B2E14-5540-8934-99FD-39FE86435F81}"/>
                  </a:ext>
                </a:extLst>
              </p:cNvPr>
              <p:cNvSpPr>
                <a:spLocks noRot="1" noChangeAspect="1" noMove="1" noResize="1" noEditPoints="1" noAdjustHandles="1" noChangeArrowheads="1" noChangeShapeType="1" noTextEdit="1"/>
              </p:cNvSpPr>
              <p:nvPr/>
            </p:nvSpPr>
            <p:spPr>
              <a:xfrm>
                <a:off x="4766072" y="999209"/>
                <a:ext cx="4076699" cy="404663"/>
              </a:xfrm>
              <a:prstGeom prst="rect">
                <a:avLst/>
              </a:prstGeom>
              <a:blipFill>
                <a:blip r:embed="rId2"/>
                <a:stretch>
                  <a:fillRect l="-897" b="-757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5">
                <a:extLst>
                  <a:ext uri="{FF2B5EF4-FFF2-40B4-BE49-F238E27FC236}">
                    <a16:creationId xmlns:a16="http://schemas.microsoft.com/office/drawing/2014/main" id="{3AFCD888-C3A3-825F-74AD-F83768FEDF80}"/>
                  </a:ext>
                </a:extLst>
              </p:cNvPr>
              <p:cNvSpPr/>
              <p:nvPr/>
            </p:nvSpPr>
            <p:spPr>
              <a:xfrm>
                <a:off x="1201402" y="1510299"/>
                <a:ext cx="6272551" cy="349006"/>
              </a:xfrm>
              <a:prstGeom prst="rect">
                <a:avLst/>
              </a:prstGeom>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t>𝜮</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 </m:t>
                        </m:r>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且 </a:t>
                </a:r>
                <a14:m>
                  <m:oMath xmlns:m="http://schemas.openxmlformats.org/officeDocument/2006/math">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tr</m:t>
                    </m:r>
                    <m:r>
                      <m:rPr>
                        <m:sty m:val="p"/>
                      </m:rPr>
                      <a:rPr kumimoji="0" lang="en-US" altLang="zh-CN" sz="2000" b="0"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ace</m:t>
                    </m:r>
                    <m:d>
                      <m:d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dPr>
                      <m:e>
                        <m:sSup>
                          <m:sSupPr>
                            <m:ctrlPr>
                              <a:rPr kumimoji="0" lang="en-US" altLang="zh-CN" sz="2000" b="1"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p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sup>
                            <m:r>
                              <m:rPr>
                                <m:sty m:val="p"/>
                              </m:rPr>
                              <a:rPr kumimoji="0" lang="en-US" altLang="zh-CN" sz="2000" b="0" i="0"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T</m:t>
                            </m:r>
                          </m:sup>
                        </m:sSup>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e>
                    </m:d>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Sup>
                          <m:sSubSupPr>
                            <m:ctrlPr>
                              <a:rPr kumimoji="0" lang="zh-CN" altLang="zh-CN" sz="2000" b="0" i="1" u="none" strike="noStrike" kern="1200" cap="none" spc="0" normalizeH="0" noProof="0">
                                <a:ln>
                                  <a:noFill/>
                                </a:ln>
                                <a:solidFill>
                                  <a:prstClr val="black"/>
                                </a:solidFill>
                                <a:effectLst/>
                                <a:uLnTx/>
                                <a:uFillTx/>
                                <a:latin typeface="Cambria Math" panose="02040503050406030204" pitchFamily="18" charset="0"/>
                              </a:rPr>
                            </m:ctrlPr>
                          </m:sSubSup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up>
                            <m:r>
                              <m:rPr>
                                <m:sty m:val="p"/>
                              </m:rPr>
                              <a:rPr kumimoji="0" lang="en-US" altLang="zh-CN" sz="2000" b="0" i="0" u="none" strike="noStrike" kern="1200" cap="none" spc="0" normalizeH="0" noProof="0">
                                <a:ln>
                                  <a:noFill/>
                                </a:ln>
                                <a:solidFill>
                                  <a:prstClr val="black"/>
                                </a:solidFill>
                                <a:effectLst/>
                                <a:uLnTx/>
                                <a:uFillTx/>
                                <a:latin typeface="Cambria Math"/>
                              </a:rPr>
                              <m:t>T</m:t>
                            </m:r>
                          </m:sup>
                        </m:sSubSup>
                        <m:r>
                          <a:rPr kumimoji="0" lang="el-GR" altLang="zh-CN" sz="2000" b="1" i="1" u="none" strike="noStrike" kern="1200" cap="none" spc="0" normalizeH="0" noProof="0" smtClean="0">
                            <a:ln>
                              <a:noFill/>
                            </a:ln>
                            <a:solidFill>
                              <a:prstClr val="black"/>
                            </a:solidFill>
                            <a:effectLst/>
                            <a:uLnTx/>
                            <a:uFillTx/>
                            <a:latin typeface="Cambria Math"/>
                            <a:ea typeface="Cambria Math"/>
                          </a:rPr>
                          <m:t>𝜮</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e>
                    </m:nary>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nary>
                      <m:nary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naryPr>
                      <m:sub>
                        <m:r>
                          <m:rPr>
                            <m:brk m:alnAt="23"/>
                          </m:rP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m:t>
                        </m:r>
                      </m:sub>
                      <m:sup>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sup>
                      <m:e>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𝜆</m:t>
                            </m:r>
                          </m:e>
                          <m:sub>
                            <m:r>
                              <a:rPr kumimoji="0" lang="en-US" altLang="zh-CN" sz="2000" b="0"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e>
                    </m:nary>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矩形 5">
                <a:extLst>
                  <a:ext uri="{FF2B5EF4-FFF2-40B4-BE49-F238E27FC236}">
                    <a16:creationId xmlns:a16="http://schemas.microsoft.com/office/drawing/2014/main" id="{3AFCD888-C3A3-825F-74AD-F83768FEDF80}"/>
                  </a:ext>
                </a:extLst>
              </p:cNvPr>
              <p:cNvSpPr>
                <a:spLocks noRot="1" noChangeAspect="1" noMove="1" noResize="1" noEditPoints="1" noAdjustHandles="1" noChangeArrowheads="1" noChangeShapeType="1" noTextEdit="1"/>
              </p:cNvSpPr>
              <p:nvPr/>
            </p:nvSpPr>
            <p:spPr>
              <a:xfrm>
                <a:off x="1201402" y="1510299"/>
                <a:ext cx="6272551" cy="349006"/>
              </a:xfrm>
              <a:prstGeom prst="rect">
                <a:avLst/>
              </a:prstGeom>
              <a:blipFill>
                <a:blip r:embed="rId3"/>
                <a:stretch>
                  <a:fillRect t="-149123" r="-4470" b="-219298"/>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矩形 6">
                <a:extLst>
                  <a:ext uri="{FF2B5EF4-FFF2-40B4-BE49-F238E27FC236}">
                    <a16:creationId xmlns:a16="http://schemas.microsoft.com/office/drawing/2014/main" id="{22B82FA3-0983-2253-F98D-59FD98BE19DC}"/>
                  </a:ext>
                </a:extLst>
              </p:cNvPr>
              <p:cNvSpPr/>
              <p:nvPr/>
            </p:nvSpPr>
            <p:spPr>
              <a:xfrm>
                <a:off x="144955" y="1911403"/>
                <a:ext cx="8777544" cy="1538883"/>
              </a:xfrm>
              <a:prstGeom prst="rect">
                <a:avLst/>
              </a:prstGeom>
            </p:spPr>
            <p:txBody>
              <a:bodyPr wrap="square" lIns="0" tIns="0" rIns="0" bIns="0">
                <a:spAutoFit/>
              </a:bodyPr>
              <a:lstStyle/>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可见，在主成份分析中，最优化的方差等于原始样本数据 </a:t>
                </a:r>
                <a14:m>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𝑿</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的协方差矩阵 </a:t>
                </a:r>
                <a14:m>
                  <m:oMath xmlns:m="http://schemas.openxmlformats.org/officeDocument/2006/math">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的特征根之和。</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要使方差最大，我们可以求得协方差矩阵 </a:t>
                </a:r>
                <a14:m>
                  <m:oMath xmlns:m="http://schemas.openxmlformats.org/officeDocument/2006/math">
                    <m:r>
                      <a:rPr kumimoji="0" lang="zh-CN" altLang="en-US"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𝜮</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的特征向量和特征根，然后取前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个最大特征根所对应的特征向量组成映射矩阵 </a:t>
                </a:r>
                <a14:m>
                  <m:oMath xmlns:m="http://schemas.openxmlformats.org/officeDocument/2006/math">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𝑾</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即可。</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342900" marR="0" lvl="0" indent="-342900" algn="l" defTabSz="914400" rtl="0" eaLnBrk="1" fontAlgn="auto" latinLnBrk="0" hangingPunct="1">
                  <a:spcBef>
                    <a:spcPts val="0"/>
                  </a:spcBef>
                  <a:spcAft>
                    <a:spcPts val="0"/>
                  </a:spcAft>
                  <a:buClrTx/>
                  <a:buSzTx/>
                  <a:buFont typeface="Arial" panose="020B0604020202020204" pitchFamily="34" charset="0"/>
                  <a:buChar char="•"/>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注意，每个特征向量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a:ln>
                              <a:noFill/>
                            </a:ln>
                            <a:solidFill>
                              <a:prstClr val="black"/>
                            </a:solidFill>
                            <a:effectLst/>
                            <a:uLnTx/>
                            <a:uFillTx/>
                            <a:latin typeface="Cambria Math"/>
                          </a:rPr>
                          <m:t>𝒘</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 与原始数据 </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的维数是一样的，均为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7" name="矩形 6">
                <a:extLst>
                  <a:ext uri="{FF2B5EF4-FFF2-40B4-BE49-F238E27FC236}">
                    <a16:creationId xmlns:a16="http://schemas.microsoft.com/office/drawing/2014/main" id="{22B82FA3-0983-2253-F98D-59FD98BE19DC}"/>
                  </a:ext>
                </a:extLst>
              </p:cNvPr>
              <p:cNvSpPr>
                <a:spLocks noRot="1" noChangeAspect="1" noMove="1" noResize="1" noEditPoints="1" noAdjustHandles="1" noChangeArrowheads="1" noChangeShapeType="1" noTextEdit="1"/>
              </p:cNvSpPr>
              <p:nvPr/>
            </p:nvSpPr>
            <p:spPr>
              <a:xfrm>
                <a:off x="144955" y="1911403"/>
                <a:ext cx="8777544" cy="1538883"/>
              </a:xfrm>
              <a:prstGeom prst="rect">
                <a:avLst/>
              </a:prstGeom>
              <a:blipFill>
                <a:blip r:embed="rId4"/>
                <a:stretch>
                  <a:fillRect l="-1667" t="-5952" r="-1736" b="-8730"/>
                </a:stretch>
              </a:blipFill>
            </p:spPr>
            <p:txBody>
              <a:bodyPr/>
              <a:lstStyle/>
              <a:p>
                <a:r>
                  <a:rPr lang="zh-CN" altLang="en-US">
                    <a:noFill/>
                  </a:rPr>
                  <a:t> </a:t>
                </a:r>
              </a:p>
            </p:txBody>
          </p:sp>
        </mc:Fallback>
      </mc:AlternateContent>
      <p:pic>
        <p:nvPicPr>
          <p:cNvPr id="18" name="图片 17">
            <a:extLst>
              <a:ext uri="{FF2B5EF4-FFF2-40B4-BE49-F238E27FC236}">
                <a16:creationId xmlns:a16="http://schemas.microsoft.com/office/drawing/2014/main" id="{ED58A711-FAFB-3A23-BEA6-F7350695A4E0}"/>
              </a:ext>
            </a:extLst>
          </p:cNvPr>
          <p:cNvPicPr>
            <a:picLocks noChangeAspect="1"/>
          </p:cNvPicPr>
          <p:nvPr/>
        </p:nvPicPr>
        <p:blipFill rotWithShape="1">
          <a:blip r:embed="rId5"/>
          <a:srcRect t="11084" b="939"/>
          <a:stretch/>
        </p:blipFill>
        <p:spPr>
          <a:xfrm>
            <a:off x="138962" y="3450286"/>
            <a:ext cx="9005038" cy="3166335"/>
          </a:xfrm>
          <a:prstGeom prst="rect">
            <a:avLst/>
          </a:prstGeom>
        </p:spPr>
      </p:pic>
    </p:spTree>
    <p:extLst>
      <p:ext uri="{BB962C8B-B14F-4D97-AF65-F5344CB8AC3E}">
        <p14:creationId xmlns:p14="http://schemas.microsoft.com/office/powerpoint/2010/main" val="393075968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sz="3200" dirty="0">
                <a:latin typeface="Arial" panose="020B0604020202020204" pitchFamily="34" charset="0"/>
                <a:ea typeface="黑体" panose="02010609060101010101" pitchFamily="49" charset="-122"/>
              </a:rPr>
              <a:t>基于特征人脸的降维</a:t>
            </a:r>
          </a:p>
        </p:txBody>
      </p:sp>
      <mc:AlternateContent xmlns:mc="http://schemas.openxmlformats.org/markup-compatibility/2006">
        <mc:Choice xmlns:a14="http://schemas.microsoft.com/office/drawing/2010/main" Requires="a14">
          <p:sp>
            <p:nvSpPr>
              <p:cNvPr id="4" name="矩形 3">
                <a:extLst>
                  <a:ext uri="{FF2B5EF4-FFF2-40B4-BE49-F238E27FC236}">
                    <a16:creationId xmlns:a16="http://schemas.microsoft.com/office/drawing/2014/main" id="{B645ADDB-8076-83BC-CD57-3F7C995D4479}"/>
                  </a:ext>
                </a:extLst>
              </p:cNvPr>
              <p:cNvSpPr/>
              <p:nvPr/>
            </p:nvSpPr>
            <p:spPr>
              <a:xfrm>
                <a:off x="38101" y="1171091"/>
                <a:ext cx="8982075" cy="864917"/>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将每幅人脸分别与每个特征人脸做矩阵乘法，得到一个相关系数</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每幅人脸得到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个相关系数</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每幅人脸从</a:t>
                </a:r>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1024</a:t>
                </a: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维约减到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p:sp>
            <p:nvSpPr>
              <p:cNvPr id="4" name="矩形 3">
                <a:extLst>
                  <a:ext uri="{FF2B5EF4-FFF2-40B4-BE49-F238E27FC236}">
                    <a16:creationId xmlns:a16="http://schemas.microsoft.com/office/drawing/2014/main" id="{B645ADDB-8076-83BC-CD57-3F7C995D4479}"/>
                  </a:ext>
                </a:extLst>
              </p:cNvPr>
              <p:cNvSpPr>
                <a:spLocks noRot="1" noChangeAspect="1" noMove="1" noResize="1" noEditPoints="1" noAdjustHandles="1" noChangeArrowheads="1" noChangeShapeType="1" noTextEdit="1"/>
              </p:cNvSpPr>
              <p:nvPr/>
            </p:nvSpPr>
            <p:spPr>
              <a:xfrm>
                <a:off x="38101" y="1171091"/>
                <a:ext cx="8982075" cy="864917"/>
              </a:xfrm>
              <a:prstGeom prst="rect">
                <a:avLst/>
              </a:prstGeom>
              <a:blipFill>
                <a:blip r:embed="rId2"/>
                <a:stretch>
                  <a:fillRect l="-1628" b="-17606"/>
                </a:stretch>
              </a:blipFill>
            </p:spPr>
            <p:txBody>
              <a:bodyPr/>
              <a:lstStyle/>
              <a:p>
                <a:r>
                  <a:rPr lang="zh-CN" altLang="en-US">
                    <a:noFill/>
                  </a:rPr>
                  <a:t> </a:t>
                </a:r>
              </a:p>
            </p:txBody>
          </p:sp>
        </mc:Fallback>
      </mc:AlternateContent>
      <p:pic>
        <p:nvPicPr>
          <p:cNvPr id="5" name="Picture 2">
            <a:extLst>
              <a:ext uri="{FF2B5EF4-FFF2-40B4-BE49-F238E27FC236}">
                <a16:creationId xmlns:a16="http://schemas.microsoft.com/office/drawing/2014/main" id="{32379EC3-604B-D373-49B2-825BE70D5A7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346856" y="3820257"/>
            <a:ext cx="577194" cy="673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6" name="TextBox 10">
                <a:extLst>
                  <a:ext uri="{FF2B5EF4-FFF2-40B4-BE49-F238E27FC236}">
                    <a16:creationId xmlns:a16="http://schemas.microsoft.com/office/drawing/2014/main" id="{89A3B39B-2B14-A2BB-0E92-110B35C62A44}"/>
                  </a:ext>
                </a:extLst>
              </p:cNvPr>
              <p:cNvSpPr txBox="1"/>
              <p:nvPr/>
            </p:nvSpPr>
            <p:spPr>
              <a:xfrm>
                <a:off x="2054639" y="2962491"/>
                <a:ext cx="1125180" cy="22132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eqArr>
                                <m:eqArr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eqArr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qArr>
                            </m:e>
                          </m:d>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1024</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6" name="TextBox 10">
                <a:extLst>
                  <a:ext uri="{FF2B5EF4-FFF2-40B4-BE49-F238E27FC236}">
                    <a16:creationId xmlns:a16="http://schemas.microsoft.com/office/drawing/2014/main" id="{89A3B39B-2B14-A2BB-0E92-110B35C62A44}"/>
                  </a:ext>
                </a:extLst>
              </p:cNvPr>
              <p:cNvSpPr txBox="1">
                <a:spLocks noRot="1" noChangeAspect="1" noMove="1" noResize="1" noEditPoints="1" noAdjustHandles="1" noChangeArrowheads="1" noChangeShapeType="1" noTextEdit="1"/>
              </p:cNvSpPr>
              <p:nvPr/>
            </p:nvSpPr>
            <p:spPr>
              <a:xfrm>
                <a:off x="2054639" y="2962491"/>
                <a:ext cx="1125180" cy="2213235"/>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A6286591-1E29-9F45-BD77-855403D2BDB6}"/>
                  </a:ext>
                </a:extLst>
              </p:cNvPr>
              <p:cNvSpPr/>
              <p:nvPr/>
            </p:nvSpPr>
            <p:spPr>
              <a:xfrm>
                <a:off x="2625554" y="2827608"/>
                <a:ext cx="222817"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m:rPr>
                          <m:sty m:val="p"/>
                        </m:rP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9" name="矩形 8">
                <a:extLst>
                  <a:ext uri="{FF2B5EF4-FFF2-40B4-BE49-F238E27FC236}">
                    <a16:creationId xmlns:a16="http://schemas.microsoft.com/office/drawing/2014/main" id="{A6286591-1E29-9F45-BD77-855403D2BDB6}"/>
                  </a:ext>
                </a:extLst>
              </p:cNvPr>
              <p:cNvSpPr>
                <a:spLocks noRot="1" noChangeAspect="1" noMove="1" noResize="1" noEditPoints="1" noAdjustHandles="1" noChangeArrowheads="1" noChangeShapeType="1" noTextEdit="1"/>
              </p:cNvSpPr>
              <p:nvPr/>
            </p:nvSpPr>
            <p:spPr>
              <a:xfrm>
                <a:off x="2625554" y="2827608"/>
                <a:ext cx="222817" cy="307777"/>
              </a:xfrm>
              <a:prstGeom prst="rect">
                <a:avLst/>
              </a:prstGeom>
              <a:blipFill>
                <a:blip r:embed="rId5"/>
                <a:stretch>
                  <a:fillRect l="-25000" r="-25000" b="-10000"/>
                </a:stretch>
              </a:blipFill>
            </p:spPr>
            <p:txBody>
              <a:bodyPr/>
              <a:lstStyle/>
              <a:p>
                <a:r>
                  <a:rPr lang="zh-CN" altLang="en-US">
                    <a:noFill/>
                  </a:rPr>
                  <a:t> </a:t>
                </a:r>
              </a:p>
            </p:txBody>
          </p:sp>
        </mc:Fallback>
      </mc:AlternateContent>
      <p:pic>
        <p:nvPicPr>
          <p:cNvPr id="10" name="Picture 2">
            <a:extLst>
              <a:ext uri="{FF2B5EF4-FFF2-40B4-BE49-F238E27FC236}">
                <a16:creationId xmlns:a16="http://schemas.microsoft.com/office/drawing/2014/main" id="{DECDBED7-09A0-6476-1326-F9F3C97FE4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21318" y="3870101"/>
            <a:ext cx="545857" cy="61446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1" name="TextBox 11">
                <a:extLst>
                  <a:ext uri="{FF2B5EF4-FFF2-40B4-BE49-F238E27FC236}">
                    <a16:creationId xmlns:a16="http://schemas.microsoft.com/office/drawing/2014/main" id="{CF72B609-FD93-BEFD-0493-3B976AFFB2DE}"/>
                  </a:ext>
                </a:extLst>
              </p:cNvPr>
              <p:cNvSpPr txBox="1"/>
              <p:nvPr/>
            </p:nvSpPr>
            <p:spPr>
              <a:xfrm>
                <a:off x="4188239" y="2925774"/>
                <a:ext cx="1125180" cy="2213235"/>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dPr>
                            <m:e>
                              <m:eqArr>
                                <m:eqArr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eqArr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
                                  <m:r>
                                    <a:rPr kumimoji="0" lang="en-US" altLang="zh-CN" sz="2000" b="0" i="1" u="none" strike="noStrike" kern="1200" cap="none" spc="0" normalizeH="0" noProof="0" smtClean="0">
                                      <a:ln>
                                        <a:noFill/>
                                      </a:ln>
                                      <a:solidFill>
                                        <a:prstClr val="black"/>
                                      </a:solidFill>
                                      <a:effectLst/>
                                      <a:uLnTx/>
                                      <a:uFillTx/>
                                      <a:latin typeface="Cambria Math"/>
                                    </a:rPr>
                                    <m:t>…</m:t>
                                  </m:r>
                                </m:e>
                              </m:eqArr>
                            </m:e>
                          </m:d>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1024</m:t>
                          </m:r>
                          <m:r>
                            <a:rPr kumimoji="0" lang="en-US" altLang="zh-CN" sz="2000" b="0" i="1" u="none" strike="noStrike" kern="1200" cap="none" spc="0" normalizeH="0" noProof="0" smtClean="0">
                              <a:ln>
                                <a:noFill/>
                              </a:ln>
                              <a:solidFill>
                                <a:prstClr val="black"/>
                              </a:solidFill>
                              <a:effectLst/>
                              <a:uLnTx/>
                              <a:uFillTx/>
                              <a:latin typeface="Cambria Math"/>
                              <a:ea typeface="Cambria Math"/>
                            </a:rPr>
                            <m:t>×</m:t>
                          </m:r>
                          <m:r>
                            <a:rPr kumimoji="0" lang="en-US" altLang="zh-CN" sz="2000" b="0" i="1" u="none" strike="noStrike" kern="1200" cap="none" spc="0" normalizeH="0" noProof="0" smtClean="0">
                              <a:ln>
                                <a:noFill/>
                              </a:ln>
                              <a:solidFill>
                                <a:prstClr val="black"/>
                              </a:solidFill>
                              <a:effectLst/>
                              <a:uLnTx/>
                              <a:uFillTx/>
                              <a:latin typeface="Cambria Math"/>
                              <a:ea typeface="Cambria Math"/>
                            </a:rPr>
                            <m:t>1</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1" name="TextBox 11">
                <a:extLst>
                  <a:ext uri="{FF2B5EF4-FFF2-40B4-BE49-F238E27FC236}">
                    <a16:creationId xmlns:a16="http://schemas.microsoft.com/office/drawing/2014/main" id="{CF72B609-FD93-BEFD-0493-3B976AFFB2DE}"/>
                  </a:ext>
                </a:extLst>
              </p:cNvPr>
              <p:cNvSpPr txBox="1">
                <a:spLocks noRot="1" noChangeAspect="1" noMove="1" noResize="1" noEditPoints="1" noAdjustHandles="1" noChangeArrowheads="1" noChangeShapeType="1" noTextEdit="1"/>
              </p:cNvSpPr>
              <p:nvPr/>
            </p:nvSpPr>
            <p:spPr>
              <a:xfrm>
                <a:off x="4188239" y="2925774"/>
                <a:ext cx="1125180" cy="2213235"/>
              </a:xfrm>
              <a:prstGeom prst="rect">
                <a:avLst/>
              </a:prstGeom>
              <a:blipFill>
                <a:blip r:embed="rId7"/>
                <a:stretch>
                  <a:fillRect/>
                </a:stretch>
              </a:blipFill>
            </p:spPr>
            <p:txBody>
              <a:bodyPr/>
              <a:lstStyle/>
              <a:p>
                <a:r>
                  <a:rPr lang="zh-CN" altLang="en-US">
                    <a:noFill/>
                  </a:rPr>
                  <a:t> </a:t>
                </a:r>
              </a:p>
            </p:txBody>
          </p:sp>
        </mc:Fallback>
      </mc:AlternateContent>
      <p:sp>
        <p:nvSpPr>
          <p:cNvPr id="12" name="右箭头 3">
            <a:extLst>
              <a:ext uri="{FF2B5EF4-FFF2-40B4-BE49-F238E27FC236}">
                <a16:creationId xmlns:a16="http://schemas.microsoft.com/office/drawing/2014/main" id="{A12EF6D1-3A60-7E8D-2DCE-25905084A236}"/>
              </a:ext>
            </a:extLst>
          </p:cNvPr>
          <p:cNvSpPr/>
          <p:nvPr/>
        </p:nvSpPr>
        <p:spPr>
          <a:xfrm>
            <a:off x="5240534" y="4006357"/>
            <a:ext cx="569717" cy="618395"/>
          </a:xfrm>
          <a:prstGeom prst="rightArrow">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p:sp>
        <p:nvSpPr>
          <p:cNvPr id="13" name="圆角矩形 14">
            <a:extLst>
              <a:ext uri="{FF2B5EF4-FFF2-40B4-BE49-F238E27FC236}">
                <a16:creationId xmlns:a16="http://schemas.microsoft.com/office/drawing/2014/main" id="{9202564B-8B01-9E70-054A-B04BDA92093A}"/>
              </a:ext>
            </a:extLst>
          </p:cNvPr>
          <p:cNvSpPr/>
          <p:nvPr/>
        </p:nvSpPr>
        <p:spPr>
          <a:xfrm>
            <a:off x="6086476" y="3520343"/>
            <a:ext cx="1819275" cy="1597756"/>
          </a:xfrm>
          <a:prstGeom prst="roundRec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每幅人脸图像与特征人脸做矩阵乘法得到一个相关系数</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14" name="文本框 13">
                <a:extLst>
                  <a:ext uri="{FF2B5EF4-FFF2-40B4-BE49-F238E27FC236}">
                    <a16:creationId xmlns:a16="http://schemas.microsoft.com/office/drawing/2014/main" id="{42A8AA20-7385-5906-CA3D-394C967E0AD0}"/>
                  </a:ext>
                </a:extLst>
              </p:cNvPr>
              <p:cNvSpPr txBox="1"/>
              <p:nvPr/>
            </p:nvSpPr>
            <p:spPr>
              <a:xfrm>
                <a:off x="2624771" y="2207112"/>
                <a:ext cx="1447191" cy="332463"/>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𝒚</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𝑖𝑗</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𝒙</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sub>
                      </m:sSub>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cs typeface="+mn-cs"/>
                            </a:rPr>
                            <m:t>𝒘</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𝑗</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mn-cs"/>
                </a:endParaRPr>
              </a:p>
            </p:txBody>
          </p:sp>
        </mc:Choice>
        <mc:Fallback xmlns="">
          <p:sp>
            <p:nvSpPr>
              <p:cNvPr id="14" name="文本框 13">
                <a:extLst>
                  <a:ext uri="{FF2B5EF4-FFF2-40B4-BE49-F238E27FC236}">
                    <a16:creationId xmlns:a16="http://schemas.microsoft.com/office/drawing/2014/main" id="{42A8AA20-7385-5906-CA3D-394C967E0AD0}"/>
                  </a:ext>
                </a:extLst>
              </p:cNvPr>
              <p:cNvSpPr txBox="1">
                <a:spLocks noRot="1" noChangeAspect="1" noMove="1" noResize="1" noEditPoints="1" noAdjustHandles="1" noChangeArrowheads="1" noChangeShapeType="1" noTextEdit="1"/>
              </p:cNvSpPr>
              <p:nvPr/>
            </p:nvSpPr>
            <p:spPr>
              <a:xfrm>
                <a:off x="2624771" y="2207112"/>
                <a:ext cx="1447191" cy="332463"/>
              </a:xfrm>
              <a:prstGeom prst="rect">
                <a:avLst/>
              </a:prstGeom>
              <a:blipFill>
                <a:blip r:embed="rId8"/>
                <a:stretch>
                  <a:fillRect l="-3797" r="-2532" b="-254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5" name="矩形 14">
                <a:extLst>
                  <a:ext uri="{FF2B5EF4-FFF2-40B4-BE49-F238E27FC236}">
                    <a16:creationId xmlns:a16="http://schemas.microsoft.com/office/drawing/2014/main" id="{DC310A53-A252-8515-7E88-71119095D1F0}"/>
                  </a:ext>
                </a:extLst>
              </p:cNvPr>
              <p:cNvSpPr/>
              <p:nvPr/>
            </p:nvSpPr>
            <p:spPr>
              <a:xfrm>
                <a:off x="4818750" y="844403"/>
                <a:ext cx="4076699" cy="404663"/>
              </a:xfrm>
              <a:prstGeom prst="rect">
                <a:avLst/>
              </a:prstGeom>
            </p:spPr>
            <p:txBody>
              <a:bodyPr wrap="square" lIns="0" tIns="0" rIns="0" bIns="0">
                <a:spAutoFit/>
              </a:bodyPr>
              <a:lstStyle/>
              <a:p>
                <a:pPr marL="0" marR="0" lvl="0" indent="0" algn="l" defTabSz="914400" rtl="0" eaLnBrk="1" fontAlgn="auto" latinLnBrk="0" hangingPunct="1">
                  <a:lnSpc>
                    <a:spcPct val="150000"/>
                  </a:lnSpc>
                  <a:spcBef>
                    <a:spcPts val="0"/>
                  </a:spcBef>
                  <a:spcAft>
                    <a:spcPts val="0"/>
                  </a:spcAft>
                  <a:buClr>
                    <a:srgbClr val="2665AB"/>
                  </a:buClr>
                  <a:buSzPct val="100000"/>
                  <a:buFontTx/>
                  <a:buNone/>
                  <a:tabLst/>
                  <a:defRPr/>
                </a:pPr>
                <a14:m>
                  <m:oMath xmlns:m="http://schemas.openxmlformats.org/officeDocument/2006/math">
                    <m:r>
                      <a:rPr kumimoji="0" lang="en-US" altLang="zh-CN" sz="2000" b="1"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 </m:t>
                    </m:r>
                    <m:r>
                      <a:rPr kumimoji="0" lang="en-US" altLang="zh-CN" sz="2000" b="1" i="0"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𝐘</m:t>
                    </m:r>
                    <m:r>
                      <a:rPr kumimoji="0" lang="en-US" altLang="zh-CN" sz="2000" b="1" i="1" u="none" strike="noStrike" kern="1200" cap="none" spc="0" normalizeH="0" noProof="0" smtClean="0">
                        <a:ln>
                          <a:noFill/>
                        </a:ln>
                        <a:solidFill>
                          <a:prstClr val="black"/>
                        </a:solidFill>
                        <a:effectLst/>
                        <a:uLnTx/>
                        <a:uFillTx/>
                        <a:latin typeface="Cambria Math"/>
                        <a:ea typeface="黑体" panose="02010609060101010101" pitchFamily="49" charset="-122"/>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1"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a:ln>
                          <a:noFill/>
                        </a:ln>
                        <a:solidFill>
                          <a:prstClr val="black"/>
                        </a:solidFill>
                        <a:effectLst/>
                        <a:uLnTx/>
                        <a:uFillTx/>
                        <a:latin typeface="Cambria Math"/>
                      </a:rPr>
                      <m:t>𝐗</m:t>
                    </m:r>
                    <m:r>
                      <a:rPr kumimoji="0" lang="en-US" altLang="zh-CN" sz="2000" b="1" i="1" u="none" strike="noStrike" kern="1200" cap="none" spc="0" normalizeH="0" noProof="0" smtClean="0">
                        <a:ln>
                          <a:noFill/>
                        </a:ln>
                        <a:solidFill>
                          <a:prstClr val="black"/>
                        </a:solidFill>
                        <a:effectLst/>
                        <a:uLnTx/>
                        <a:uFillTx/>
                        <a:latin typeface="Cambria Math"/>
                      </a:rPr>
                      <m:t>=</m:t>
                    </m:r>
                  </m:oMath>
                </a14:m>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 </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𝑛</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𝑑</m:t>
                    </m:r>
                    <m:r>
                      <a:rPr kumimoji="0" lang="en-US" altLang="zh-CN" sz="2000" b="0" i="1" u="none" strike="noStrike" kern="1200" cap="none" spc="0" normalizeH="0" noProof="0" dirty="0">
                        <a:ln>
                          <a:noFill/>
                        </a:ln>
                        <a:solidFill>
                          <a:prstClr val="black"/>
                        </a:solidFill>
                        <a:effectLst/>
                        <a:uLnTx/>
                        <a:uFillTx/>
                        <a:latin typeface="Cambria Math" charset="0"/>
                      </a:rPr>
                      <m:t> </m:t>
                    </m:r>
                    <m:r>
                      <a:rPr kumimoji="0" lang="en-US" altLang="zh-CN" sz="2000" b="1" i="1" u="none" strike="noStrike" kern="1200" cap="none" spc="0" normalizeH="0" noProof="0" dirty="0" smtClean="0">
                        <a:ln>
                          <a:noFill/>
                        </a:ln>
                        <a:solidFill>
                          <a:prstClr val="black"/>
                        </a:solidFill>
                        <a:effectLst/>
                        <a:uLnTx/>
                        <a:uFillTx/>
                        <a:latin typeface="Cambria Math"/>
                      </a:rPr>
                      <m:t>    </m:t>
                    </m:r>
                    <m:r>
                      <a:rPr kumimoji="0" lang="en-US" altLang="zh-CN" sz="2000" b="1" i="0" u="none" strike="noStrike" kern="1200" cap="none" spc="0" normalizeH="0" noProof="0">
                        <a:ln>
                          <a:noFill/>
                        </a:ln>
                        <a:solidFill>
                          <a:prstClr val="black"/>
                        </a:solidFill>
                        <a:effectLst/>
                        <a:uLnTx/>
                        <a:uFillTx/>
                        <a:latin typeface="Cambria Math"/>
                      </a:rPr>
                      <m:t>𝐖</m:t>
                    </m:r>
                    <m:r>
                      <a:rPr kumimoji="0" lang="en-US" altLang="zh-CN" sz="2000" b="1" i="0" u="none" strike="noStrike" kern="1200" cap="none" spc="0" normalizeH="0" noProof="0" smtClean="0">
                        <a:ln>
                          <a:noFill/>
                        </a:ln>
                        <a:solidFill>
                          <a:prstClr val="black"/>
                        </a:solidFill>
                        <a:effectLst/>
                        <a:uLnTx/>
                        <a:uFillTx/>
                        <a:latin typeface="Cambria Math"/>
                      </a:rPr>
                      <m:t>=</m:t>
                    </m:r>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𝑑</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m:t>
                    </m:r>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5" name="矩形 14">
                <a:extLst>
                  <a:ext uri="{FF2B5EF4-FFF2-40B4-BE49-F238E27FC236}">
                    <a16:creationId xmlns:a16="http://schemas.microsoft.com/office/drawing/2014/main" id="{DC310A53-A252-8515-7E88-71119095D1F0}"/>
                  </a:ext>
                </a:extLst>
              </p:cNvPr>
              <p:cNvSpPr>
                <a:spLocks noRot="1" noChangeAspect="1" noMove="1" noResize="1" noEditPoints="1" noAdjustHandles="1" noChangeArrowheads="1" noChangeShapeType="1" noTextEdit="1"/>
              </p:cNvSpPr>
              <p:nvPr/>
            </p:nvSpPr>
            <p:spPr>
              <a:xfrm>
                <a:off x="4818750" y="844403"/>
                <a:ext cx="4076699" cy="404663"/>
              </a:xfrm>
              <a:prstGeom prst="rect">
                <a:avLst/>
              </a:prstGeom>
              <a:blipFill>
                <a:blip r:embed="rId9"/>
                <a:stretch>
                  <a:fillRect l="-747" b="-7576"/>
                </a:stretch>
              </a:blipFill>
            </p:spPr>
            <p:txBody>
              <a:bodyPr/>
              <a:lstStyle/>
              <a:p>
                <a:r>
                  <a:rPr lang="zh-CN" altLang="en-US">
                    <a:noFill/>
                  </a:rPr>
                  <a:t> </a:t>
                </a:r>
              </a:p>
            </p:txBody>
          </p:sp>
        </mc:Fallback>
      </mc:AlternateContent>
      <p:sp>
        <p:nvSpPr>
          <p:cNvPr id="2" name="文本框 1">
            <a:extLst>
              <a:ext uri="{FF2B5EF4-FFF2-40B4-BE49-F238E27FC236}">
                <a16:creationId xmlns:a16="http://schemas.microsoft.com/office/drawing/2014/main" id="{5C4CE732-EEA2-1C4C-6C87-96FA9236FB8E}"/>
              </a:ext>
            </a:extLst>
          </p:cNvPr>
          <p:cNvSpPr txBox="1"/>
          <p:nvPr/>
        </p:nvSpPr>
        <p:spPr>
          <a:xfrm>
            <a:off x="1616057" y="2200313"/>
            <a:ext cx="877163" cy="369332"/>
          </a:xfrm>
          <a:prstGeom prst="rect">
            <a:avLst/>
          </a:prstGeom>
          <a:noFill/>
        </p:spPr>
        <p:txBody>
          <a:bodyPr wrap="none" rtlCol="0">
            <a:spAutoFit/>
          </a:bodyPr>
          <a:lstStyle/>
          <a:p>
            <a:r>
              <a:rPr lang="zh-CN" altLang="en-US" dirty="0"/>
              <a:t>降维后</a:t>
            </a:r>
          </a:p>
        </p:txBody>
      </p:sp>
    </p:spTree>
    <p:extLst>
      <p:ext uri="{BB962C8B-B14F-4D97-AF65-F5344CB8AC3E}">
        <p14:creationId xmlns:p14="http://schemas.microsoft.com/office/powerpoint/2010/main" val="3502520613"/>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sz="3200" dirty="0">
                <a:latin typeface="Arial" panose="020B0604020202020204" pitchFamily="34" charset="0"/>
                <a:ea typeface="黑体" panose="02010609060101010101" pitchFamily="49" charset="-122"/>
              </a:rPr>
              <a:t>基于特征人脸的降维</a:t>
            </a: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DB97534F-9720-B269-59D7-0724B92D08FF}"/>
                  </a:ext>
                </a:extLst>
              </p:cNvPr>
              <p:cNvSpPr/>
              <p:nvPr/>
            </p:nvSpPr>
            <p:spPr>
              <a:xfrm>
                <a:off x="80963" y="1231523"/>
                <a:ext cx="8982075" cy="1327992"/>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由于每幅人脸是所有特征人脸的线性组合，因此就实现人脸从“像素点表达”到“特征人脸表达”的转变。每幅人脸从</a:t>
                </a:r>
                <a:r>
                  <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1024</a:t>
                </a: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维约减到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维。</a:t>
                </a: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DB97534F-9720-B269-59D7-0724B92D08FF}"/>
                  </a:ext>
                </a:extLst>
              </p:cNvPr>
              <p:cNvSpPr>
                <a:spLocks noRot="1" noChangeAspect="1" noMove="1" noResize="1" noEditPoints="1" noAdjustHandles="1" noChangeArrowheads="1" noChangeShapeType="1" noTextEdit="1"/>
              </p:cNvSpPr>
              <p:nvPr/>
            </p:nvSpPr>
            <p:spPr>
              <a:xfrm>
                <a:off x="80963" y="1231523"/>
                <a:ext cx="8982075" cy="1327992"/>
              </a:xfrm>
              <a:prstGeom prst="rect">
                <a:avLst/>
              </a:prstGeom>
              <a:blipFill>
                <a:blip r:embed="rId2"/>
                <a:stretch>
                  <a:fillRect l="-1628" r="-1085"/>
                </a:stretch>
              </a:blipFill>
            </p:spPr>
            <p:txBody>
              <a:bodyPr/>
              <a:lstStyle/>
              <a:p>
                <a:r>
                  <a:rPr lang="zh-CN" altLang="en-US">
                    <a:noFill/>
                  </a:rPr>
                  <a:t> </a:t>
                </a:r>
              </a:p>
            </p:txBody>
          </p:sp>
        </mc:Fallback>
      </mc:AlternateContent>
      <p:pic>
        <p:nvPicPr>
          <p:cNvPr id="3" name="Picture 5">
            <a:extLst>
              <a:ext uri="{FF2B5EF4-FFF2-40B4-BE49-F238E27FC236}">
                <a16:creationId xmlns:a16="http://schemas.microsoft.com/office/drawing/2014/main" id="{C3CA85DE-4DB2-5C0A-5C3D-6F44392AB87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84731" y="2749550"/>
            <a:ext cx="545933" cy="787401"/>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7" name="TextBox 9">
                <a:extLst>
                  <a:ext uri="{FF2B5EF4-FFF2-40B4-BE49-F238E27FC236}">
                    <a16:creationId xmlns:a16="http://schemas.microsoft.com/office/drawing/2014/main" id="{1CF5DD63-40C5-6B26-B28C-90E56775FECD}"/>
                  </a:ext>
                </a:extLst>
              </p:cNvPr>
              <p:cNvSpPr txBox="1"/>
              <p:nvPr/>
            </p:nvSpPr>
            <p:spPr>
              <a:xfrm>
                <a:off x="774083" y="2947829"/>
                <a:ext cx="262892"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7" name="TextBox 9">
                <a:extLst>
                  <a:ext uri="{FF2B5EF4-FFF2-40B4-BE49-F238E27FC236}">
                    <a16:creationId xmlns:a16="http://schemas.microsoft.com/office/drawing/2014/main" id="{1CF5DD63-40C5-6B26-B28C-90E56775FECD}"/>
                  </a:ext>
                </a:extLst>
              </p:cNvPr>
              <p:cNvSpPr txBox="1">
                <a:spLocks noRot="1" noChangeAspect="1" noMove="1" noResize="1" noEditPoints="1" noAdjustHandles="1" noChangeArrowheads="1" noChangeShapeType="1" noTextEdit="1"/>
              </p:cNvSpPr>
              <p:nvPr/>
            </p:nvSpPr>
            <p:spPr>
              <a:xfrm>
                <a:off x="774083" y="2947829"/>
                <a:ext cx="262892" cy="307777"/>
              </a:xfrm>
              <a:prstGeom prst="rect">
                <a:avLst/>
              </a:prstGeom>
              <a:blipFill>
                <a:blip r:embed="rId4"/>
                <a:stretch>
                  <a:fillRect l="-9302" r="-6977"/>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TextBox 17">
                <a:extLst>
                  <a:ext uri="{FF2B5EF4-FFF2-40B4-BE49-F238E27FC236}">
                    <a16:creationId xmlns:a16="http://schemas.microsoft.com/office/drawing/2014/main" id="{68AD891C-B05D-252C-E591-3CC9A8EF6A42}"/>
                  </a:ext>
                </a:extLst>
              </p:cNvPr>
              <p:cNvSpPr txBox="1"/>
              <p:nvPr/>
            </p:nvSpPr>
            <p:spPr>
              <a:xfrm>
                <a:off x="1131829" y="2947829"/>
                <a:ext cx="64953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Sub>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8" name="TextBox 17">
                <a:extLst>
                  <a:ext uri="{FF2B5EF4-FFF2-40B4-BE49-F238E27FC236}">
                    <a16:creationId xmlns:a16="http://schemas.microsoft.com/office/drawing/2014/main" id="{68AD891C-B05D-252C-E591-3CC9A8EF6A42}"/>
                  </a:ext>
                </a:extLst>
              </p:cNvPr>
              <p:cNvSpPr txBox="1">
                <a:spLocks noRot="1" noChangeAspect="1" noMove="1" noResize="1" noEditPoints="1" noAdjustHandles="1" noChangeArrowheads="1" noChangeShapeType="1" noTextEdit="1"/>
              </p:cNvSpPr>
              <p:nvPr/>
            </p:nvSpPr>
            <p:spPr>
              <a:xfrm>
                <a:off x="1131829" y="2947829"/>
                <a:ext cx="649537" cy="307777"/>
              </a:xfrm>
              <a:prstGeom prst="rect">
                <a:avLst/>
              </a:prstGeom>
              <a:blipFill>
                <a:blip r:embed="rId5"/>
                <a:stretch>
                  <a:fillRect l="-4717" r="-6604" b="-22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6" name="TextBox 18">
                <a:extLst>
                  <a:ext uri="{FF2B5EF4-FFF2-40B4-BE49-F238E27FC236}">
                    <a16:creationId xmlns:a16="http://schemas.microsoft.com/office/drawing/2014/main" id="{803FEA90-DD1D-4D7E-2CE3-88373AAD5827}"/>
                  </a:ext>
                </a:extLst>
              </p:cNvPr>
              <p:cNvSpPr txBox="1"/>
              <p:nvPr/>
            </p:nvSpPr>
            <p:spPr>
              <a:xfrm>
                <a:off x="2361951" y="2966880"/>
                <a:ext cx="841897" cy="307777"/>
              </a:xfrm>
              <a:prstGeom prst="rect">
                <a:avLst/>
              </a:prstGeom>
              <a:noFill/>
            </p:spPr>
            <p:txBody>
              <a:bodyPr wrap="non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smtClean="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2</m:t>
                          </m:r>
                        </m:sub>
                      </m:sSub>
                      <m:r>
                        <a:rPr kumimoji="0" lang="en-US" altLang="zh-CN" sz="2000" b="0" i="1" u="none" strike="noStrike" kern="1200" cap="none" spc="0" normalizeH="0" noProof="0" smtClean="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6" name="TextBox 18">
                <a:extLst>
                  <a:ext uri="{FF2B5EF4-FFF2-40B4-BE49-F238E27FC236}">
                    <a16:creationId xmlns:a16="http://schemas.microsoft.com/office/drawing/2014/main" id="{803FEA90-DD1D-4D7E-2CE3-88373AAD5827}"/>
                  </a:ext>
                </a:extLst>
              </p:cNvPr>
              <p:cNvSpPr txBox="1">
                <a:spLocks noRot="1" noChangeAspect="1" noMove="1" noResize="1" noEditPoints="1" noAdjustHandles="1" noChangeArrowheads="1" noChangeShapeType="1" noTextEdit="1"/>
              </p:cNvSpPr>
              <p:nvPr/>
            </p:nvSpPr>
            <p:spPr>
              <a:xfrm>
                <a:off x="2361951" y="2966880"/>
                <a:ext cx="841897" cy="307777"/>
              </a:xfrm>
              <a:prstGeom prst="rect">
                <a:avLst/>
              </a:prstGeom>
              <a:blipFill>
                <a:blip r:embed="rId6"/>
                <a:stretch>
                  <a:fillRect l="-5755" r="-3597" b="-22000"/>
                </a:stretch>
              </a:blipFill>
            </p:spPr>
            <p:txBody>
              <a:bodyPr/>
              <a:lstStyle/>
              <a:p>
                <a:r>
                  <a:rPr lang="zh-CN" altLang="en-US">
                    <a:noFill/>
                  </a:rPr>
                  <a:t> </a:t>
                </a:r>
              </a:p>
            </p:txBody>
          </p:sp>
        </mc:Fallback>
      </mc:AlternateContent>
      <p:pic>
        <p:nvPicPr>
          <p:cNvPr id="17" name="Picture 6">
            <a:extLst>
              <a:ext uri="{FF2B5EF4-FFF2-40B4-BE49-F238E27FC236}">
                <a16:creationId xmlns:a16="http://schemas.microsoft.com/office/drawing/2014/main" id="{88CC5F23-6346-732F-7FBC-06B33FD137E2}"/>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81802" y="2743200"/>
            <a:ext cx="514547" cy="78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8" name="Picture 7">
            <a:extLst>
              <a:ext uri="{FF2B5EF4-FFF2-40B4-BE49-F238E27FC236}">
                <a16:creationId xmlns:a16="http://schemas.microsoft.com/office/drawing/2014/main" id="{516C7421-1280-7603-0D50-774DA0663610}"/>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1840" y="2743200"/>
            <a:ext cx="630482" cy="787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19" name="矩形 18">
                <a:extLst>
                  <a:ext uri="{FF2B5EF4-FFF2-40B4-BE49-F238E27FC236}">
                    <a16:creationId xmlns:a16="http://schemas.microsoft.com/office/drawing/2014/main" id="{ACF69180-BBA3-6E9D-B071-E013AAF1B08D}"/>
                  </a:ext>
                </a:extLst>
              </p:cNvPr>
              <p:cNvSpPr/>
              <p:nvPr/>
            </p:nvSpPr>
            <p:spPr>
              <a:xfrm>
                <a:off x="3765474" y="2957183"/>
                <a:ext cx="525272"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19" name="矩形 18">
                <a:extLst>
                  <a:ext uri="{FF2B5EF4-FFF2-40B4-BE49-F238E27FC236}">
                    <a16:creationId xmlns:a16="http://schemas.microsoft.com/office/drawing/2014/main" id="{ACF69180-BBA3-6E9D-B071-E013AAF1B08D}"/>
                  </a:ext>
                </a:extLst>
              </p:cNvPr>
              <p:cNvSpPr>
                <a:spLocks noRot="1" noChangeAspect="1" noMove="1" noResize="1" noEditPoints="1" noAdjustHandles="1" noChangeArrowheads="1" noChangeShapeType="1" noTextEdit="1"/>
              </p:cNvSpPr>
              <p:nvPr/>
            </p:nvSpPr>
            <p:spPr>
              <a:xfrm>
                <a:off x="3765474" y="2957183"/>
                <a:ext cx="525272" cy="307777"/>
              </a:xfrm>
              <a:prstGeom prst="rect">
                <a:avLst/>
              </a:prstGeom>
              <a:blipFill>
                <a:blip r:embed="rId9"/>
                <a:stretch>
                  <a:fillRect l="-9302" r="-1163" b="-980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矩形 19">
                <a:extLst>
                  <a:ext uri="{FF2B5EF4-FFF2-40B4-BE49-F238E27FC236}">
                    <a16:creationId xmlns:a16="http://schemas.microsoft.com/office/drawing/2014/main" id="{DF633F30-AF2E-FD17-93FF-CEAA34DE2B60}"/>
                  </a:ext>
                </a:extLst>
              </p:cNvPr>
              <p:cNvSpPr/>
              <p:nvPr/>
            </p:nvSpPr>
            <p:spPr>
              <a:xfrm>
                <a:off x="4210634" y="2947829"/>
                <a:ext cx="805029"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a:ln>
                                <a:noFill/>
                              </a:ln>
                              <a:solidFill>
                                <a:prstClr val="black"/>
                              </a:solidFill>
                              <a:effectLst/>
                              <a:uLnTx/>
                              <a:uFillTx/>
                              <a:latin typeface="Cambria Math"/>
                              <a:ea typeface="黑体" pitchFamily="49" charset="-122"/>
                            </a:rPr>
                            <m:t>+</m:t>
                          </m:r>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𝑖𝑙</m:t>
                          </m:r>
                        </m:sub>
                      </m:sSub>
                      <m:r>
                        <a:rPr kumimoji="0" lang="en-US" altLang="zh-CN" sz="2000" b="0" i="1" u="none" strike="noStrike" kern="1200" cap="none" spc="0" normalizeH="0" noProof="0">
                          <a:ln>
                            <a:noFill/>
                          </a:ln>
                          <a:solidFill>
                            <a:prstClr val="black"/>
                          </a:solidFill>
                          <a:effectLst/>
                          <a:uLnTx/>
                          <a:uFillTx/>
                          <a:latin typeface="Cambria Math"/>
                          <a:ea typeface="Cambria Math"/>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0" name="矩形 19">
                <a:extLst>
                  <a:ext uri="{FF2B5EF4-FFF2-40B4-BE49-F238E27FC236}">
                    <a16:creationId xmlns:a16="http://schemas.microsoft.com/office/drawing/2014/main" id="{DF633F30-AF2E-FD17-93FF-CEAA34DE2B60}"/>
                  </a:ext>
                </a:extLst>
              </p:cNvPr>
              <p:cNvSpPr>
                <a:spLocks noRot="1" noChangeAspect="1" noMove="1" noResize="1" noEditPoints="1" noAdjustHandles="1" noChangeArrowheads="1" noChangeShapeType="1" noTextEdit="1"/>
              </p:cNvSpPr>
              <p:nvPr/>
            </p:nvSpPr>
            <p:spPr>
              <a:xfrm>
                <a:off x="4210634" y="2947829"/>
                <a:ext cx="805029" cy="307777"/>
              </a:xfrm>
              <a:prstGeom prst="rect">
                <a:avLst/>
              </a:prstGeom>
              <a:blipFill>
                <a:blip r:embed="rId10"/>
                <a:stretch>
                  <a:fillRect l="-6061" r="-4545" b="-22000"/>
                </a:stretch>
              </a:blipFill>
            </p:spPr>
            <p:txBody>
              <a:bodyPr/>
              <a:lstStyle/>
              <a:p>
                <a:r>
                  <a:rPr lang="zh-CN" altLang="en-US">
                    <a:noFill/>
                  </a:rPr>
                  <a:t> </a:t>
                </a:r>
              </a:p>
            </p:txBody>
          </p:sp>
        </mc:Fallback>
      </mc:AlternateContent>
      <p:pic>
        <p:nvPicPr>
          <p:cNvPr id="21" name="Picture 8">
            <a:extLst>
              <a:ext uri="{FF2B5EF4-FFF2-40B4-BE49-F238E27FC236}">
                <a16:creationId xmlns:a16="http://schemas.microsoft.com/office/drawing/2014/main" id="{2BBF99CB-9D9A-0EE3-2437-4C8D7262304E}"/>
              </a:ext>
            </a:extLst>
          </p:cNvPr>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5072988" y="2698750"/>
            <a:ext cx="651140" cy="92710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22" name="直接连接符 21">
            <a:extLst>
              <a:ext uri="{FF2B5EF4-FFF2-40B4-BE49-F238E27FC236}">
                <a16:creationId xmlns:a16="http://schemas.microsoft.com/office/drawing/2014/main" id="{7EC83216-133F-FA20-A353-8D51F2B214DF}"/>
              </a:ext>
            </a:extLst>
          </p:cNvPr>
          <p:cNvCxnSpPr/>
          <p:nvPr/>
        </p:nvCxnSpPr>
        <p:spPr>
          <a:xfrm flipV="1">
            <a:off x="1372836" y="3959982"/>
            <a:ext cx="3919538" cy="25400"/>
          </a:xfrm>
          <a:prstGeom prst="line">
            <a:avLst/>
          </a:prstGeom>
          <a:ln w="19050">
            <a:solidFill>
              <a:srgbClr val="C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3" name="矩形 22">
                <a:extLst>
                  <a:ext uri="{FF2B5EF4-FFF2-40B4-BE49-F238E27FC236}">
                    <a16:creationId xmlns:a16="http://schemas.microsoft.com/office/drawing/2014/main" id="{A4BA36EE-5201-EA90-7EE1-14063C7B53F3}"/>
                  </a:ext>
                </a:extLst>
              </p:cNvPr>
              <p:cNvSpPr/>
              <p:nvPr/>
            </p:nvSpPr>
            <p:spPr>
              <a:xfrm>
                <a:off x="377926" y="4076648"/>
                <a:ext cx="5706242"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使用</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个特征人脸的线性组合来表达原始人脸数据</a:t>
                </a: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3" name="矩形 22">
                <a:extLst>
                  <a:ext uri="{FF2B5EF4-FFF2-40B4-BE49-F238E27FC236}">
                    <a16:creationId xmlns:a16="http://schemas.microsoft.com/office/drawing/2014/main" id="{A4BA36EE-5201-EA90-7EE1-14063C7B53F3}"/>
                  </a:ext>
                </a:extLst>
              </p:cNvPr>
              <p:cNvSpPr>
                <a:spLocks noRot="1" noChangeAspect="1" noMove="1" noResize="1" noEditPoints="1" noAdjustHandles="1" noChangeArrowheads="1" noChangeShapeType="1" noTextEdit="1"/>
              </p:cNvSpPr>
              <p:nvPr/>
            </p:nvSpPr>
            <p:spPr>
              <a:xfrm>
                <a:off x="377926" y="4076648"/>
                <a:ext cx="5706242" cy="307777"/>
              </a:xfrm>
              <a:prstGeom prst="rect">
                <a:avLst/>
              </a:prstGeom>
              <a:blipFill>
                <a:blip r:embed="rId12"/>
                <a:stretch>
                  <a:fillRect l="-2778" t="-30000" b="-4600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4" name="矩形 23">
                <a:extLst>
                  <a:ext uri="{FF2B5EF4-FFF2-40B4-BE49-F238E27FC236}">
                    <a16:creationId xmlns:a16="http://schemas.microsoft.com/office/drawing/2014/main" id="{07B66E8B-18AC-E1A7-4811-E2FC4758331A}"/>
                  </a:ext>
                </a:extLst>
              </p:cNvPr>
              <p:cNvSpPr/>
              <p:nvPr/>
            </p:nvSpPr>
            <p:spPr>
              <a:xfrm>
                <a:off x="285413" y="3680936"/>
                <a:ext cx="300788"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4" name="矩形 23">
                <a:extLst>
                  <a:ext uri="{FF2B5EF4-FFF2-40B4-BE49-F238E27FC236}">
                    <a16:creationId xmlns:a16="http://schemas.microsoft.com/office/drawing/2014/main" id="{07B66E8B-18AC-E1A7-4811-E2FC4758331A}"/>
                  </a:ext>
                </a:extLst>
              </p:cNvPr>
              <p:cNvSpPr>
                <a:spLocks noRot="1" noChangeAspect="1" noMove="1" noResize="1" noEditPoints="1" noAdjustHandles="1" noChangeArrowheads="1" noChangeShapeType="1" noTextEdit="1"/>
              </p:cNvSpPr>
              <p:nvPr/>
            </p:nvSpPr>
            <p:spPr>
              <a:xfrm>
                <a:off x="285413" y="3680936"/>
                <a:ext cx="300788" cy="307777"/>
              </a:xfrm>
              <a:prstGeom prst="rect">
                <a:avLst/>
              </a:prstGeom>
              <a:blipFill>
                <a:blip r:embed="rId13"/>
                <a:stretch>
                  <a:fillRect l="-10204" r="-6122" b="-22000"/>
                </a:stretch>
              </a:blipFill>
            </p:spPr>
            <p:txBody>
              <a:bodyPr/>
              <a:lstStyle/>
              <a:p>
                <a:r>
                  <a:rPr lang="zh-CN" altLang="en-US">
                    <a:noFill/>
                  </a:rPr>
                  <a:t> </a:t>
                </a:r>
              </a:p>
            </p:txBody>
          </p:sp>
        </mc:Fallback>
      </mc:AlternateContent>
      <p:pic>
        <p:nvPicPr>
          <p:cNvPr id="25" name="Picture 5">
            <a:extLst>
              <a:ext uri="{FF2B5EF4-FFF2-40B4-BE49-F238E27FC236}">
                <a16:creationId xmlns:a16="http://schemas.microsoft.com/office/drawing/2014/main" id="{17F13FC4-82C7-09CB-D8F4-D2CD453662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40890" y="2865279"/>
            <a:ext cx="514350" cy="6589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mc:AlternateContent xmlns:mc="http://schemas.openxmlformats.org/markup-compatibility/2006" xmlns:a14="http://schemas.microsoft.com/office/drawing/2010/main">
        <mc:Choice Requires="a14">
          <p:sp>
            <p:nvSpPr>
              <p:cNvPr id="26" name="矩形 25">
                <a:extLst>
                  <a:ext uri="{FF2B5EF4-FFF2-40B4-BE49-F238E27FC236}">
                    <a16:creationId xmlns:a16="http://schemas.microsoft.com/office/drawing/2014/main" id="{BA5538F1-D679-DEDE-2012-FD1F6223859F}"/>
                  </a:ext>
                </a:extLst>
              </p:cNvPr>
              <p:cNvSpPr/>
              <p:nvPr/>
            </p:nvSpPr>
            <p:spPr>
              <a:xfrm>
                <a:off x="6224989" y="3744437"/>
                <a:ext cx="1362081"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的像素点空间表达</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6" name="矩形 25">
                <a:extLst>
                  <a:ext uri="{FF2B5EF4-FFF2-40B4-BE49-F238E27FC236}">
                    <a16:creationId xmlns:a16="http://schemas.microsoft.com/office/drawing/2014/main" id="{BA5538F1-D679-DEDE-2012-FD1F6223859F}"/>
                  </a:ext>
                </a:extLst>
              </p:cNvPr>
              <p:cNvSpPr>
                <a:spLocks noRot="1" noChangeAspect="1" noMove="1" noResize="1" noEditPoints="1" noAdjustHandles="1" noChangeArrowheads="1" noChangeShapeType="1" noTextEdit="1"/>
              </p:cNvSpPr>
              <p:nvPr/>
            </p:nvSpPr>
            <p:spPr>
              <a:xfrm>
                <a:off x="6224989" y="3744437"/>
                <a:ext cx="1362081" cy="923330"/>
              </a:xfrm>
              <a:prstGeom prst="rect">
                <a:avLst/>
              </a:prstGeom>
              <a:blipFill>
                <a:blip r:embed="rId14"/>
                <a:stretch>
                  <a:fillRect l="-893" t="-9868" r="-6696" b="-2632"/>
                </a:stretch>
              </a:blipFill>
            </p:spPr>
            <p:txBody>
              <a:bodyPr/>
              <a:lstStyle/>
              <a:p>
                <a:r>
                  <a:rPr lang="zh-CN" altLang="en-US">
                    <a:noFill/>
                  </a:rPr>
                  <a:t> </a:t>
                </a:r>
              </a:p>
            </p:txBody>
          </p:sp>
        </mc:Fallback>
      </mc:AlternateContent>
      <p:sp>
        <p:nvSpPr>
          <p:cNvPr id="27" name="右箭头 22">
            <a:extLst>
              <a:ext uri="{FF2B5EF4-FFF2-40B4-BE49-F238E27FC236}">
                <a16:creationId xmlns:a16="http://schemas.microsoft.com/office/drawing/2014/main" id="{C1629AA4-D651-63C6-7926-37B41B70E3A7}"/>
              </a:ext>
            </a:extLst>
          </p:cNvPr>
          <p:cNvSpPr/>
          <p:nvPr/>
        </p:nvSpPr>
        <p:spPr>
          <a:xfrm>
            <a:off x="7096130" y="3021171"/>
            <a:ext cx="514350" cy="400051"/>
          </a:xfrm>
          <a:prstGeom prst="rightArrow">
            <a:avLst/>
          </a:prstGeom>
          <a:ln>
            <a:solidFill>
              <a:srgbClr val="FFC000"/>
            </a:solidFill>
          </a:ln>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AlternateContent xmlns:mc="http://schemas.openxmlformats.org/markup-compatibility/2006" xmlns:a14="http://schemas.microsoft.com/office/drawing/2010/main">
        <mc:Choice Requires="a14">
          <p:sp>
            <p:nvSpPr>
              <p:cNvPr id="28" name="矩形 27">
                <a:extLst>
                  <a:ext uri="{FF2B5EF4-FFF2-40B4-BE49-F238E27FC236}">
                    <a16:creationId xmlns:a16="http://schemas.microsoft.com/office/drawing/2014/main" id="{8605E282-B311-9FD2-294B-19C736AD43D9}"/>
                  </a:ext>
                </a:extLst>
              </p:cNvPr>
              <p:cNvSpPr/>
              <p:nvPr/>
            </p:nvSpPr>
            <p:spPr>
              <a:xfrm>
                <a:off x="7716903" y="2974975"/>
                <a:ext cx="1325106" cy="307777"/>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itchFamily="49" charset="-122"/>
                            </a:rPr>
                          </m:ctrlPr>
                        </m:sSubPr>
                        <m:e>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sSub>
                            <m:sSubPr>
                              <m:ctrlPr>
                                <a:rPr kumimoji="0" lang="en-US" altLang="zh-CN" sz="2000" b="0" i="1" u="none" strike="noStrike" kern="1200" cap="none" spc="0" normalizeH="0" noProof="0">
                                  <a:ln>
                                    <a:noFill/>
                                  </a:ln>
                                  <a:solidFill>
                                    <a:prstClr val="black"/>
                                  </a:solidFill>
                                  <a:effectLst/>
                                  <a:uLnTx/>
                                  <a:uFillTx/>
                                  <a:latin typeface="Cambria Math" panose="02040503050406030204" pitchFamily="18" charset="0"/>
                                  <a:ea typeface="黑体" pitchFamily="49" charset="-122"/>
                                </a:rPr>
                              </m:ctrlPr>
                            </m:sSubPr>
                            <m:e>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𝑖</m:t>
                              </m:r>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1</m:t>
                              </m:r>
                            </m:sub>
                          </m:s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r>
                            <m:rPr>
                              <m:nor/>
                            </m:rP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m:t> </m:t>
                          </m:r>
                          <m:r>
                            <a:rPr kumimoji="0" lang="zh-CN" altLang="en-US" sz="2000" b="0" i="1" u="none" strike="noStrike" kern="1200" cap="none" spc="0" normalizeH="0" noProof="0">
                              <a:ln>
                                <a:noFill/>
                              </a:ln>
                              <a:solidFill>
                                <a:prstClr val="black"/>
                              </a:solidFill>
                              <a:effectLst/>
                              <a:uLnTx/>
                              <a:uFillTx/>
                              <a:latin typeface="Cambria Math"/>
                              <a:ea typeface="黑体" pitchFamily="49" charset="-122"/>
                            </a:rPr>
                            <m:t>𝛼</m:t>
                          </m:r>
                        </m:e>
                        <m:sub>
                          <m:r>
                            <a:rPr kumimoji="0" lang="en-US" altLang="zh-CN" sz="2000" b="0" i="1" u="none" strike="noStrike" kern="1200" cap="none" spc="0" normalizeH="0" noProof="0">
                              <a:ln>
                                <a:noFill/>
                              </a:ln>
                              <a:solidFill>
                                <a:prstClr val="black"/>
                              </a:solidFill>
                              <a:effectLst/>
                              <a:uLnTx/>
                              <a:uFillTx/>
                              <a:latin typeface="Cambria Math"/>
                              <a:ea typeface="黑体" pitchFamily="49" charset="-122"/>
                            </a:rPr>
                            <m:t>𝑖𝑙</m:t>
                          </m:r>
                        </m:sub>
                      </m:sSub>
                      <m:r>
                        <a:rPr kumimoji="0" lang="en-US" altLang="zh-CN" sz="2000" b="0" i="1" u="none" strike="noStrike" kern="1200" cap="none" spc="0" normalizeH="0" noProof="0" smtClean="0">
                          <a:ln>
                            <a:noFill/>
                          </a:ln>
                          <a:solidFill>
                            <a:prstClr val="black"/>
                          </a:solidFill>
                          <a:effectLst/>
                          <a:uLnTx/>
                          <a:uFillTx/>
                          <a:latin typeface="Cambria Math"/>
                          <a:ea typeface="黑体" pitchFamily="49" charset="-122"/>
                        </a:rPr>
                        <m:t>)</m:t>
                      </m:r>
                    </m:oMath>
                  </m:oMathPara>
                </a14:m>
                <a:endPar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8" name="矩形 27">
                <a:extLst>
                  <a:ext uri="{FF2B5EF4-FFF2-40B4-BE49-F238E27FC236}">
                    <a16:creationId xmlns:a16="http://schemas.microsoft.com/office/drawing/2014/main" id="{8605E282-B311-9FD2-294B-19C736AD43D9}"/>
                  </a:ext>
                </a:extLst>
              </p:cNvPr>
              <p:cNvSpPr>
                <a:spLocks noRot="1" noChangeAspect="1" noMove="1" noResize="1" noEditPoints="1" noAdjustHandles="1" noChangeArrowheads="1" noChangeShapeType="1" noTextEdit="1"/>
              </p:cNvSpPr>
              <p:nvPr/>
            </p:nvSpPr>
            <p:spPr>
              <a:xfrm>
                <a:off x="7716903" y="2974975"/>
                <a:ext cx="1325106" cy="307777"/>
              </a:xfrm>
              <a:prstGeom prst="rect">
                <a:avLst/>
              </a:prstGeom>
              <a:blipFill>
                <a:blip r:embed="rId15"/>
                <a:stretch>
                  <a:fillRect l="-5991" r="-6452" b="-3725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9" name="矩形 28">
                <a:extLst>
                  <a:ext uri="{FF2B5EF4-FFF2-40B4-BE49-F238E27FC236}">
                    <a16:creationId xmlns:a16="http://schemas.microsoft.com/office/drawing/2014/main" id="{04FE447A-9C53-8513-9CEF-AF8873E2C4CE}"/>
                  </a:ext>
                </a:extLst>
              </p:cNvPr>
              <p:cNvSpPr/>
              <p:nvPr/>
            </p:nvSpPr>
            <p:spPr>
              <a:xfrm>
                <a:off x="7689904" y="3744437"/>
                <a:ext cx="1362081" cy="923330"/>
              </a:xfrm>
              <a:prstGeom prst="rect">
                <a:avLst/>
              </a:prstGeom>
            </p:spPr>
            <p:txBody>
              <a:bodyPr wrap="squar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1"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𝒙</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的人脸子空间的</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个系数表达</a:t>
                </a:r>
              </a:p>
            </p:txBody>
          </p:sp>
        </mc:Choice>
        <mc:Fallback xmlns="">
          <p:sp>
            <p:nvSpPr>
              <p:cNvPr id="29" name="矩形 28">
                <a:extLst>
                  <a:ext uri="{FF2B5EF4-FFF2-40B4-BE49-F238E27FC236}">
                    <a16:creationId xmlns:a16="http://schemas.microsoft.com/office/drawing/2014/main" id="{04FE447A-9C53-8513-9CEF-AF8873E2C4CE}"/>
                  </a:ext>
                </a:extLst>
              </p:cNvPr>
              <p:cNvSpPr>
                <a:spLocks noRot="1" noChangeAspect="1" noMove="1" noResize="1" noEditPoints="1" noAdjustHandles="1" noChangeArrowheads="1" noChangeShapeType="1" noTextEdit="1"/>
              </p:cNvSpPr>
              <p:nvPr/>
            </p:nvSpPr>
            <p:spPr>
              <a:xfrm>
                <a:off x="7689904" y="3744437"/>
                <a:ext cx="1362081" cy="923330"/>
              </a:xfrm>
              <a:prstGeom prst="rect">
                <a:avLst/>
              </a:prstGeom>
              <a:blipFill>
                <a:blip r:embed="rId16"/>
                <a:stretch>
                  <a:fillRect l="-11161" t="-9868" r="-11161" b="-1447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0" name="云形标注 25">
                <a:extLst>
                  <a:ext uri="{FF2B5EF4-FFF2-40B4-BE49-F238E27FC236}">
                    <a16:creationId xmlns:a16="http://schemas.microsoft.com/office/drawing/2014/main" id="{A702F28D-9FBC-3632-F3D4-2805226AD1EF}"/>
                  </a:ext>
                </a:extLst>
              </p:cNvPr>
              <p:cNvSpPr/>
              <p:nvPr/>
            </p:nvSpPr>
            <p:spPr>
              <a:xfrm>
                <a:off x="840343" y="4538032"/>
                <a:ext cx="6770137" cy="2028455"/>
              </a:xfrm>
              <a:prstGeom prst="cloudCallout">
                <a:avLst/>
              </a:prstGeom>
            </p:spPr>
            <p:style>
              <a:lnRef idx="2">
                <a:schemeClr val="accent1"/>
              </a:lnRef>
              <a:fillRef idx="1">
                <a:schemeClr val="lt1"/>
              </a:fillRef>
              <a:effectRef idx="0">
                <a:schemeClr val="accent1"/>
              </a:effectRef>
              <a:fontRef idx="minor">
                <a:schemeClr val="dk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在后续人脸识别分类中，就使用这</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个系数来表示原始人脸图像。即计算两张人脸是否相似，不是去计算两个</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矩阵是否相似，而是计算两个人脸所对应的</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rPr>
                  <a:t>个系数是否相似</a:t>
                </a: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Times New Roman" panose="02020603050405020304" pitchFamily="18" charset="0"/>
                </a:endParaRPr>
              </a:p>
            </p:txBody>
          </p:sp>
        </mc:Choice>
        <mc:Fallback xmlns="">
          <p:sp>
            <p:nvSpPr>
              <p:cNvPr id="30" name="云形标注 25">
                <a:extLst>
                  <a:ext uri="{FF2B5EF4-FFF2-40B4-BE49-F238E27FC236}">
                    <a16:creationId xmlns:a16="http://schemas.microsoft.com/office/drawing/2014/main" id="{A702F28D-9FBC-3632-F3D4-2805226AD1EF}"/>
                  </a:ext>
                </a:extLst>
              </p:cNvPr>
              <p:cNvSpPr>
                <a:spLocks noRot="1" noChangeAspect="1" noMove="1" noResize="1" noEditPoints="1" noAdjustHandles="1" noChangeArrowheads="1" noChangeShapeType="1" noTextEdit="1"/>
              </p:cNvSpPr>
              <p:nvPr/>
            </p:nvSpPr>
            <p:spPr>
              <a:xfrm>
                <a:off x="840343" y="4538032"/>
                <a:ext cx="6770137" cy="2028455"/>
              </a:xfrm>
              <a:prstGeom prst="cloudCallout">
                <a:avLst/>
              </a:prstGeom>
              <a:blipFill>
                <a:blip r:embed="rId17"/>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25377879"/>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a:extLst>
              <a:ext uri="{FF2B5EF4-FFF2-40B4-BE49-F238E27FC236}">
                <a16:creationId xmlns:a16="http://schemas.microsoft.com/office/drawing/2014/main" id="{8C15F65D-8956-42B9-8A46-553DBE5F80AF}"/>
              </a:ext>
            </a:extLst>
          </p:cNvPr>
          <p:cNvSpPr>
            <a:spLocks noGrp="1" noChangeArrowheads="1"/>
          </p:cNvSpPr>
          <p:nvPr>
            <p:ph type="title"/>
          </p:nvPr>
        </p:nvSpPr>
        <p:spPr/>
        <p:txBody>
          <a:bodyPr/>
          <a:lstStyle/>
          <a:p>
            <a:r>
              <a:rPr lang="zh-CN" altLang="en-US" dirty="0">
                <a:latin typeface="Arial" panose="020B0604020202020204" pitchFamily="34" charset="0"/>
                <a:ea typeface="黑体" panose="02010609060101010101" pitchFamily="49" charset="-122"/>
              </a:rPr>
              <a:t>特征人脸方法  </a:t>
            </a:r>
            <a:r>
              <a:rPr lang="zh-CN" altLang="en-US" sz="3200" dirty="0">
                <a:solidFill>
                  <a:srgbClr val="008080"/>
                </a:solidFill>
                <a:latin typeface="Arial" panose="020B0604020202020204" pitchFamily="34" charset="0"/>
                <a:ea typeface="黑体" panose="02010609060101010101" pitchFamily="49" charset="-122"/>
              </a:rPr>
              <a:t>算法描述</a:t>
            </a:r>
            <a:endParaRPr lang="zh-CN" altLang="en-US" dirty="0">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 name="矩形 1">
                <a:extLst>
                  <a:ext uri="{FF2B5EF4-FFF2-40B4-BE49-F238E27FC236}">
                    <a16:creationId xmlns:a16="http://schemas.microsoft.com/office/drawing/2014/main" id="{920336E4-8C1A-2C7A-F777-C334A9BFA8B2}"/>
                  </a:ext>
                </a:extLst>
              </p:cNvPr>
              <p:cNvSpPr/>
              <p:nvPr/>
            </p:nvSpPr>
            <p:spPr>
              <a:xfrm>
                <a:off x="44010" y="979504"/>
                <a:ext cx="8982075" cy="1789657"/>
              </a:xfrm>
              <a:prstGeom prst="rect">
                <a:avLst/>
              </a:prstGeom>
            </p:spPr>
            <p:txBody>
              <a:bodyPr wrap="square" lIns="0" tIns="0" rIns="0" bIns="0">
                <a:spAutoFit/>
              </a:bodyPr>
              <a:lstStyle/>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每个人脸特征向量</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rPr>
                        </m:ctrlPr>
                      </m:sSubPr>
                      <m:e>
                        <m:r>
                          <m:rPr>
                            <m:sty m:val="p"/>
                          </m:rPr>
                          <a:rPr kumimoji="0" lang="en-US" altLang="zh-CN" sz="2000" b="0" i="0" u="none" strike="noStrike" kern="1200" cap="none" spc="0" normalizeH="0" noProof="0">
                            <a:ln>
                              <a:noFill/>
                            </a:ln>
                            <a:solidFill>
                              <a:prstClr val="black"/>
                            </a:solidFill>
                            <a:effectLst/>
                            <a:uLnTx/>
                            <a:uFillTx/>
                            <a:latin typeface="Cambria Math"/>
                          </a:rPr>
                          <m:t>w</m:t>
                        </m:r>
                      </m:e>
                      <m:sub>
                        <m:r>
                          <a:rPr kumimoji="0" lang="en-US" altLang="zh-CN" sz="2000" b="0" i="1" u="none" strike="noStrike" kern="1200" cap="none" spc="0" normalizeH="0" noProof="0">
                            <a:ln>
                              <a:noFill/>
                            </a:ln>
                            <a:solidFill>
                              <a:prstClr val="black"/>
                            </a:solidFill>
                            <a:effectLst/>
                            <a:uLnTx/>
                            <a:uFillTx/>
                            <a:latin typeface="Cambria Math"/>
                          </a:rPr>
                          <m:t>𝑖</m:t>
                        </m:r>
                      </m:sub>
                    </m:sSub>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与原始人脸数据</a:t>
                </a:r>
                <a14:m>
                  <m:oMath xmlns:m="http://schemas.openxmlformats.org/officeDocument/2006/math">
                    <m:sSub>
                      <m:sSubPr>
                        <m:ctrlPr>
                          <a:rPr kumimoji="0" lang="en-US" altLang="zh-CN" sz="200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cs typeface="Times New Roman" panose="02020603050405020304" pitchFamily="18" charset="0"/>
                          </a:rPr>
                        </m:ctrlPr>
                      </m:sSubPr>
                      <m:e>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𝑥</m:t>
                        </m:r>
                      </m:e>
                      <m:sub>
                        <m:r>
                          <a:rPr kumimoji="0" lang="en-US" altLang="zh-CN" sz="2000" b="0" i="1" u="none" strike="noStrike" kern="1200" cap="none" spc="0" normalizeH="0" noProof="0">
                            <a:ln>
                              <a:noFill/>
                            </a:ln>
                            <a:solidFill>
                              <a:prstClr val="black"/>
                            </a:solidFill>
                            <a:effectLst/>
                            <a:uLnTx/>
                            <a:uFillTx/>
                            <a:latin typeface="Cambria Math"/>
                            <a:ea typeface="黑体" panose="02010609060101010101" pitchFamily="49" charset="-122"/>
                            <a:cs typeface="Times New Roman" panose="02020603050405020304" pitchFamily="18" charset="0"/>
                          </a:rPr>
                          <m:t>𝑖</m:t>
                        </m:r>
                      </m:sub>
                    </m:sSub>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的维数是一样的，均为</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a:ea typeface="黑体" panose="02010609060101010101" pitchFamily="49" charset="-122"/>
                        <a:cs typeface="Times New Roman" panose="02020603050405020304" pitchFamily="18" charset="0"/>
                      </a:rPr>
                      <m:t>1024</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a:t>
                </a: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可将每个特征向量还原为</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黑体" pitchFamily="49" charset="-122"/>
                      </a:rPr>
                      <m:t>32</m:t>
                    </m:r>
                    <m:r>
                      <a:rPr kumimoji="0" lang="en-US" altLang="zh-CN" sz="2000" b="0" i="1" u="none" strike="noStrike" kern="1200" cap="none" spc="0" normalizeH="0" noProof="0">
                        <a:ln>
                          <a:noFill/>
                        </a:ln>
                        <a:solidFill>
                          <a:prstClr val="black"/>
                        </a:solidFill>
                        <a:effectLst/>
                        <a:uLnTx/>
                        <a:uFillTx/>
                        <a:latin typeface="Cambria Math"/>
                        <a:ea typeface="Cambria Math"/>
                      </a:rPr>
                      <m:t>×</m:t>
                    </m:r>
                    <m:r>
                      <a:rPr kumimoji="0" lang="en-US" altLang="zh-CN" sz="2000" b="0" i="1" u="none" strike="noStrike" kern="1200" cap="none" spc="0" normalizeH="0" noProof="0">
                        <a:ln>
                          <a:noFill/>
                        </a:ln>
                        <a:solidFill>
                          <a:prstClr val="black"/>
                        </a:solidFill>
                        <a:effectLst/>
                        <a:uLnTx/>
                        <a:uFillTx/>
                        <a:latin typeface="Cambria Math"/>
                        <a:ea typeface="Cambria Math"/>
                      </a:rPr>
                      <m:t>32</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的人脸图像，称之为特征人脸，因此可得到</a:t>
                </a:r>
                <a14:m>
                  <m:oMath xmlns:m="http://schemas.openxmlformats.org/officeDocument/2006/math">
                    <m:r>
                      <a:rPr kumimoji="0" lang="en-US" altLang="zh-CN" sz="2000" b="0" i="1" u="none" strike="noStrike" kern="1200" cap="none" spc="0" normalizeH="0" noProof="0">
                        <a:ln>
                          <a:noFill/>
                        </a:ln>
                        <a:solidFill>
                          <a:prstClr val="black"/>
                        </a:solidFill>
                        <a:effectLst/>
                        <a:uLnTx/>
                        <a:uFillTx/>
                        <a:latin typeface="Cambria Math"/>
                        <a:ea typeface="Cambria Math"/>
                        <a:cs typeface="Times New Roman" panose="02020603050405020304" pitchFamily="18" charset="0"/>
                      </a:rPr>
                      <m:t>𝑙</m:t>
                    </m:r>
                  </m:oMath>
                </a14:m>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a:t>
                </a: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a:p>
                <a:pPr marL="285750" marR="0" lvl="0" indent="-285750" algn="l" defTabSz="914400" rtl="0" eaLnBrk="1" fontAlgn="auto" latinLnBrk="0" hangingPunct="1">
                  <a:lnSpc>
                    <a:spcPct val="150000"/>
                  </a:lnSpc>
                  <a:spcBef>
                    <a:spcPts val="0"/>
                  </a:spcBef>
                  <a:spcAft>
                    <a:spcPts val="0"/>
                  </a:spcAft>
                  <a:buClrTx/>
                  <a:buSzTx/>
                  <a:buFont typeface="Wingdings" panose="05000000000000000000" pitchFamily="2" charset="2"/>
                  <a:buChar char="l"/>
                  <a:tabLst/>
                  <a:defRPr/>
                </a:pPr>
                <a:endPar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endParaRPr>
              </a:p>
            </p:txBody>
          </p:sp>
        </mc:Choice>
        <mc:Fallback xmlns="">
          <p:sp>
            <p:nvSpPr>
              <p:cNvPr id="2" name="矩形 1">
                <a:extLst>
                  <a:ext uri="{FF2B5EF4-FFF2-40B4-BE49-F238E27FC236}">
                    <a16:creationId xmlns:a16="http://schemas.microsoft.com/office/drawing/2014/main" id="{920336E4-8C1A-2C7A-F777-C334A9BFA8B2}"/>
                  </a:ext>
                </a:extLst>
              </p:cNvPr>
              <p:cNvSpPr>
                <a:spLocks noRot="1" noChangeAspect="1" noMove="1" noResize="1" noEditPoints="1" noAdjustHandles="1" noChangeArrowheads="1" noChangeShapeType="1" noTextEdit="1"/>
              </p:cNvSpPr>
              <p:nvPr/>
            </p:nvSpPr>
            <p:spPr>
              <a:xfrm>
                <a:off x="44010" y="979504"/>
                <a:ext cx="8982075" cy="1789657"/>
              </a:xfrm>
              <a:prstGeom prst="rect">
                <a:avLst/>
              </a:prstGeom>
              <a:blipFill>
                <a:blip r:embed="rId2"/>
                <a:stretch>
                  <a:fillRect l="-1628"/>
                </a:stretch>
              </a:blipFill>
            </p:spPr>
            <p:txBody>
              <a:bodyPr/>
              <a:lstStyle/>
              <a:p>
                <a:r>
                  <a:rPr lang="zh-CN" altLang="en-US">
                    <a:noFill/>
                  </a:rPr>
                  <a:t> </a:t>
                </a:r>
              </a:p>
            </p:txBody>
          </p:sp>
        </mc:Fallback>
      </mc:AlternateContent>
      <p:pic>
        <p:nvPicPr>
          <p:cNvPr id="3" name="Picture 4">
            <a:extLst>
              <a:ext uri="{FF2B5EF4-FFF2-40B4-BE49-F238E27FC236}">
                <a16:creationId xmlns:a16="http://schemas.microsoft.com/office/drawing/2014/main" id="{1A80D984-F8AB-E794-D288-9F8FD992CC8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977417" y="2393009"/>
            <a:ext cx="3471577" cy="3213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5">
            <a:extLst>
              <a:ext uri="{FF2B5EF4-FFF2-40B4-BE49-F238E27FC236}">
                <a16:creationId xmlns:a16="http://schemas.microsoft.com/office/drawing/2014/main" id="{94F4D59D-02CE-BBBA-17A1-E00AE44A22AA}"/>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087522" y="2436857"/>
            <a:ext cx="3471577" cy="31692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 name="Text Box 6">
            <a:extLst>
              <a:ext uri="{FF2B5EF4-FFF2-40B4-BE49-F238E27FC236}">
                <a16:creationId xmlns:a16="http://schemas.microsoft.com/office/drawing/2014/main" id="{9577D8AE-5D73-137D-6127-F33500A2C50E}"/>
              </a:ext>
            </a:extLst>
          </p:cNvPr>
          <p:cNvSpPr txBox="1">
            <a:spLocks noChangeArrowheads="1"/>
          </p:cNvSpPr>
          <p:nvPr/>
        </p:nvSpPr>
        <p:spPr bwMode="auto">
          <a:xfrm>
            <a:off x="1661696" y="5783989"/>
            <a:ext cx="6480175" cy="276999"/>
          </a:xfrm>
          <a:prstGeom prst="rect">
            <a:avLst/>
          </a:prstGeom>
          <a:noFill/>
          <a:ln>
            <a:noFill/>
          </a:ln>
          <a:effectLst/>
          <a:extLst>
            <a:ext uri="{909E8E84-426E-40DD-AFC4-6F175D3DCCD1}">
              <a14:hiddenFill xmlns:a14="http://schemas.microsoft.com/office/drawing/2010/main">
                <a:gradFill rotWithShape="0">
                  <a:gsLst>
                    <a:gs pos="0">
                      <a:schemeClr val="accent2"/>
                    </a:gs>
                    <a:gs pos="100000">
                      <a:schemeClr val="accent2">
                        <a:gamma/>
                        <a:shade val="89804"/>
                        <a:invGamma/>
                      </a:schemeClr>
                    </a:gs>
                  </a:gsLst>
                  <a:path path="rect">
                    <a:fillToRect r="100000" b="100000"/>
                  </a:path>
                </a:gradFill>
              </a14:hiddenFill>
            </a:ext>
            <a:ext uri="{91240B29-F687-4F45-9708-019B960494DF}">
              <a14:hiddenLine xmlns:a14="http://schemas.microsoft.com/office/drawing/2010/main" w="12700">
                <a:solidFill>
                  <a:schemeClr val="accent2"/>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0" tIns="0" rIns="0" bIns="0">
            <a:spAutoFit/>
          </a:bodyPr>
          <a:lstStyle/>
          <a:p>
            <a:pPr marL="0" marR="0" lvl="0" indent="0" algn="ctr" defTabSz="914400" rtl="0" eaLnBrk="0" fontAlgn="auto" latinLnBrk="0" hangingPunct="0">
              <a:lnSpc>
                <a:spcPct val="90000"/>
              </a:lnSpc>
              <a:spcBef>
                <a:spcPct val="50000"/>
              </a:spcBef>
              <a:spcAft>
                <a:spcPts val="0"/>
              </a:spcAft>
              <a:buClr>
                <a:srgbClr val="EEECE1"/>
              </a:buClr>
              <a:buSzPct val="75000"/>
              <a:buFont typeface="Wingdings" pitchFamily="2" charset="2"/>
              <a:buNone/>
              <a:tabLst/>
              <a:defRPr/>
            </a:pPr>
            <a:r>
              <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400</a:t>
            </a: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个人脸（左）和与之对应的</a:t>
            </a:r>
            <a:r>
              <a:rPr kumimoji="0" lang="en-US" altLang="zh-CN"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36</a:t>
            </a:r>
            <a:r>
              <a:rPr kumimoji="0" lang="zh-CN" altLang="en-US" sz="2000" i="0" u="none" strike="noStrike" kern="1200" cap="none" spc="0" normalizeH="0" noProof="0" dirty="0">
                <a:ln>
                  <a:noFill/>
                </a:ln>
                <a:solidFill>
                  <a:prstClr val="black"/>
                </a:solidFill>
                <a:effectLst/>
                <a:uLnTx/>
                <a:uFillTx/>
                <a:ea typeface="黑体" panose="02010609060101010101" pitchFamily="49" charset="-122"/>
                <a:cs typeface="Times New Roman" panose="02020603050405020304" pitchFamily="18" charset="0"/>
              </a:rPr>
              <a:t>个特征人脸</a:t>
            </a:r>
          </a:p>
        </p:txBody>
      </p:sp>
    </p:spTree>
    <p:extLst>
      <p:ext uri="{BB962C8B-B14F-4D97-AF65-F5344CB8AC3E}">
        <p14:creationId xmlns:p14="http://schemas.microsoft.com/office/powerpoint/2010/main" val="400878154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latin typeface="Arial" panose="020B0604020202020204" pitchFamily="34" charset="0"/>
                <a:ea typeface="黑体" panose="02010609060101010101" pitchFamily="49" charset="-122"/>
              </a:rPr>
              <a:t>其他常用的降维方法</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38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矩形 2">
            <a:extLst>
              <a:ext uri="{FF2B5EF4-FFF2-40B4-BE49-F238E27FC236}">
                <a16:creationId xmlns:a16="http://schemas.microsoft.com/office/drawing/2014/main" id="{64B404D3-8E1A-2D78-FE95-B9E42B6F507A}"/>
              </a:ext>
            </a:extLst>
          </p:cNvPr>
          <p:cNvSpPr/>
          <p:nvPr/>
        </p:nvSpPr>
        <p:spPr>
          <a:xfrm>
            <a:off x="342290" y="1550866"/>
            <a:ext cx="7955768" cy="2015552"/>
          </a:xfrm>
          <a:prstGeom prst="rect">
            <a:avLst/>
          </a:prstGeom>
        </p:spPr>
        <p:txBody>
          <a:bodyPr wrap="square">
            <a:spAutoFit/>
          </a:bodyPr>
          <a:lstStyle/>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rPr>
              <a:t>非负矩阵分解</a:t>
            </a:r>
            <a:r>
              <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rPr>
              <a:t> (</a:t>
            </a:r>
            <a:r>
              <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mn-cs"/>
              </a:rPr>
              <a:t>non-negative matrix factorization, NMF</a:t>
            </a:r>
            <a:r>
              <a:rPr lang="en-US" altLang="zh-CN" sz="2200" kern="100" dirty="0">
                <a:solidFill>
                  <a:srgbClr val="16754D"/>
                </a:solidFill>
                <a:latin typeface="Arial" panose="020B0604020202020204" pitchFamily="34" charset="0"/>
                <a:ea typeface="黑体"/>
                <a:cs typeface="Times New Roman" panose="02020603050405020304" pitchFamily="18" charset="0"/>
              </a:rPr>
              <a:t>)</a:t>
            </a:r>
            <a:endParaRPr kumimoji="0" lang="en-US" altLang="zh-CN" sz="2200" b="0" i="0" u="none" strike="noStrike" kern="100" cap="none" spc="0" normalizeH="0" noProof="0" dirty="0">
              <a:ln>
                <a:noFill/>
              </a:ln>
              <a:solidFill>
                <a:srgbClr val="16754D"/>
              </a:solidFill>
              <a:effectLst/>
              <a:uLnTx/>
              <a:uFillTx/>
              <a:latin typeface="Arial" panose="020B0604020202020204" pitchFamily="34" charset="0"/>
              <a:ea typeface="黑体"/>
              <a:cs typeface="Times New Roman" panose="02020603050405020304" pitchFamily="18" charset="0"/>
            </a:endParaRP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多维尺度法</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 (Metric multidimensional scaling, MDS) </a:t>
            </a:r>
          </a:p>
          <a:p>
            <a:pPr marL="342900" marR="0" lvl="0" indent="-342900" algn="l" defTabSz="914400" rtl="0" eaLnBrk="1" fontAlgn="auto" latinLnBrk="0" hangingPunct="1">
              <a:lnSpc>
                <a:spcPct val="200000"/>
              </a:lnSpc>
              <a:spcBef>
                <a:spcPts val="0"/>
              </a:spcBef>
              <a:spcAft>
                <a:spcPts val="0"/>
              </a:spcAft>
              <a:buClrTx/>
              <a:buSzTx/>
              <a:buFont typeface="Wingdings" panose="05000000000000000000" pitchFamily="2" charset="2"/>
              <a:buChar char="u"/>
              <a:tabLst/>
              <a:defRPr/>
            </a:pPr>
            <a:r>
              <a:rPr kumimoji="0" lang="zh-CN"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局部线性嵌入</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 (Locally Linear Embedding</a:t>
            </a:r>
            <a:r>
              <a:rPr lang="en-US" altLang="zh-CN" sz="2200" dirty="0">
                <a:solidFill>
                  <a:srgbClr val="16754D"/>
                </a:solidFill>
                <a:latin typeface="Arial" panose="020B0604020202020204" pitchFamily="34" charset="0"/>
                <a:ea typeface="黑体"/>
              </a:rPr>
              <a:t>, </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a:cs typeface="+mn-cs"/>
              </a:rPr>
              <a:t>LLE</a:t>
            </a:r>
            <a:r>
              <a:rPr lang="en-US" altLang="zh-CN" sz="2200" dirty="0">
                <a:solidFill>
                  <a:srgbClr val="16754D"/>
                </a:solidFill>
                <a:latin typeface="Arial" panose="020B0604020202020204" pitchFamily="34" charset="0"/>
                <a:ea typeface="黑体"/>
              </a:rPr>
              <a:t>)</a:t>
            </a:r>
            <a:endPar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a:cs typeface="+mn-cs"/>
            </a:endParaRPr>
          </a:p>
        </p:txBody>
      </p:sp>
    </p:spTree>
    <p:extLst>
      <p:ext uri="{BB962C8B-B14F-4D97-AF65-F5344CB8AC3E}">
        <p14:creationId xmlns:p14="http://schemas.microsoft.com/office/powerpoint/2010/main" val="3481651256"/>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C06C9D5E-E455-4D9E-B7DB-689A5A75E4FA}"/>
                  </a:ext>
                </a:extLst>
              </p:cNvPr>
              <p:cNvSpPr txBox="1"/>
              <p:nvPr/>
            </p:nvSpPr>
            <p:spPr>
              <a:xfrm>
                <a:off x="145701" y="878368"/>
                <a:ext cx="8852598" cy="830997"/>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先来看</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的情况，即二分类问题。在二分类问题中，训练样本归属于</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或</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两个类别，并通过如下的线性函数投影到一维空间上：</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buClrTx/>
                  <a:buSzTx/>
                  <a:buFontTx/>
                  <a:buNone/>
                  <a:tabLst/>
                  <a:defRPr/>
                </a:pP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𝑦</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oMath>
                </a14:m>
                <a:r>
                  <a:rPr kumimoji="0" lang="en-US" altLang="zh-CN" sz="1800" b="1"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 </a:t>
                </a:r>
                <a:r>
                  <a:rPr kumimoji="0" lang="en-US" altLang="zh-CN" sz="18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ℝ</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sup>
                    </m:sSup>
                  </m:oMath>
                </a14:m>
                <a:r>
                  <a:rPr kumimoji="0" lang="en-US" altLang="zh-CN" sz="1800" b="0" i="1"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8" name="文本框 7">
                <a:extLst>
                  <a:ext uri="{FF2B5EF4-FFF2-40B4-BE49-F238E27FC236}">
                    <a16:creationId xmlns:a16="http://schemas.microsoft.com/office/drawing/2014/main" id="{C06C9D5E-E455-4D9E-B7DB-689A5A75E4FA}"/>
                  </a:ext>
                </a:extLst>
              </p:cNvPr>
              <p:cNvSpPr txBox="1">
                <a:spLocks noRot="1" noChangeAspect="1" noMove="1" noResize="1" noEditPoints="1" noAdjustHandles="1" noChangeArrowheads="1" noChangeShapeType="1" noTextEdit="1"/>
              </p:cNvSpPr>
              <p:nvPr/>
            </p:nvSpPr>
            <p:spPr>
              <a:xfrm>
                <a:off x="145701" y="878368"/>
                <a:ext cx="8852598" cy="830997"/>
              </a:xfrm>
              <a:prstGeom prst="rect">
                <a:avLst/>
              </a:prstGeom>
              <a:blipFill>
                <a:blip r:embed="rId2"/>
                <a:stretch>
                  <a:fillRect l="-1653" t="-11029" r="-1584" b="-1691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矩形 11">
                <a:extLst>
                  <a:ext uri="{FF2B5EF4-FFF2-40B4-BE49-F238E27FC236}">
                    <a16:creationId xmlns:a16="http://schemas.microsoft.com/office/drawing/2014/main" id="{BD2361CC-0773-470D-8CAC-CDACAD9B414F}"/>
                  </a:ext>
                </a:extLst>
              </p:cNvPr>
              <p:cNvSpPr/>
              <p:nvPr/>
            </p:nvSpPr>
            <p:spPr>
              <a:xfrm>
                <a:off x="437881" y="1765408"/>
                <a:ext cx="8268237" cy="1299475"/>
              </a:xfrm>
              <a:prstGeom prst="rect">
                <a:avLst/>
              </a:prstGeom>
              <a:solidFill>
                <a:srgbClr val="DCFDAB"/>
              </a:solidFill>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投影之后类别</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p>
                        </m:e>
                      </m:nary>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nary>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同理可得到投影之后类别</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𝒞</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矩形 11">
                <a:extLst>
                  <a:ext uri="{FF2B5EF4-FFF2-40B4-BE49-F238E27FC236}">
                    <a16:creationId xmlns:a16="http://schemas.microsoft.com/office/drawing/2014/main" id="{BD2361CC-0773-470D-8CAC-CDACAD9B414F}"/>
                  </a:ext>
                </a:extLst>
              </p:cNvPr>
              <p:cNvSpPr>
                <a:spLocks noRot="1" noChangeAspect="1" noMove="1" noResize="1" noEditPoints="1" noAdjustHandles="1" noChangeArrowheads="1" noChangeShapeType="1" noTextEdit="1"/>
              </p:cNvSpPr>
              <p:nvPr/>
            </p:nvSpPr>
            <p:spPr>
              <a:xfrm>
                <a:off x="437881" y="1765408"/>
                <a:ext cx="8268237" cy="1299475"/>
              </a:xfrm>
              <a:prstGeom prst="rect">
                <a:avLst/>
              </a:prstGeom>
              <a:blipFill>
                <a:blip r:embed="rId3"/>
                <a:stretch>
                  <a:fillRect t="-4147" b="-645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5E89E13C-D1CC-F64A-127E-1CC779A67C2D}"/>
                  </a:ext>
                </a:extLst>
              </p:cNvPr>
              <p:cNvSpPr txBox="1"/>
              <p:nvPr/>
            </p:nvSpPr>
            <p:spPr>
              <a:xfrm>
                <a:off x="145701" y="3187840"/>
                <a:ext cx="8852598" cy="830997"/>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投影后两个协方差矩阵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分别为</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可用来衡量同一类别数据样本之间</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分散程度</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。为了使得归属于同一类别的样本数据在投影后的空间中尽可能靠近，需要最小化</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𝑠</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5E89E13C-D1CC-F64A-127E-1CC779A67C2D}"/>
                  </a:ext>
                </a:extLst>
              </p:cNvPr>
              <p:cNvSpPr txBox="1">
                <a:spLocks noRot="1" noChangeAspect="1" noMove="1" noResize="1" noEditPoints="1" noAdjustHandles="1" noChangeArrowheads="1" noChangeShapeType="1" noTextEdit="1"/>
              </p:cNvSpPr>
              <p:nvPr/>
            </p:nvSpPr>
            <p:spPr>
              <a:xfrm>
                <a:off x="145701" y="3187840"/>
                <a:ext cx="8852598" cy="830997"/>
              </a:xfrm>
              <a:prstGeom prst="rect">
                <a:avLst/>
              </a:prstGeom>
              <a:blipFill>
                <a:blip r:embed="rId4"/>
                <a:stretch>
                  <a:fillRect l="-1653" t="-11029" r="-1584" b="-1691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5" name="文本框 4">
                <a:extLst>
                  <a:ext uri="{FF2B5EF4-FFF2-40B4-BE49-F238E27FC236}">
                    <a16:creationId xmlns:a16="http://schemas.microsoft.com/office/drawing/2014/main" id="{F33BED55-C48E-5111-B753-CE11EEEBC676}"/>
                  </a:ext>
                </a:extLst>
              </p:cNvPr>
              <p:cNvSpPr txBox="1"/>
              <p:nvPr/>
            </p:nvSpPr>
            <p:spPr>
              <a:xfrm>
                <a:off x="145701" y="4141794"/>
                <a:ext cx="8852598" cy="1115434"/>
              </a:xfrm>
              <a:prstGeom prst="rect">
                <a:avLst/>
              </a:prstGeom>
              <a:noFill/>
            </p:spPr>
            <p:txBody>
              <a:bodyPr wrap="square" lIns="0" tIns="0" rIns="0" bIns="0">
                <a:spAutoFit/>
              </a:bodyPr>
              <a:lstStyle/>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在投影之后的空间中，归属于两个类别的数据样本中心可分别如下计算：</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14:m>
                  <m:oMath xmlns:m="http://schemas.openxmlformats.org/officeDocument/2006/math">
                    <m:r>
                      <a:rPr kumimoji="0" lang="zh-CN" altLang="zh-CN"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可以通过</a:t>
                </a:r>
                <a14:m>
                  <m:oMath xmlns:m="http://schemas.openxmlformats.org/officeDocument/2006/math">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来衡量不同类别之间的距离。为了使得归属于不同类别的样本数据在投影后空间中尽可能彼此远离，需要最大化过</a:t>
                </a:r>
                <a14:m>
                  <m:oMath xmlns:m="http://schemas.openxmlformats.org/officeDocument/2006/math">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e>
                        </m:d>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5" name="文本框 4">
                <a:extLst>
                  <a:ext uri="{FF2B5EF4-FFF2-40B4-BE49-F238E27FC236}">
                    <a16:creationId xmlns:a16="http://schemas.microsoft.com/office/drawing/2014/main" id="{F33BED55-C48E-5111-B753-CE11EEEBC676}"/>
                  </a:ext>
                </a:extLst>
              </p:cNvPr>
              <p:cNvSpPr txBox="1">
                <a:spLocks noRot="1" noChangeAspect="1" noMove="1" noResize="1" noEditPoints="1" noAdjustHandles="1" noChangeArrowheads="1" noChangeShapeType="1" noTextEdit="1"/>
              </p:cNvSpPr>
              <p:nvPr/>
            </p:nvSpPr>
            <p:spPr>
              <a:xfrm>
                <a:off x="145701" y="4141794"/>
                <a:ext cx="8852598" cy="1115434"/>
              </a:xfrm>
              <a:prstGeom prst="rect">
                <a:avLst/>
              </a:prstGeom>
              <a:blipFill>
                <a:blip r:embed="rId5"/>
                <a:stretch>
                  <a:fillRect l="-1653" t="-8197" r="-1584" b="-10929"/>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a:extLst>
                  <a:ext uri="{FF2B5EF4-FFF2-40B4-BE49-F238E27FC236}">
                    <a16:creationId xmlns:a16="http://schemas.microsoft.com/office/drawing/2014/main" id="{386516D9-863E-CE2E-DD5D-CF55712F7B0E}"/>
                  </a:ext>
                </a:extLst>
              </p:cNvPr>
              <p:cNvSpPr txBox="1"/>
              <p:nvPr/>
            </p:nvSpPr>
            <p:spPr>
              <a:xfrm>
                <a:off x="195944" y="5497312"/>
                <a:ext cx="8335108" cy="882486"/>
              </a:xfrm>
              <a:prstGeom prst="rect">
                <a:avLst/>
              </a:prstGeom>
              <a:noFill/>
            </p:spPr>
            <p:txBody>
              <a:bodyPr wrap="square" lIns="0" tIns="0" rIns="0" bIns="0">
                <a:spAutoFit/>
              </a:bodyPr>
              <a:lstStyle/>
              <a:p>
                <a:pPr indent="266700" algn="just"/>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同时考虑上面两点，就得到了需要最大化的目标</a:t>
                </a:r>
                <a:r>
                  <a:rPr lang="en-US" altLang="zh-CN" sz="1800" dirty="0">
                    <a:effectLst/>
                    <a:latin typeface="Times New Roman" panose="02020603050405020304" pitchFamily="18" charset="0"/>
                    <a:ea typeface="楷体" panose="02010609060101010101" pitchFamily="49" charset="-122"/>
                    <a:cs typeface="Times New Roman" panose="02020603050405020304" pitchFamily="18" charset="0"/>
                  </a:rPr>
                  <a:t> </a:t>
                </a:r>
                <a14:m>
                  <m:oMath xmlns:m="http://schemas.openxmlformats.org/officeDocument/2006/math">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𝐽</m:t>
                    </m:r>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r>
                      <a:rPr lang="en-US" altLang="zh-CN" sz="1800" b="1" i="1">
                        <a:effectLst/>
                        <a:latin typeface="Cambria Math" panose="02040503050406030204" pitchFamily="18" charset="0"/>
                        <a:ea typeface="楷体" panose="02010609060101010101" pitchFamily="49" charset="-122"/>
                        <a:cs typeface="Times New Roman" panose="02020603050405020304" pitchFamily="18" charset="0"/>
                      </a:rPr>
                      <m:t>𝒘</m:t>
                    </m:r>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oMath>
                </a14:m>
                <a:r>
                  <a:rPr lang="zh-CN" altLang="zh-CN" sz="1800" dirty="0">
                    <a:effectLst/>
                    <a:latin typeface="Times New Roman" panose="02020603050405020304" pitchFamily="18" charset="0"/>
                    <a:ea typeface="楷体" panose="02010609060101010101" pitchFamily="49" charset="-122"/>
                    <a:cs typeface="Times New Roman" panose="02020603050405020304" pitchFamily="18" charset="0"/>
                  </a:rPr>
                  <a:t> ：</a:t>
                </a:r>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a:p>
                <a:pPr indent="266700" algn="just"/>
                <a14:m>
                  <m:oMathPara xmlns:m="http://schemas.openxmlformats.org/officeDocument/2006/math">
                    <m:oMathParaPr>
                      <m:jc m:val="centerGroup"/>
                    </m:oMathParaPr>
                    <m:oMath xmlns:m="http://schemas.openxmlformats.org/officeDocument/2006/math">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𝐽</m:t>
                      </m:r>
                      <m:d>
                        <m:d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r>
                            <a:rPr lang="en-US" altLang="zh-CN" sz="1800" b="1" i="1">
                              <a:effectLst/>
                              <a:latin typeface="Cambria Math" panose="02040503050406030204" pitchFamily="18" charset="0"/>
                              <a:ea typeface="楷体" panose="02010609060101010101" pitchFamily="49" charset="-122"/>
                              <a:cs typeface="Times New Roman" panose="02020603050405020304" pitchFamily="18" charset="0"/>
                            </a:rPr>
                            <m:t>𝒘</m:t>
                          </m:r>
                        </m:e>
                      </m:d>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m:t>
                      </m:r>
                      <m:f>
                        <m:f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a:effectLst/>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Sub>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b="0" i="1">
                                          <a:effectLst/>
                                          <a:latin typeface="Cambria Math" panose="02040503050406030204" pitchFamily="18" charset="0"/>
                                          <a:ea typeface="楷体" panose="02010609060101010101" pitchFamily="49" charset="-122"/>
                                          <a:cs typeface="Times New Roman" panose="02020603050405020304" pitchFamily="18" charset="0"/>
                                        </a:rPr>
                                        <m:t>𝑚</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1</m:t>
                                      </m:r>
                                    </m:sub>
                                  </m:sSub>
                                </m:e>
                              </m:d>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up>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1</m:t>
                              </m:r>
                            </m:sub>
                          </m:s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sz="1800" i="1">
                                  <a:effectLst/>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sz="1800" i="1">
                                  <a:effectLst/>
                                  <a:latin typeface="Cambria Math" panose="02040503050406030204" pitchFamily="18" charset="0"/>
                                  <a:ea typeface="楷体" panose="02010609060101010101" pitchFamily="49" charset="-122"/>
                                  <a:cs typeface="Times New Roman" panose="02020603050405020304" pitchFamily="18" charset="0"/>
                                </a:rPr>
                                <m:t>𝑠</m:t>
                              </m:r>
                            </m:e>
                            <m:sub>
                              <m:r>
                                <a:rPr lang="en-US" altLang="zh-CN" sz="1800">
                                  <a:effectLst/>
                                  <a:latin typeface="Cambria Math" panose="02040503050406030204" pitchFamily="18" charset="0"/>
                                  <a:ea typeface="楷体" panose="02010609060101010101" pitchFamily="49" charset="-122"/>
                                  <a:cs typeface="Times New Roman" panose="02020603050405020304" pitchFamily="18" charset="0"/>
                                </a:rPr>
                                <m:t>2</m:t>
                              </m:r>
                            </m:sub>
                          </m:sSub>
                        </m:den>
                      </m:f>
                    </m:oMath>
                  </m:oMathPara>
                </a14:m>
                <a:endParaRPr lang="zh-CN" altLang="zh-CN" sz="1800" dirty="0">
                  <a:effectLst/>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p:sp>
            <p:nvSpPr>
              <p:cNvPr id="6" name="文本框 5">
                <a:extLst>
                  <a:ext uri="{FF2B5EF4-FFF2-40B4-BE49-F238E27FC236}">
                    <a16:creationId xmlns:a16="http://schemas.microsoft.com/office/drawing/2014/main" id="{386516D9-863E-CE2E-DD5D-CF55712F7B0E}"/>
                  </a:ext>
                </a:extLst>
              </p:cNvPr>
              <p:cNvSpPr txBox="1">
                <a:spLocks noRot="1" noChangeAspect="1" noMove="1" noResize="1" noEditPoints="1" noAdjustHandles="1" noChangeArrowheads="1" noChangeShapeType="1" noTextEdit="1"/>
              </p:cNvSpPr>
              <p:nvPr/>
            </p:nvSpPr>
            <p:spPr>
              <a:xfrm>
                <a:off x="195944" y="5497312"/>
                <a:ext cx="8335108" cy="882486"/>
              </a:xfrm>
              <a:prstGeom prst="rect">
                <a:avLst/>
              </a:prstGeom>
              <a:blipFill>
                <a:blip r:embed="rId6"/>
                <a:stretch>
                  <a:fillRect t="-1034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5820828"/>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791B3674-762C-420C-9FD3-109BF3574735}"/>
                  </a:ext>
                </a:extLst>
              </p:cNvPr>
              <p:cNvSpPr txBox="1"/>
              <p:nvPr/>
            </p:nvSpPr>
            <p:spPr>
              <a:xfrm>
                <a:off x="492617" y="827088"/>
                <a:ext cx="8158765" cy="1198149"/>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d>
                                <m:dPr>
                                  <m:begChr m:val="‖"/>
                                  <m:endChr m:val="‖"/>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d>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p>
                          </m:sSubSup>
                        </m:num>
                        <m:den>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num>
                        <m:den>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num>
                        <m:den>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den>
                      </m:f>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791B3674-762C-420C-9FD3-109BF3574735}"/>
                  </a:ext>
                </a:extLst>
              </p:cNvPr>
              <p:cNvSpPr txBox="1">
                <a:spLocks noRot="1" noChangeAspect="1" noMove="1" noResize="1" noEditPoints="1" noAdjustHandles="1" noChangeArrowheads="1" noChangeShapeType="1" noTextEdit="1"/>
              </p:cNvSpPr>
              <p:nvPr/>
            </p:nvSpPr>
            <p:spPr>
              <a:xfrm>
                <a:off x="492617" y="827088"/>
                <a:ext cx="8158765" cy="1198149"/>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58570BF8-926B-4841-9EA4-5FD64D4DE9CA}"/>
                  </a:ext>
                </a:extLst>
              </p:cNvPr>
              <p:cNvSpPr txBox="1"/>
              <p:nvPr/>
            </p:nvSpPr>
            <p:spPr>
              <a:xfrm>
                <a:off x="719606" y="2332464"/>
                <a:ext cx="7704785" cy="3698448"/>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称为类间散度矩阵</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(between-class scatter matrix)</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，即衡量两个类别均值点之间的</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程度，可定义如下</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则称为类内散度矩阵</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(within-class scatter matrix)</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，即衡量每个类别中数据点的</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程度，可定义如下：</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0" algn="just" defTabSz="914400" rtl="0" eaLnBrk="1" fontAlgn="auto" latinLnBrk="0" hangingPunct="1">
                  <a:lnSpc>
                    <a:spcPct val="100000"/>
                  </a:lnSpc>
                  <a:spcBef>
                    <a:spcPts val="0"/>
                  </a:spcBef>
                  <a:spcAft>
                    <a:spcPts val="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由于</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的分子和分母都是关于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的二项式，因此最后的解只与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的方向有关，与</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的长度无关，因此可令分母</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𝑊</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，然后用拉格朗日乘子法来求解这个问题。</a:t>
                </a:r>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58570BF8-926B-4841-9EA4-5FD64D4DE9CA}"/>
                  </a:ext>
                </a:extLst>
              </p:cNvPr>
              <p:cNvSpPr txBox="1">
                <a:spLocks noRot="1" noChangeAspect="1" noMove="1" noResize="1" noEditPoints="1" noAdjustHandles="1" noChangeArrowheads="1" noChangeShapeType="1" noTextEdit="1"/>
              </p:cNvSpPr>
              <p:nvPr/>
            </p:nvSpPr>
            <p:spPr>
              <a:xfrm>
                <a:off x="719606" y="2332464"/>
                <a:ext cx="7704785" cy="3698448"/>
              </a:xfrm>
              <a:prstGeom prst="rect">
                <a:avLst/>
              </a:prstGeom>
              <a:blipFill>
                <a:blip r:embed="rId3"/>
                <a:stretch>
                  <a:fillRect l="-633" r="-712" b="-1485"/>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3184212"/>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二分类问题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0B3E8C12-89D4-4877-BB66-6C2174B08626}"/>
                  </a:ext>
                </a:extLst>
              </p:cNvPr>
              <p:cNvSpPr txBox="1"/>
              <p:nvPr/>
            </p:nvSpPr>
            <p:spPr>
              <a:xfrm>
                <a:off x="92906" y="1116589"/>
                <a:ext cx="5784404" cy="1000274"/>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对应拉格朗日函数为：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𝐿</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d>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0B3E8C12-89D4-4877-BB66-6C2174B08626}"/>
                  </a:ext>
                </a:extLst>
              </p:cNvPr>
              <p:cNvSpPr txBox="1">
                <a:spLocks noRot="1" noChangeAspect="1" noMove="1" noResize="1" noEditPoints="1" noAdjustHandles="1" noChangeArrowheads="1" noChangeShapeType="1" noTextEdit="1"/>
              </p:cNvSpPr>
              <p:nvPr/>
            </p:nvSpPr>
            <p:spPr>
              <a:xfrm>
                <a:off x="92906" y="1116589"/>
                <a:ext cx="5784404" cy="1000274"/>
              </a:xfrm>
              <a:prstGeom prst="rect">
                <a:avLst/>
              </a:prstGeom>
              <a:blipFill>
                <a:blip r:embed="rId2"/>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CEAEFF71-ED67-4BD1-ACD9-D4FAD4286EBB}"/>
                  </a:ext>
                </a:extLst>
              </p:cNvPr>
              <p:cNvSpPr txBox="1"/>
              <p:nvPr/>
            </p:nvSpPr>
            <p:spPr>
              <a:xfrm>
                <a:off x="396077" y="2243282"/>
                <a:ext cx="4640181" cy="2742867"/>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求偏导并使其求导结果为零，可得</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。由此可见，</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λ</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分别是</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的特征根和特征向量，</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也被称为</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Fisher</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线性判别（</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Fisher linear discrimination</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p>
                      </m:sSup>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1</m:t>
                              </m:r>
                            </m:sub>
                          </m:sSub>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𝜆</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cs typeface="+mn-cs"/>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cs typeface="+mn-cs"/>
                        </a:rPr>
                        <m:t>𝒘</m:t>
                      </m:r>
                    </m:oMath>
                  </m:oMathPara>
                </a14:m>
                <a:endParaRPr kumimoji="0" lang="zh-CN" altLang="zh-CN"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CEAEFF71-ED67-4BD1-ACD9-D4FAD4286EBB}"/>
                  </a:ext>
                </a:extLst>
              </p:cNvPr>
              <p:cNvSpPr txBox="1">
                <a:spLocks noRot="1" noChangeAspect="1" noMove="1" noResize="1" noEditPoints="1" noAdjustHandles="1" noChangeArrowheads="1" noChangeShapeType="1" noTextEdit="1"/>
              </p:cNvSpPr>
              <p:nvPr/>
            </p:nvSpPr>
            <p:spPr>
              <a:xfrm>
                <a:off x="396077" y="2243282"/>
                <a:ext cx="4640181" cy="2742867"/>
              </a:xfrm>
              <a:prstGeom prst="rect">
                <a:avLst/>
              </a:prstGeom>
              <a:blipFill>
                <a:blip r:embed="rId3"/>
                <a:stretch>
                  <a:fillRect l="-1183" r="-1051"/>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B7E41569-694A-4E26-A2AE-511813A728C2}"/>
                  </a:ext>
                </a:extLst>
              </p:cNvPr>
              <p:cNvSpPr txBox="1"/>
              <p:nvPr/>
            </p:nvSpPr>
            <p:spPr>
              <a:xfrm>
                <a:off x="1008685" y="5150980"/>
                <a:ext cx="7817475" cy="893258"/>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由于对</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的放大和缩小操作不影响结果，因此可约去上式中的未知数</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λ</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和</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，得到：</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B7E41569-694A-4E26-A2AE-511813A728C2}"/>
                  </a:ext>
                </a:extLst>
              </p:cNvPr>
              <p:cNvSpPr txBox="1">
                <a:spLocks noRot="1" noChangeAspect="1" noMove="1" noResize="1" noEditPoints="1" noAdjustHandles="1" noChangeArrowheads="1" noChangeShapeType="1" noTextEdit="1"/>
              </p:cNvSpPr>
              <p:nvPr/>
            </p:nvSpPr>
            <p:spPr>
              <a:xfrm>
                <a:off x="1008685" y="5150980"/>
                <a:ext cx="7817475" cy="893258"/>
              </a:xfrm>
              <a:prstGeom prst="rect">
                <a:avLst/>
              </a:prstGeom>
              <a:blipFill>
                <a:blip r:embed="rId4"/>
                <a:stretch>
                  <a:fillRect r="-624" b="-7483"/>
                </a:stretch>
              </a:blipFill>
            </p:spPr>
            <p:txBody>
              <a:bodyPr/>
              <a:lstStyle/>
              <a:p>
                <a:r>
                  <a:rPr lang="zh-CN" altLang="en-US">
                    <a:noFill/>
                  </a:rPr>
                  <a:t> </a:t>
                </a:r>
              </a:p>
            </p:txBody>
          </p:sp>
        </mc:Fallback>
      </mc:AlternateContent>
      <p:grpSp>
        <p:nvGrpSpPr>
          <p:cNvPr id="4" name="组合 3">
            <a:extLst>
              <a:ext uri="{FF2B5EF4-FFF2-40B4-BE49-F238E27FC236}">
                <a16:creationId xmlns:a16="http://schemas.microsoft.com/office/drawing/2014/main" id="{2A3B680D-2058-426E-9A31-6F0F0448A371}"/>
              </a:ext>
            </a:extLst>
          </p:cNvPr>
          <p:cNvGrpSpPr/>
          <p:nvPr/>
        </p:nvGrpSpPr>
        <p:grpSpPr>
          <a:xfrm>
            <a:off x="5539087" y="1434574"/>
            <a:ext cx="3451064" cy="2724000"/>
            <a:chOff x="5539087" y="1434574"/>
            <a:chExt cx="3451064" cy="2724000"/>
          </a:xfrm>
        </p:grpSpPr>
        <p:pic>
          <p:nvPicPr>
            <p:cNvPr id="2" name="图片 1">
              <a:extLst>
                <a:ext uri="{FF2B5EF4-FFF2-40B4-BE49-F238E27FC236}">
                  <a16:creationId xmlns:a16="http://schemas.microsoft.com/office/drawing/2014/main" id="{EEB6A776-F978-46F4-AF4E-50C994AD6A94}"/>
                </a:ext>
              </a:extLst>
            </p:cNvPr>
            <p:cNvPicPr>
              <a:picLocks noChangeAspect="1"/>
            </p:cNvPicPr>
            <p:nvPr/>
          </p:nvPicPr>
          <p:blipFill>
            <a:blip r:embed="rId5"/>
            <a:stretch>
              <a:fillRect/>
            </a:stretch>
          </p:blipFill>
          <p:spPr>
            <a:xfrm>
              <a:off x="5566166" y="1434574"/>
              <a:ext cx="3396906" cy="1953106"/>
            </a:xfrm>
            <a:prstGeom prst="rect">
              <a:avLst/>
            </a:prstGeom>
          </p:spPr>
        </p:pic>
        <p:pic>
          <p:nvPicPr>
            <p:cNvPr id="3" name="图片 2">
              <a:extLst>
                <a:ext uri="{FF2B5EF4-FFF2-40B4-BE49-F238E27FC236}">
                  <a16:creationId xmlns:a16="http://schemas.microsoft.com/office/drawing/2014/main" id="{A34CDA09-5F10-44F2-A795-4875A0A0AEC8}"/>
                </a:ext>
              </a:extLst>
            </p:cNvPr>
            <p:cNvPicPr>
              <a:picLocks noChangeAspect="1"/>
            </p:cNvPicPr>
            <p:nvPr/>
          </p:nvPicPr>
          <p:blipFill>
            <a:blip r:embed="rId6"/>
            <a:stretch>
              <a:fillRect/>
            </a:stretch>
          </p:blipFill>
          <p:spPr>
            <a:xfrm>
              <a:off x="5539087" y="3545101"/>
              <a:ext cx="3451064" cy="613473"/>
            </a:xfrm>
            <a:prstGeom prst="rect">
              <a:avLst/>
            </a:prstGeom>
          </p:spPr>
        </p:pic>
      </p:grpSp>
    </p:spTree>
    <p:extLst>
      <p:ext uri="{BB962C8B-B14F-4D97-AF65-F5344CB8AC3E}">
        <p14:creationId xmlns:p14="http://schemas.microsoft.com/office/powerpoint/2010/main" val="3324356659"/>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多分类问题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80A72493-0F5C-45B4-9B57-E896129CF856}"/>
                  </a:ext>
                </a:extLst>
              </p:cNvPr>
              <p:cNvSpPr txBox="1"/>
              <p:nvPr/>
            </p:nvSpPr>
            <p:spPr>
              <a:xfrm>
                <a:off x="782391" y="1053667"/>
                <a:ext cx="7579217" cy="870751"/>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假设</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个原始高维数据所构成的类别种类为</a:t>
                </a:r>
                <a14:m>
                  <m:oMath xmlns:m="http://schemas.openxmlformats.org/officeDocument/2006/math">
                    <m:r>
                      <m:rPr>
                        <m:sty m:val="p"/>
                      </m:rP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K</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、每个原始数据被投影映射到低维空间中的维度为</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80A72493-0F5C-45B4-9B57-E896129CF856}"/>
                  </a:ext>
                </a:extLst>
              </p:cNvPr>
              <p:cNvSpPr txBox="1">
                <a:spLocks noRot="1" noChangeAspect="1" noMove="1" noResize="1" noEditPoints="1" noAdjustHandles="1" noChangeArrowheads="1" noChangeShapeType="1" noTextEdit="1"/>
              </p:cNvSpPr>
              <p:nvPr/>
            </p:nvSpPr>
            <p:spPr>
              <a:xfrm>
                <a:off x="782391" y="1053667"/>
                <a:ext cx="7579217" cy="870751"/>
              </a:xfrm>
              <a:prstGeom prst="rect">
                <a:avLst/>
              </a:prstGeom>
              <a:blipFill>
                <a:blip r:embed="rId2"/>
                <a:stretch>
                  <a:fillRect l="-643" r="-643" b="-839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1ADFFA1B-5CC1-4487-86B9-37DBB25F19A3}"/>
                  </a:ext>
                </a:extLst>
              </p:cNvPr>
              <p:cNvSpPr txBox="1"/>
              <p:nvPr/>
            </p:nvSpPr>
            <p:spPr>
              <a:xfrm>
                <a:off x="782390" y="1924418"/>
                <a:ext cx="7579217" cy="3055580"/>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令投影矩阵</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2</m:t>
                            </m:r>
                          </m:sub>
                        </m:sSub>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b>
                        </m:sSub>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，可知</a:t>
                </a:r>
                <a14:m>
                  <m:oMath xmlns:m="http://schemas.openxmlformats.org/officeDocument/2006/math">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是一个</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𝑛</m:t>
                    </m:r>
                    <m:r>
                      <a:rPr kumimoji="0" lang="en-US" altLang="zh-CN" sz="1800" b="0" i="0"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矩阵。于是，</a:t>
                </a:r>
                <a14:m>
                  <m:oMath xmlns:m="http://schemas.openxmlformats.org/officeDocument/2006/math">
                    <m:r>
                      <a:rPr kumimoji="0" lang="zh-CN" altLang="zh-CN" sz="1800" b="0" i="0"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 </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类样本数据中心在低维空间的投影结果，</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类样本数据协方差在低维空间的投影结果。</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类内散度矩阵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定义如下：</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ctr" defTabSz="914400" rtl="0" eaLnBrk="1" fontAlgn="auto" latinLnBrk="0" hangingPunct="1">
                  <a:lnSpc>
                    <a:spcPct val="150000"/>
                  </a:lnSpc>
                  <a:spcBef>
                    <a:spcPts val="1000"/>
                  </a:spcBef>
                  <a:spcAft>
                    <a:spcPts val="300"/>
                  </a:spcAft>
                  <a:buClrTx/>
                  <a:buSzTx/>
                  <a:buFontTx/>
                  <a:buNone/>
                  <a:tabLst/>
                  <a:defRPr/>
                </a:pP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sup>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𝛴</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𝑐𝑙𝑎𝑠𝑠</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 </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𝒊</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𝒙</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在上式中，</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是第</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𝑖</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个类别中所包含样本数据的均值。</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7" name="文本框 6">
                <a:extLst>
                  <a:ext uri="{FF2B5EF4-FFF2-40B4-BE49-F238E27FC236}">
                    <a16:creationId xmlns:a16="http://schemas.microsoft.com/office/drawing/2014/main" id="{1ADFFA1B-5CC1-4487-86B9-37DBB25F19A3}"/>
                  </a:ext>
                </a:extLst>
              </p:cNvPr>
              <p:cNvSpPr txBox="1">
                <a:spLocks noRot="1" noChangeAspect="1" noMove="1" noResize="1" noEditPoints="1" noAdjustHandles="1" noChangeArrowheads="1" noChangeShapeType="1" noTextEdit="1"/>
              </p:cNvSpPr>
              <p:nvPr/>
            </p:nvSpPr>
            <p:spPr>
              <a:xfrm>
                <a:off x="782390" y="1924418"/>
                <a:ext cx="7579217" cy="3055580"/>
              </a:xfrm>
              <a:prstGeom prst="rect">
                <a:avLst/>
              </a:prstGeom>
              <a:blipFill>
                <a:blip r:embed="rId3"/>
                <a:stretch>
                  <a:fillRect l="-643" r="-643" b="-299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5B8046D-C909-4BC8-9AA6-CE73C8B7465F}"/>
                  </a:ext>
                </a:extLst>
              </p:cNvPr>
              <p:cNvSpPr txBox="1"/>
              <p:nvPr/>
            </p:nvSpPr>
            <p:spPr>
              <a:xfrm>
                <a:off x="782389" y="4979998"/>
                <a:ext cx="3900143" cy="455253"/>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类间散度矩阵</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重新定义如下：</a:t>
                </a:r>
                <a:endPar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endParaRPr>
              </a:p>
            </p:txBody>
          </p:sp>
        </mc:Choice>
        <mc:Fallback xmlns="">
          <p:sp>
            <p:nvSpPr>
              <p:cNvPr id="9" name="文本框 8">
                <a:extLst>
                  <a:ext uri="{FF2B5EF4-FFF2-40B4-BE49-F238E27FC236}">
                    <a16:creationId xmlns:a16="http://schemas.microsoft.com/office/drawing/2014/main" id="{65B8046D-C909-4BC8-9AA6-CE73C8B7465F}"/>
                  </a:ext>
                </a:extLst>
              </p:cNvPr>
              <p:cNvSpPr txBox="1">
                <a:spLocks noRot="1" noChangeAspect="1" noMove="1" noResize="1" noEditPoints="1" noAdjustHandles="1" noChangeArrowheads="1" noChangeShapeType="1" noTextEdit="1"/>
              </p:cNvSpPr>
              <p:nvPr/>
            </p:nvSpPr>
            <p:spPr>
              <a:xfrm>
                <a:off x="782389" y="4979998"/>
                <a:ext cx="3900143" cy="455253"/>
              </a:xfrm>
              <a:prstGeom prst="rect">
                <a:avLst/>
              </a:prstGeom>
              <a:blipFill>
                <a:blip r:embed="rId4"/>
                <a:stretch>
                  <a:fillRect b="-17333"/>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2F3733F2-26B7-4CD4-B905-2B3A5ED934F7}"/>
                  </a:ext>
                </a:extLst>
              </p:cNvPr>
              <p:cNvSpPr txBox="1"/>
              <p:nvPr/>
            </p:nvSpPr>
            <p:spPr>
              <a:xfrm>
                <a:off x="1193011" y="5415117"/>
                <a:ext cx="3378989" cy="87126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𝐾</m:t>
                          </m:r>
                        </m:sup>
                        <m:e>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𝑁</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𝑁</m:t>
                              </m:r>
                            </m:den>
                          </m:f>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12" name="文本框 11">
                <a:extLst>
                  <a:ext uri="{FF2B5EF4-FFF2-40B4-BE49-F238E27FC236}">
                    <a16:creationId xmlns:a16="http://schemas.microsoft.com/office/drawing/2014/main" id="{2F3733F2-26B7-4CD4-B905-2B3A5ED934F7}"/>
                  </a:ext>
                </a:extLst>
              </p:cNvPr>
              <p:cNvSpPr txBox="1">
                <a:spLocks noRot="1" noChangeAspect="1" noMove="1" noResize="1" noEditPoints="1" noAdjustHandles="1" noChangeArrowheads="1" noChangeShapeType="1" noTextEdit="1"/>
              </p:cNvSpPr>
              <p:nvPr/>
            </p:nvSpPr>
            <p:spPr>
              <a:xfrm>
                <a:off x="1193011" y="5415117"/>
                <a:ext cx="3378989" cy="871264"/>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 name="文本框 1">
                <a:extLst>
                  <a:ext uri="{FF2B5EF4-FFF2-40B4-BE49-F238E27FC236}">
                    <a16:creationId xmlns:a16="http://schemas.microsoft.com/office/drawing/2014/main" id="{92D7D61A-177C-BE5E-A38B-984956508A32}"/>
                  </a:ext>
                </a:extLst>
              </p:cNvPr>
              <p:cNvSpPr txBox="1"/>
              <p:nvPr/>
            </p:nvSpPr>
            <p:spPr>
              <a:xfrm>
                <a:off x="4832575" y="5368701"/>
                <a:ext cx="3378989" cy="1148263"/>
              </a:xfrm>
              <a:prstGeom prst="rect">
                <a:avLst/>
              </a:prstGeom>
              <a:noFill/>
            </p:spPr>
            <p:txBody>
              <a:bodyPr wrap="square">
                <a:spAutoFit/>
              </a:bodyPr>
              <a:lstStyle/>
              <a:p>
                <a:pPr lvl="0"/>
                <a14:m>
                  <m:oMathPara xmlns:m="http://schemas.openxmlformats.org/officeDocument/2006/math">
                    <m:oMathParaPr>
                      <m:jc m:val="centerGroup"/>
                    </m:oMathParaPr>
                    <m:oMath xmlns:m="http://schemas.openxmlformats.org/officeDocument/2006/math">
                      <m:sSub>
                        <m:sSubPr>
                          <m:ctrlPr>
                            <a:rPr kumimoji="0" lang="zh-CN"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𝑡</m:t>
                          </m:r>
                        </m:sub>
                      </m:sSub>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b="0" i="1" smtClean="0">
                              <a:solidFill>
                                <a:prstClr val="black"/>
                              </a:solidFill>
                              <a:latin typeface="Cambria Math" panose="02040503050406030204" pitchFamily="18" charset="0"/>
                              <a:ea typeface="楷体" panose="02010609060101010101" pitchFamily="49" charset="-122"/>
                              <a:cs typeface="Times New Roman" panose="02020603050405020304" pitchFamily="18" charset="0"/>
                            </a:rPr>
                            <m:t>𝑏</m:t>
                          </m:r>
                        </m:sub>
                      </m:sSub>
                      <m:r>
                        <a:rPr lang="en-US" altLang="zh-CN" b="0" i="1" smtClean="0">
                          <a:solidFill>
                            <a:prstClr val="black"/>
                          </a:solidFill>
                          <a:latin typeface="Cambria Math" panose="02040503050406030204" pitchFamily="18" charset="0"/>
                          <a:ea typeface="楷体" panose="02010609060101010101" pitchFamily="49" charset="-122"/>
                          <a:cs typeface="Times New Roman" panose="02020603050405020304" pitchFamily="18" charset="0"/>
                        </a:rPr>
                        <m:t>+</m:t>
                      </m:r>
                      <m:sSub>
                        <m:sSubPr>
                          <m:ctrlPr>
                            <a:rPr lang="zh-CN" altLang="zh-CN" i="1">
                              <a:solidFill>
                                <a:prstClr val="black"/>
                              </a:solidFill>
                              <a:latin typeface="Cambria Math" panose="02040503050406030204" pitchFamily="18" charset="0"/>
                              <a:ea typeface="Cambria Math" panose="02040503050406030204" pitchFamily="18" charset="0"/>
                              <a:cs typeface="Times New Roman" panose="02020603050405020304" pitchFamily="18" charset="0"/>
                            </a:rPr>
                          </m:ctrlPr>
                        </m:sSubPr>
                        <m:e>
                          <m:r>
                            <a:rPr lang="en-US" altLang="zh-CN" b="1"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𝑺</m:t>
                          </m:r>
                        </m:e>
                        <m:sub>
                          <m:r>
                            <a:rPr lang="en-US" altLang="zh-CN" i="1">
                              <a:solidFill>
                                <a:prstClr val="black"/>
                              </a:solidFill>
                              <a:latin typeface="Cambria Math" panose="02040503050406030204" pitchFamily="18" charset="0"/>
                              <a:ea typeface="楷体" panose="02010609060101010101" pitchFamily="49" charset="-122"/>
                              <a:cs typeface="Times New Roman" panose="02020603050405020304" pitchFamily="18" charset="0"/>
                            </a:rPr>
                            <m:t>𝑤</m:t>
                          </m:r>
                        </m:sub>
                      </m:sSub>
                    </m:oMath>
                  </m:oMathPara>
                </a14:m>
                <a:endParaRPr kumimoji="0" lang="en-US" altLang="zh-CN" sz="1800" b="0" i="1" u="none" strike="noStrike" kern="1200" cap="none" spc="0" normalizeH="0" baseline="0" noProof="0" dirty="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nary>
                        <m:naryPr>
                          <m:chr m:val="∑"/>
                          <m:limLoc m:val="undOv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𝑚</m:t>
                          </m:r>
                        </m:sup>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𝒙</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𝒙</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𝒎</m:t>
                                  </m:r>
                                </m:e>
                              </m:d>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e>
                      </m:nary>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2" name="文本框 1">
                <a:extLst>
                  <a:ext uri="{FF2B5EF4-FFF2-40B4-BE49-F238E27FC236}">
                    <a16:creationId xmlns:a16="http://schemas.microsoft.com/office/drawing/2014/main" id="{92D7D61A-177C-BE5E-A38B-984956508A32}"/>
                  </a:ext>
                </a:extLst>
              </p:cNvPr>
              <p:cNvSpPr txBox="1">
                <a:spLocks noRot="1" noChangeAspect="1" noMove="1" noResize="1" noEditPoints="1" noAdjustHandles="1" noChangeArrowheads="1" noChangeShapeType="1" noTextEdit="1"/>
              </p:cNvSpPr>
              <p:nvPr/>
            </p:nvSpPr>
            <p:spPr>
              <a:xfrm>
                <a:off x="4832575" y="5368701"/>
                <a:ext cx="3378989" cy="1148263"/>
              </a:xfrm>
              <a:prstGeom prst="rect">
                <a:avLst/>
              </a:prstGeom>
              <a:blipFill>
                <a:blip r:embed="rId6"/>
                <a:stretch>
                  <a:fillRect/>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2110265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多分类问题</a:t>
            </a:r>
          </a:p>
        </p:txBody>
      </p:sp>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FE964556-C366-4DC0-BDBB-8438775B78FD}"/>
                  </a:ext>
                </a:extLst>
              </p:cNvPr>
              <p:cNvSpPr txBox="1"/>
              <p:nvPr/>
            </p:nvSpPr>
            <p:spPr>
              <a:xfrm>
                <a:off x="197317" y="4213377"/>
                <a:ext cx="8384147" cy="1246944"/>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显然需要使乘积式子中每个</a:t>
                </a:r>
                <a14:m>
                  <m:oMath xmlns:m="http://schemas.openxmlformats.org/officeDocument/2006/math">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𝐒</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den>
                    </m:f>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取值最大，这就是二分类问题的求解目标，即每一个</a:t>
                </a:r>
                <a14:m>
                  <m:oMath xmlns:m="http://schemas.openxmlformats.org/officeDocument/2006/math">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都是</a:t>
                </a:r>
                <a14:m>
                  <m:oMath xmlns:m="http://schemas.openxmlformats.org/officeDocument/2006/math">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𝜆</m:t>
                    </m:r>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的一个解。</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5" name="文本框 4">
                <a:extLst>
                  <a:ext uri="{FF2B5EF4-FFF2-40B4-BE49-F238E27FC236}">
                    <a16:creationId xmlns:a16="http://schemas.microsoft.com/office/drawing/2014/main" id="{FE964556-C366-4DC0-BDBB-8438775B78FD}"/>
                  </a:ext>
                </a:extLst>
              </p:cNvPr>
              <p:cNvSpPr txBox="1">
                <a:spLocks noRot="1" noChangeAspect="1" noMove="1" noResize="1" noEditPoints="1" noAdjustHandles="1" noChangeArrowheads="1" noChangeShapeType="1" noTextEdit="1"/>
              </p:cNvSpPr>
              <p:nvPr/>
            </p:nvSpPr>
            <p:spPr>
              <a:xfrm>
                <a:off x="197317" y="4213377"/>
                <a:ext cx="8384147" cy="1246944"/>
              </a:xfrm>
              <a:prstGeom prst="rect">
                <a:avLst/>
              </a:prstGeom>
              <a:blipFill>
                <a:blip r:embed="rId2"/>
                <a:stretch>
                  <a:fillRect l="-581" r="-581" b="-536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文本框 2">
                <a:extLst>
                  <a:ext uri="{FF2B5EF4-FFF2-40B4-BE49-F238E27FC236}">
                    <a16:creationId xmlns:a16="http://schemas.microsoft.com/office/drawing/2014/main" id="{D30D89D2-E112-DF8B-80DD-52899FBF9571}"/>
                  </a:ext>
                </a:extLst>
              </p:cNvPr>
              <p:cNvSpPr txBox="1"/>
              <p:nvPr/>
            </p:nvSpPr>
            <p:spPr>
              <a:xfrm>
                <a:off x="105877" y="778662"/>
                <a:ext cx="8345103" cy="1681486"/>
              </a:xfrm>
              <a:prstGeom prst="rect">
                <a:avLst/>
              </a:prstGeom>
              <a:noFill/>
            </p:spPr>
            <p:txBody>
              <a:bodyPr wrap="square">
                <a:spAutoFit/>
              </a:bodyPr>
              <a:lstStyle/>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将多类</a:t>
                </a:r>
                <a:r>
                  <a:rPr kumimoji="0" lang="en-US"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LDA</a:t>
                </a: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映射投影方向的优化目标</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just"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其中，</a:t>
                </a:r>
                <a14:m>
                  <m:oMath xmlns:m="http://schemas.openxmlformats.org/officeDocument/2006/math">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𝔸</m:t>
                        </m:r>
                      </m:e>
                    </m:nary>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为矩阵</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𝔸</m:t>
                    </m:r>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主对角元素的乘积。</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3" name="文本框 2">
                <a:extLst>
                  <a:ext uri="{FF2B5EF4-FFF2-40B4-BE49-F238E27FC236}">
                    <a16:creationId xmlns:a16="http://schemas.microsoft.com/office/drawing/2014/main" id="{D30D89D2-E112-DF8B-80DD-52899FBF9571}"/>
                  </a:ext>
                </a:extLst>
              </p:cNvPr>
              <p:cNvSpPr txBox="1">
                <a:spLocks noRot="1" noChangeAspect="1" noMove="1" noResize="1" noEditPoints="1" noAdjustHandles="1" noChangeArrowheads="1" noChangeShapeType="1" noTextEdit="1"/>
              </p:cNvSpPr>
              <p:nvPr/>
            </p:nvSpPr>
            <p:spPr>
              <a:xfrm>
                <a:off x="105877" y="778662"/>
                <a:ext cx="8345103" cy="1681486"/>
              </a:xfrm>
              <a:prstGeom prst="rect">
                <a:avLst/>
              </a:prstGeom>
              <a:blipFill>
                <a:blip r:embed="rId3"/>
                <a:stretch>
                  <a:fillRect b="-38406"/>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308A8D72-10F9-7CD1-5AA4-6F8484C5460D}"/>
                  </a:ext>
                </a:extLst>
              </p:cNvPr>
              <p:cNvSpPr txBox="1"/>
              <p:nvPr/>
            </p:nvSpPr>
            <p:spPr>
              <a:xfrm>
                <a:off x="1631483" y="1397679"/>
                <a:ext cx="2531444" cy="66870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num>
                        <m:den>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𝑻</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6" name="文本框 5">
                <a:extLst>
                  <a:ext uri="{FF2B5EF4-FFF2-40B4-BE49-F238E27FC236}">
                    <a16:creationId xmlns:a16="http://schemas.microsoft.com/office/drawing/2014/main" id="{308A8D72-10F9-7CD1-5AA4-6F8484C5460D}"/>
                  </a:ext>
                </a:extLst>
              </p:cNvPr>
              <p:cNvSpPr txBox="1">
                <a:spLocks noRot="1" noChangeAspect="1" noMove="1" noResize="1" noEditPoints="1" noAdjustHandles="1" noChangeArrowheads="1" noChangeShapeType="1" noTextEdit="1"/>
              </p:cNvSpPr>
              <p:nvPr/>
            </p:nvSpPr>
            <p:spPr>
              <a:xfrm>
                <a:off x="1631483" y="1397679"/>
                <a:ext cx="2531444" cy="668709"/>
              </a:xfrm>
              <a:prstGeom prst="rect">
                <a:avLst/>
              </a:prstGeom>
              <a:blipFill>
                <a:blip r:embed="rId4"/>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3F50EE17-71E0-66C5-0146-19AA362FB0CC}"/>
                  </a:ext>
                </a:extLst>
              </p:cNvPr>
              <p:cNvSpPr txBox="1"/>
              <p:nvPr/>
            </p:nvSpPr>
            <p:spPr>
              <a:xfrm>
                <a:off x="4572000" y="1397678"/>
                <a:ext cx="2531444" cy="605102"/>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tr</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t>(</m:t>
                          </m:r>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um>
                        <m:den>
                          <m:r>
                            <m:rPr>
                              <m:sty m:val="p"/>
                            </m:rPr>
                            <a:rPr kumimoji="0" lang="en-US" altLang="zh-CN" sz="1800" b="0" i="0"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tr</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p>
                            <m:sSupPr>
                              <m:ctrlPr>
                                <a:rPr kumimoji="0" lang="zh-CN" altLang="zh-CN" sz="1800" b="1"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0"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den>
                      </m:f>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7" name="文本框 6">
                <a:extLst>
                  <a:ext uri="{FF2B5EF4-FFF2-40B4-BE49-F238E27FC236}">
                    <a16:creationId xmlns:a16="http://schemas.microsoft.com/office/drawing/2014/main" id="{3F50EE17-71E0-66C5-0146-19AA362FB0CC}"/>
                  </a:ext>
                </a:extLst>
              </p:cNvPr>
              <p:cNvSpPr txBox="1">
                <a:spLocks noRot="1" noChangeAspect="1" noMove="1" noResize="1" noEditPoints="1" noAdjustHandles="1" noChangeArrowheads="1" noChangeShapeType="1" noTextEdit="1"/>
              </p:cNvSpPr>
              <p:nvPr/>
            </p:nvSpPr>
            <p:spPr>
              <a:xfrm>
                <a:off x="4572000" y="1397678"/>
                <a:ext cx="2531444" cy="605102"/>
              </a:xfrm>
              <a:prstGeom prst="rect">
                <a:avLst/>
              </a:prstGeom>
              <a:blipFill>
                <a:blip r:embed="rId5"/>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4CC8A2B0-6AF8-A40A-AD59-BEE0EC10D64F}"/>
                  </a:ext>
                </a:extLst>
              </p:cNvPr>
              <p:cNvSpPr txBox="1"/>
              <p:nvPr/>
            </p:nvSpPr>
            <p:spPr>
              <a:xfrm>
                <a:off x="4904072" y="5134303"/>
                <a:ext cx="1477477" cy="276999"/>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14:m>
                  <m:oMathPara xmlns:m="http://schemas.openxmlformats.org/officeDocument/2006/math">
                    <m:oMathParaPr>
                      <m:jc m:val="centerGroup"/>
                    </m:oMathParaPr>
                    <m:oMath xmlns:m="http://schemas.openxmlformats.org/officeDocument/2006/math">
                      <m:sSup>
                        <m:sSupPr>
                          <m:ctrlPr>
                            <a:rPr kumimoji="0" lang="zh-CN"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smtClean="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𝑰</m:t>
                      </m:r>
                    </m:oMath>
                  </m:oMathPara>
                </a14:m>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mc:Choice>
        <mc:Fallback xmlns="">
          <p:sp>
            <p:nvSpPr>
              <p:cNvPr id="9" name="文本框 8">
                <a:extLst>
                  <a:ext uri="{FF2B5EF4-FFF2-40B4-BE49-F238E27FC236}">
                    <a16:creationId xmlns:a16="http://schemas.microsoft.com/office/drawing/2014/main" id="{4CC8A2B0-6AF8-A40A-AD59-BEE0EC10D64F}"/>
                  </a:ext>
                </a:extLst>
              </p:cNvPr>
              <p:cNvSpPr txBox="1">
                <a:spLocks noRot="1" noChangeAspect="1" noMove="1" noResize="1" noEditPoints="1" noAdjustHandles="1" noChangeArrowheads="1" noChangeShapeType="1" noTextEdit="1"/>
              </p:cNvSpPr>
              <p:nvPr/>
            </p:nvSpPr>
            <p:spPr>
              <a:xfrm>
                <a:off x="4904072" y="5134303"/>
                <a:ext cx="1477477" cy="276999"/>
              </a:xfrm>
              <a:prstGeom prst="rect">
                <a:avLst/>
              </a:prstGeom>
              <a:blipFill>
                <a:blip r:embed="rId6"/>
                <a:stretch>
                  <a:fillRect b="-1087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8DD96D5-0D51-8E21-32B3-9541A3B78006}"/>
                  </a:ext>
                </a:extLst>
              </p:cNvPr>
              <p:cNvSpPr txBox="1"/>
              <p:nvPr/>
            </p:nvSpPr>
            <p:spPr>
              <a:xfrm>
                <a:off x="563078" y="2717943"/>
                <a:ext cx="7199697" cy="1495538"/>
              </a:xfrm>
              <a:prstGeom prst="rect">
                <a:avLst/>
              </a:prstGeom>
              <a:noFill/>
            </p:spPr>
            <p:txBody>
              <a:bodyPr wrap="square" lIns="0" tIns="0" rIns="0" bIns="0">
                <a:spAutoFit/>
              </a:bodyPr>
              <a:lstStyle/>
              <a:p>
                <a:pPr marL="0" marR="0" lvl="0" indent="266700" algn="l" defTabSz="914400" rtl="0" eaLnBrk="1" fontAlgn="auto" latinLnBrk="0" hangingPunct="1">
                  <a:lnSpc>
                    <a:spcPct val="150000"/>
                  </a:lnSpc>
                  <a:spcBef>
                    <a:spcPts val="1000"/>
                  </a:spcBef>
                  <a:spcAft>
                    <a:spcPts val="300"/>
                  </a:spcAft>
                  <a:buClrTx/>
                  <a:buSzTx/>
                  <a:buFontTx/>
                  <a:buNone/>
                  <a:tabLst/>
                  <a:defRPr/>
                </a:pPr>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继续对</a:t>
                </a:r>
                <a14:m>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oMath>
                </a14:m>
                <a:r>
                  <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进行变形：</a:t>
                </a:r>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0" marR="0" lvl="0" indent="266700" algn="l" defTabSz="914400" rtl="0" eaLnBrk="1" fontAlgn="auto" latinLnBrk="0" hangingPunct="1">
                  <a:lnSpc>
                    <a:spcPct val="150000"/>
                  </a:lnSpc>
                  <a:spcBef>
                    <a:spcPts val="1000"/>
                  </a:spcBef>
                  <a:spcAft>
                    <a:spcPts val="300"/>
                  </a:spcAft>
                  <a:buClrTx/>
                  <a:buSzTx/>
                  <a:buFontTx/>
                  <a:buNone/>
                  <a:tabLst/>
                  <a:defRPr/>
                </a:pPr>
                <a14:m>
                  <m:oMathPara xmlns:m="http://schemas.openxmlformats.org/officeDocument/2006/math">
                    <m:oMathParaPr>
                      <m:jc m:val="centerGroup"/>
                    </m:oMathParaPr>
                    <m:oMath xmlns:m="http://schemas.openxmlformats.org/officeDocument/2006/math">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𝐽</m:t>
                      </m:r>
                      <m:d>
                        <m:d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d>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num>
                        <m:den>
                          <m:nary>
                            <m:naryPr>
                              <m:chr m:val="∏"/>
                              <m:limLoc m:val="undOvr"/>
                              <m:supHide m:val="on"/>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𝑑𝑖𝑎𝑔</m:t>
                              </m:r>
                            </m:sub>
                            <m:sup/>
                            <m:e>
                              <m:sSup>
                                <m:s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e>
                          </m:nary>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num>
                        <m:den>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e>
                          </m:nary>
                        </m:den>
                      </m:f>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nary>
                        <m:naryPr>
                          <m:chr m:val="∏"/>
                          <m:limLoc m:val="subSup"/>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naryPr>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=1</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𝑟</m:t>
                          </m:r>
                        </m:sup>
                        <m:e>
                          <m:f>
                            <m:f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fPr>
                            <m:num>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𝑏</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num>
                            <m:den>
                              <m:sSubSup>
                                <m:sSubSup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Sup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up>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𝑇</m:t>
                                  </m:r>
                                </m:sup>
                              </m:sSubSup>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𝑤</m:t>
                                  </m:r>
                                </m:sub>
                              </m:sSub>
                              <m:sSub>
                                <m:sSubPr>
                                  <m:ctrlPr>
                                    <a:rPr kumimoji="0" lang="zh-CN" altLang="zh-CN" sz="18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0" i="1" u="none" strike="noStrike" kern="1200" cap="none" spc="0" normalizeH="0" baseline="0" noProof="0">
                                      <a:ln>
                                        <a:noFill/>
                                      </a:ln>
                                      <a:solidFill>
                                        <a:prstClr val="black"/>
                                      </a:solidFill>
                                      <a:effectLst/>
                                      <a:uLnTx/>
                                      <a:uFillTx/>
                                      <a:latin typeface="Cambria Math" panose="02040503050406030204" pitchFamily="18" charset="0"/>
                                      <a:ea typeface="楷体" panose="02010609060101010101" pitchFamily="49" charset="-122"/>
                                      <a:cs typeface="Times New Roman" panose="02020603050405020304" pitchFamily="18" charset="0"/>
                                    </a:rPr>
                                    <m:t>𝑖</m:t>
                                  </m:r>
                                </m:sub>
                              </m:sSub>
                            </m:den>
                          </m:f>
                        </m:e>
                      </m:nary>
                    </m:oMath>
                  </m:oMathPara>
                </a14:m>
                <a:endParaRPr kumimoji="0" lang="zh-CN" altLang="zh-CN" sz="18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12" name="文本框 11">
                <a:extLst>
                  <a:ext uri="{FF2B5EF4-FFF2-40B4-BE49-F238E27FC236}">
                    <a16:creationId xmlns:a16="http://schemas.microsoft.com/office/drawing/2014/main" id="{48DD96D5-0D51-8E21-32B3-9541A3B78006}"/>
                  </a:ext>
                </a:extLst>
              </p:cNvPr>
              <p:cNvSpPr txBox="1">
                <a:spLocks noRot="1" noChangeAspect="1" noMove="1" noResize="1" noEditPoints="1" noAdjustHandles="1" noChangeArrowheads="1" noChangeShapeType="1" noTextEdit="1"/>
              </p:cNvSpPr>
              <p:nvPr/>
            </p:nvSpPr>
            <p:spPr>
              <a:xfrm>
                <a:off x="563078" y="2717943"/>
                <a:ext cx="7199697" cy="1495538"/>
              </a:xfrm>
              <a:prstGeom prst="rect">
                <a:avLst/>
              </a:prstGeom>
              <a:blipFill>
                <a:blip r:embed="rId7"/>
                <a:stretch>
                  <a:fillRect t="-408"/>
                </a:stretch>
              </a:blipFill>
            </p:spPr>
            <p:txBody>
              <a:bodyPr/>
              <a:lstStyle/>
              <a:p>
                <a:r>
                  <a:rPr lang="zh-CN" altLang="en-US">
                    <a:noFill/>
                  </a:rPr>
                  <a:t> </a:t>
                </a:r>
              </a:p>
            </p:txBody>
          </p:sp>
        </mc:Fallback>
      </mc:AlternateContent>
      <p:sp>
        <p:nvSpPr>
          <p:cNvPr id="15" name="文本框 14">
            <a:extLst>
              <a:ext uri="{FF2B5EF4-FFF2-40B4-BE49-F238E27FC236}">
                <a16:creationId xmlns:a16="http://schemas.microsoft.com/office/drawing/2014/main" id="{D0303043-B918-F082-9DCA-8001EC091FFC}"/>
              </a:ext>
            </a:extLst>
          </p:cNvPr>
          <p:cNvSpPr txBox="1"/>
          <p:nvPr/>
        </p:nvSpPr>
        <p:spPr>
          <a:xfrm>
            <a:off x="4389390" y="2460148"/>
            <a:ext cx="4572000" cy="830997"/>
          </a:xfrm>
          <a:prstGeom prst="rect">
            <a:avLst/>
          </a:prstGeom>
          <a:noFill/>
        </p:spPr>
        <p:txBody>
          <a:bodyPr wrap="squar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1800" b="0" i="0" u="none" strike="noStrike" kern="1200" cap="none" spc="0" normalizeH="0" baseline="0" noProof="0" dirty="0">
                <a:ln>
                  <a:noFill/>
                </a:ln>
                <a:solidFill>
                  <a:srgbClr val="111133"/>
                </a:solidFill>
                <a:effectLst/>
                <a:uLnTx/>
                <a:uFillTx/>
                <a:latin typeface="-apple-system"/>
                <a:ea typeface="黑体"/>
                <a:cs typeface="+mn-cs"/>
              </a:rPr>
              <a:t>对于对称半正定矩阵（如散度矩阵），其迹等于所有特征值之和，也等于投影后各类均值之间总方差的和。</a:t>
            </a:r>
            <a:endParaRPr kumimoji="0" lang="zh-CN" altLang="en-US" sz="1800" b="0" i="0" u="none" strike="noStrike" kern="1200" cap="none" spc="0" normalizeH="0" baseline="0" noProof="0" dirty="0">
              <a:ln>
                <a:noFill/>
              </a:ln>
              <a:solidFill>
                <a:prstClr val="black"/>
              </a:solidFill>
              <a:effectLst/>
              <a:uLnTx/>
              <a:uFillTx/>
              <a:latin typeface="Times New Roman"/>
              <a:ea typeface="黑体"/>
              <a:cs typeface="+mn-cs"/>
            </a:endParaRPr>
          </a:p>
        </p:txBody>
      </p:sp>
    </p:spTree>
    <p:extLst>
      <p:ext uri="{BB962C8B-B14F-4D97-AF65-F5344CB8AC3E}">
        <p14:creationId xmlns:p14="http://schemas.microsoft.com/office/powerpoint/2010/main" val="30185124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标题 3">
            <a:extLst>
              <a:ext uri="{FF2B5EF4-FFF2-40B4-BE49-F238E27FC236}">
                <a16:creationId xmlns:a16="http://schemas.microsoft.com/office/drawing/2014/main" id="{5AE4498C-D467-4B6C-84A1-646F622D9ECC}"/>
              </a:ext>
            </a:extLst>
          </p:cNvPr>
          <p:cNvSpPr txBox="1">
            <a:spLocks/>
          </p:cNvSpPr>
          <p:nvPr/>
        </p:nvSpPr>
        <p:spPr>
          <a:xfrm>
            <a:off x="0" y="0"/>
            <a:ext cx="9144000" cy="817721"/>
          </a:xfrm>
          <a:prstGeom prst="rect">
            <a:avLst/>
          </a:prstGeom>
        </p:spPr>
        <p:txBody>
          <a:bodyPr vert="horz" lIns="91440" tIns="144000" rIns="91440" bIns="45720" rtlCol="0" anchor="ctr">
            <a:noAutofit/>
          </a:bodyPr>
          <a:lstStyle>
            <a:lvl1pPr algn="ctr" defTabSz="914400" rtl="0" eaLnBrk="1" latinLnBrk="0" hangingPunct="1">
              <a:lnSpc>
                <a:spcPct val="90000"/>
              </a:lnSpc>
              <a:spcBef>
                <a:spcPct val="0"/>
              </a:spcBef>
              <a:buNone/>
              <a:defRPr sz="3600" kern="1200">
                <a:solidFill>
                  <a:srgbClr val="C00000"/>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endParaRPr kumimoji="0" lang="zh-CN" altLang="en-US" sz="3600" b="0" i="0" u="none" strike="noStrike" kern="1200" cap="none" spc="0" normalizeH="0" baseline="0" noProof="0">
              <a:ln>
                <a:noFill/>
              </a:ln>
              <a:solidFill>
                <a:srgbClr val="C00000"/>
              </a:solidFill>
              <a:effectLst/>
              <a:uLnTx/>
              <a:uFillTx/>
              <a:latin typeface="Times New Roman"/>
              <a:ea typeface="黑体"/>
              <a:cs typeface="+mj-cs"/>
            </a:endParaRPr>
          </a:p>
        </p:txBody>
      </p:sp>
      <p:sp>
        <p:nvSpPr>
          <p:cNvPr id="13" name="标题 1">
            <a:extLst>
              <a:ext uri="{FF2B5EF4-FFF2-40B4-BE49-F238E27FC236}">
                <a16:creationId xmlns:a16="http://schemas.microsoft.com/office/drawing/2014/main" id="{60FE5641-D8E9-436E-88E3-D0E72DA7FAED}"/>
              </a:ext>
            </a:extLst>
          </p:cNvPr>
          <p:cNvSpPr>
            <a:spLocks noGrp="1"/>
          </p:cNvSpPr>
          <p:nvPr>
            <p:ph type="title"/>
          </p:nvPr>
        </p:nvSpPr>
        <p:spPr>
          <a:xfrm>
            <a:off x="0" y="4763"/>
            <a:ext cx="9144000" cy="817562"/>
          </a:xfrm>
        </p:spPr>
        <p:txBody>
          <a:bodyPr/>
          <a:lstStyle/>
          <a:p>
            <a:pPr marL="0" defTabSz="914400" fontAlgn="base">
              <a:spcAft>
                <a:spcPct val="0"/>
              </a:spcAft>
              <a:defRPr/>
            </a:pPr>
            <a:r>
              <a:rPr lang="zh-CN" altLang="en-US" sz="2400" dirty="0">
                <a:latin typeface="Times New Roman" panose="02020603050405020304" pitchFamily="18" charset="0"/>
                <a:cs typeface="Times New Roman" panose="02020603050405020304" pitchFamily="18" charset="0"/>
              </a:rPr>
              <a:t>线性区别分析：</a:t>
            </a:r>
            <a:r>
              <a:rPr lang="zh-CN" altLang="en-US" sz="2400" kern="0" dirty="0">
                <a:solidFill>
                  <a:srgbClr val="0070C0"/>
                </a:solidFill>
                <a:latin typeface="Times New Roman" pitchFamily="18" charset="0"/>
                <a:cs typeface="Times New Roman" pitchFamily="18" charset="0"/>
              </a:rPr>
              <a:t>线性判别分析的降维步骤</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C2CADFEF-6C30-4CA5-9155-71EBE96A576A}"/>
                  </a:ext>
                </a:extLst>
              </p:cNvPr>
              <p:cNvSpPr txBox="1"/>
              <p:nvPr/>
            </p:nvSpPr>
            <p:spPr>
              <a:xfrm>
                <a:off x="521594" y="1356801"/>
                <a:ext cx="8100812" cy="3680366"/>
              </a:xfrm>
              <a:prstGeom prst="rect">
                <a:avLst/>
              </a:prstGeom>
              <a:noFill/>
            </p:spPr>
            <p:txBody>
              <a:bodyPr wrap="square">
                <a:spAutoFit/>
              </a:bodyPr>
              <a:lstStyle/>
              <a:p>
                <a:pPr marL="0" marR="0" lvl="0" indent="266700" algn="just" defTabSz="914400" rtl="0" eaLnBrk="1" fontAlgn="auto" latinLnBrk="0" hangingPunct="1">
                  <a:lnSpc>
                    <a:spcPct val="200000"/>
                  </a:lnSpc>
                  <a:spcBef>
                    <a:spcPts val="1000"/>
                  </a:spcBef>
                  <a:spcAft>
                    <a:spcPts val="300"/>
                  </a:spcAft>
                  <a:buClrTx/>
                  <a:buSzTx/>
                  <a:buFontTx/>
                  <a:buNone/>
                  <a:tabLst/>
                  <a:defRPr/>
                </a:pPr>
                <a:r>
                  <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楷体" panose="02010609060101010101" pitchFamily="49" charset="-122"/>
                    <a:cs typeface="Times New Roman" panose="02020603050405020304" pitchFamily="18" charset="0"/>
                  </a:rPr>
                  <a:t>对线性判别分析的降维步骤描述如下：</a:t>
                </a:r>
                <a:endParaRPr kumimoji="0" lang="zh-CN" altLang="zh-CN" sz="2000" b="0" i="0" u="none" strike="noStrike" kern="1200" cap="none" spc="0" normalizeH="0" baseline="0" noProof="0" dirty="0">
                  <a:ln>
                    <a:noFill/>
                  </a:ln>
                  <a:solidFill>
                    <a:prstClr val="black"/>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100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计算数据样本集中每个类别样本的均值</a:t>
                </a:r>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计算类内散度矩阵</a:t>
                </a:r>
                <a14:m>
                  <m:oMath xmlns:m="http://schemas.openxmlformats.org/officeDocument/2006/math">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和类间散度矩阵</a:t>
                </a:r>
                <a14:m>
                  <m:oMath xmlns:m="http://schemas.openxmlformats.org/officeDocument/2006/math">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oMath>
                </a14:m>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根据</a:t>
                </a:r>
                <a14:m>
                  <m:oMath xmlns:m="http://schemas.openxmlformats.org/officeDocument/2006/math">
                    <m:sSup>
                      <m:sSup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e>
                      <m:sup>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p>
                    </m:sSup>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𝝀</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来求解</a:t>
                </a:r>
                <a14:m>
                  <m:oMath xmlns:m="http://schemas.openxmlformats.org/officeDocument/2006/math">
                    <m:sSup>
                      <m:sSup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p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sub>
                        </m:sSub>
                      </m:e>
                      <m:sup>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p>
                    </m:sSup>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𝑺</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𝒃</m:t>
                        </m:r>
                      </m:sub>
                    </m:sSub>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所对应前</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𝒓</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个最大特征值所对应特征向量</a:t>
                </a:r>
                <a14:m>
                  <m:oMath xmlns:m="http://schemas.openxmlformats.org/officeDocument/2006/math">
                    <m:d>
                      <m:d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dPr>
                      <m:e>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𝟏</m:t>
                            </m:r>
                          </m:sub>
                        </m:sSub>
                        <m:r>
                          <a:rPr kumimoji="0" lang="en-US" altLang="zh-CN" sz="1800" b="1" i="0"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𝟐</m:t>
                            </m:r>
                          </m:sub>
                        </m:sSub>
                        <m:r>
                          <a:rPr kumimoji="0" lang="en-US" altLang="zh-CN" sz="1800" b="1" i="0"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m:t>
                        </m:r>
                        <m:sSub>
                          <m:sSubPr>
                            <m:ctrlPr>
                              <a:rPr kumimoji="0" lang="zh-CN" altLang="zh-CN" sz="1800" b="1" i="1" u="none" strike="noStrike" kern="1200" cap="none" spc="0" normalizeH="0" baseline="0" noProof="0">
                                <a:ln>
                                  <a:noFill/>
                                </a:ln>
                                <a:solidFill>
                                  <a:srgbClr val="4F81BD"/>
                                </a:solidFill>
                                <a:effectLst/>
                                <a:uLnTx/>
                                <a:uFillTx/>
                                <a:latin typeface="Cambria Math" panose="02040503050406030204" pitchFamily="18" charset="0"/>
                                <a:ea typeface="Cambria Math" panose="02040503050406030204" pitchFamily="18" charset="0"/>
                                <a:cs typeface="Times New Roman" panose="02020603050405020304" pitchFamily="18" charset="0"/>
                              </a:rPr>
                            </m:ctrlPr>
                          </m:sSubPr>
                          <m:e>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𝒘</m:t>
                            </m:r>
                          </m:e>
                          <m:sub>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𝒓</m:t>
                            </m:r>
                          </m:sub>
                        </m:sSub>
                      </m:e>
                    </m:d>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，构成矩阵</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a:p>
                <a:pPr marL="342900" marR="0" lvl="0" indent="-342900" algn="just" defTabSz="914400" rtl="0" eaLnBrk="1" fontAlgn="auto" latinLnBrk="0" hangingPunct="1">
                  <a:lnSpc>
                    <a:spcPct val="200000"/>
                  </a:lnSpc>
                  <a:spcBef>
                    <a:spcPts val="0"/>
                  </a:spcBef>
                  <a:spcAft>
                    <a:spcPts val="300"/>
                  </a:spcAft>
                  <a:buClrTx/>
                  <a:buSzTx/>
                  <a:buFont typeface="+mj-lt"/>
                  <a:buAutoNum type="arabicPeriod"/>
                  <a:tabLst/>
                  <a:defRPr/>
                </a:pPr>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通过矩阵</a:t>
                </a:r>
                <a14:m>
                  <m:oMath xmlns:m="http://schemas.openxmlformats.org/officeDocument/2006/math">
                    <m:r>
                      <a:rPr kumimoji="0" lang="en-US" altLang="zh-CN" sz="1800" b="1" i="1" u="none" strike="noStrike" kern="1200" cap="none" spc="0" normalizeH="0" baseline="0" noProof="0">
                        <a:ln>
                          <a:noFill/>
                        </a:ln>
                        <a:solidFill>
                          <a:srgbClr val="4F81BD"/>
                        </a:solidFill>
                        <a:effectLst/>
                        <a:uLnTx/>
                        <a:uFillTx/>
                        <a:latin typeface="Cambria Math" panose="02040503050406030204" pitchFamily="18" charset="0"/>
                        <a:ea typeface="楷体" panose="02010609060101010101" pitchFamily="49" charset="-122"/>
                        <a:cs typeface="Times New Roman" panose="02020603050405020304" pitchFamily="18" charset="0"/>
                      </a:rPr>
                      <m:t>𝑾</m:t>
                    </m:r>
                  </m:oMath>
                </a14:m>
                <a:r>
                  <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楷体" panose="02010609060101010101" pitchFamily="49" charset="-122"/>
                    <a:cs typeface="Times New Roman" panose="02020603050405020304" pitchFamily="18" charset="0"/>
                  </a:rPr>
                  <a:t>将每个样本映射到低维空间，实现特征降维。</a:t>
                </a:r>
                <a:endParaRPr kumimoji="0" lang="zh-CN" altLang="zh-CN" sz="1800" b="1" i="0" u="none" strike="noStrike" kern="1200" cap="none" spc="0" normalizeH="0" baseline="0" noProof="0" dirty="0">
                  <a:ln>
                    <a:noFill/>
                  </a:ln>
                  <a:solidFill>
                    <a:srgbClr val="4F81BD"/>
                  </a:solidFill>
                  <a:effectLst/>
                  <a:uLnTx/>
                  <a:uFillTx/>
                  <a:latin typeface="Times New Roman" panose="02020603050405020304" pitchFamily="18" charset="0"/>
                  <a:ea typeface="华文楷体" panose="02010600040101010101" pitchFamily="2" charset="-122"/>
                  <a:cs typeface="Times New Roman" panose="02020603050405020304" pitchFamily="18" charset="0"/>
                </a:endParaRPr>
              </a:p>
            </p:txBody>
          </p:sp>
        </mc:Choice>
        <mc:Fallback xmlns="">
          <p:sp>
            <p:nvSpPr>
              <p:cNvPr id="6" name="文本框 5">
                <a:extLst>
                  <a:ext uri="{FF2B5EF4-FFF2-40B4-BE49-F238E27FC236}">
                    <a16:creationId xmlns="" xmlns:a16="http://schemas.microsoft.com/office/drawing/2014/main" xmlns:a14="http://schemas.microsoft.com/office/drawing/2010/main" id="{C2CADFEF-6C30-4CA5-9155-71EBE96A576A}"/>
                  </a:ext>
                </a:extLst>
              </p:cNvPr>
              <p:cNvSpPr txBox="1">
                <a:spLocks noRot="1" noChangeAspect="1" noMove="1" noResize="1" noEditPoints="1" noAdjustHandles="1" noChangeArrowheads="1" noChangeShapeType="1" noTextEdit="1"/>
              </p:cNvSpPr>
              <p:nvPr/>
            </p:nvSpPr>
            <p:spPr>
              <a:xfrm>
                <a:off x="521594" y="1356801"/>
                <a:ext cx="8100812" cy="3680366"/>
              </a:xfrm>
              <a:prstGeom prst="rect">
                <a:avLst/>
              </a:prstGeom>
              <a:blipFill rotWithShape="1">
                <a:blip r:embed="rId2"/>
                <a:stretch>
                  <a:fillRect l="-527" r="-67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8270713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F7C5DFA8-63D1-2306-B0DC-FFF0E7F1C198}"/>
              </a:ext>
            </a:extLst>
          </p:cNvPr>
          <p:cNvPicPr>
            <a:picLocks noChangeAspect="1"/>
          </p:cNvPicPr>
          <p:nvPr/>
        </p:nvPicPr>
        <p:blipFill rotWithShape="1">
          <a:blip r:embed="rId2"/>
          <a:srcRect r="15275"/>
          <a:stretch/>
        </p:blipFill>
        <p:spPr>
          <a:xfrm>
            <a:off x="5373943" y="3348527"/>
            <a:ext cx="3671230" cy="2484000"/>
          </a:xfrm>
          <a:prstGeom prst="rect">
            <a:avLst/>
          </a:prstGeom>
        </p:spPr>
      </p:pic>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数据无标签，一般为聚类、降维或概率密度估计等任务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8" name="图片 7">
            <a:extLst>
              <a:ext uri="{FF2B5EF4-FFF2-40B4-BE49-F238E27FC236}">
                <a16:creationId xmlns:a16="http://schemas.microsoft.com/office/drawing/2014/main" id="{609E7BC4-A387-976F-4C7B-3493185EBB47}"/>
              </a:ext>
            </a:extLst>
          </p:cNvPr>
          <p:cNvPicPr>
            <a:picLocks noChangeAspect="1"/>
          </p:cNvPicPr>
          <p:nvPr/>
        </p:nvPicPr>
        <p:blipFill>
          <a:blip r:embed="rId3"/>
          <a:stretch>
            <a:fillRect/>
          </a:stretch>
        </p:blipFill>
        <p:spPr>
          <a:xfrm>
            <a:off x="5584317" y="1025473"/>
            <a:ext cx="3001754" cy="2088000"/>
          </a:xfrm>
          <a:prstGeom prst="rect">
            <a:avLst/>
          </a:prstGeom>
        </p:spPr>
      </p:pic>
      <p:pic>
        <p:nvPicPr>
          <p:cNvPr id="2" name="图片 1">
            <a:extLst>
              <a:ext uri="{FF2B5EF4-FFF2-40B4-BE49-F238E27FC236}">
                <a16:creationId xmlns:a16="http://schemas.microsoft.com/office/drawing/2014/main" id="{1A2445A2-F0D4-8130-F56D-119E75DA0B0C}"/>
              </a:ext>
            </a:extLst>
          </p:cNvPr>
          <p:cNvPicPr>
            <a:picLocks noChangeAspect="1"/>
          </p:cNvPicPr>
          <p:nvPr/>
        </p:nvPicPr>
        <p:blipFill rotWithShape="1">
          <a:blip r:embed="rId2"/>
          <a:srcRect l="63410" t="50056" b="28818"/>
          <a:stretch/>
        </p:blipFill>
        <p:spPr>
          <a:xfrm>
            <a:off x="7452000" y="4590527"/>
            <a:ext cx="1692000" cy="560020"/>
          </a:xfrm>
          <a:prstGeom prst="rect">
            <a:avLst/>
          </a:prstGeom>
        </p:spPr>
      </p:pic>
    </p:spTree>
    <p:extLst>
      <p:ext uri="{BB962C8B-B14F-4D97-AF65-F5344CB8AC3E}">
        <p14:creationId xmlns:p14="http://schemas.microsoft.com/office/powerpoint/2010/main" val="3517525001"/>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 name="圆角矩形 32"/>
          <p:cNvSpPr/>
          <p:nvPr/>
        </p:nvSpPr>
        <p:spPr>
          <a:xfrm>
            <a:off x="67585" y="1308299"/>
            <a:ext cx="5112000" cy="5184000"/>
          </a:xfrm>
          <a:prstGeom prst="roundRect">
            <a:avLst>
              <a:gd name="adj" fmla="val 9468"/>
            </a:avLst>
          </a:prstGeom>
          <a:solidFill>
            <a:srgbClr val="E7BB01">
              <a:lumMod val="40000"/>
              <a:lumOff val="60000"/>
            </a:srgbClr>
          </a:solidFill>
          <a:ln w="25400" cap="flat" cmpd="sng" algn="ctr">
            <a:solidFill>
              <a:srgbClr val="00E4A8">
                <a:shade val="50000"/>
              </a:srgbClr>
            </a:solidFill>
            <a:prstDash val="solid"/>
          </a:ln>
          <a:effectLst/>
        </p:spPr>
        <p:txBody>
          <a:bodyPr lIns="0" tIns="0" rIns="0" bIns="0" rtlCol="0" anchor="ctr"/>
          <a:lstStyle/>
          <a:p>
            <a:pPr marL="0" marR="0" lvl="0" indent="0" algn="ctr" defTabSz="914400" rtl="0" eaLnBrk="1" fontAlgn="base" latinLnBrk="0" hangingPunct="1">
              <a:lnSpc>
                <a:spcPct val="100000"/>
              </a:lnSpc>
              <a:spcBef>
                <a:spcPct val="0"/>
              </a:spcBef>
              <a:spcAft>
                <a:spcPct val="0"/>
              </a:spcAft>
              <a:buClrTx/>
              <a:buSzTx/>
              <a:buFontTx/>
              <a:buNone/>
              <a:tabLst/>
              <a:defRPr/>
            </a:pPr>
            <a:endParaRPr kumimoji="0" lang="zh-CN" altLang="en-US" sz="1800" b="0" i="0" u="none" strike="noStrike" kern="0" cap="none" spc="0" normalizeH="0" baseline="0" noProof="0">
              <a:ln>
                <a:noFill/>
              </a:ln>
              <a:solidFill>
                <a:srgbClr val="FFFFFF"/>
              </a:solidFill>
              <a:effectLst/>
              <a:uLnTx/>
              <a:uFillTx/>
              <a:latin typeface="Arial" panose="020B0604020202020204" pitchFamily="34" charset="0"/>
              <a:ea typeface="黑体" panose="02010609060101010101" pitchFamily="49" charset="-122"/>
              <a:cs typeface="+mn-cs"/>
            </a:endParaRPr>
          </a:p>
        </p:txBody>
      </p:sp>
      <p:sp>
        <p:nvSpPr>
          <p:cNvPr id="34" name="圆角矩形 33"/>
          <p:cNvSpPr/>
          <p:nvPr/>
        </p:nvSpPr>
        <p:spPr bwMode="auto">
          <a:xfrm>
            <a:off x="154844" y="1752754"/>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监督学习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(supervised learning)</a:t>
            </a:r>
            <a:endParaRPr kumimoji="0" lang="en-US" altLang="zh-CN"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     数据有标签，一般为回归或分类等任务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5" name="圆角矩形 34"/>
          <p:cNvSpPr/>
          <p:nvPr/>
        </p:nvSpPr>
        <p:spPr bwMode="auto">
          <a:xfrm>
            <a:off x="154844" y="3429000"/>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squar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无监督学习</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(unsupervised learning)</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a:p>
            <a:pPr marL="10800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数据无标签，一般为聚类、降维或概率密度估计等任务</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36" name="圆角矩形 35"/>
          <p:cNvSpPr/>
          <p:nvPr/>
        </p:nvSpPr>
        <p:spPr bwMode="auto">
          <a:xfrm>
            <a:off x="154844" y="5026827"/>
            <a:ext cx="4896000" cy="1044000"/>
          </a:xfrm>
          <a:prstGeom prst="roundRect">
            <a:avLst/>
          </a:prstGeom>
          <a:gradFill rotWithShape="1">
            <a:gsLst>
              <a:gs pos="0">
                <a:srgbClr val="FFCF01">
                  <a:tint val="50000"/>
                  <a:satMod val="300000"/>
                </a:srgbClr>
              </a:gs>
              <a:gs pos="35000">
                <a:srgbClr val="FFCF01">
                  <a:tint val="37000"/>
                  <a:satMod val="300000"/>
                </a:srgbClr>
              </a:gs>
              <a:gs pos="100000">
                <a:srgbClr val="FFCF01">
                  <a:tint val="15000"/>
                  <a:satMod val="350000"/>
                </a:srgbClr>
              </a:gs>
            </a:gsLst>
            <a:lin ang="16200000" scaled="1"/>
          </a:gradFill>
          <a:ln w="9525" cap="flat" cmpd="sng" algn="ctr">
            <a:solidFill>
              <a:srgbClr val="FFCF01">
                <a:shade val="95000"/>
                <a:satMod val="105000"/>
              </a:srgbClr>
            </a:solidFill>
            <a:prstDash val="solid"/>
            <a:headEnd type="none" w="med" len="med"/>
            <a:tailEnd type="none" w="med" len="med"/>
          </a:ln>
          <a:effectLst>
            <a:outerShdw blurRad="40000" dist="20000" dir="5400000" rotWithShape="0">
              <a:srgbClr val="000000">
                <a:alpha val="38000"/>
              </a:srgbClr>
            </a:outerShdw>
          </a:effectLst>
          <a:scene3d>
            <a:camera prst="orthographicFront"/>
            <a:lightRig rig="threePt" dir="t"/>
          </a:scene3d>
          <a:sp3d>
            <a:bevelT w="190500" h="63500"/>
          </a:sp3d>
        </p:spPr>
        <p:txBody>
          <a:bodyPr wrap="none" lIns="0" tIns="0" rIns="0" bIns="0" anchor="ct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强化学习 </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(reinforcement learning)</a:t>
            </a:r>
            <a:endParaRPr kumimoji="0" lang="en-US" altLang="zh-CN" sz="18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endParaRPr>
          </a:p>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18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rPr>
              <a:t>序列数据决策学习，一般为与从环境交互中学习</a:t>
            </a:r>
            <a:endParaRPr kumimoji="0" lang="en-US" altLang="zh-CN" sz="2000" b="1" i="0" u="none" strike="noStrike" kern="0" cap="none" spc="0" normalizeH="0" baseline="0" noProof="0" dirty="0">
              <a:ln>
                <a:noFill/>
              </a:ln>
              <a:solidFill>
                <a:srgbClr val="0070C0"/>
              </a:solidFill>
              <a:effectLst/>
              <a:uLnTx/>
              <a:uFillTx/>
              <a:latin typeface="Arial" panose="020B0604020202020204" pitchFamily="34" charset="0"/>
              <a:ea typeface="黑体" panose="02010609060101010101" pitchFamily="49" charset="-122"/>
              <a:cs typeface="Times New Roman" pitchFamily="18" charset="0"/>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sp>
        <p:nvSpPr>
          <p:cNvPr id="2" name="右大括号 1">
            <a:extLst>
              <a:ext uri="{FF2B5EF4-FFF2-40B4-BE49-F238E27FC236}">
                <a16:creationId xmlns:a16="http://schemas.microsoft.com/office/drawing/2014/main" id="{9FDAA624-EF72-43D5-4BEA-7B89BF1FE867}"/>
              </a:ext>
            </a:extLst>
          </p:cNvPr>
          <p:cNvSpPr/>
          <p:nvPr/>
        </p:nvSpPr>
        <p:spPr>
          <a:xfrm>
            <a:off x="5266844" y="2174240"/>
            <a:ext cx="323729" cy="1716167"/>
          </a:xfrm>
          <a:prstGeom prst="rightBrace">
            <a:avLst>
              <a:gd name="adj1" fmla="val 31157"/>
              <a:gd name="adj2" fmla="val 39627"/>
            </a:avLst>
          </a:prstGeom>
          <a:ln w="25400">
            <a:solidFill>
              <a:srgbClr val="009999"/>
            </a:solidFill>
          </a:ln>
        </p:spPr>
        <p:style>
          <a:lnRef idx="1">
            <a:schemeClr val="accent1"/>
          </a:lnRef>
          <a:fillRef idx="0">
            <a:schemeClr val="accent1"/>
          </a:fillRef>
          <a:effectRef idx="0">
            <a:schemeClr val="accent1"/>
          </a:effectRef>
          <a:fontRef idx="minor">
            <a:schemeClr val="tx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1200" cap="none" spc="0" normalizeH="0" baseline="0" noProof="0">
              <a:ln>
                <a:noFill/>
              </a:ln>
              <a:solidFill>
                <a:prstClr val="black"/>
              </a:solidFill>
              <a:effectLst/>
              <a:uLnTx/>
              <a:uFillTx/>
              <a:latin typeface="Arial" panose="020B0604020202020204" pitchFamily="34" charset="0"/>
              <a:ea typeface="黑体" panose="02010609060101010101" pitchFamily="49" charset="-122"/>
              <a:cs typeface="+mn-cs"/>
            </a:endParaRPr>
          </a:p>
        </p:txBody>
      </p:sp>
      <p:sp>
        <p:nvSpPr>
          <p:cNvPr id="3" name="矩形 2">
            <a:extLst>
              <a:ext uri="{FF2B5EF4-FFF2-40B4-BE49-F238E27FC236}">
                <a16:creationId xmlns:a16="http://schemas.microsoft.com/office/drawing/2014/main" id="{3EF1ACF1-2D3E-81B7-EED3-63B500AEF6EE}"/>
              </a:ext>
            </a:extLst>
          </p:cNvPr>
          <p:cNvSpPr/>
          <p:nvPr/>
        </p:nvSpPr>
        <p:spPr>
          <a:xfrm>
            <a:off x="5728648" y="2541551"/>
            <a:ext cx="3260508" cy="67710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半监督学习</a:t>
            </a:r>
            <a:endParaRPr kumimoji="0" lang="en-US" altLang="zh-CN"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(semi-supervised learning)</a:t>
            </a:r>
          </a:p>
        </p:txBody>
      </p:sp>
      <p:sp>
        <p:nvSpPr>
          <p:cNvPr id="4" name="矩形 3">
            <a:extLst>
              <a:ext uri="{FF2B5EF4-FFF2-40B4-BE49-F238E27FC236}">
                <a16:creationId xmlns:a16="http://schemas.microsoft.com/office/drawing/2014/main" id="{D561F34A-55A0-CB66-EEB7-904426430252}"/>
              </a:ext>
            </a:extLst>
          </p:cNvPr>
          <p:cNvSpPr/>
          <p:nvPr/>
        </p:nvSpPr>
        <p:spPr>
          <a:xfrm>
            <a:off x="5677832" y="3795892"/>
            <a:ext cx="3117841" cy="677108"/>
          </a:xfrm>
          <a:prstGeom prst="rect">
            <a:avLst/>
          </a:prstGeom>
        </p:spPr>
        <p:txBody>
          <a:bodyPr wrap="none" lIns="0" tIns="0" rIns="0" bIns="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zh-CN" altLang="en-US" sz="24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自监督学习</a:t>
            </a:r>
            <a:endParaRPr kumimoji="0" lang="en-US" altLang="zh-CN" sz="24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Times New Roman" pitchFamily="18" charset="0"/>
              </a:rPr>
              <a:t>(self-supervised learning)</a:t>
            </a:r>
          </a:p>
        </p:txBody>
      </p:sp>
      <p:sp>
        <p:nvSpPr>
          <p:cNvPr id="5" name="文本框 4">
            <a:extLst>
              <a:ext uri="{FF2B5EF4-FFF2-40B4-BE49-F238E27FC236}">
                <a16:creationId xmlns:a16="http://schemas.microsoft.com/office/drawing/2014/main" id="{97B8FFDB-41EA-87BE-AA80-459D5B4A81B8}"/>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6" name="箭头: 右 5">
            <a:extLst>
              <a:ext uri="{FF2B5EF4-FFF2-40B4-BE49-F238E27FC236}">
                <a16:creationId xmlns:a16="http://schemas.microsoft.com/office/drawing/2014/main" id="{B14061FD-4AF2-5397-2232-4FD4EE32E1B1}"/>
              </a:ext>
            </a:extLst>
          </p:cNvPr>
          <p:cNvSpPr/>
          <p:nvPr/>
        </p:nvSpPr>
        <p:spPr>
          <a:xfrm>
            <a:off x="5266843" y="4018599"/>
            <a:ext cx="229605" cy="302934"/>
          </a:xfrm>
          <a:prstGeom prst="rightArrow">
            <a:avLst/>
          </a:prstGeom>
          <a:solidFill>
            <a:srgbClr val="16754D"/>
          </a:solidFill>
          <a:ln>
            <a:solidFill>
              <a:srgbClr val="16754D"/>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89913467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文本框 5">
            <a:extLst>
              <a:ext uri="{FF2B5EF4-FFF2-40B4-BE49-F238E27FC236}">
                <a16:creationId xmlns:a16="http://schemas.microsoft.com/office/drawing/2014/main" id="{64449058-9E9E-9FE1-C967-621E941DF67A}"/>
              </a:ext>
            </a:extLst>
          </p:cNvPr>
          <p:cNvSpPr txBox="1"/>
          <p:nvPr/>
        </p:nvSpPr>
        <p:spPr>
          <a:xfrm>
            <a:off x="53622" y="874126"/>
            <a:ext cx="2501618"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Times New Roman" panose="02020603050405020304" pitchFamily="18" charset="0"/>
              </a:rPr>
              <a:t>机器学习的分类</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
        <p:nvSpPr>
          <p:cNvPr id="9" name="标题 8">
            <a:extLst>
              <a:ext uri="{FF2B5EF4-FFF2-40B4-BE49-F238E27FC236}">
                <a16:creationId xmlns:a16="http://schemas.microsoft.com/office/drawing/2014/main" id="{8E2308A1-C558-4694-4E5D-676B83071F9A}"/>
              </a:ext>
            </a:extLst>
          </p:cNvPr>
          <p:cNvSpPr>
            <a:spLocks noGrp="1"/>
          </p:cNvSpPr>
          <p:nvPr>
            <p:ph type="title"/>
          </p:nvPr>
        </p:nvSpPr>
        <p:spPr/>
        <p:txBody>
          <a:bodyPr/>
          <a:lstStyle/>
          <a:p>
            <a:r>
              <a:rPr lang="zh-CN" altLang="en-US" dirty="0"/>
              <a:t>机器学习的基本概念</a:t>
            </a:r>
          </a:p>
        </p:txBody>
      </p:sp>
      <p:pic>
        <p:nvPicPr>
          <p:cNvPr id="4" name="图片 3">
            <a:extLst>
              <a:ext uri="{FF2B5EF4-FFF2-40B4-BE49-F238E27FC236}">
                <a16:creationId xmlns:a16="http://schemas.microsoft.com/office/drawing/2014/main" id="{7D0F79A8-9A5F-052E-5475-F007DDC449DF}"/>
              </a:ext>
            </a:extLst>
          </p:cNvPr>
          <p:cNvPicPr>
            <a:picLocks noChangeAspect="1"/>
          </p:cNvPicPr>
          <p:nvPr/>
        </p:nvPicPr>
        <p:blipFill rotWithShape="1">
          <a:blip r:embed="rId2"/>
          <a:srcRect l="6026" r="148"/>
          <a:stretch/>
        </p:blipFill>
        <p:spPr>
          <a:xfrm>
            <a:off x="5999" y="1233496"/>
            <a:ext cx="9135347" cy="2871464"/>
          </a:xfrm>
          <a:prstGeom prst="rect">
            <a:avLst/>
          </a:prstGeom>
        </p:spPr>
      </p:pic>
      <p:pic>
        <p:nvPicPr>
          <p:cNvPr id="7" name="图片 6">
            <a:extLst>
              <a:ext uri="{FF2B5EF4-FFF2-40B4-BE49-F238E27FC236}">
                <a16:creationId xmlns:a16="http://schemas.microsoft.com/office/drawing/2014/main" id="{0C0CA796-36D9-4CFC-7404-1CADAC37EDCE}"/>
              </a:ext>
            </a:extLst>
          </p:cNvPr>
          <p:cNvPicPr>
            <a:picLocks noChangeAspect="1"/>
          </p:cNvPicPr>
          <p:nvPr/>
        </p:nvPicPr>
        <p:blipFill>
          <a:blip r:embed="rId3"/>
          <a:stretch>
            <a:fillRect/>
          </a:stretch>
        </p:blipFill>
        <p:spPr>
          <a:xfrm>
            <a:off x="1808939" y="4560471"/>
            <a:ext cx="5526121" cy="936000"/>
          </a:xfrm>
          <a:prstGeom prst="rect">
            <a:avLst/>
          </a:prstGeom>
        </p:spPr>
      </p:pic>
      <p:sp>
        <p:nvSpPr>
          <p:cNvPr id="12" name="文本框 11">
            <a:extLst>
              <a:ext uri="{FF2B5EF4-FFF2-40B4-BE49-F238E27FC236}">
                <a16:creationId xmlns:a16="http://schemas.microsoft.com/office/drawing/2014/main" id="{B048408E-0640-D822-A469-2D5EF050E860}"/>
              </a:ext>
            </a:extLst>
          </p:cNvPr>
          <p:cNvSpPr txBox="1"/>
          <p:nvPr/>
        </p:nvSpPr>
        <p:spPr>
          <a:xfrm>
            <a:off x="93202" y="4198831"/>
            <a:ext cx="7050548" cy="307777"/>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Formally, SSL aims to solve the following optimization problem,</a:t>
            </a:r>
          </a:p>
        </p:txBody>
      </p:sp>
      <p:sp>
        <p:nvSpPr>
          <p:cNvPr id="14" name="文本框 13">
            <a:extLst>
              <a:ext uri="{FF2B5EF4-FFF2-40B4-BE49-F238E27FC236}">
                <a16:creationId xmlns:a16="http://schemas.microsoft.com/office/drawing/2014/main" id="{43139D79-7509-56FE-EA38-AF1259D4FDC7}"/>
              </a:ext>
            </a:extLst>
          </p:cNvPr>
          <p:cNvSpPr txBox="1"/>
          <p:nvPr/>
        </p:nvSpPr>
        <p:spPr>
          <a:xfrm>
            <a:off x="53621" y="5550335"/>
            <a:ext cx="9038424" cy="923330"/>
          </a:xfrm>
          <a:prstGeom prst="rect">
            <a:avLst/>
          </a:prstGeom>
          <a:noFill/>
        </p:spPr>
        <p:txBody>
          <a:bodyPr wrap="square" lIns="0" tIns="0" rIns="0" bIns="0">
            <a:spAutoFit/>
          </a:bodyPr>
          <a:lstStyle/>
          <a:p>
            <a:r>
              <a:rPr lang="en-US" altLang="zh-CN" sz="2000" dirty="0">
                <a:latin typeface="Arial" panose="020B0604020202020204" pitchFamily="34" charset="0"/>
                <a:ea typeface="黑体" panose="02010609060101010101" pitchFamily="49" charset="-122"/>
              </a:rPr>
              <a:t>Note that unsupervised loss terms are often not strictly distinguished from regularization terms, as regularization terms are normally not guided by label information.</a:t>
            </a:r>
            <a:endParaRPr lang="zh-CN" altLang="en-US" sz="2000" dirty="0">
              <a:latin typeface="Arial" panose="020B0604020202020204" pitchFamily="34" charset="0"/>
              <a:ea typeface="黑体" panose="02010609060101010101" pitchFamily="49" charset="-122"/>
            </a:endParaRPr>
          </a:p>
        </p:txBody>
      </p:sp>
      <p:pic>
        <p:nvPicPr>
          <p:cNvPr id="16" name="图片 15">
            <a:extLst>
              <a:ext uri="{FF2B5EF4-FFF2-40B4-BE49-F238E27FC236}">
                <a16:creationId xmlns:a16="http://schemas.microsoft.com/office/drawing/2014/main" id="{2731E68C-67B6-524A-29CD-9E5E45F59786}"/>
              </a:ext>
            </a:extLst>
          </p:cNvPr>
          <p:cNvPicPr>
            <a:picLocks noChangeAspect="1"/>
          </p:cNvPicPr>
          <p:nvPr/>
        </p:nvPicPr>
        <p:blipFill rotWithShape="1">
          <a:blip r:embed="rId4"/>
          <a:srcRect l="1793" r="30717"/>
          <a:stretch/>
        </p:blipFill>
        <p:spPr>
          <a:xfrm>
            <a:off x="0" y="2645415"/>
            <a:ext cx="628650" cy="1201386"/>
          </a:xfrm>
          <a:prstGeom prst="rect">
            <a:avLst/>
          </a:prstGeom>
        </p:spPr>
      </p:pic>
      <p:sp>
        <p:nvSpPr>
          <p:cNvPr id="18" name="文本框 17">
            <a:extLst>
              <a:ext uri="{FF2B5EF4-FFF2-40B4-BE49-F238E27FC236}">
                <a16:creationId xmlns:a16="http://schemas.microsoft.com/office/drawing/2014/main" id="{DEB08A7E-8295-A244-418D-C391DFF3CC00}"/>
              </a:ext>
            </a:extLst>
          </p:cNvPr>
          <p:cNvSpPr txBox="1"/>
          <p:nvPr/>
        </p:nvSpPr>
        <p:spPr>
          <a:xfrm>
            <a:off x="2555240" y="894462"/>
            <a:ext cx="4545648" cy="307777"/>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半监督学习 </a:t>
            </a:r>
            <a:r>
              <a:rPr lang="en-US" altLang="zh-CN" sz="2000" dirty="0">
                <a:latin typeface="Arial" panose="020B0604020202020204" pitchFamily="34" charset="0"/>
                <a:ea typeface="黑体" panose="02010609060101010101" pitchFamily="49" charset="-122"/>
              </a:rPr>
              <a:t>(semi-supervised learning)</a:t>
            </a:r>
          </a:p>
        </p:txBody>
      </p:sp>
    </p:spTree>
    <p:extLst>
      <p:ext uri="{BB962C8B-B14F-4D97-AF65-F5344CB8AC3E}">
        <p14:creationId xmlns:p14="http://schemas.microsoft.com/office/powerpoint/2010/main" val="399969382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lstStyle/>
          <a:p>
            <a:pPr algn="l"/>
            <a:r>
              <a:rPr lang="zh-CN" altLang="en-US" b="1" dirty="0">
                <a:latin typeface="Arial" panose="020B0604020202020204" pitchFamily="34" charset="0"/>
                <a:ea typeface="黑体" panose="02010609060101010101" pitchFamily="49" charset="-122"/>
                <a:sym typeface="Times New Roman" panose="02020603050405020304" pitchFamily="18" charset="0"/>
              </a:rPr>
              <a:t>主要内容</a:t>
            </a:r>
            <a:endParaRPr lang="zh-CN" altLang="en-US" b="1" dirty="0">
              <a:latin typeface="Arial" panose="020B0604020202020204" pitchFamily="34" charset="0"/>
              <a:ea typeface="黑体" panose="02010609060101010101" pitchFamily="49" charset="-122"/>
            </a:endParaRPr>
          </a:p>
        </p:txBody>
      </p:sp>
      <p:sp>
        <p:nvSpPr>
          <p:cNvPr id="7" name="矩形 6">
            <a:extLst>
              <a:ext uri="{FF2B5EF4-FFF2-40B4-BE49-F238E27FC236}">
                <a16:creationId xmlns:a16="http://schemas.microsoft.com/office/drawing/2014/main" id="{99E9B624-D244-5ACD-8566-EC34BAC343EE}"/>
              </a:ext>
            </a:extLst>
          </p:cNvPr>
          <p:cNvSpPr/>
          <p:nvPr/>
        </p:nvSpPr>
        <p:spPr>
          <a:xfrm>
            <a:off x="224424" y="5353558"/>
            <a:ext cx="8758924" cy="1107996"/>
          </a:xfrm>
          <a:prstGeom prst="rect">
            <a:avLst/>
          </a:prstGeom>
        </p:spPr>
        <p:txBody>
          <a:bodyPr wrap="square" lIns="0" tIns="0" rIns="0" bIns="0">
            <a:spAutoFit/>
          </a:bodyPr>
          <a:lstStyle/>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[1] </a:t>
            </a:r>
            <a:r>
              <a:rPr lang="zh-CN" altLang="en-US" dirty="0">
                <a:solidFill>
                  <a:prstClr val="black"/>
                </a:solidFill>
                <a:latin typeface="Arial" panose="020B0604020202020204" pitchFamily="34" charset="0"/>
                <a:ea typeface="黑体" panose="02010609060101010101" pitchFamily="49" charset="-122"/>
              </a:rPr>
              <a:t>周志华</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a:t>
            </a:r>
            <a:r>
              <a:rPr lang="en-US" altLang="zh-CN" dirty="0">
                <a:solidFill>
                  <a:prstClr val="black"/>
                </a:solidFill>
                <a:latin typeface="Arial" panose="020B0604020202020204" pitchFamily="34" charset="0"/>
                <a:ea typeface="黑体" panose="02010609060101010101" pitchFamily="49" charset="-122"/>
              </a:rPr>
              <a:t>”, 2016,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 Ch 12</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[4] </a:t>
            </a:r>
            <a:r>
              <a:rPr lang="zh-CN" altLang="en-US" dirty="0">
                <a:solidFill>
                  <a:prstClr val="black"/>
                </a:solidFill>
                <a:latin typeface="Arial" panose="020B0604020202020204" pitchFamily="34" charset="0"/>
                <a:ea typeface="黑体" panose="02010609060101010101" pitchFamily="49" charset="-122"/>
              </a:rPr>
              <a:t>周志华等</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机器学习理论导引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机械工业出版社</a:t>
            </a:r>
            <a:r>
              <a:rPr lang="en-US" altLang="zh-CN" dirty="0">
                <a:solidFill>
                  <a:prstClr val="black"/>
                </a:solidFill>
                <a:latin typeface="Arial" panose="020B0604020202020204" pitchFamily="34" charset="0"/>
                <a:ea typeface="黑体" panose="02010609060101010101" pitchFamily="49" charset="-122"/>
              </a:rPr>
              <a:t>. Ch 2, 3, 4</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[2] </a:t>
            </a:r>
            <a:r>
              <a:rPr lang="zh-CN" altLang="en-US" dirty="0">
                <a:solidFill>
                  <a:prstClr val="black"/>
                </a:solidFill>
                <a:latin typeface="Arial" panose="020B0604020202020204" pitchFamily="34" charset="0"/>
                <a:ea typeface="黑体" panose="02010609060101010101" pitchFamily="49" charset="-122"/>
              </a:rPr>
              <a:t>李航</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机器学习方法”</a:t>
            </a:r>
            <a:r>
              <a:rPr lang="en-US" altLang="zh-CN" dirty="0">
                <a:solidFill>
                  <a:prstClr val="black"/>
                </a:solidFill>
                <a:latin typeface="Arial" panose="020B0604020202020204" pitchFamily="34" charset="0"/>
                <a:ea typeface="黑体" panose="02010609060101010101" pitchFamily="49" charset="-122"/>
              </a:rPr>
              <a:t>, 2021, </a:t>
            </a:r>
            <a:r>
              <a:rPr lang="zh-CN" altLang="en-US" dirty="0">
                <a:solidFill>
                  <a:prstClr val="black"/>
                </a:solidFill>
                <a:latin typeface="Arial" panose="020B0604020202020204" pitchFamily="34" charset="0"/>
                <a:ea typeface="黑体" panose="02010609060101010101" pitchFamily="49" charset="-122"/>
              </a:rPr>
              <a:t>清华大学出版社</a:t>
            </a:r>
            <a:r>
              <a:rPr lang="en-US" altLang="zh-CN" dirty="0">
                <a:solidFill>
                  <a:prstClr val="black"/>
                </a:solidFill>
                <a:latin typeface="Arial" panose="020B0604020202020204" pitchFamily="34" charset="0"/>
                <a:ea typeface="黑体" panose="02010609060101010101" pitchFamily="49" charset="-122"/>
              </a:rPr>
              <a:t>. Ch 1.6</a:t>
            </a:r>
          </a:p>
          <a:p>
            <a:pPr defTabSz="1097280" fontAlgn="base">
              <a:spcBef>
                <a:spcPct val="0"/>
              </a:spcBef>
              <a:spcAft>
                <a:spcPct val="0"/>
              </a:spcAft>
              <a:buClr>
                <a:srgbClr val="0070C0"/>
              </a:buClr>
            </a:pPr>
            <a:r>
              <a:rPr lang="en-US" altLang="zh-CN" dirty="0">
                <a:solidFill>
                  <a:prstClr val="black"/>
                </a:solidFill>
                <a:latin typeface="Arial" panose="020B0604020202020204" pitchFamily="34" charset="0"/>
                <a:ea typeface="黑体" panose="02010609060101010101" pitchFamily="49" charset="-122"/>
              </a:rPr>
              <a:t>[3] </a:t>
            </a:r>
            <a:r>
              <a:rPr lang="zh-CN" altLang="en-US" dirty="0">
                <a:solidFill>
                  <a:prstClr val="black"/>
                </a:solidFill>
                <a:latin typeface="Arial" panose="020B0604020202020204" pitchFamily="34" charset="0"/>
                <a:ea typeface="黑体" panose="02010609060101010101" pitchFamily="49" charset="-122"/>
              </a:rPr>
              <a:t>吴飞编著</a:t>
            </a:r>
            <a:r>
              <a:rPr lang="en-US" altLang="zh-CN"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人工智能导论：模型与算法</a:t>
            </a:r>
            <a:r>
              <a:rPr lang="en-US" altLang="zh-CN" dirty="0">
                <a:solidFill>
                  <a:prstClr val="black"/>
                </a:solidFill>
                <a:latin typeface="Arial" panose="020B0604020202020204" pitchFamily="34" charset="0"/>
                <a:ea typeface="黑体" panose="02010609060101010101" pitchFamily="49" charset="-122"/>
              </a:rPr>
              <a:t>”, 2020, </a:t>
            </a:r>
            <a:r>
              <a:rPr lang="zh-CN" altLang="en-US" dirty="0">
                <a:solidFill>
                  <a:prstClr val="black"/>
                </a:solidFill>
                <a:latin typeface="Arial" panose="020B0604020202020204" pitchFamily="34" charset="0"/>
                <a:ea typeface="黑体" panose="02010609060101010101" pitchFamily="49" charset="-122"/>
              </a:rPr>
              <a:t>高等教育出版社</a:t>
            </a:r>
            <a:r>
              <a:rPr lang="en-US" altLang="zh-CN" dirty="0">
                <a:solidFill>
                  <a:prstClr val="black"/>
                </a:solidFill>
                <a:latin typeface="Arial" panose="020B0604020202020204" pitchFamily="34" charset="0"/>
                <a:ea typeface="黑体" panose="02010609060101010101" pitchFamily="49" charset="-122"/>
              </a:rPr>
              <a:t>. Ch 4.5.1, 4.6.1 </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609597"/>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00B0F0"/>
                </a:solidFill>
                <a:ea typeface="黑体" panose="02010609060101010101" pitchFamily="49" charset="-122"/>
                <a:sym typeface="Calibri" panose="020F0502020204030204" pitchFamily="34" charset="0"/>
              </a:rPr>
              <a:t>2.</a:t>
            </a:r>
            <a:r>
              <a:rPr kumimoji="0" lang="zh-CN" altLang="en-US" sz="2800" b="1" dirty="0">
                <a:solidFill>
                  <a:srgbClr val="00B0F0"/>
                </a:solidFill>
                <a:ea typeface="黑体" panose="02010609060101010101" pitchFamily="49" charset="-122"/>
                <a:sym typeface="Calibri" panose="020F0502020204030204" pitchFamily="34" charset="0"/>
              </a:rPr>
              <a:t> 计算学习理论</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9612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r>
              <a:rPr kumimoji="0" lang="en-US" altLang="zh-CN" sz="2800" b="1" dirty="0">
                <a:solidFill>
                  <a:srgbClr val="C00000"/>
                </a:solidFill>
                <a:ea typeface="黑体" panose="02010609060101010101" pitchFamily="49" charset="-122"/>
              </a:rPr>
              <a:t>1.</a:t>
            </a:r>
            <a:r>
              <a:rPr kumimoji="0" lang="zh-CN" altLang="en-US" sz="2800" b="1" dirty="0">
                <a:solidFill>
                  <a:srgbClr val="C00000"/>
                </a:solidFill>
                <a:ea typeface="黑体" panose="02010609060101010101" pitchFamily="49" charset="-122"/>
              </a:rPr>
              <a:t> 机器学习基本概念</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67698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7.</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Expectation Maximization*</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4063501"/>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6.</a:t>
            </a:r>
            <a:r>
              <a:rPr kumimoji="0" lang="zh-CN" altLang="en-US" sz="2800" b="1" dirty="0">
                <a:solidFill>
                  <a:srgbClr val="C00000"/>
                </a:solidFill>
                <a:ea typeface="黑体" panose="02010609060101010101" pitchFamily="49" charset="-122"/>
                <a:sym typeface="Calibri" panose="020F0502020204030204" pitchFamily="34" charset="0"/>
              </a:rPr>
              <a:t> 主成分分析</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5" name="矩形 4">
            <a:extLst>
              <a:ext uri="{FF2B5EF4-FFF2-40B4-BE49-F238E27FC236}">
                <a16:creationId xmlns:a16="http://schemas.microsoft.com/office/drawing/2014/main" id="{9CD0F602-B0E9-0128-DA9A-792631A5C3B9}"/>
              </a:ext>
            </a:extLst>
          </p:cNvPr>
          <p:cNvSpPr>
            <a:spLocks noChangeArrowheads="1"/>
          </p:cNvSpPr>
          <p:nvPr/>
        </p:nvSpPr>
        <p:spPr bwMode="auto">
          <a:xfrm>
            <a:off x="233846" y="3450025"/>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5.</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Ada Boost*</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6" name="矩形 5">
            <a:extLst>
              <a:ext uri="{FF2B5EF4-FFF2-40B4-BE49-F238E27FC236}">
                <a16:creationId xmlns:a16="http://schemas.microsoft.com/office/drawing/2014/main" id="{72AFC1CE-775A-445E-680D-8677DB7FE939}"/>
              </a:ext>
            </a:extLst>
          </p:cNvPr>
          <p:cNvSpPr>
            <a:spLocks noChangeArrowheads="1"/>
          </p:cNvSpPr>
          <p:nvPr/>
        </p:nvSpPr>
        <p:spPr bwMode="auto">
          <a:xfrm>
            <a:off x="233846" y="2836549"/>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4.</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a:t>
            </a: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Support vector machine</a:t>
            </a:r>
            <a:endPar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endParaRPr>
          </a:p>
        </p:txBody>
      </p:sp>
      <p:sp>
        <p:nvSpPr>
          <p:cNvPr id="13" name="矩形 12">
            <a:extLst>
              <a:ext uri="{FF2B5EF4-FFF2-40B4-BE49-F238E27FC236}">
                <a16:creationId xmlns:a16="http://schemas.microsoft.com/office/drawing/2014/main" id="{7EC48A0B-C134-EEE0-79B0-0D8488265427}"/>
              </a:ext>
            </a:extLst>
          </p:cNvPr>
          <p:cNvSpPr>
            <a:spLocks noChangeArrowheads="1"/>
          </p:cNvSpPr>
          <p:nvPr/>
        </p:nvSpPr>
        <p:spPr bwMode="auto">
          <a:xfrm>
            <a:off x="233846" y="2223073"/>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altLang="zh-CN"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3.</a:t>
            </a:r>
            <a:r>
              <a:rPr kumimoji="0" lang="zh-CN" altLang="en-US" sz="28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sym typeface="Calibri" panose="020F0502020204030204" pitchFamily="34" charset="0"/>
              </a:rPr>
              <a:t> 生成式方法</a:t>
            </a:r>
          </a:p>
        </p:txBody>
      </p:sp>
      <p:sp>
        <p:nvSpPr>
          <p:cNvPr id="14" name="矩形 13">
            <a:extLst>
              <a:ext uri="{FF2B5EF4-FFF2-40B4-BE49-F238E27FC236}">
                <a16:creationId xmlns:a16="http://schemas.microsoft.com/office/drawing/2014/main" id="{D42F2579-DC2E-7C01-C633-2DCD9662C5EB}"/>
              </a:ext>
            </a:extLst>
          </p:cNvPr>
          <p:cNvSpPr>
            <a:spLocks noChangeArrowheads="1"/>
          </p:cNvSpPr>
          <p:nvPr/>
        </p:nvSpPr>
        <p:spPr bwMode="auto">
          <a:xfrm>
            <a:off x="233846" y="2836550"/>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4.</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Ada Boost*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5" name="矩形 14">
            <a:extLst>
              <a:ext uri="{FF2B5EF4-FFF2-40B4-BE49-F238E27FC236}">
                <a16:creationId xmlns:a16="http://schemas.microsoft.com/office/drawing/2014/main" id="{2E9D197F-7B10-1153-2AF5-A09507136165}"/>
              </a:ext>
            </a:extLst>
          </p:cNvPr>
          <p:cNvSpPr>
            <a:spLocks noChangeArrowheads="1"/>
          </p:cNvSpPr>
          <p:nvPr/>
        </p:nvSpPr>
        <p:spPr bwMode="auto">
          <a:xfrm>
            <a:off x="233846" y="2223074"/>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3.</a:t>
            </a:r>
            <a:r>
              <a:rPr kumimoji="0" lang="zh-CN" altLang="en-US" sz="2800" b="1" dirty="0">
                <a:solidFill>
                  <a:srgbClr val="C00000"/>
                </a:solidFill>
                <a:ea typeface="黑体" panose="02010609060101010101" pitchFamily="49" charset="-122"/>
                <a:sym typeface="Calibri" panose="020F0502020204030204" pitchFamily="34" charset="0"/>
              </a:rPr>
              <a:t> </a:t>
            </a:r>
            <a:r>
              <a:rPr kumimoji="0" lang="en-US" altLang="zh-CN" sz="2800" b="1" dirty="0">
                <a:solidFill>
                  <a:srgbClr val="C00000"/>
                </a:solidFill>
                <a:ea typeface="黑体" panose="02010609060101010101" pitchFamily="49" charset="-122"/>
                <a:sym typeface="Calibri" panose="020F0502020204030204" pitchFamily="34" charset="0"/>
              </a:rPr>
              <a:t>Support vector machine</a:t>
            </a:r>
            <a:endParaRPr kumimoji="0" lang="zh-CN" altLang="en-US" sz="2800" b="1" dirty="0">
              <a:solidFill>
                <a:srgbClr val="C00000"/>
              </a:solidFill>
              <a:ea typeface="黑体" panose="02010609060101010101" pitchFamily="49" charset="-122"/>
              <a:sym typeface="Calibri" panose="020F0502020204030204" pitchFamily="34" charset="0"/>
            </a:endParaRPr>
          </a:p>
        </p:txBody>
      </p:sp>
      <p:sp>
        <p:nvSpPr>
          <p:cNvPr id="16" name="矩形 15">
            <a:extLst>
              <a:ext uri="{FF2B5EF4-FFF2-40B4-BE49-F238E27FC236}">
                <a16:creationId xmlns:a16="http://schemas.microsoft.com/office/drawing/2014/main" id="{27A08D70-F970-5C6C-C60C-1AB87C2389B2}"/>
              </a:ext>
            </a:extLst>
          </p:cNvPr>
          <p:cNvSpPr>
            <a:spLocks noChangeArrowheads="1"/>
          </p:cNvSpPr>
          <p:nvPr/>
        </p:nvSpPr>
        <p:spPr bwMode="auto">
          <a:xfrm>
            <a:off x="233846" y="3450026"/>
            <a:ext cx="7200000" cy="430887"/>
          </a:xfrm>
          <a:prstGeom prst="rect">
            <a:avLst/>
          </a:prstGeom>
          <a:solidFill>
            <a:schemeClr val="bg1">
              <a:lumMod val="85000"/>
            </a:schemeClr>
          </a:solidFill>
          <a:ln>
            <a:noFill/>
          </a:ln>
        </p:spPr>
        <p:txBody>
          <a:bodyPr wrap="square" lIns="36000" tIns="0" rIns="36000" bIns="0" anchor="ctr">
            <a:spAutoFit/>
          </a:bodyPr>
          <a:lstStyle>
            <a:lvl1pPr>
              <a:defRPr kumimoji="1" sz="2400">
                <a:solidFill>
                  <a:schemeClr val="tx1"/>
                </a:solidFill>
                <a:latin typeface="Arial" panose="020B0604020202020204" pitchFamily="34" charset="0"/>
                <a:ea typeface="宋体" panose="02010600030101010101" pitchFamily="2" charset="-122"/>
              </a:defRPr>
            </a:lvl1pPr>
            <a:lvl2pPr marL="742950" indent="-285750">
              <a:defRPr kumimoji="1" sz="2400">
                <a:solidFill>
                  <a:schemeClr val="tx1"/>
                </a:solidFill>
                <a:latin typeface="Arial" panose="020B0604020202020204" pitchFamily="34" charset="0"/>
                <a:ea typeface="宋体" panose="02010600030101010101" pitchFamily="2" charset="-122"/>
              </a:defRPr>
            </a:lvl2pPr>
            <a:lvl3pPr marL="1143000" indent="-228600">
              <a:defRPr kumimoji="1" sz="2400">
                <a:solidFill>
                  <a:schemeClr val="tx1"/>
                </a:solidFill>
                <a:latin typeface="Arial" panose="020B0604020202020204" pitchFamily="34" charset="0"/>
                <a:ea typeface="宋体" panose="02010600030101010101" pitchFamily="2" charset="-122"/>
              </a:defRPr>
            </a:lvl3pPr>
            <a:lvl4pPr marL="1600200" indent="-228600">
              <a:defRPr kumimoji="1" sz="2400">
                <a:solidFill>
                  <a:schemeClr val="tx1"/>
                </a:solidFill>
                <a:latin typeface="Arial" panose="020B0604020202020204" pitchFamily="34" charset="0"/>
                <a:ea typeface="宋体" panose="02010600030101010101" pitchFamily="2" charset="-122"/>
              </a:defRPr>
            </a:lvl4pPr>
            <a:lvl5pPr marL="2057400" indent="-228600">
              <a:defRPr kumimoji="1" sz="2400">
                <a:solidFill>
                  <a:schemeClr val="tx1"/>
                </a:solidFill>
                <a:latin typeface="Arial" panose="020B0604020202020204" pitchFamily="34" charset="0"/>
                <a:ea typeface="宋体" panose="02010600030101010101" pitchFamily="2" charset="-122"/>
              </a:defRPr>
            </a:lvl5pPr>
            <a:lvl6pPr marL="25146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6pPr>
            <a:lvl7pPr marL="29718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7pPr>
            <a:lvl8pPr marL="34290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8pPr>
            <a:lvl9pPr marL="3886200" indent="-228600" fontAlgn="base">
              <a:spcBef>
                <a:spcPct val="0"/>
              </a:spcBef>
              <a:spcAft>
                <a:spcPct val="0"/>
              </a:spcAft>
              <a:buFont typeface="Arial" panose="020B0604020202020204" pitchFamily="34" charset="0"/>
              <a:defRPr kumimoji="1" sz="2400">
                <a:solidFill>
                  <a:schemeClr val="tx1"/>
                </a:solidFill>
                <a:latin typeface="Arial" panose="020B0604020202020204" pitchFamily="34" charset="0"/>
                <a:ea typeface="宋体" panose="02010600030101010101" pitchFamily="2" charset="-122"/>
              </a:defRPr>
            </a:lvl9pPr>
          </a:lstStyle>
          <a:p>
            <a:pPr eaLnBrk="1" hangingPunct="1"/>
            <a:r>
              <a:rPr kumimoji="0" lang="en-US" altLang="zh-CN" sz="2800" b="1" dirty="0">
                <a:solidFill>
                  <a:srgbClr val="C00000"/>
                </a:solidFill>
                <a:ea typeface="黑体" panose="02010609060101010101" pitchFamily="49" charset="-122"/>
                <a:sym typeface="Calibri" panose="020F0502020204030204" pitchFamily="34" charset="0"/>
              </a:rPr>
              <a:t>5.</a:t>
            </a:r>
            <a:r>
              <a:rPr kumimoji="0" lang="zh-CN" altLang="en-US" sz="2800" b="1" dirty="0">
                <a:solidFill>
                  <a:srgbClr val="C00000"/>
                </a:solidFill>
                <a:ea typeface="黑体" panose="02010609060101010101" pitchFamily="49" charset="-122"/>
                <a:sym typeface="Calibri" panose="020F0502020204030204" pitchFamily="34" charset="0"/>
              </a:rPr>
              <a:t> 生成式方法</a:t>
            </a:r>
            <a:r>
              <a:rPr kumimoji="0" lang="en-US" altLang="zh-CN" sz="2800" b="1" dirty="0">
                <a:solidFill>
                  <a:srgbClr val="C00000"/>
                </a:solidFill>
                <a:ea typeface="黑体" panose="02010609060101010101" pitchFamily="49" charset="-122"/>
                <a:sym typeface="Calibri" panose="020F0502020204030204" pitchFamily="34" charset="0"/>
              </a:rPr>
              <a:t>*</a:t>
            </a:r>
            <a:endParaRPr kumimoji="0" lang="zh-CN" altLang="en-US" sz="2800" b="1" dirty="0">
              <a:solidFill>
                <a:srgbClr val="C00000"/>
              </a:solidFill>
              <a:ea typeface="黑体" panose="02010609060101010101" pitchFamily="49" charset="-122"/>
              <a:sym typeface="Calibri" panose="020F0502020204030204" pitchFamily="34" charset="0"/>
            </a:endParaRPr>
          </a:p>
        </p:txBody>
      </p:sp>
    </p:spTree>
    <p:extLst>
      <p:ext uri="{BB962C8B-B14F-4D97-AF65-F5344CB8AC3E}">
        <p14:creationId xmlns:p14="http://schemas.microsoft.com/office/powerpoint/2010/main" val="310530933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49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矩形 2">
            <a:extLst>
              <a:ext uri="{FF2B5EF4-FFF2-40B4-BE49-F238E27FC236}">
                <a16:creationId xmlns:a16="http://schemas.microsoft.com/office/drawing/2014/main" id="{994CC463-D4EA-1541-D66A-EC4BADD36BA5}"/>
              </a:ext>
            </a:extLst>
          </p:cNvPr>
          <p:cNvSpPr/>
          <p:nvPr/>
        </p:nvSpPr>
        <p:spPr>
          <a:xfrm>
            <a:off x="305434" y="1084416"/>
            <a:ext cx="8515933" cy="2133148"/>
          </a:xfrm>
          <a:prstGeom prst="rect">
            <a:avLst/>
          </a:prstGeom>
        </p:spPr>
        <p:txBody>
          <a:bodyPr wrap="square" lIns="0" tIns="0" rIns="0" bIns="0">
            <a:noAutofit/>
          </a:bodyPr>
          <a:lstStyle/>
          <a:p>
            <a:pPr marL="342900" indent="-342900">
              <a:spcBef>
                <a:spcPts val="400"/>
              </a:spcBef>
              <a:buClr>
                <a:srgbClr val="CC0099"/>
              </a:buClr>
              <a:buFont typeface="Wingdings" panose="05000000000000000000" pitchFamily="2" charset="2"/>
              <a:buChar char="l"/>
            </a:pPr>
            <a:r>
              <a:rPr lang="zh-CN" altLang="en-US" sz="2000" dirty="0">
                <a:latin typeface="Arial" panose="020B0604020202020204" pitchFamily="34" charset="0"/>
                <a:ea typeface="黑体" panose="02010609060101010101" pitchFamily="49" charset="-122"/>
                <a:cs typeface="Times New Roman" panose="02020603050405020304" pitchFamily="18" charset="0"/>
              </a:rPr>
              <a:t>计算学习理论 </a:t>
            </a:r>
            <a:r>
              <a:rPr lang="en-US" altLang="zh-CN" sz="2000" dirty="0">
                <a:latin typeface="Arial" panose="020B0604020202020204" pitchFamily="34" charset="0"/>
                <a:ea typeface="黑体" panose="02010609060101010101" pitchFamily="49" charset="-122"/>
                <a:cs typeface="Times New Roman" panose="02020603050405020304" pitchFamily="18" charset="0"/>
              </a:rPr>
              <a:t>(Computational Learning Theory)</a:t>
            </a:r>
          </a:p>
          <a:p>
            <a:pPr marL="684000" indent="-342900">
              <a:spcBef>
                <a:spcPts val="400"/>
              </a:spcBef>
              <a:buClr>
                <a:srgbClr val="CC0099"/>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cs typeface="Times New Roman" panose="02020603050405020304" pitchFamily="18" charset="0"/>
              </a:rPr>
              <a:t>可计算：什么任务是可以计算的？</a:t>
            </a:r>
            <a:r>
              <a:rPr lang="zh-CN" altLang="en-US" sz="2000" dirty="0">
                <a:solidFill>
                  <a:srgbClr val="C00000"/>
                </a:solidFill>
                <a:latin typeface="Arial" panose="020B0604020202020204" pitchFamily="34" charset="0"/>
                <a:ea typeface="黑体" panose="02010609060101010101" pitchFamily="49" charset="-122"/>
                <a:cs typeface="Times New Roman" panose="02020603050405020304" pitchFamily="18" charset="0"/>
              </a:rPr>
              <a:t>图灵可停机</a:t>
            </a:r>
            <a:endParaRPr lang="en-US" altLang="zh-CN" sz="2000" dirty="0">
              <a:solidFill>
                <a:srgbClr val="C00000"/>
              </a:solidFill>
              <a:latin typeface="Arial" panose="020B0604020202020204" pitchFamily="34" charset="0"/>
              <a:ea typeface="黑体" panose="02010609060101010101" pitchFamily="49" charset="-122"/>
              <a:cs typeface="Times New Roman" panose="02020603050405020304" pitchFamily="18" charset="0"/>
            </a:endParaRPr>
          </a:p>
          <a:p>
            <a:pPr marL="684000" indent="-342900">
              <a:spcBef>
                <a:spcPts val="400"/>
              </a:spcBef>
              <a:buClr>
                <a:srgbClr val="CC0099"/>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cs typeface="Times New Roman" panose="02020603050405020304" pitchFamily="18" charset="0"/>
              </a:rPr>
              <a:t>可学习：什么任务是可以被学习的，从而被学习模型来完成？</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a:p>
            <a:pPr marL="684000" indent="-342900">
              <a:spcBef>
                <a:spcPts val="400"/>
              </a:spcBef>
              <a:buClr>
                <a:srgbClr val="CC0099"/>
              </a:buClr>
              <a:buFont typeface="Wingdings" panose="05000000000000000000" pitchFamily="2" charset="2"/>
              <a:buChar char="Ø"/>
            </a:pPr>
            <a:r>
              <a:rPr lang="en-US" altLang="zh-CN" sz="2000" dirty="0">
                <a:latin typeface="Arial" panose="020B0604020202020204" pitchFamily="34" charset="0"/>
                <a:ea typeface="黑体" panose="02010609060101010101" pitchFamily="49" charset="-122"/>
                <a:cs typeface="Times New Roman" panose="02020603050405020304" pitchFamily="18" charset="0"/>
              </a:rPr>
              <a:t>Leslie Valiant (2010</a:t>
            </a:r>
            <a:r>
              <a:rPr lang="zh-CN" altLang="en-US" sz="2000" dirty="0">
                <a:latin typeface="Arial" panose="020B0604020202020204" pitchFamily="34" charset="0"/>
                <a:ea typeface="黑体" panose="02010609060101010101" pitchFamily="49" charset="-122"/>
                <a:cs typeface="Times New Roman" panose="02020603050405020304" pitchFamily="18" charset="0"/>
              </a:rPr>
              <a:t>年图灵奖获得者</a:t>
            </a:r>
            <a:r>
              <a:rPr lang="en-US" altLang="zh-CN" sz="2000" dirty="0">
                <a:latin typeface="Arial" panose="020B0604020202020204" pitchFamily="34" charset="0"/>
                <a:ea typeface="黑体" panose="02010609060101010101" pitchFamily="49" charset="-122"/>
                <a:cs typeface="Times New Roman" panose="02020603050405020304" pitchFamily="18" charset="0"/>
              </a:rPr>
              <a:t>) </a:t>
            </a:r>
            <a:r>
              <a:rPr lang="zh-CN" altLang="en-US" sz="2000" dirty="0">
                <a:latin typeface="Arial" panose="020B0604020202020204" pitchFamily="34" charset="0"/>
                <a:ea typeface="黑体" panose="02010609060101010101" pitchFamily="49" charset="-122"/>
                <a:cs typeface="Times New Roman" panose="02020603050405020304" pitchFamily="18" charset="0"/>
              </a:rPr>
              <a:t>和其学生 </a:t>
            </a:r>
            <a:r>
              <a:rPr lang="en-US" altLang="zh-CN" sz="2000" dirty="0">
                <a:latin typeface="Arial" panose="020B0604020202020204" pitchFamily="34" charset="0"/>
                <a:ea typeface="黑体" panose="02010609060101010101" pitchFamily="49" charset="-122"/>
                <a:cs typeface="Times New Roman" panose="02020603050405020304" pitchFamily="18" charset="0"/>
              </a:rPr>
              <a:t>Michael Kearns </a:t>
            </a:r>
            <a:r>
              <a:rPr lang="zh-CN" altLang="en-US" sz="2000" dirty="0">
                <a:latin typeface="Arial" panose="020B0604020202020204" pitchFamily="34" charset="0"/>
                <a:ea typeface="黑体" panose="02010609060101010101" pitchFamily="49" charset="-122"/>
                <a:cs typeface="Times New Roman" panose="02020603050405020304" pitchFamily="18" charset="0"/>
              </a:rPr>
              <a:t>两位学者提出了这个问题并进行了有益探索，逐渐完善了计算学习理论。</a:t>
            </a:r>
            <a:endParaRPr lang="en-US" altLang="zh-CN" sz="2000" dirty="0">
              <a:latin typeface="Arial" panose="020B0604020202020204" pitchFamily="34" charset="0"/>
              <a:ea typeface="黑体" panose="02010609060101010101" pitchFamily="49" charset="-122"/>
              <a:cs typeface="Times New Roman" panose="02020603050405020304" pitchFamily="18" charset="0"/>
            </a:endParaRPr>
          </a:p>
        </p:txBody>
      </p:sp>
      <p:sp>
        <p:nvSpPr>
          <p:cNvPr id="6" name="内容占位符 3">
            <a:extLst>
              <a:ext uri="{FF2B5EF4-FFF2-40B4-BE49-F238E27FC236}">
                <a16:creationId xmlns:a16="http://schemas.microsoft.com/office/drawing/2014/main" id="{76765C47-C17D-6AD1-6CF0-BA12BD6E35D0}"/>
              </a:ext>
            </a:extLst>
          </p:cNvPr>
          <p:cNvSpPr txBox="1">
            <a:spLocks/>
          </p:cNvSpPr>
          <p:nvPr/>
        </p:nvSpPr>
        <p:spPr bwMode="auto">
          <a:xfrm>
            <a:off x="305434" y="3712875"/>
            <a:ext cx="8462010" cy="24470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l"/>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关注的问题</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怎样刻画“</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学习</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”这个过程？</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什么样的问题是“</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可学习的</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什么样的问题是“</a:t>
            </a:r>
            <a:r>
              <a:rPr kumimoji="0" lang="zh-CN" altLang="en-US" sz="2000" i="0" u="none" strike="noStrike" kern="1200" cap="none" spc="0" normalizeH="0" noProof="0" dirty="0">
                <a:ln>
                  <a:noFill/>
                </a:ln>
                <a:solidFill>
                  <a:srgbClr val="FF0000"/>
                </a:solidFill>
                <a:uLnTx/>
                <a:uFillTx/>
                <a:latin typeface="Arial" panose="020B0604020202020204" pitchFamily="34" charset="0"/>
                <a:ea typeface="黑体" panose="02010609060101010101" pitchFamily="49" charset="-122"/>
                <a:cs typeface="+mn-cs"/>
              </a:rPr>
              <a:t>易学习的</a:t>
            </a:r>
            <a:r>
              <a:rPr kumimoji="0" lang="zh-CN" altLang="en-US" sz="2000" i="0" u="none" strike="noStrike" kern="1200" cap="none" spc="0" normalizeH="0" noProof="0" dirty="0">
                <a:ln>
                  <a:noFill/>
                </a:ln>
                <a:solidFill>
                  <a:sysClr val="windowText" lastClr="000000"/>
                </a:solidFill>
                <a:uLnTx/>
                <a:uFillTx/>
                <a:latin typeface="Arial" panose="020B0604020202020204" pitchFamily="34" charset="0"/>
                <a:ea typeface="黑体" panose="02010609060101010101" pitchFamily="49" charset="-122"/>
                <a:cs typeface="+mn-cs"/>
              </a:rPr>
              <a:t>”？</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对于给定的学习算法，能否在理论上预测其性能？</a:t>
            </a:r>
          </a:p>
          <a:p>
            <a:pPr marL="666900" marR="0" lvl="0" indent="-342900" algn="l" defTabSz="914400" rtl="0" eaLnBrk="1" fontAlgn="auto" latinLnBrk="0" hangingPunct="1">
              <a:lnSpc>
                <a:spcPct val="12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理论结果如何指导现实问题的算法设计？</a:t>
            </a:r>
          </a:p>
        </p:txBody>
      </p:sp>
    </p:spTree>
    <p:extLst>
      <p:ext uri="{BB962C8B-B14F-4D97-AF65-F5344CB8AC3E}">
        <p14:creationId xmlns:p14="http://schemas.microsoft.com/office/powerpoint/2010/main" val="3547438960"/>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50</a:t>
            </a:fld>
            <a:endParaRPr lang="zh-CN" altLang="en-US"/>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391F79E8-013D-FC9F-D80B-96877503253A}"/>
                  </a:ext>
                </a:extLst>
              </p:cNvPr>
              <p:cNvSpPr txBox="1">
                <a:spLocks/>
              </p:cNvSpPr>
              <p:nvPr/>
            </p:nvSpPr>
            <p:spPr bwMode="auto">
              <a:xfrm>
                <a:off x="263525" y="1316518"/>
                <a:ext cx="8616950" cy="372253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样例集：独立同分布样本</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仅考虑二分类问题</a:t>
                </a:r>
              </a:p>
              <a:p>
                <a:pPr marL="324000" lvl="0" indent="0" fontAlgn="auto">
                  <a:lnSpc>
                    <a:spcPct val="100000"/>
                  </a:lnSpc>
                  <a:spcBef>
                    <a:spcPts val="0"/>
                  </a:spcBef>
                  <a:spcAft>
                    <a:spcPts val="0"/>
                  </a:spcAft>
                  <a:buClr>
                    <a:srgbClr val="16754D"/>
                  </a:buClr>
                  <a:buNone/>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2</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2</m:t>
                                </m:r>
                              </m:sub>
                            </m:sSub>
                          </m:e>
                        </m:d>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e>
                        </m:d>
                      </m:e>
                    </m:d>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𝒴</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endPar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42900" marR="0" lvl="0" indent="-342900" algn="l" defTabSz="914400" rtl="0" eaLnBrk="1" fontAlgn="auto" latinLnBrk="0" hangingPunct="1">
                  <a:lnSpc>
                    <a:spcPct val="100000"/>
                  </a:lnSpc>
                  <a:spcBef>
                    <a:spcPts val="600"/>
                  </a:spcBef>
                  <a:spcAft>
                    <a:spcPts val="0"/>
                  </a:spcAft>
                  <a:buClr>
                    <a:srgbClr val="16754D"/>
                  </a:buClr>
                  <a:buSzPct val="100000"/>
                  <a:buFont typeface="Wingdings" panose="05000000000000000000" pitchFamily="2" charset="2"/>
                  <a:buChar char="Ø"/>
                  <a:tabLst/>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h</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为从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𝒳</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到</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𝒴</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的一个映射</a:t>
                </a:r>
              </a:p>
              <a:p>
                <a:pPr marL="666900" marR="0" lvl="1"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泛化误差 </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(Generalization error)</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：分类器的期望误差</a:t>
                </a:r>
              </a:p>
              <a:p>
                <a:pPr marL="32400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𝑃</m:t>
                          </m:r>
                        </m:e>
                        <m:sub>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𝑦</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zh-CN" altLang="en-US" sz="2000" i="1">
                              <a:solidFill>
                                <a:sysClr val="windowText" lastClr="000000"/>
                              </a:solidFill>
                              <a:latin typeface="Cambria Math" panose="02040503050406030204" pitchFamily="18" charset="0"/>
                              <a:ea typeface="黑体" panose="02010609060101010101" pitchFamily="49" charset="-122"/>
                            </a:rPr>
                            <m:t>𝒟</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zh-CN" altLang="en-US" sz="2000" i="1">
                          <a:solidFill>
                            <a:sysClr val="windowText" lastClr="000000"/>
                          </a:solidFill>
                          <a:latin typeface="Cambria Math" panose="02040503050406030204" pitchFamily="18" charset="0"/>
                          <a:ea typeface="黑体" panose="02010609060101010101" pitchFamily="49" charset="-122"/>
                        </a:rPr>
                        <m:t>𝕝</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b="1" i="1">
                          <a:solidFill>
                            <a:sysClr val="windowText" lastClr="000000"/>
                          </a:solidFill>
                          <a:latin typeface="Cambria Math" panose="02040503050406030204" pitchFamily="18" charset="0"/>
                          <a:ea typeface="黑体" panose="02010609060101010101" pitchFamily="49" charset="-122"/>
                        </a:rPr>
                        <m:t>𝒙</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𝑦</m:t>
                      </m:r>
                      <m:r>
                        <a:rPr lang="en-US" altLang="zh-CN" sz="2000" i="1">
                          <a:solidFill>
                            <a:sysClr val="windowText" lastClr="000000"/>
                          </a:solidFill>
                          <a:latin typeface="Cambria Math" panose="02040503050406030204" pitchFamily="18" charset="0"/>
                          <a:ea typeface="黑体" panose="02010609060101010101" pitchFamily="49" charset="-122"/>
                        </a:rPr>
                        <m:t>)]</m:t>
                      </m:r>
                    </m:oMath>
                  </m:oMathPara>
                </a14:m>
                <a:endPar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666900" marR="0" lvl="1" indent="-342900" algn="l" defTabSz="914400" rtl="0" eaLnBrk="1" fontAlgn="auto" latinLnBrk="0" hangingPunct="1">
                  <a:lnSpc>
                    <a:spcPct val="100000"/>
                  </a:lnSpc>
                  <a:spcBef>
                    <a:spcPts val="60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经验误差 </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(Empirical error)</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：分类器在给定样例集上的平均误差</a:t>
                </a:r>
              </a:p>
              <a:p>
                <a:pPr marL="324000" marR="0" lvl="1"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acc>
                        <m:accPr>
                          <m:chr m:val="̂"/>
                          <m:ctrlPr>
                            <a:rPr kumimoji="0" lang="en-US" altLang="zh-CN"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e>
                      </m:acc>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𝕝</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oMath>
                  </m:oMathPara>
                </a14:m>
                <a:endPar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algn="l" defTabSz="914400" rtl="0" eaLnBrk="1" fontAlgn="auto" latinLnBrk="0" hangingPunct="1">
                  <a:lnSpc>
                    <a:spcPct val="100000"/>
                  </a:lnSpc>
                  <a:spcBef>
                    <a:spcPts val="600"/>
                  </a:spcBef>
                  <a:spcAft>
                    <a:spcPts val="0"/>
                  </a:spcAft>
                  <a:buClr>
                    <a:srgbClr val="16754D"/>
                  </a:buClr>
                  <a:buSzTx/>
                  <a:buFont typeface="Wingdings" panose="05000000000000000000" pitchFamily="2" charset="2"/>
                  <a:buNone/>
                  <a:tabLst/>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由于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是 </a:t>
                </a:r>
                <a14:m>
                  <m:oMath xmlns:m="http://schemas.openxmlformats.org/officeDocument/2006/math">
                    <m:r>
                      <a:rPr kumimoji="0" lang="zh-CN" altLang="en-US"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的独立同分布采样</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因此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的经验误差的期望等于其泛化误差。</a:t>
                </a:r>
              </a:p>
              <a:p>
                <a:pPr marL="0" lvl="1" indent="0" fontAlgn="auto">
                  <a:lnSpc>
                    <a:spcPct val="100000"/>
                  </a:lnSpc>
                  <a:spcBef>
                    <a:spcPts val="0"/>
                  </a:spcBef>
                  <a:spcAft>
                    <a:spcPts val="0"/>
                  </a:spcAft>
                  <a:buClr>
                    <a:srgbClr val="16754D"/>
                  </a:buClr>
                  <a:buNone/>
                  <a:defRPr/>
                </a:pP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在上下文明确时</a:t>
                </a:r>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将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 </a:t>
                </a:r>
                <a14:m>
                  <m:oMath xmlns:m="http://schemas.openxmlformats.org/officeDocument/2006/math">
                    <m:acc>
                      <m:accPr>
                        <m:chr m:val="̂"/>
                        <m:ctrlPr>
                          <a:rPr lang="en-US" altLang="zh-CN" i="1" smtClean="0">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分别简记为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𝐸</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zh-CN" altLang="en-US"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 </a:t>
                </a:r>
                <a14:m>
                  <m:oMath xmlns:m="http://schemas.openxmlformats.org/officeDocument/2006/math">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𝐸</m:t>
                        </m:r>
                      </m:e>
                    </m:acc>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p:txBody>
          </p:sp>
        </mc:Choice>
        <mc:Fallback xmlns="">
          <p:sp>
            <p:nvSpPr>
              <p:cNvPr id="5" name="内容占位符 2">
                <a:extLst>
                  <a:ext uri="{FF2B5EF4-FFF2-40B4-BE49-F238E27FC236}">
                    <a16:creationId xmlns:a16="http://schemas.microsoft.com/office/drawing/2014/main" id="{391F79E8-013D-FC9F-D80B-96877503253A}"/>
                  </a:ext>
                </a:extLst>
              </p:cNvPr>
              <p:cNvSpPr txBox="1">
                <a:spLocks noRot="1" noChangeAspect="1" noMove="1" noResize="1" noEditPoints="1" noAdjustHandles="1" noChangeArrowheads="1" noChangeShapeType="1" noTextEdit="1"/>
              </p:cNvSpPr>
              <p:nvPr/>
            </p:nvSpPr>
            <p:spPr bwMode="auto">
              <a:xfrm>
                <a:off x="263525" y="1316518"/>
                <a:ext cx="8616950" cy="3722533"/>
              </a:xfrm>
              <a:prstGeom prst="rect">
                <a:avLst/>
              </a:prstGeom>
              <a:blipFill>
                <a:blip r:embed="rId2"/>
                <a:stretch>
                  <a:fillRect l="-1697" t="-2455" r="-169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9" name="文本框 8">
                <a:extLst>
                  <a:ext uri="{FF2B5EF4-FFF2-40B4-BE49-F238E27FC236}">
                    <a16:creationId xmlns:a16="http://schemas.microsoft.com/office/drawing/2014/main" id="{62A3A586-3E06-6291-4A67-3E983BA12C57}"/>
                  </a:ext>
                </a:extLst>
              </p:cNvPr>
              <p:cNvSpPr txBox="1"/>
              <p:nvPr/>
            </p:nvSpPr>
            <p:spPr>
              <a:xfrm>
                <a:off x="317981" y="5429611"/>
                <a:ext cx="8508037" cy="923330"/>
              </a:xfrm>
              <a:prstGeom prst="rect">
                <a:avLst/>
              </a:prstGeom>
              <a:noFill/>
            </p:spPr>
            <p:txBody>
              <a:bodyPr wrap="square" lIns="0" tIns="0" rIns="0" bIns="0">
                <a:noAutofit/>
              </a:bodyPr>
              <a:lstStyle/>
              <a:p>
                <a:pPr marL="342900" marR="0" lvl="0" indent="-342900" algn="l" defTabSz="914400" rtl="0" eaLnBrk="1" fontAlgn="auto" latinLnBrk="0" hangingPunct="1">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误差参数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𝜖</m:t>
                    </m:r>
                  </m:oMath>
                </a14:m>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fontAlgn="auto">
                  <a:spcAft>
                    <a:spcPts val="0"/>
                  </a:spcAft>
                  <a:buClr>
                    <a:srgbClr val="16754D"/>
                  </a:buClr>
                  <a:buNone/>
                  <a:defRPr/>
                </a:pPr>
                <a14:m>
                  <m:oMath xmlns:m="http://schemas.openxmlformats.org/officeDocument/2006/math">
                    <m:r>
                      <a:rPr lang="zh-CN" altLang="en-US" sz="2000" i="1">
                        <a:solidFill>
                          <a:sysClr val="windowText" lastClr="000000"/>
                        </a:solidFill>
                        <a:latin typeface="Cambria Math" panose="02040503050406030204" pitchFamily="18" charset="0"/>
                        <a:ea typeface="黑体" panose="02010609060101010101" pitchFamily="49" charset="-122"/>
                      </a:rPr>
                      <m:t>𝜖</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为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𝐸</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的上限</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𝐸</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r>
                      <a:rPr lang="zh-CN" altLang="en-US" sz="2000" i="1" smtClean="0">
                        <a:solidFill>
                          <a:sysClr val="windowText" lastClr="000000"/>
                        </a:solidFill>
                        <a:latin typeface="Cambria Math" panose="02040503050406030204" pitchFamily="18" charset="0"/>
                        <a:ea typeface="Cambria Math" panose="02040503050406030204" pitchFamily="18" charset="0"/>
                      </a:rPr>
                      <m:t>𝜖</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24000" marR="0" lvl="0" indent="0" algn="l" defTabSz="914400" rtl="0" eaLnBrk="1" fontAlgn="auto" latinLnBrk="0" hangingPunct="1">
                  <a:spcAft>
                    <a:spcPts val="0"/>
                  </a:spcAft>
                  <a:buClr>
                    <a:srgbClr val="16754D"/>
                  </a:buClr>
                  <a:buSzPct val="100000"/>
                  <a:buFont typeface="Wingdings" panose="05000000000000000000" pitchFamily="2" charset="2"/>
                  <a:buNone/>
                  <a:tabLst/>
                  <a:defRPr/>
                </a:pP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表示预先设定的学得模型所应满足的误差要求</a:t>
                </a:r>
              </a:p>
            </p:txBody>
          </p:sp>
        </mc:Choice>
        <mc:Fallback xmlns="">
          <p:sp>
            <p:nvSpPr>
              <p:cNvPr id="9" name="文本框 8">
                <a:extLst>
                  <a:ext uri="{FF2B5EF4-FFF2-40B4-BE49-F238E27FC236}">
                    <a16:creationId xmlns:a16="http://schemas.microsoft.com/office/drawing/2014/main" id="{62A3A586-3E06-6291-4A67-3E983BA12C57}"/>
                  </a:ext>
                </a:extLst>
              </p:cNvPr>
              <p:cNvSpPr txBox="1">
                <a:spLocks noRot="1" noChangeAspect="1" noMove="1" noResize="1" noEditPoints="1" noAdjustHandles="1" noChangeArrowheads="1" noChangeShapeType="1" noTextEdit="1"/>
              </p:cNvSpPr>
              <p:nvPr/>
            </p:nvSpPr>
            <p:spPr>
              <a:xfrm>
                <a:off x="317981" y="5429611"/>
                <a:ext cx="8508037" cy="923330"/>
              </a:xfrm>
              <a:prstGeom prst="rect">
                <a:avLst/>
              </a:prstGeom>
              <a:blipFill>
                <a:blip r:embed="rId3"/>
                <a:stretch>
                  <a:fillRect l="-1719" t="-9934" b="-14570"/>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537968331"/>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51</a:t>
            </a:fld>
            <a:endParaRPr lang="zh-CN" altLang="en-US"/>
          </a:p>
        </p:txBody>
      </p:sp>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DA6B6BE9-A825-535C-A574-866730C3CC3C}"/>
                  </a:ext>
                </a:extLst>
              </p:cNvPr>
              <p:cNvSpPr txBox="1">
                <a:spLocks/>
              </p:cNvSpPr>
              <p:nvPr/>
            </p:nvSpPr>
            <p:spPr bwMode="auto">
              <a:xfrm>
                <a:off x="331470" y="1197740"/>
                <a:ext cx="8812530" cy="1936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一致性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(consistency)</a:t>
                </a:r>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fontAlgn="auto">
                  <a:lnSpc>
                    <a:spcPct val="100000"/>
                  </a:lnSpc>
                  <a:spcBef>
                    <a:spcPts val="0"/>
                  </a:spcBef>
                  <a:spcAft>
                    <a:spcPts val="0"/>
                  </a:spcAft>
                  <a:buClr>
                    <a:srgbClr val="16754D"/>
                  </a:buClr>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lang="en-US" altLang="zh-CN" sz="2000" i="1" smtClean="0">
                        <a:solidFill>
                          <a:sysClr val="windowText" lastClr="000000"/>
                        </a:solidFill>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在数据集 </a:t>
                </a:r>
                <a14:m>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𝐷</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上的经验误差为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0,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则称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与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一致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(consistent),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否则为不一致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(non-consistent)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不合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(disagreement)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对于任意两个映射 </a:t>
                </a:r>
                <a14:m>
                  <m:oMath xmlns:m="http://schemas.openxmlformats.org/officeDocument/2006/math">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𝒴</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通过“不合”度量它们的差别</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𝑑</m:t>
                    </m:r>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𝑃</m:t>
                        </m:r>
                      </m:e>
                      <m:sub>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𝒟</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2">
                <a:extLst>
                  <a:ext uri="{FF2B5EF4-FFF2-40B4-BE49-F238E27FC236}">
                    <a16:creationId xmlns:a16="http://schemas.microsoft.com/office/drawing/2014/main" id="{DA6B6BE9-A825-535C-A574-866730C3CC3C}"/>
                  </a:ext>
                </a:extLst>
              </p:cNvPr>
              <p:cNvSpPr txBox="1">
                <a:spLocks noRot="1" noChangeAspect="1" noMove="1" noResize="1" noEditPoints="1" noAdjustHandles="1" noChangeArrowheads="1" noChangeShapeType="1" noTextEdit="1"/>
              </p:cNvSpPr>
              <p:nvPr/>
            </p:nvSpPr>
            <p:spPr bwMode="auto">
              <a:xfrm>
                <a:off x="331470" y="1197740"/>
                <a:ext cx="8812530" cy="1936920"/>
              </a:xfrm>
              <a:prstGeom prst="rect">
                <a:avLst/>
              </a:prstGeom>
              <a:blipFill>
                <a:blip r:embed="rId2"/>
                <a:stretch>
                  <a:fillRect l="-1660" t="-4717" r="-3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21" name="图片 20">
            <a:extLst>
              <a:ext uri="{FF2B5EF4-FFF2-40B4-BE49-F238E27FC236}">
                <a16:creationId xmlns:a16="http://schemas.microsoft.com/office/drawing/2014/main" id="{BAB709DF-3B22-13B0-D021-9B5A3A5379CB}"/>
              </a:ext>
            </a:extLst>
          </p:cNvPr>
          <p:cNvPicPr>
            <a:picLocks noChangeAspect="1"/>
          </p:cNvPicPr>
          <p:nvPr/>
        </p:nvPicPr>
        <p:blipFill rotWithShape="1">
          <a:blip r:embed="rId3"/>
          <a:srcRect l="37991" t="69358"/>
          <a:stretch/>
        </p:blipFill>
        <p:spPr>
          <a:xfrm>
            <a:off x="975542" y="3552628"/>
            <a:ext cx="5541405" cy="396000"/>
          </a:xfrm>
          <a:prstGeom prst="rect">
            <a:avLst/>
          </a:prstGeom>
        </p:spPr>
      </p:pic>
      <p:pic>
        <p:nvPicPr>
          <p:cNvPr id="5" name="图片 4">
            <a:extLst>
              <a:ext uri="{FF2B5EF4-FFF2-40B4-BE49-F238E27FC236}">
                <a16:creationId xmlns:a16="http://schemas.microsoft.com/office/drawing/2014/main" id="{8921395A-DFEF-A60B-5BBD-1DF4A83A19C5}"/>
              </a:ext>
            </a:extLst>
          </p:cNvPr>
          <p:cNvPicPr>
            <a:picLocks noChangeAspect="1"/>
          </p:cNvPicPr>
          <p:nvPr/>
        </p:nvPicPr>
        <p:blipFill rotWithShape="1">
          <a:blip r:embed="rId4"/>
          <a:srcRect l="11944" t="37168"/>
          <a:stretch/>
        </p:blipFill>
        <p:spPr>
          <a:xfrm>
            <a:off x="1089827" y="4729947"/>
            <a:ext cx="6964346" cy="1683231"/>
          </a:xfrm>
          <a:prstGeom prst="rect">
            <a:avLst/>
          </a:prstGeom>
        </p:spPr>
      </p:pic>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BB319AAC-8113-7050-EBE1-2E2DDB09BA8C}"/>
                  </a:ext>
                </a:extLst>
              </p:cNvPr>
              <p:cNvSpPr txBox="1"/>
              <p:nvPr/>
            </p:nvSpPr>
            <p:spPr>
              <a:xfrm>
                <a:off x="668794" y="3161968"/>
                <a:ext cx="4522905" cy="307777"/>
              </a:xfrm>
              <a:prstGeom prst="rect">
                <a:avLst/>
              </a:prstGeom>
              <a:noFill/>
            </p:spPr>
            <p:txBody>
              <a:bodyPr wrap="none" lIns="0" tIns="0" rIns="0" bIns="0" rtlCol="0">
                <a:spAutoFit/>
              </a:bodyPr>
              <a:lstStyle/>
              <a:p>
                <a:pPr marL="324000" indent="-324000">
                  <a:buFont typeface="Arial" panose="020B0604020202020204" pitchFamily="34" charset="0"/>
                  <a:buChar char="•"/>
                </a:pPr>
                <a:r>
                  <a:rPr lang="en-US" altLang="zh-CN" sz="2000" dirty="0">
                    <a:latin typeface="Arial" panose="020B0604020202020204" pitchFamily="34" charset="0"/>
                    <a:ea typeface="黑体" panose="02010609060101010101" pitchFamily="49" charset="-122"/>
                  </a:rPr>
                  <a:t>Jense </a:t>
                </a:r>
                <a:r>
                  <a:rPr lang="zh-CN" altLang="en-US" sz="2000" dirty="0">
                    <a:latin typeface="Arial" panose="020B0604020202020204" pitchFamily="34" charset="0"/>
                    <a:ea typeface="黑体" panose="02010609060101010101" pitchFamily="49" charset="-122"/>
                  </a:rPr>
                  <a:t>不等式</a:t>
                </a:r>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对任意凸函数 </a:t>
                </a:r>
                <a14:m>
                  <m:oMath xmlns:m="http://schemas.openxmlformats.org/officeDocument/2006/math">
                    <m:r>
                      <a:rPr lang="en-US" altLang="zh-CN" sz="2000" b="0" i="1" smtClean="0">
                        <a:latin typeface="Cambria Math" panose="02040503050406030204" pitchFamily="18" charset="0"/>
                      </a:rPr>
                      <m:t>𝑓</m:t>
                    </m:r>
                    <m:r>
                      <a:rPr lang="en-US" altLang="zh-CN" sz="2000" b="0" i="1" smtClean="0">
                        <a:latin typeface="Cambria Math" panose="02040503050406030204" pitchFamily="18" charset="0"/>
                      </a:rPr>
                      <m:t>(</m:t>
                    </m:r>
                    <m:r>
                      <a:rPr lang="en-US" altLang="zh-CN" sz="2000" b="0" i="1" smtClean="0">
                        <a:latin typeface="Cambria Math" panose="02040503050406030204" pitchFamily="18" charset="0"/>
                      </a:rPr>
                      <m:t>𝑥</m:t>
                    </m:r>
                    <m:r>
                      <a:rPr lang="en-US" altLang="zh-CN" sz="2000" b="0" i="1" smtClean="0">
                        <a:latin typeface="Cambria Math" panose="02040503050406030204" pitchFamily="18" charset="0"/>
                      </a:rPr>
                      <m:t>)</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有</a:t>
                </a:r>
              </a:p>
            </p:txBody>
          </p:sp>
        </mc:Choice>
        <mc:Fallback xmlns="">
          <p:sp>
            <p:nvSpPr>
              <p:cNvPr id="6" name="文本框 5">
                <a:extLst>
                  <a:ext uri="{FF2B5EF4-FFF2-40B4-BE49-F238E27FC236}">
                    <a16:creationId xmlns:a16="http://schemas.microsoft.com/office/drawing/2014/main" id="{BB319AAC-8113-7050-EBE1-2E2DDB09BA8C}"/>
                  </a:ext>
                </a:extLst>
              </p:cNvPr>
              <p:cNvSpPr txBox="1">
                <a:spLocks noRot="1" noChangeAspect="1" noMove="1" noResize="1" noEditPoints="1" noAdjustHandles="1" noChangeArrowheads="1" noChangeShapeType="1" noTextEdit="1"/>
              </p:cNvSpPr>
              <p:nvPr/>
            </p:nvSpPr>
            <p:spPr>
              <a:xfrm>
                <a:off x="668794" y="3161968"/>
                <a:ext cx="4522905" cy="307777"/>
              </a:xfrm>
              <a:prstGeom prst="rect">
                <a:avLst/>
              </a:prstGeom>
              <a:blipFill>
                <a:blip r:embed="rId5"/>
                <a:stretch>
                  <a:fillRect l="-3235" t="-30000" r="-2022" b="-52000"/>
                </a:stretch>
              </a:blipFill>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3B4761D6-7E97-6EBF-BE53-F594480399A0}"/>
              </a:ext>
            </a:extLst>
          </p:cNvPr>
          <p:cNvSpPr txBox="1"/>
          <p:nvPr/>
        </p:nvSpPr>
        <p:spPr>
          <a:xfrm>
            <a:off x="331470" y="2826883"/>
            <a:ext cx="1570943" cy="307777"/>
          </a:xfrm>
          <a:prstGeom prst="rect">
            <a:avLst/>
          </a:prstGeom>
          <a:noFill/>
        </p:spPr>
        <p:txBody>
          <a:bodyPr wrap="none" lIns="0" tIns="0" rIns="0" bIns="0" rtlCol="0">
            <a:spAutoFit/>
          </a:bodyPr>
          <a:lstStyle/>
          <a:p>
            <a:pPr marL="285750" indent="-285750">
              <a:buClr>
                <a:srgbClr val="16754D"/>
              </a:buClr>
              <a:buFont typeface="Wingdings" panose="05000000000000000000" pitchFamily="2" charset="2"/>
              <a:buChar char="Ø"/>
            </a:pPr>
            <a:r>
              <a:rPr lang="zh-CN" altLang="en-US" sz="2000" dirty="0">
                <a:latin typeface="Arial" panose="020B0604020202020204" pitchFamily="34" charset="0"/>
                <a:ea typeface="黑体" panose="02010609060101010101" pitchFamily="49" charset="-122"/>
              </a:rPr>
              <a:t>常用不等式</a:t>
            </a:r>
          </a:p>
        </p:txBody>
      </p:sp>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F3D29ECB-2822-F5DD-FE4B-B323D910E10B}"/>
                  </a:ext>
                </a:extLst>
              </p:cNvPr>
              <p:cNvSpPr txBox="1"/>
              <p:nvPr/>
            </p:nvSpPr>
            <p:spPr>
              <a:xfrm>
                <a:off x="668794" y="4031511"/>
                <a:ext cx="8361654" cy="615553"/>
              </a:xfrm>
              <a:prstGeom prst="rect">
                <a:avLst/>
              </a:prstGeom>
              <a:noFill/>
            </p:spPr>
            <p:txBody>
              <a:bodyPr wrap="square" lIns="0" tIns="0" rIns="0" bIns="0" rtlCol="0">
                <a:spAutoFit/>
              </a:bodyPr>
              <a:lstStyle/>
              <a:p>
                <a:pPr marL="324000" indent="-324000">
                  <a:buFont typeface="Arial" panose="020B0604020202020204" pitchFamily="34" charset="0"/>
                  <a:buChar char="•"/>
                </a:pPr>
                <a:r>
                  <a:rPr lang="en-US" altLang="zh-CN" sz="2000" dirty="0">
                    <a:latin typeface="Arial" panose="020B0604020202020204" pitchFamily="34" charset="0"/>
                    <a:ea typeface="黑体" panose="02010609060101010101" pitchFamily="49" charset="-122"/>
                  </a:rPr>
                  <a:t>Hoeffding </a:t>
                </a:r>
                <a:r>
                  <a:rPr lang="zh-CN" altLang="en-US" sz="2000" dirty="0">
                    <a:latin typeface="Arial" panose="020B0604020202020204" pitchFamily="34" charset="0"/>
                    <a:ea typeface="黑体" panose="02010609060101010101" pitchFamily="49" charset="-122"/>
                  </a:rPr>
                  <a:t>不等式 </a:t>
                </a:r>
                <a:r>
                  <a:rPr lang="en-US" altLang="zh-CN" sz="2000" dirty="0">
                    <a:latin typeface="Arial" panose="020B0604020202020204" pitchFamily="34" charset="0"/>
                    <a:ea typeface="黑体" panose="02010609060101010101" pitchFamily="49" charset="-122"/>
                  </a:rPr>
                  <a:t>[</a:t>
                </a:r>
                <a:r>
                  <a:rPr lang="en-US" altLang="zh-CN" sz="2000" dirty="0" err="1">
                    <a:latin typeface="Arial" panose="020B0604020202020204" pitchFamily="34" charset="0"/>
                    <a:ea typeface="黑体" panose="02010609060101010101" pitchFamily="49" charset="-122"/>
                  </a:rPr>
                  <a:t>Hoeffding</a:t>
                </a:r>
                <a:r>
                  <a:rPr lang="en-US" altLang="zh-CN" sz="2000" dirty="0">
                    <a:latin typeface="Arial" panose="020B0604020202020204" pitchFamily="34" charset="0"/>
                    <a:ea typeface="黑体" panose="02010609060101010101" pitchFamily="49" charset="-122"/>
                  </a:rPr>
                  <a:t>, 1963]: </a:t>
                </a:r>
                <a:r>
                  <a:rPr lang="zh-CN" altLang="en-US" sz="2000" dirty="0">
                    <a:latin typeface="Arial" panose="020B0604020202020204" pitchFamily="34" charset="0"/>
                    <a:ea typeface="黑体" panose="02010609060101010101" pitchFamily="49" charset="-122"/>
                  </a:rPr>
                  <a:t>若 </a:t>
                </a:r>
                <a14:m>
                  <m:oMath xmlns:m="http://schemas.openxmlformats.org/officeDocument/2006/math">
                    <m:sSub>
                      <m:sSubPr>
                        <m:ctrlPr>
                          <a:rPr lang="en-US" altLang="zh-CN" sz="200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1</m:t>
                        </m:r>
                      </m:sub>
                    </m:sSub>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2</m:t>
                        </m:r>
                      </m:sub>
                    </m:sSub>
                    <m:r>
                      <a:rPr lang="en-US" altLang="zh-CN" sz="2000" b="0" i="1" smtClean="0">
                        <a:latin typeface="Cambria Math" panose="02040503050406030204" pitchFamily="18" charset="0"/>
                        <a:ea typeface="黑体" panose="02010609060101010101" pitchFamily="49" charset="-122"/>
                      </a:rPr>
                      <m:t>,</m:t>
                    </m:r>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黑体" panose="02010609060101010101" pitchFamily="49" charset="-122"/>
                      </a:rPr>
                      <m:t>,</m:t>
                    </m:r>
                    <m:sSub>
                      <m:sSubPr>
                        <m:ctrlPr>
                          <a:rPr lang="en-US" altLang="zh-CN" sz="2000" b="0" i="1" smtClean="0">
                            <a:latin typeface="Cambria Math" panose="02040503050406030204" pitchFamily="18" charset="0"/>
                            <a:ea typeface="黑体" panose="02010609060101010101" pitchFamily="49" charset="-122"/>
                          </a:rPr>
                        </m:ctrlPr>
                      </m:sSubPr>
                      <m:e>
                        <m:r>
                          <a:rPr lang="en-US" altLang="zh-CN" sz="2000" b="0" i="1" smtClean="0">
                            <a:latin typeface="Cambria Math" panose="02040503050406030204" pitchFamily="18" charset="0"/>
                            <a:ea typeface="黑体" panose="02010609060101010101" pitchFamily="49" charset="-122"/>
                          </a:rPr>
                          <m:t>𝑥</m:t>
                        </m:r>
                      </m:e>
                      <m:sub>
                        <m:r>
                          <a:rPr lang="en-US" altLang="zh-CN" sz="2000" b="0" i="1" smtClean="0">
                            <a:latin typeface="Cambria Math" panose="02040503050406030204" pitchFamily="18" charset="0"/>
                            <a:ea typeface="黑体" panose="02010609060101010101" pitchFamily="49" charset="-122"/>
                          </a:rPr>
                          <m:t>𝑚</m:t>
                        </m:r>
                      </m:sub>
                    </m:sSub>
                  </m:oMath>
                </a14:m>
                <a:r>
                  <a:rPr lang="en-US" altLang="zh-CN" sz="2000" dirty="0">
                    <a:ea typeface="黑体" panose="02010609060101010101" pitchFamily="49" charset="-122"/>
                  </a:rPr>
                  <a:t> </a:t>
                </a:r>
                <a:r>
                  <a:rPr lang="zh-CN" altLang="en-US" sz="2000" dirty="0">
                    <a:latin typeface="Arial" panose="020B0604020202020204" pitchFamily="34" charset="0"/>
                    <a:ea typeface="黑体" panose="02010609060101010101" pitchFamily="49" charset="-122"/>
                  </a:rPr>
                  <a:t>为 </a:t>
                </a:r>
                <a14:m>
                  <m:oMath xmlns:m="http://schemas.openxmlformats.org/officeDocument/2006/math">
                    <m:r>
                      <a:rPr lang="en-US" altLang="zh-CN" sz="2000" b="0" i="1" smtClean="0">
                        <a:latin typeface="Cambria Math" panose="02040503050406030204" pitchFamily="18" charset="0"/>
                        <a:ea typeface="黑体" panose="02010609060101010101" pitchFamily="49" charset="-122"/>
                      </a:rPr>
                      <m:t>𝑚</m:t>
                    </m:r>
                  </m:oMath>
                </a14:m>
                <a:r>
                  <a:rPr lang="zh-CN" altLang="en-US" sz="2000" dirty="0">
                    <a:latin typeface="Arial" panose="020B0604020202020204" pitchFamily="34" charset="0"/>
                    <a:ea typeface="黑体" panose="02010609060101010101" pitchFamily="49" charset="-122"/>
                  </a:rPr>
                  <a:t> 个独立随机变量，且满足 </a:t>
                </a:r>
                <a14:m>
                  <m:oMath xmlns:m="http://schemas.openxmlformats.org/officeDocument/2006/math">
                    <m:r>
                      <a:rPr lang="en-US" altLang="zh-CN" sz="2000" i="1">
                        <a:latin typeface="Cambria Math" panose="02040503050406030204" pitchFamily="18" charset="0"/>
                        <a:ea typeface="黑体" panose="02010609060101010101" pitchFamily="49" charset="-122"/>
                      </a:rPr>
                      <m:t>0</m:t>
                    </m:r>
                    <m:r>
                      <a:rPr lang="en-US" altLang="zh-CN" sz="2000" b="0" i="1" smtClean="0">
                        <a:latin typeface="Cambria Math" panose="02040503050406030204" pitchFamily="18" charset="0"/>
                        <a:ea typeface="Cambria Math" panose="02040503050406030204" pitchFamily="18" charset="0"/>
                      </a:rPr>
                      <m:t>≤</m:t>
                    </m:r>
                    <m:sSub>
                      <m:sSubPr>
                        <m:ctrlPr>
                          <a:rPr lang="en-US" altLang="zh-CN" sz="2000" b="0" i="1" smtClean="0">
                            <a:latin typeface="Cambria Math" panose="02040503050406030204" pitchFamily="18" charset="0"/>
                            <a:ea typeface="Cambria Math" panose="02040503050406030204" pitchFamily="18" charset="0"/>
                          </a:rPr>
                        </m:ctrlPr>
                      </m:sSubPr>
                      <m:e>
                        <m:r>
                          <a:rPr lang="en-US" altLang="zh-CN" sz="2000" b="0" i="1" smtClean="0">
                            <a:latin typeface="Cambria Math" panose="02040503050406030204" pitchFamily="18" charset="0"/>
                            <a:ea typeface="Cambria Math" panose="02040503050406030204" pitchFamily="18" charset="0"/>
                          </a:rPr>
                          <m:t>𝑥</m:t>
                        </m:r>
                      </m:e>
                      <m:sub>
                        <m:r>
                          <a:rPr lang="en-US" altLang="zh-CN" sz="2000" b="0" i="1" smtClean="0">
                            <a:latin typeface="Cambria Math" panose="02040503050406030204" pitchFamily="18" charset="0"/>
                            <a:ea typeface="Cambria Math" panose="02040503050406030204" pitchFamily="18" charset="0"/>
                          </a:rPr>
                          <m:t>𝑖</m:t>
                        </m:r>
                      </m:sub>
                    </m:sSub>
                    <m:r>
                      <a:rPr lang="en-US" altLang="zh-CN" sz="2000" b="0" i="1" smtClean="0">
                        <a:latin typeface="Cambria Math" panose="02040503050406030204" pitchFamily="18" charset="0"/>
                        <a:ea typeface="Cambria Math" panose="02040503050406030204" pitchFamily="18" charset="0"/>
                      </a:rPr>
                      <m:t>≤</m:t>
                    </m:r>
                    <m:r>
                      <a:rPr lang="en-US" altLang="zh-CN" sz="2000" b="0" i="1" smtClean="0">
                        <a:latin typeface="Cambria Math" panose="02040503050406030204" pitchFamily="18" charset="0"/>
                        <a:ea typeface="Cambria Math" panose="02040503050406030204" pitchFamily="18" charset="0"/>
                      </a:rPr>
                      <m:t>1</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则对任意 </a:t>
                </a:r>
                <a14:m>
                  <m:oMath xmlns:m="http://schemas.openxmlformats.org/officeDocument/2006/math">
                    <m:r>
                      <a:rPr lang="zh-CN" altLang="en-US" sz="2000" i="1" smtClean="0">
                        <a:latin typeface="Cambria Math" panose="02040503050406030204" pitchFamily="18" charset="0"/>
                        <a:ea typeface="黑体" panose="02010609060101010101" pitchFamily="49" charset="-122"/>
                      </a:rPr>
                      <m:t>𝜖</m:t>
                    </m:r>
                    <m:r>
                      <a:rPr lang="en-US" altLang="zh-CN" sz="2000" i="1" smtClean="0">
                        <a:latin typeface="Cambria Math" panose="02040503050406030204" pitchFamily="18" charset="0"/>
                        <a:ea typeface="Cambria Math" panose="02040503050406030204" pitchFamily="18" charset="0"/>
                      </a:rPr>
                      <m:t>&gt;</m:t>
                    </m:r>
                    <m:r>
                      <a:rPr lang="en-US" altLang="zh-CN" sz="2000" b="0" i="1" smtClean="0">
                        <a:latin typeface="Cambria Math" panose="02040503050406030204" pitchFamily="18" charset="0"/>
                        <a:ea typeface="Cambria Math" panose="02040503050406030204" pitchFamily="18" charset="0"/>
                      </a:rPr>
                      <m:t>0</m:t>
                    </m:r>
                  </m:oMath>
                </a14:m>
                <a:r>
                  <a:rPr lang="en-US" altLang="zh-CN" sz="2000" dirty="0">
                    <a:latin typeface="Arial" panose="020B0604020202020204" pitchFamily="34" charset="0"/>
                    <a:ea typeface="黑体" panose="02010609060101010101" pitchFamily="49" charset="-122"/>
                  </a:rPr>
                  <a:t>, </a:t>
                </a:r>
                <a:r>
                  <a:rPr lang="zh-CN" altLang="en-US" sz="2000" dirty="0">
                    <a:latin typeface="Arial" panose="020B0604020202020204" pitchFamily="34" charset="0"/>
                    <a:ea typeface="黑体" panose="02010609060101010101" pitchFamily="49" charset="-122"/>
                  </a:rPr>
                  <a:t>有 </a:t>
                </a:r>
              </a:p>
            </p:txBody>
          </p:sp>
        </mc:Choice>
        <mc:Fallback xmlns="">
          <p:sp>
            <p:nvSpPr>
              <p:cNvPr id="8" name="文本框 7">
                <a:extLst>
                  <a:ext uri="{FF2B5EF4-FFF2-40B4-BE49-F238E27FC236}">
                    <a16:creationId xmlns:a16="http://schemas.microsoft.com/office/drawing/2014/main" id="{F3D29ECB-2822-F5DD-FE4B-B323D910E10B}"/>
                  </a:ext>
                </a:extLst>
              </p:cNvPr>
              <p:cNvSpPr txBox="1">
                <a:spLocks noRot="1" noChangeAspect="1" noMove="1" noResize="1" noEditPoints="1" noAdjustHandles="1" noChangeArrowheads="1" noChangeShapeType="1" noTextEdit="1"/>
              </p:cNvSpPr>
              <p:nvPr/>
            </p:nvSpPr>
            <p:spPr>
              <a:xfrm>
                <a:off x="668794" y="4031511"/>
                <a:ext cx="8361654" cy="615553"/>
              </a:xfrm>
              <a:prstGeom prst="rect">
                <a:avLst/>
              </a:prstGeom>
              <a:blipFill>
                <a:blip r:embed="rId6"/>
                <a:stretch>
                  <a:fillRect l="-1751" t="-14851" r="-802" b="-25743"/>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03147215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F2709F32-16EF-B51B-EFD0-585CA6B60193}"/>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2BDB04C-25B3-DF13-52F3-BA270C08E315}"/>
              </a:ext>
            </a:extLst>
          </p:cNvPr>
          <p:cNvSpPr>
            <a:spLocks noGrp="1"/>
          </p:cNvSpPr>
          <p:nvPr>
            <p:ph type="sldNum" sz="quarter" idx="12"/>
          </p:nvPr>
        </p:nvSpPr>
        <p:spPr/>
        <p:txBody>
          <a:bodyPr/>
          <a:lstStyle/>
          <a:p>
            <a:fld id="{5AD84F5B-1672-4D3F-9FEC-5DF89A7B7912}" type="slidenum">
              <a:rPr lang="zh-CN" altLang="en-US" smtClean="0"/>
              <a:t>52</a:t>
            </a:fld>
            <a:endParaRPr lang="zh-CN" altLang="en-US"/>
          </a:p>
        </p:txBody>
      </p:sp>
      <p:sp>
        <p:nvSpPr>
          <p:cNvPr id="19" name="文本框 18">
            <a:extLst>
              <a:ext uri="{FF2B5EF4-FFF2-40B4-BE49-F238E27FC236}">
                <a16:creationId xmlns:a16="http://schemas.microsoft.com/office/drawing/2014/main" id="{0725D53E-3B72-9C22-470A-FAE7BD1DEB07}"/>
              </a:ext>
            </a:extLst>
          </p:cNvPr>
          <p:cNvSpPr txBox="1"/>
          <p:nvPr/>
        </p:nvSpPr>
        <p:spPr>
          <a:xfrm>
            <a:off x="53621" y="874126"/>
            <a:ext cx="2810448"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基础知识</a:t>
            </a:r>
            <a:endParaRPr lang="zh-CN" altLang="en-US" sz="2200" dirty="0">
              <a:solidFill>
                <a:srgbClr val="16754D"/>
              </a:solidFill>
              <a:latin typeface="Arial" panose="020B0604020202020204" pitchFamily="34" charset="0"/>
              <a:ea typeface="黑体" panose="02010609060101010101" pitchFamily="49" charset="-122"/>
            </a:endParaRPr>
          </a:p>
        </p:txBody>
      </p:sp>
      <p:pic>
        <p:nvPicPr>
          <p:cNvPr id="16" name="图片 15">
            <a:extLst>
              <a:ext uri="{FF2B5EF4-FFF2-40B4-BE49-F238E27FC236}">
                <a16:creationId xmlns:a16="http://schemas.microsoft.com/office/drawing/2014/main" id="{E30F4245-B2CE-A69F-4233-A814AEFD4E95}"/>
              </a:ext>
            </a:extLst>
          </p:cNvPr>
          <p:cNvPicPr>
            <a:picLocks noChangeAspect="1"/>
          </p:cNvPicPr>
          <p:nvPr/>
        </p:nvPicPr>
        <p:blipFill>
          <a:blip r:embed="rId2"/>
          <a:stretch>
            <a:fillRect/>
          </a:stretch>
        </p:blipFill>
        <p:spPr>
          <a:xfrm>
            <a:off x="347431" y="1683248"/>
            <a:ext cx="8244297" cy="4095965"/>
          </a:xfrm>
          <a:prstGeom prst="rect">
            <a:avLst/>
          </a:prstGeom>
        </p:spPr>
      </p:pic>
    </p:spTree>
    <p:extLst>
      <p:ext uri="{BB962C8B-B14F-4D97-AF65-F5344CB8AC3E}">
        <p14:creationId xmlns:p14="http://schemas.microsoft.com/office/powerpoint/2010/main" val="1071014411"/>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28438822-C651-101C-219C-43218F593E7B}"/>
                  </a:ext>
                </a:extLst>
              </p:cNvPr>
              <p:cNvSpPr txBox="1">
                <a:spLocks/>
              </p:cNvSpPr>
              <p:nvPr/>
            </p:nvSpPr>
            <p:spPr bwMode="auto">
              <a:xfrm>
                <a:off x="70644" y="1237836"/>
                <a:ext cx="8930994" cy="152339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R="0" lvl="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概念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(concept)       </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一种映射</a:t>
                </a:r>
                <a:endParaRPr kumimoji="0" lang="en-US" altLang="zh-CN"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4F81B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概念是从样本空间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𝒳</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到标记空间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𝒴</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a:t>
                </a:r>
                <a:r>
                  <a:rPr kumimoji="0" lang="zh-CN" altLang="en-US" sz="20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映射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它决定示例 </a:t>
                </a:r>
                <a14:m>
                  <m:oMath xmlns:m="http://schemas.openxmlformats.org/officeDocument/2006/math">
                    <m:r>
                      <a:rPr kumimoji="0" lang="zh-CN" altLang="en-US" sz="2000" b="1" i="1" u="none" strike="noStrike" kern="1200" cap="none" spc="0" normalizeH="0" baseline="0" noProof="0">
                        <a:ln>
                          <a:noFill/>
                        </a:ln>
                        <a:solidFill>
                          <a:prstClr val="black"/>
                        </a:solidFill>
                        <a:effectLst/>
                        <a:uLnTx/>
                        <a:uFillTx/>
                        <a:latin typeface="Cambria Math" panose="02040503050406030204" pitchFamily="18" charset="0"/>
                        <a:cs typeface="+mn-cs"/>
                      </a:rPr>
                      <m:t>𝒙</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的真实标记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cs typeface="+mn-cs"/>
                      </a:rPr>
                      <m:t>𝑦</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648000" marR="0" lvl="1" indent="-3240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目标概念</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如果对任何样例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cs typeface="+mn-cs"/>
                      </a:rPr>
                      <m:t>𝒙</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均有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𝒸</m:t>
                    </m:r>
                    <m:d>
                      <m:dPr>
                        <m:ctrlP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ctrlPr>
                      </m:dPr>
                      <m:e>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cs typeface="+mn-cs"/>
                          </a:rPr>
                          <m:t>𝒙</m:t>
                        </m:r>
                      </m:e>
                    </m:d>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cs typeface="+mn-cs"/>
                      </a:rPr>
                      <m:t>=</m:t>
                    </m:r>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𝑦</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成立</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则称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𝒸</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为目标概念</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648000" marR="0" lvl="1" indent="-3240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概念类 </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(concept class):</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所有我们希望学得的目标概念所构成的集合称为“概念类”</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用符号 </a:t>
                </a:r>
                <a14:m>
                  <m:oMath xmlns:m="http://schemas.openxmlformats.org/officeDocument/2006/math">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cs typeface="+mn-cs"/>
                      </a:rPr>
                      <m:t>𝒞</m:t>
                    </m:r>
                  </m:oMath>
                </a14:m>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表示</a:t>
                </a:r>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a:p>
                <a:pPr marL="0" marR="0" lvl="0" indent="0" algn="l" defTabSz="914400" rtl="0" eaLnBrk="1" fontAlgn="auto" latinLnBrk="0" hangingPunct="1">
                  <a:lnSpc>
                    <a:spcPct val="100000"/>
                  </a:lnSpc>
                  <a:spcBef>
                    <a:spcPts val="0"/>
                  </a:spcBef>
                  <a:spcAft>
                    <a:spcPts val="0"/>
                  </a:spcAft>
                  <a:buClr>
                    <a:srgbClr val="4F81BD"/>
                  </a:buClr>
                  <a:buSzPct val="100000"/>
                  <a:buFont typeface="Wingdings" panose="05000000000000000000" pitchFamily="2" charset="2"/>
                  <a:buNone/>
                  <a:tabLst/>
                  <a:defRPr/>
                </a:pP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8" name="内容占位符 2">
                <a:extLst>
                  <a:ext uri="{FF2B5EF4-FFF2-40B4-BE49-F238E27FC236}">
                    <a16:creationId xmlns:a16="http://schemas.microsoft.com/office/drawing/2014/main" id="{28438822-C651-101C-219C-43218F593E7B}"/>
                  </a:ext>
                </a:extLst>
              </p:cNvPr>
              <p:cNvSpPr txBox="1">
                <a:spLocks noRot="1" noChangeAspect="1" noMove="1" noResize="1" noEditPoints="1" noAdjustHandles="1" noChangeArrowheads="1" noChangeShapeType="1" noTextEdit="1"/>
              </p:cNvSpPr>
              <p:nvPr/>
            </p:nvSpPr>
            <p:spPr bwMode="auto">
              <a:xfrm>
                <a:off x="70644" y="1237836"/>
                <a:ext cx="8930994" cy="1523393"/>
              </a:xfrm>
              <a:prstGeom prst="rect">
                <a:avLst/>
              </a:prstGeom>
              <a:blipFill>
                <a:blip r:embed="rId3"/>
                <a:stretch>
                  <a:fillRect l="-1638" t="-6000" b="-1080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CAC568F-3220-521D-5DDD-F186797DC1E9}"/>
                  </a:ext>
                </a:extLst>
              </p:cNvPr>
              <p:cNvSpPr txBox="1">
                <a:spLocks/>
              </p:cNvSpPr>
              <p:nvPr/>
            </p:nvSpPr>
            <p:spPr bwMode="auto">
              <a:xfrm>
                <a:off x="70644" y="2881682"/>
                <a:ext cx="7754308" cy="8065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假设空间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(hypothesis space)</a:t>
                </a:r>
                <a:endPar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给定学习算法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𝔏</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它所考虑的所有可能概念的集合</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用符号 </a:t>
                </a:r>
                <a14:m>
                  <m:oMath xmlns:m="http://schemas.openxmlformats.org/officeDocument/2006/math">
                    <m:r>
                      <a:rPr kumimoji="0" lang="en-US" altLang="zh-CN"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表示</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9" name="内容占位符 2">
                <a:extLst>
                  <a:ext uri="{FF2B5EF4-FFF2-40B4-BE49-F238E27FC236}">
                    <a16:creationId xmlns:a16="http://schemas.microsoft.com/office/drawing/2014/main" id="{3CAC568F-3220-521D-5DDD-F186797DC1E9}"/>
                  </a:ext>
                </a:extLst>
              </p:cNvPr>
              <p:cNvSpPr txBox="1">
                <a:spLocks noRot="1" noChangeAspect="1" noMove="1" noResize="1" noEditPoints="1" noAdjustHandles="1" noChangeArrowheads="1" noChangeShapeType="1" noTextEdit="1"/>
              </p:cNvSpPr>
              <p:nvPr/>
            </p:nvSpPr>
            <p:spPr bwMode="auto">
              <a:xfrm>
                <a:off x="70644" y="2881682"/>
                <a:ext cx="7754308" cy="806522"/>
              </a:xfrm>
              <a:prstGeom prst="rect">
                <a:avLst/>
              </a:prstGeom>
              <a:blipFill>
                <a:blip r:embed="rId4"/>
                <a:stretch>
                  <a:fillRect l="-1887" t="-1136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0002D388-4610-1143-E05D-33617AD9676E}"/>
                  </a:ext>
                </a:extLst>
              </p:cNvPr>
              <p:cNvSpPr txBox="1">
                <a:spLocks/>
              </p:cNvSpPr>
              <p:nvPr/>
            </p:nvSpPr>
            <p:spPr bwMode="auto">
              <a:xfrm>
                <a:off x="70644" y="3709265"/>
                <a:ext cx="8930994" cy="25272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0" indent="-3240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可分的与不可分的</a:t>
                </a:r>
              </a:p>
              <a:p>
                <a:pPr marL="648000" lvl="1" indent="-324000" fontAlgn="auto">
                  <a:lnSpc>
                    <a:spcPct val="100000"/>
                  </a:lnSpc>
                  <a:spcBef>
                    <a:spcPts val="0"/>
                  </a:spcBef>
                  <a:spcAft>
                    <a:spcPts val="0"/>
                  </a:spcAft>
                  <a:buClr>
                    <a:srgbClr val="16754D"/>
                  </a:buClr>
                  <a:buFont typeface="Arial" panose="020B0604020202020204" pitchFamily="34" charset="0"/>
                  <a:buChar char="•"/>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(separable)</a:t>
                </a:r>
                <a:r>
                  <a:rPr lang="en-US" altLang="zh-CN" dirty="0">
                    <a:solidFill>
                      <a:sysClr val="windowText" lastClr="000000"/>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若目标概念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即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中存在假设能将所有的示例完全正确分开（按照与真实标记一致的方式</a:t>
                </a:r>
                <a:r>
                  <a:rPr lang="zh-CN" altLang="en-US" dirty="0">
                    <a:solidFill>
                      <a:sysClr val="windowText" lastClr="000000"/>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则称该问题对学习算法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也称“一致的”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(consistent).</a:t>
                </a:r>
              </a:p>
              <a:p>
                <a:pPr marL="648000" lvl="1" indent="-324000" fontAlgn="auto">
                  <a:lnSpc>
                    <a:spcPct val="100000"/>
                  </a:lnSpc>
                  <a:spcBef>
                    <a:spcPts val="0"/>
                  </a:spcBef>
                  <a:spcAft>
                    <a:spcPts val="0"/>
                  </a:spcAft>
                  <a:buClr>
                    <a:srgbClr val="16754D"/>
                  </a:buClr>
                  <a:buFont typeface="Arial" panose="020B0604020202020204" pitchFamily="34" charset="0"/>
                  <a:buChar char="•"/>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不可分的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若目标概念 </a:t>
                </a:r>
                <a14:m>
                  <m:oMath xmlns:m="http://schemas.openxmlformats.org/officeDocument/2006/math">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lang="en-US" altLang="zh-CN" i="1">
                        <a:solidFill>
                          <a:prstClr val="black"/>
                        </a:solidFill>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中不存在任何假设能将所有的示例完全正确分开，则称该问题对学习算法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是“不可分的”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(non-separable),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也称“不一致的”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(non-consistent).</a:t>
                </a:r>
              </a:p>
            </p:txBody>
          </p:sp>
        </mc:Choice>
        <mc:Fallback xmlns="">
          <p:sp>
            <p:nvSpPr>
              <p:cNvPr id="5" name="内容占位符 2">
                <a:extLst>
                  <a:ext uri="{FF2B5EF4-FFF2-40B4-BE49-F238E27FC236}">
                    <a16:creationId xmlns:a16="http://schemas.microsoft.com/office/drawing/2014/main" id="{0002D388-4610-1143-E05D-33617AD9676E}"/>
                  </a:ext>
                </a:extLst>
              </p:cNvPr>
              <p:cNvSpPr txBox="1">
                <a:spLocks noRot="1" noChangeAspect="1" noMove="1" noResize="1" noEditPoints="1" noAdjustHandles="1" noChangeArrowheads="1" noChangeShapeType="1" noTextEdit="1"/>
              </p:cNvSpPr>
              <p:nvPr/>
            </p:nvSpPr>
            <p:spPr bwMode="auto">
              <a:xfrm>
                <a:off x="70644" y="3709265"/>
                <a:ext cx="8930994" cy="2527272"/>
              </a:xfrm>
              <a:prstGeom prst="rect">
                <a:avLst/>
              </a:prstGeom>
              <a:blipFill>
                <a:blip r:embed="rId5"/>
                <a:stretch>
                  <a:fillRect l="-1638" t="-361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4" name="文本框 13">
            <a:extLst>
              <a:ext uri="{FF2B5EF4-FFF2-40B4-BE49-F238E27FC236}">
                <a16:creationId xmlns:a16="http://schemas.microsoft.com/office/drawing/2014/main" id="{8FEDB41A-19B7-A6E9-C25A-A4B79D57EE01}"/>
              </a:ext>
            </a:extLst>
          </p:cNvPr>
          <p:cNvSpPr txBox="1"/>
          <p:nvPr/>
        </p:nvSpPr>
        <p:spPr>
          <a:xfrm>
            <a:off x="53621" y="874126"/>
            <a:ext cx="4670780"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概率近似正确 </a:t>
            </a:r>
            <a:r>
              <a:rPr lang="en-US" altLang="zh-CN"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(PCA) </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学习</a:t>
            </a:r>
            <a:endParaRPr lang="zh-CN" altLang="en-US" sz="2200" dirty="0">
              <a:solidFill>
                <a:srgbClr val="16754D"/>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397172910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4" name="文本框 13">
            <a:extLst>
              <a:ext uri="{FF2B5EF4-FFF2-40B4-BE49-F238E27FC236}">
                <a16:creationId xmlns:a16="http://schemas.microsoft.com/office/drawing/2014/main" id="{8FEDB41A-19B7-A6E9-C25A-A4B79D57EE01}"/>
              </a:ext>
            </a:extLst>
          </p:cNvPr>
          <p:cNvSpPr txBox="1"/>
          <p:nvPr/>
        </p:nvSpPr>
        <p:spPr>
          <a:xfrm>
            <a:off x="53620" y="874126"/>
            <a:ext cx="7644074"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概率近似正确 </a:t>
            </a:r>
            <a:r>
              <a:rPr lang="en-US" altLang="zh-CN"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(Probably Approximately Correct, PCA) </a:t>
            </a: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学习</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3" name="内容占位符 2">
                <a:extLst>
                  <a:ext uri="{FF2B5EF4-FFF2-40B4-BE49-F238E27FC236}">
                    <a16:creationId xmlns:a16="http://schemas.microsoft.com/office/drawing/2014/main" id="{8529353D-F595-21FC-7770-7F35534B4D7A}"/>
                  </a:ext>
                </a:extLst>
              </p:cNvPr>
              <p:cNvSpPr txBox="1">
                <a:spLocks/>
              </p:cNvSpPr>
              <p:nvPr/>
            </p:nvSpPr>
            <p:spPr bwMode="auto">
              <a:xfrm>
                <a:off x="165757" y="1302338"/>
                <a:ext cx="8616950" cy="81772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20000"/>
                  </a:lnSpc>
                  <a:spcBef>
                    <a:spcPts val="0"/>
                  </a:spcBef>
                  <a:spcAft>
                    <a:spcPts val="0"/>
                  </a:spcAft>
                  <a:buClr>
                    <a:srgbClr val="16754D"/>
                  </a:buClr>
                  <a:buNone/>
                  <a:defRPr/>
                </a:pP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目标：对于给定训练集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𝐷</m:t>
                    </m:r>
                  </m:oMath>
                </a14:m>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我们希望基于学习算法 </a:t>
                </a:r>
                <a14:m>
                  <m:oMath xmlns:m="http://schemas.openxmlformats.org/officeDocument/2006/math">
                    <m:r>
                      <a:rPr lang="zh-CN" altLang="en-US" sz="2400" i="1">
                        <a:solidFill>
                          <a:prstClr val="black"/>
                        </a:solidFill>
                        <a:latin typeface="Cambria Math" panose="02040503050406030204" pitchFamily="18" charset="0"/>
                        <a:ea typeface="Cambria Math" panose="02040503050406030204" pitchFamily="18" charset="0"/>
                      </a:rPr>
                      <m:t>𝔏</m:t>
                    </m:r>
                  </m:oMath>
                </a14:m>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学得的模型所对应的假设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h</m:t>
                    </m:r>
                  </m:oMath>
                </a14:m>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尽可能接近目标概念 </a:t>
                </a:r>
                <a14:m>
                  <m:oMath xmlns:m="http://schemas.openxmlformats.org/officeDocument/2006/math">
                    <m:r>
                      <a:rPr kumimoji="0" lang="en-US" altLang="zh-CN" sz="22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𝑐</m:t>
                    </m:r>
                  </m:oMath>
                </a14:m>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800100" marR="0" lvl="1" indent="-342900" algn="l" defTabSz="914400" rtl="0" eaLnBrk="1" fontAlgn="base" latinLnBrk="0" hangingPunct="1">
                  <a:lnSpc>
                    <a:spcPct val="120000"/>
                  </a:lnSpc>
                  <a:spcBef>
                    <a:spcPts val="0"/>
                  </a:spcBef>
                  <a:spcAft>
                    <a:spcPts val="0"/>
                  </a:spcAft>
                  <a:buClr>
                    <a:srgbClr val="16754D"/>
                  </a:buClr>
                  <a:buSzTx/>
                  <a:buFont typeface="Wingdings" panose="05000000000000000000" pitchFamily="2" charset="2"/>
                  <a:buChar char="l"/>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2">
                <a:extLst>
                  <a:ext uri="{FF2B5EF4-FFF2-40B4-BE49-F238E27FC236}">
                    <a16:creationId xmlns:a16="http://schemas.microsoft.com/office/drawing/2014/main" id="{8529353D-F595-21FC-7770-7F35534B4D7A}"/>
                  </a:ext>
                </a:extLst>
              </p:cNvPr>
              <p:cNvSpPr txBox="1">
                <a:spLocks noRot="1" noChangeAspect="1" noMove="1" noResize="1" noEditPoints="1" noAdjustHandles="1" noChangeArrowheads="1" noChangeShapeType="1" noTextEdit="1"/>
              </p:cNvSpPr>
              <p:nvPr/>
            </p:nvSpPr>
            <p:spPr bwMode="auto">
              <a:xfrm>
                <a:off x="165757" y="1302338"/>
                <a:ext cx="8616950" cy="817722"/>
              </a:xfrm>
              <a:prstGeom prst="rect">
                <a:avLst/>
              </a:prstGeom>
              <a:blipFill>
                <a:blip r:embed="rId2"/>
                <a:stretch>
                  <a:fillRect l="-1980" t="-7463" r="-1839" b="-186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2" name="Rectangle 5">
                <a:extLst>
                  <a:ext uri="{FF2B5EF4-FFF2-40B4-BE49-F238E27FC236}">
                    <a16:creationId xmlns:a16="http://schemas.microsoft.com/office/drawing/2014/main" id="{2599E596-388E-F20D-515C-7053C670EDA1}"/>
                  </a:ext>
                </a:extLst>
              </p:cNvPr>
              <p:cNvSpPr>
                <a:spLocks noChangeArrowheads="1"/>
              </p:cNvSpPr>
              <p:nvPr/>
            </p:nvSpPr>
            <p:spPr bwMode="auto">
              <a:xfrm>
                <a:off x="1086041" y="2375009"/>
                <a:ext cx="6448425"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0" tIns="0" rIns="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algn="ctr" defTabSz="914400" eaLnBrk="1" fontAlgn="base" latinLnBrk="0" hangingPunct="1">
                  <a:spcBef>
                    <a:spcPct val="0"/>
                  </a:spcBef>
                  <a:spcAft>
                    <a:spcPct val="0"/>
                  </a:spcAft>
                  <a:buClrTx/>
                  <a:buSzTx/>
                  <a:buFontTx/>
                  <a:buNone/>
                  <a:tabLst/>
                  <a:defRPr/>
                </a:pPr>
                <a:r>
                  <a:rPr kumimoji="1" lang="zh-CN" altLang="en-US"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rPr>
                  <a:t>为什么不是希望精确地学到目标概念</a:t>
                </a:r>
                <a:r>
                  <a:rPr kumimoji="1" lang="en-US" altLang="zh-CN" sz="2000" i="1" kern="0" dirty="0">
                    <a:solidFill>
                      <a:prstClr val="white"/>
                    </a:solidFill>
                    <a:latin typeface="Arial" panose="020B0604020202020204" pitchFamily="34" charset="0"/>
                    <a:ea typeface="黑体" panose="02010609060101010101" pitchFamily="49" charset="-122"/>
                    <a:cs typeface="Times New Roman" panose="02020603050405020304" pitchFamily="18" charset="0"/>
                  </a:rPr>
                  <a:t> </a:t>
                </a:r>
                <a14:m>
                  <m:oMath xmlns:m="http://schemas.openxmlformats.org/officeDocument/2006/math">
                    <m:r>
                      <a:rPr kumimoji="1" lang="en-US" altLang="zh-CN" sz="2000" b="0" i="1" u="none" strike="noStrike" kern="0" cap="none" spc="0" normalizeH="0" baseline="0" noProof="0" smtClean="0">
                        <a:ln>
                          <a:noFill/>
                        </a:ln>
                        <a:solidFill>
                          <a:prstClr val="white"/>
                        </a:solidFill>
                        <a:effectLst/>
                        <a:uLnTx/>
                        <a:uFillTx/>
                        <a:latin typeface="Cambria Math" panose="02040503050406030204" pitchFamily="18" charset="0"/>
                        <a:cs typeface="Times New Roman" panose="02020603050405020304" pitchFamily="18" charset="0"/>
                      </a:rPr>
                      <m:t>𝑐</m:t>
                    </m:r>
                  </m:oMath>
                </a14:m>
                <a:r>
                  <a:rPr kumimoji="1" lang="zh-CN" altLang="en-US"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rPr>
                  <a:t> 呢？</a:t>
                </a:r>
                <a:endParaRPr kumimoji="1" lang="en-US" altLang="zh-CN" sz="2000" b="0" i="0" u="none" strike="noStrike" kern="0" cap="none" spc="0" normalizeH="0" baseline="0" noProof="0" dirty="0">
                  <a:ln>
                    <a:noFill/>
                  </a:ln>
                  <a:solidFill>
                    <a:prstClr val="white"/>
                  </a:solidFill>
                  <a:effectLst/>
                  <a:uLnTx/>
                  <a:uFillTx/>
                  <a:latin typeface="Arial" panose="020B0604020202020204" pitchFamily="34" charset="0"/>
                  <a:ea typeface="黑体" panose="02010609060101010101" pitchFamily="49" charset="-122"/>
                </a:endParaRPr>
              </a:p>
            </p:txBody>
          </p:sp>
        </mc:Choice>
        <mc:Fallback xmlns="">
          <p:sp>
            <p:nvSpPr>
              <p:cNvPr id="12" name="Rectangle 5">
                <a:extLst>
                  <a:ext uri="{FF2B5EF4-FFF2-40B4-BE49-F238E27FC236}">
                    <a16:creationId xmlns:a16="http://schemas.microsoft.com/office/drawing/2014/main" id="{2599E596-388E-F20D-515C-7053C670EDA1}"/>
                  </a:ext>
                </a:extLst>
              </p:cNvPr>
              <p:cNvSpPr>
                <a:spLocks noRot="1" noChangeAspect="1" noMove="1" noResize="1" noEditPoints="1" noAdjustHandles="1" noChangeArrowheads="1" noChangeShapeType="1" noTextEdit="1"/>
              </p:cNvSpPr>
              <p:nvPr/>
            </p:nvSpPr>
            <p:spPr bwMode="auto">
              <a:xfrm>
                <a:off x="1086041" y="2375009"/>
                <a:ext cx="6448425" cy="307777"/>
              </a:xfrm>
              <a:prstGeom prst="rect">
                <a:avLst/>
              </a:prstGeom>
              <a:blipFill>
                <a:blip r:embed="rId3"/>
                <a:stretch>
                  <a:fillRect/>
                </a:stretch>
              </a:blipFill>
              <a:ln>
                <a:noFill/>
                <a:headEnd/>
                <a:tailEnd/>
              </a:ln>
              <a:effectLst>
                <a:outerShdw blurRad="57150" dist="19050" dir="5400000" algn="ctr" rotWithShape="0">
                  <a:srgbClr val="000000">
                    <a:alpha val="63000"/>
                  </a:srgbClr>
                </a:outerShdw>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内容占位符 2">
                <a:extLst>
                  <a:ext uri="{FF2B5EF4-FFF2-40B4-BE49-F238E27FC236}">
                    <a16:creationId xmlns:a16="http://schemas.microsoft.com/office/drawing/2014/main" id="{CB79FDF1-04DB-A66F-CCE8-F1E1CD7BA3C7}"/>
                  </a:ext>
                </a:extLst>
              </p:cNvPr>
              <p:cNvSpPr txBox="1">
                <a:spLocks/>
              </p:cNvSpPr>
              <p:nvPr/>
            </p:nvSpPr>
            <p:spPr>
              <a:xfrm>
                <a:off x="165757" y="3212099"/>
                <a:ext cx="8864690" cy="2722536"/>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600"/>
                  </a:spcBef>
                  <a:buClr>
                    <a:srgbClr val="16754D"/>
                  </a:buClr>
                  <a:buSzPct val="100000"/>
                  <a:buFont typeface="Wingdings" panose="05000000000000000000" pitchFamily="2" charset="2"/>
                  <a:buNone/>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机器学习过程受到很多因素的制约</a:t>
                </a:r>
                <a:r>
                  <a:rPr lang="zh-CN" altLang="en-US" sz="2000" dirty="0">
                    <a:solidFill>
                      <a:prstClr val="black"/>
                    </a:solidFill>
                    <a:latin typeface="Arial" panose="020B0604020202020204" pitchFamily="34" charset="0"/>
                    <a:ea typeface="黑体" panose="02010609060101010101" pitchFamily="49" charset="-122"/>
                  </a:rPr>
                  <a:t>：</a:t>
                </a:r>
                <a:endPar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06000" lvl="0" indent="-306000">
                  <a:lnSpc>
                    <a:spcPct val="100000"/>
                  </a:lnSpc>
                  <a:spcBef>
                    <a:spcPts val="600"/>
                  </a:spcBef>
                  <a:buClr>
                    <a:srgbClr val="16754D"/>
                  </a:buClr>
                  <a:buFont typeface="Arial" panose="020B0604020202020204" pitchFamily="34" charset="0"/>
                  <a:buChar char="•"/>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获得的训练集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𝐷</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往往仅包含有限数量的样例</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因此通常会存在一些在</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rPr>
                      <m:t>𝐷</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上“等效”的假设</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学习算法无法区别这些假设</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06000" marR="0" lvl="0" indent="-306000" algn="l" defTabSz="914400" rtl="0" eaLnBrk="1" fontAlgn="auto" latinLnBrk="0" hangingPunct="1">
                  <a:lnSpc>
                    <a:spcPct val="100000"/>
                  </a:lnSpc>
                  <a:spcBef>
                    <a:spcPts val="600"/>
                  </a:spcBef>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从分布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rPr>
                      <m:t>𝒟</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采样得到</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rPr>
                      <m:t>𝐷</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的过程有一定的偶然性</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即便对同样大小的不同训练集</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学得结果也可能有所不同</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06000" marR="0" lvl="0" indent="-306000" algn="l" defTabSz="914400" rtl="0" eaLnBrk="1" fontAlgn="auto" latinLnBrk="0" hangingPunct="1">
                  <a:lnSpc>
                    <a:spcPct val="100000"/>
                  </a:lnSpc>
                  <a:spcBef>
                    <a:spcPts val="600"/>
                  </a:spcBef>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可能出现目标概念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rPr>
                      <m:t>𝑐</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中不存在任何假设能将所有的示例完全正确分开</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13" name="内容占位符 2">
                <a:extLst>
                  <a:ext uri="{FF2B5EF4-FFF2-40B4-BE49-F238E27FC236}">
                    <a16:creationId xmlns:a16="http://schemas.microsoft.com/office/drawing/2014/main" id="{CB79FDF1-04DB-A66F-CCE8-F1E1CD7BA3C7}"/>
                  </a:ext>
                </a:extLst>
              </p:cNvPr>
              <p:cNvSpPr txBox="1">
                <a:spLocks noRot="1" noChangeAspect="1" noMove="1" noResize="1" noEditPoints="1" noAdjustHandles="1" noChangeArrowheads="1" noChangeShapeType="1" noTextEdit="1"/>
              </p:cNvSpPr>
              <p:nvPr/>
            </p:nvSpPr>
            <p:spPr>
              <a:xfrm>
                <a:off x="165757" y="3212099"/>
                <a:ext cx="8864690" cy="2722536"/>
              </a:xfrm>
              <a:prstGeom prst="rect">
                <a:avLst/>
              </a:prstGeom>
              <a:blipFill>
                <a:blip r:embed="rId4"/>
                <a:stretch>
                  <a:fillRect l="-1719" t="-3356" r="-1788"/>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4235005646"/>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55</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5" name="内容占位符 2">
            <a:extLst>
              <a:ext uri="{FF2B5EF4-FFF2-40B4-BE49-F238E27FC236}">
                <a16:creationId xmlns:a16="http://schemas.microsoft.com/office/drawing/2014/main" id="{DFBB5305-A8B5-8B09-8DA0-62668141F4CE}"/>
              </a:ext>
            </a:extLst>
          </p:cNvPr>
          <p:cNvSpPr txBox="1">
            <a:spLocks/>
          </p:cNvSpPr>
          <p:nvPr/>
        </p:nvSpPr>
        <p:spPr bwMode="auto">
          <a:xfrm>
            <a:off x="42976" y="852932"/>
            <a:ext cx="6955472" cy="385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0" indent="-32400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Char char="l"/>
              <a:tabLst/>
              <a:defRPr/>
            </a:pPr>
            <a:r>
              <a:rPr kumimoji="0" lang="zh-CN" altLang="en-US"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概率近似正确 </a:t>
            </a:r>
            <a:r>
              <a:rPr kumimoji="0" lang="en-US" altLang="zh-CN" sz="22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(Probably Approximately Correct, PAC)</a:t>
            </a: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457200" marR="0" lvl="1" indent="0" algn="l" defTabSz="914400" rtl="0" eaLnBrk="1" fontAlgn="base" latinLnBrk="0" hangingPunct="1">
              <a:lnSpc>
                <a:spcPct val="90000"/>
              </a:lnSpc>
              <a:spcBef>
                <a:spcPts val="1200"/>
              </a:spcBef>
              <a:spcAft>
                <a:spcPct val="0"/>
              </a:spcAft>
              <a:buClr>
                <a:srgbClr val="16754D"/>
              </a:buClr>
              <a:buSzTx/>
              <a:buFont typeface="Wingdings" panose="05000000000000000000" pitchFamily="2" charset="2"/>
              <a:buNone/>
              <a:tabLst/>
              <a:defRPr/>
            </a:pPr>
            <a:endPar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19" name="内容占位符 2">
                <a:extLst>
                  <a:ext uri="{FF2B5EF4-FFF2-40B4-BE49-F238E27FC236}">
                    <a16:creationId xmlns:a16="http://schemas.microsoft.com/office/drawing/2014/main" id="{CD339426-8175-C05B-4E5D-BFC30165F21D}"/>
                  </a:ext>
                </a:extLst>
              </p:cNvPr>
              <p:cNvSpPr txBox="1">
                <a:spLocks/>
              </p:cNvSpPr>
              <p:nvPr/>
            </p:nvSpPr>
            <p:spPr bwMode="auto">
              <a:xfrm>
                <a:off x="337660" y="1190268"/>
                <a:ext cx="8630042" cy="223873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457200" algn="l" defTabSz="914400" rtl="0" eaLnBrk="1" fontAlgn="base" latinLnBrk="0" hangingPunct="1">
                  <a:lnSpc>
                    <a:spcPct val="100000"/>
                  </a:lnSpc>
                  <a:spcBef>
                    <a:spcPts val="0"/>
                  </a:spcBef>
                  <a:spcAft>
                    <a:spcPct val="0"/>
                  </a:spcAft>
                  <a:buClr>
                    <a:srgbClr val="16754D"/>
                  </a:buClr>
                  <a:buSzTx/>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我们希望以比较大的把握学得比较好的模型</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即</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以较大概率学得误差满足预设上限的</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模型</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令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表示置信度，上述要求形式化为：</a:t>
                </a:r>
                <a:endParaRPr kumimoji="0" lang="en-US" altLang="zh-CN" sz="2000" b="1"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1" fontAlgn="base" latinLnBrk="0" hangingPunct="1">
                  <a:buClr>
                    <a:srgbClr val="16754D"/>
                  </a:buClr>
                  <a:buSzPct val="100000"/>
                  <a:buFont typeface="Wingdings" panose="05000000000000000000" pitchFamily="2" charset="2"/>
                  <a:buChar char="Ø"/>
                  <a:tabLst/>
                  <a:defRPr/>
                </a:pPr>
                <a:r>
                  <a:rPr kumimoji="0" lang="zh-CN" altLang="en-US" sz="2000" b="1"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定义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PAC</a:t>
                </a:r>
                <a:r>
                  <a:rPr kumimoji="0" lang="zh-CN" altLang="en-US"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辨识 </a:t>
                </a:r>
                <a:r>
                  <a:rPr kumimoji="0" lang="en-US" altLang="zh-CN" sz="2000" b="1"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(Probably Approximately Correct Identify)</a:t>
                </a:r>
              </a:p>
              <a:p>
                <a:pPr lvl="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对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0</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&lt;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cs typeface="+mn-cs"/>
                      </a:rPr>
                      <m:t>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cs typeface="+mn-cs"/>
                      </a:rPr>
                      <m:t>𝛿</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&lt;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cs typeface="+mn-cs"/>
                      </a:rPr>
                      <m:t>1</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所有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𝒞</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和分布 </a:t>
                </a:r>
                <a14:m>
                  <m:oMath xmlns:m="http://schemas.openxmlformats.org/officeDocument/2006/math">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𝒟</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若存在学习算法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其输出假设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满足</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base" latinLnBrk="0" hangingPunct="1">
                  <a:buClr>
                    <a:srgbClr val="16754D"/>
                  </a:buClr>
                  <a:buSzPct val="100000"/>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𝑃</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𝜖</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1</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𝛿</m:t>
                      </m:r>
                    </m:oMath>
                  </m:oMathPara>
                </a14:m>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lvl="0" fontAlgn="base">
                  <a:buClr>
                    <a:srgbClr val="16754D"/>
                  </a:buClr>
                  <a:buSzPct val="10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则称学习算法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能从假设空间 </a:t>
                </a:r>
                <a14:m>
                  <m:oMath xmlns:m="http://schemas.openxmlformats.org/officeDocument/2006/math">
                    <m:r>
                      <a:rPr kumimoji="0" lang="en-US" altLang="zh-CN" sz="2000" b="0" i="1" u="none" strike="noStrike" kern="0" cap="none" spc="0" normalizeH="0" noProof="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中</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PAC</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辨识概念类 </a:t>
                </a:r>
                <a14:m>
                  <m:oMath xmlns:m="http://schemas.openxmlformats.org/officeDocument/2006/math">
                    <m:r>
                      <a:rPr kumimoji="0" lang="zh-CN" altLang="en-US" sz="2000" b="0" i="1" u="none" strike="noStrike" kern="0" cap="none" spc="0" normalizeH="0" noProof="0">
                        <a:ln>
                          <a:noFill/>
                        </a:ln>
                        <a:solidFill>
                          <a:prstClr val="black"/>
                        </a:solidFill>
                        <a:effectLst/>
                        <a:uLnTx/>
                        <a:uFillTx/>
                        <a:latin typeface="Cambria Math" panose="02040503050406030204" pitchFamily="18" charset="0"/>
                        <a:ea typeface="Cambria Math" panose="02040503050406030204" pitchFamily="18" charset="0"/>
                        <a:cs typeface="+mn-cs"/>
                      </a:rPr>
                      <m:t>𝒞</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19" name="内容占位符 2">
                <a:extLst>
                  <a:ext uri="{FF2B5EF4-FFF2-40B4-BE49-F238E27FC236}">
                    <a16:creationId xmlns:a16="http://schemas.microsoft.com/office/drawing/2014/main" id="{CD339426-8175-C05B-4E5D-BFC30165F21D}"/>
                  </a:ext>
                </a:extLst>
              </p:cNvPr>
              <p:cNvSpPr txBox="1">
                <a:spLocks noRot="1" noChangeAspect="1" noMove="1" noResize="1" noEditPoints="1" noAdjustHandles="1" noChangeArrowheads="1" noChangeShapeType="1" noTextEdit="1"/>
              </p:cNvSpPr>
              <p:nvPr/>
            </p:nvSpPr>
            <p:spPr bwMode="auto">
              <a:xfrm>
                <a:off x="337660" y="1190268"/>
                <a:ext cx="8630042" cy="2238732"/>
              </a:xfrm>
              <a:prstGeom prst="rect">
                <a:avLst/>
              </a:prstGeom>
              <a:blipFill>
                <a:blip r:embed="rId2"/>
                <a:stretch>
                  <a:fillRect l="-1766" t="-4076" r="-353" b="-24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0" name="圆角矩形 41">
                <a:extLst>
                  <a:ext uri="{FF2B5EF4-FFF2-40B4-BE49-F238E27FC236}">
                    <a16:creationId xmlns:a16="http://schemas.microsoft.com/office/drawing/2014/main" id="{92D8BE55-18A1-5760-A407-609BC873E67A}"/>
                  </a:ext>
                </a:extLst>
              </p:cNvPr>
              <p:cNvSpPr/>
              <p:nvPr/>
            </p:nvSpPr>
            <p:spPr>
              <a:xfrm>
                <a:off x="679357" y="3409963"/>
                <a:ext cx="7901213" cy="712746"/>
              </a:xfrm>
              <a:prstGeom prst="roundRect">
                <a:avLst/>
              </a:prstGeom>
              <a:solidFill>
                <a:srgbClr val="FFC000"/>
              </a:solidFill>
              <a:ln w="12700" cap="flat" cmpd="sng" algn="ctr">
                <a:solidFill>
                  <a:srgbClr val="FFC000">
                    <a:shade val="50000"/>
                  </a:srgbClr>
                </a:solidFill>
                <a:prstDash val="solid"/>
                <a:miter lim="800000"/>
              </a:ln>
              <a:effectLst/>
            </p:spPr>
            <p:txBody>
              <a:bodyPr anchor="ctr"/>
              <a:lstStyle/>
              <a:p>
                <a:pPr marL="0" marR="0" lvl="1" indent="0" algn="ctr" defTabSz="914400" rtl="0" eaLnBrk="1" fontAlgn="auto" latinLnBrk="0" hangingPunct="1">
                  <a:lnSpc>
                    <a:spcPct val="100000"/>
                  </a:lnSpc>
                  <a:spcBef>
                    <a:spcPts val="0"/>
                  </a:spcBef>
                  <a:spcAft>
                    <a:spcPts val="0"/>
                  </a:spcAft>
                  <a:buClrTx/>
                  <a:buSzTx/>
                  <a:buFontTx/>
                  <a:buNone/>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这样的学习算法</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ℒ</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能以较大概率</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至少 </a:t>
                </a:r>
                <a14:m>
                  <m:oMath xmlns:m="http://schemas.openxmlformats.org/officeDocument/2006/math">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1</m:t>
                    </m:r>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m:t>
                    </m:r>
                    <m:r>
                      <a:rPr kumimoji="0" lang="zh-CN" altLang="en-US"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𝛿</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学得目标概念 </a:t>
                </a:r>
                <a14:m>
                  <m:oMath xmlns:m="http://schemas.openxmlformats.org/officeDocument/2006/math">
                    <m:r>
                      <a:rPr kumimoji="0" lang="en-US" altLang="zh-CN" sz="2000" b="0" i="1" u="none" strike="noStrike" kern="0" cap="none" spc="0" normalizeH="0" baseline="0" noProof="0">
                        <a:ln>
                          <a:noFill/>
                        </a:ln>
                        <a:solidFill>
                          <a:prstClr val="black"/>
                        </a:solidFill>
                        <a:effectLst/>
                        <a:uLnTx/>
                        <a:uFillTx/>
                        <a:latin typeface="Cambria Math" panose="02040503050406030204" pitchFamily="18" charset="0"/>
                        <a:ea typeface="黑体" panose="02010609060101010101" pitchFamily="49" charset="-122"/>
                        <a:cs typeface="+mn-cs"/>
                      </a:rPr>
                      <m:t>𝑐</m:t>
                    </m:r>
                  </m:oMath>
                </a14:m>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的近似</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误差最多为</a:t>
                </a:r>
                <a14:m>
                  <m:oMath xmlns:m="http://schemas.openxmlformats.org/officeDocument/2006/math">
                    <m:r>
                      <a:rPr kumimoji="0" lang="zh-CN" altLang="en-US" sz="2000" b="0" i="1" u="none" strike="noStrike" kern="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cs typeface="+mn-cs"/>
                      </a:rPr>
                      <m:t>𝜖</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20" name="圆角矩形 41">
                <a:extLst>
                  <a:ext uri="{FF2B5EF4-FFF2-40B4-BE49-F238E27FC236}">
                    <a16:creationId xmlns:a16="http://schemas.microsoft.com/office/drawing/2014/main" id="{92D8BE55-18A1-5760-A407-609BC873E67A}"/>
                  </a:ext>
                </a:extLst>
              </p:cNvPr>
              <p:cNvSpPr>
                <a:spLocks noRot="1" noChangeAspect="1" noMove="1" noResize="1" noEditPoints="1" noAdjustHandles="1" noChangeArrowheads="1" noChangeShapeType="1" noTextEdit="1"/>
              </p:cNvSpPr>
              <p:nvPr/>
            </p:nvSpPr>
            <p:spPr>
              <a:xfrm>
                <a:off x="679357" y="3409963"/>
                <a:ext cx="7901213" cy="712746"/>
              </a:xfrm>
              <a:prstGeom prst="roundRect">
                <a:avLst/>
              </a:prstGeom>
              <a:blipFill>
                <a:blip r:embed="rId3"/>
                <a:stretch>
                  <a:fillRect t="-4202" b="-14286"/>
                </a:stretch>
              </a:blipFill>
              <a:ln w="12700" cap="flat" cmpd="sng" algn="ctr">
                <a:solidFill>
                  <a:srgbClr val="FFC000">
                    <a:shade val="50000"/>
                  </a:srgbClr>
                </a:solidFill>
                <a:prstDash val="solid"/>
                <a:miter lim="800000"/>
              </a:ln>
              <a:effec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46B95EDD-71F8-9902-394B-4150CF5985D2}"/>
                  </a:ext>
                </a:extLst>
              </p:cNvPr>
              <p:cNvSpPr txBox="1">
                <a:spLocks/>
              </p:cNvSpPr>
              <p:nvPr/>
            </p:nvSpPr>
            <p:spPr bwMode="auto">
              <a:xfrm>
                <a:off x="337660" y="4175833"/>
                <a:ext cx="8747574" cy="248502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定义</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可学习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 Learnable)</a:t>
                </a:r>
              </a:p>
              <a:p>
                <a:pPr marL="324000" lvl="0" indent="0">
                  <a:lnSpc>
                    <a:spcPct val="100000"/>
                  </a:lnSpc>
                  <a:spcBef>
                    <a:spcPts val="0"/>
                  </a:spcBef>
                  <a:spcAft>
                    <a:spcPts val="0"/>
                  </a:spcAft>
                  <a:buClr>
                    <a:srgbClr val="16754D"/>
                  </a:buClr>
                  <a:buNone/>
                </a:pP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表示从分布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𝒟</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中独立同分布采样得到的样例数目</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0</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对所有分布 </a:t>
                </a:r>
                <a14:m>
                  <m:oMath xmlns:m="http://schemas.openxmlformats.org/officeDocument/2006/math">
                    <m:r>
                      <a:rPr lang="zh-CN" altLang="en-US" sz="2000" b="0" i="1">
                        <a:solidFill>
                          <a:sysClr val="windowText" lastClr="000000"/>
                        </a:solidFill>
                        <a:latin typeface="Cambria Math" panose="02040503050406030204" pitchFamily="18" charset="0"/>
                      </a:rPr>
                      <m:t>𝒟</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存在</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b="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和多项式函数 </a:t>
                </a:r>
                <a14:m>
                  <m:oMath xmlns:m="http://schemas.openxmlformats.org/officeDocument/2006/math">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rPr>
                      <m:t>poly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使得对于任何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ploy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d>
                      <m:dPr>
                        <m:ctrlPr>
                          <a:rPr kumimoji="0" lang="en-US" altLang="zh-CN" sz="200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𝑥</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zh-CN" altLang="en-US" sz="2000" b="0" i="1">
                        <a:solidFill>
                          <a:prstClr val="black"/>
                        </a:solidFill>
                        <a:latin typeface="Cambria Math" panose="02040503050406030204" pitchFamily="18" charset="0"/>
                        <a:ea typeface="Cambria Math" panose="02040503050406030204" pitchFamily="18" charset="0"/>
                      </a:rPr>
                      <m:t>𝔏</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能从假设空间 </a:t>
                </a:r>
                <a14:m>
                  <m:oMath xmlns:m="http://schemas.openxmlformats.org/officeDocument/2006/math">
                    <m:r>
                      <a:rPr lang="en-US" altLang="zh-CN" sz="2000" b="0" i="1" dirty="0" smtClean="0">
                        <a:solidFill>
                          <a:sysClr val="windowText" lastClr="000000"/>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辨识概念类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𝒞</m:t>
                    </m:r>
                  </m:oMath>
                </a14:m>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则称</a:t>
                </a:r>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概念类 </a:t>
                </a:r>
                <a14:m>
                  <m:oMath xmlns:m="http://schemas.openxmlformats.org/officeDocument/2006/math">
                    <m:r>
                      <a:rPr lang="zh-CN" altLang="en-US" sz="2000" b="0" i="1">
                        <a:solidFill>
                          <a:sysClr val="windowText" lastClr="000000"/>
                        </a:solidFill>
                        <a:latin typeface="Cambria Math" panose="02040503050406030204" pitchFamily="18" charset="0"/>
                      </a:rPr>
                      <m:t>𝒞</m:t>
                    </m:r>
                  </m:oMath>
                </a14:m>
                <a:r>
                  <a:rPr kumimoji="0" lang="zh-CN" altLang="en-US" sz="200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 对假设空间</a:t>
                </a:r>
                <a:r>
                  <a:rPr kumimoji="0" lang="zh-CN" altLang="en-US"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sz="2000" b="0" i="1" u="none" strike="noStrike" kern="1200" cap="none" spc="0" normalizeH="0" baseline="0" noProof="0" smtClean="0">
                        <a:ln>
                          <a:noFill/>
                        </a:ln>
                        <a:solidFill>
                          <a:schemeClr val="tx1"/>
                        </a:solidFill>
                        <a:effectLst/>
                        <a:uLnTx/>
                        <a:uFillTx/>
                        <a:latin typeface="Cambria Math" panose="02040503050406030204" pitchFamily="18" charset="0"/>
                      </a:rPr>
                      <m:t>ℋ</m:t>
                    </m:r>
                  </m:oMath>
                </a14:m>
                <a:r>
                  <a:rPr kumimoji="0" lang="zh-CN" altLang="en-US" sz="2000" i="0" u="none" strike="noStrike" kern="1200" cap="none" spc="0" normalizeH="0" baseline="0" noProof="0" dirty="0">
                    <a:ln>
                      <a:noFill/>
                    </a:ln>
                    <a:solidFill>
                      <a:schemeClr val="tx1"/>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是</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可学习的，有时也简称概念类 </a:t>
                </a:r>
                <a14:m>
                  <m:oMath xmlns:m="http://schemas.openxmlformats.org/officeDocument/2006/math">
                    <m:r>
                      <a:rPr lang="zh-CN" altLang="en-US" sz="2000" b="0" i="1">
                        <a:solidFill>
                          <a:sysClr val="windowText" lastClr="000000"/>
                        </a:solidFill>
                        <a:latin typeface="Cambria Math" panose="02040503050406030204" pitchFamily="18" charset="0"/>
                      </a:rPr>
                      <m:t>𝒞</m:t>
                    </m:r>
                  </m:oMath>
                </a14:m>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是</a:t>
                </a:r>
                <a:r>
                  <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可学习的。</a:t>
                </a:r>
                <a:endParaRPr kumimoji="0" lang="en-US" altLang="zh-CN" sz="200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24000" lvl="0" indent="0">
                  <a:lnSpc>
                    <a:spcPct val="100000"/>
                  </a:lnSpc>
                  <a:spcBef>
                    <a:spcPts val="0"/>
                  </a:spcBef>
                  <a:spcAft>
                    <a:spcPts val="0"/>
                  </a:spcAft>
                  <a:buClr>
                    <a:srgbClr val="16754D"/>
                  </a:buClr>
                  <a:buNone/>
                </a:pPr>
                <a:r>
                  <a:rPr lang="zh-CN" altLang="en-US" sz="2000" dirty="0">
                    <a:solidFill>
                      <a:sysClr val="windowText" lastClr="000000"/>
                    </a:solidFill>
                    <a:latin typeface="Arial" panose="020B0604020202020204" pitchFamily="34" charset="0"/>
                    <a:ea typeface="黑体" panose="02010609060101010101" pitchFamily="49" charset="-122"/>
                  </a:rPr>
                  <a:t>样本数目 </a:t>
                </a:r>
                <a14:m>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与误差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𝜖</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置信度 </a:t>
                </a:r>
                <a14:m>
                  <m:oMath xmlns:m="http://schemas.openxmlformats.org/officeDocument/2006/math">
                    <m:r>
                      <a:rPr lang="en-US" altLang="zh-CN" sz="2000" b="0" i="0" smtClean="0">
                        <a:solidFill>
                          <a:sysClr val="windowText" lastClr="000000"/>
                        </a:solidFill>
                        <a:latin typeface="Cambria Math" panose="02040503050406030204" pitchFamily="18" charset="0"/>
                        <a:ea typeface="黑体" panose="02010609060101010101" pitchFamily="49" charset="-122"/>
                      </a:rPr>
                      <m:t>1</m:t>
                    </m:r>
                    <m:r>
                      <a:rPr lang="en-US" altLang="zh-CN" sz="2000" b="0" i="0" smtClean="0">
                        <a:solidFill>
                          <a:sysClr val="windowText" lastClr="000000"/>
                        </a:solidFill>
                        <a:latin typeface="Cambria Math" panose="02040503050406030204" pitchFamily="18" charset="0"/>
                        <a:ea typeface="黑体" panose="02010609060101010101" pitchFamily="49" charset="-122"/>
                      </a:rPr>
                      <m:t>−</m:t>
                    </m:r>
                    <m:r>
                      <a:rPr lang="zh-CN" altLang="en-US" sz="2000" b="0" i="1" smtClean="0">
                        <a:solidFill>
                          <a:sysClr val="windowText" lastClr="000000"/>
                        </a:solidFill>
                        <a:latin typeface="Cambria Math" panose="02040503050406030204" pitchFamily="18" charset="0"/>
                        <a:ea typeface="黑体" panose="02010609060101010101" pitchFamily="49" charset="-122"/>
                      </a:rPr>
                      <m:t>𝛿</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数据本身的复杂度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目标概念的复杂度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有关。</a:t>
                </a:r>
              </a:p>
            </p:txBody>
          </p:sp>
        </mc:Choice>
        <mc:Fallback xmlns="">
          <p:sp>
            <p:nvSpPr>
              <p:cNvPr id="7" name="内容占位符 2">
                <a:extLst>
                  <a:ext uri="{FF2B5EF4-FFF2-40B4-BE49-F238E27FC236}">
                    <a16:creationId xmlns:a16="http://schemas.microsoft.com/office/drawing/2014/main" id="{46B95EDD-71F8-9902-394B-4150CF5985D2}"/>
                  </a:ext>
                </a:extLst>
              </p:cNvPr>
              <p:cNvSpPr txBox="1">
                <a:spLocks noRot="1" noChangeAspect="1" noMove="1" noResize="1" noEditPoints="1" noAdjustHandles="1" noChangeArrowheads="1" noChangeShapeType="1" noTextEdit="1"/>
              </p:cNvSpPr>
              <p:nvPr/>
            </p:nvSpPr>
            <p:spPr bwMode="auto">
              <a:xfrm>
                <a:off x="337660" y="4175833"/>
                <a:ext cx="8747574" cy="2485026"/>
              </a:xfrm>
              <a:prstGeom prst="rect">
                <a:avLst/>
              </a:prstGeom>
              <a:blipFill>
                <a:blip r:embed="rId4"/>
                <a:stretch>
                  <a:fillRect l="-1672" t="-3676" r="-976" b="-39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220699414"/>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1" name="内容占位符 2">
                <a:extLst>
                  <a:ext uri="{FF2B5EF4-FFF2-40B4-BE49-F238E27FC236}">
                    <a16:creationId xmlns:a16="http://schemas.microsoft.com/office/drawing/2014/main" id="{B0A82E2F-8CD1-1AC3-6C92-4C692E0BAB6C}"/>
                  </a:ext>
                </a:extLst>
              </p:cNvPr>
              <p:cNvSpPr txBox="1">
                <a:spLocks/>
              </p:cNvSpPr>
              <p:nvPr/>
            </p:nvSpPr>
            <p:spPr bwMode="auto">
              <a:xfrm>
                <a:off x="166220" y="841017"/>
                <a:ext cx="8801715" cy="193746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lvl="0" indent="-342900" fontAlgn="auto">
                  <a:lnSpc>
                    <a:spcPct val="100000"/>
                  </a:lnSpc>
                  <a:spcBef>
                    <a:spcPts val="0"/>
                  </a:spcBef>
                  <a:spcAft>
                    <a:spcPts val="0"/>
                  </a:spcAft>
                  <a:buClr>
                    <a:srgbClr val="16754D"/>
                  </a:buClr>
                  <a:buFont typeface="Wingdings" panose="05000000000000000000" pitchFamily="2" charset="2"/>
                  <a:buChar char="Ø"/>
                  <a:defRPr/>
                </a:pP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可学习性描述的是概念类 </a:t>
                </a:r>
                <a14:m>
                  <m:oMath xmlns:m="http://schemas.openxmlformats.org/officeDocument/2006/math">
                    <m: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幼圆"/>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的性质，若考虑到对应学习算法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时间复杂度</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，则有：</a:t>
                </a:r>
                <a:endPar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24000" marR="0" lvl="0" indent="0" algn="l" defTabSz="914400" rtl="0" eaLnBrk="1" fontAlgn="auto" latinLnBrk="0" hangingPunct="1">
                  <a:lnSpc>
                    <a:spcPct val="100000"/>
                  </a:lnSpc>
                  <a:spcBef>
                    <a:spcPts val="400"/>
                  </a:spcBef>
                  <a:spcAft>
                    <a:spcPts val="0"/>
                  </a:spcAft>
                  <a:buClr>
                    <a:srgbClr val="16754D"/>
                  </a:buClr>
                  <a:buSzPct val="100000"/>
                  <a:buFont typeface="Wingdings" panose="05000000000000000000" pitchFamily="2" charset="2"/>
                  <a:buNone/>
                  <a:tabLst/>
                  <a:defRPr/>
                </a:pPr>
                <a:r>
                  <a:rPr kumimoji="0" lang="zh-CN" altLang="en-US" sz="2000" b="1"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学习算法</a:t>
                </a:r>
                <a:r>
                  <a:rPr kumimoji="0" lang="en-US" altLang="zh-CN" sz="2000" b="1" i="0" u="none" strike="noStrike" kern="120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 Learning Algorithm)</a:t>
                </a:r>
              </a:p>
              <a:p>
                <a:pPr marL="32400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若学习算法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使概念类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为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且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的运行时间也是多项式函数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ploy</m:t>
                    </m:r>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𝜖</m:t>
                        </m:r>
                      </m:den>
                    </m:f>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𝛿</m:t>
                        </m:r>
                      </m:den>
                    </m:f>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则称概念类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是高效</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(efficiently PAC learnable)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称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为概念类 </a:t>
                </a:r>
                <a14:m>
                  <m:oMath xmlns:m="http://schemas.openxmlformats.org/officeDocument/2006/math">
                    <m:r>
                      <a:rPr kumimoji="0" lang="zh-CN" altLang="en-US" sz="2000" b="0" i="1" u="none" strike="noStrike" kern="1200" cap="none" spc="0" normalizeH="0" baseline="0" noProof="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 </a:t>
                </a:r>
                <a:r>
                  <a:rPr kumimoji="0" lang="en-US" altLang="zh-CN"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a:t>
                </a:r>
              </a:p>
            </p:txBody>
          </p:sp>
        </mc:Choice>
        <mc:Fallback xmlns="">
          <p:sp>
            <p:nvSpPr>
              <p:cNvPr id="21" name="内容占位符 2">
                <a:extLst>
                  <a:ext uri="{FF2B5EF4-FFF2-40B4-BE49-F238E27FC236}">
                    <a16:creationId xmlns:a16="http://schemas.microsoft.com/office/drawing/2014/main" id="{B0A82E2F-8CD1-1AC3-6C92-4C692E0BAB6C}"/>
                  </a:ext>
                </a:extLst>
              </p:cNvPr>
              <p:cNvSpPr txBox="1">
                <a:spLocks noRot="1" noChangeAspect="1" noMove="1" noResize="1" noEditPoints="1" noAdjustHandles="1" noChangeArrowheads="1" noChangeShapeType="1" noTextEdit="1"/>
              </p:cNvSpPr>
              <p:nvPr/>
            </p:nvSpPr>
            <p:spPr bwMode="auto">
              <a:xfrm>
                <a:off x="166220" y="841017"/>
                <a:ext cx="8801715" cy="1937469"/>
              </a:xfrm>
              <a:prstGeom prst="rect">
                <a:avLst/>
              </a:prstGeom>
              <a:blipFill>
                <a:blip r:embed="rId2"/>
                <a:stretch>
                  <a:fillRect l="-1662" t="-4717" b="-21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6" name="内容占位符 2">
                <a:extLst>
                  <a:ext uri="{FF2B5EF4-FFF2-40B4-BE49-F238E27FC236}">
                    <a16:creationId xmlns:a16="http://schemas.microsoft.com/office/drawing/2014/main" id="{85B990DA-047B-F93C-E709-2F886F79745A}"/>
                  </a:ext>
                </a:extLst>
              </p:cNvPr>
              <p:cNvSpPr txBox="1">
                <a:spLocks/>
              </p:cNvSpPr>
              <p:nvPr/>
            </p:nvSpPr>
            <p:spPr bwMode="auto">
              <a:xfrm>
                <a:off x="166220" y="2824864"/>
                <a:ext cx="8913234" cy="163335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lvl="0" indent="-342900" fontAlgn="base">
                  <a:buClr>
                    <a:srgbClr val="16754D"/>
                  </a:buClr>
                  <a:buSzPct val="100000"/>
                  <a:buFont typeface="Wingdings" panose="05000000000000000000" pitchFamily="2" charset="2"/>
                  <a:buChar char="Ø"/>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假定学习算法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处理每个样本的时间为常数</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的时间复杂度等价于其样本复杂度</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于是</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我们对算法时间复杂度的分析可变为对样本复杂度的分析</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a:p>
                <a:pPr marL="324000" marR="0" lvl="0" defTabSz="914400" eaLnBrk="1" fontAlgn="base" latinLnBrk="0" hangingPunct="1">
                  <a:spcBef>
                    <a:spcPts val="600"/>
                  </a:spcBef>
                  <a:buClr>
                    <a:srgbClr val="16754D"/>
                  </a:buClr>
                  <a:buSzPct val="100000"/>
                  <a:tabLst/>
                  <a:defRPr/>
                </a:pP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 </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样本复杂度</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(Sample Complexity)</a:t>
                </a:r>
              </a:p>
              <a:p>
                <a:pPr marL="324000" lvl="0" fontAlgn="base">
                  <a:buClr>
                    <a:srgbClr val="16754D"/>
                  </a:buClr>
                  <a:buSzPct val="100000"/>
                  <a:defRPr/>
                </a:pP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满足</a:t>
                </a:r>
                <a:r>
                  <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所需的 </a:t>
                </a:r>
                <a14:m>
                  <m:oMath xmlns:m="http://schemas.openxmlformats.org/officeDocument/2006/math">
                    <m:r>
                      <a:rPr lang="en-US" altLang="zh-CN" sz="2000" b="0" i="1">
                        <a:solidFill>
                          <a:sysClr val="windowText" lastClr="000000"/>
                        </a:solidFill>
                        <a:latin typeface="Cambria Math" panose="02040503050406030204" pitchFamily="18" charset="0"/>
                      </a:rPr>
                      <m:t>𝑚</m:t>
                    </m:r>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ploy</m:t>
                    </m:r>
                    <m:r>
                      <a:rPr lang="en-US" altLang="zh-CN" sz="2000" b="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b="0" i="1">
                            <a:solidFill>
                              <a:sysClr val="windowText" lastClr="000000"/>
                            </a:solidFill>
                            <a:latin typeface="Cambria Math" panose="02040503050406030204" pitchFamily="18" charset="0"/>
                            <a:ea typeface="Cambria Math" panose="02040503050406030204" pitchFamily="18" charset="0"/>
                          </a:rPr>
                          <m:t>1</m:t>
                        </m:r>
                      </m:num>
                      <m:den>
                        <m:r>
                          <a:rPr lang="zh-CN" altLang="en-US" sz="2000" b="0" i="1">
                            <a:solidFill>
                              <a:sysClr val="windowText" lastClr="000000"/>
                            </a:solidFill>
                            <a:latin typeface="Cambria Math" panose="02040503050406030204" pitchFamily="18" charset="0"/>
                            <a:ea typeface="Cambria Math" panose="02040503050406030204" pitchFamily="18" charset="0"/>
                          </a:rPr>
                          <m:t>𝜖</m:t>
                        </m:r>
                      </m:den>
                    </m:f>
                    <m:r>
                      <a:rPr lang="en-US" altLang="zh-CN" sz="2000" b="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b="0" i="1">
                            <a:solidFill>
                              <a:sysClr val="windowText" lastClr="000000"/>
                            </a:solidFill>
                            <a:latin typeface="Cambria Math" panose="02040503050406030204" pitchFamily="18" charset="0"/>
                            <a:ea typeface="Cambria Math" panose="02040503050406030204" pitchFamily="18" charset="0"/>
                          </a:rPr>
                          <m:t>1</m:t>
                        </m:r>
                      </m:num>
                      <m:den>
                        <m:r>
                          <a:rPr lang="zh-CN" altLang="en-US" sz="2000" b="0" i="1">
                            <a:solidFill>
                              <a:sysClr val="windowText" lastClr="000000"/>
                            </a:solidFill>
                            <a:latin typeface="Cambria Math" panose="02040503050406030204" pitchFamily="18" charset="0"/>
                            <a:ea typeface="Cambria Math" panose="02040503050406030204" pitchFamily="18" charset="0"/>
                          </a:rPr>
                          <m:t>𝛿</m:t>
                        </m:r>
                      </m:den>
                    </m:f>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b="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b="0" i="0">
                        <a:solidFill>
                          <a:sysClr val="windowText" lastClr="000000"/>
                        </a:solidFill>
                        <a:latin typeface="Cambria Math" panose="02040503050406030204" pitchFamily="18" charset="0"/>
                        <a:ea typeface="Cambria Math" panose="02040503050406030204" pitchFamily="18" charset="0"/>
                      </a:rPr>
                      <m:t>size</m:t>
                    </m:r>
                    <m:r>
                      <a:rPr lang="en-US" altLang="zh-CN" sz="2000" b="0" i="1">
                        <a:solidFill>
                          <a:sysClr val="windowText" lastClr="000000"/>
                        </a:solidFill>
                        <a:latin typeface="Cambria Math" panose="02040503050406030204" pitchFamily="18" charset="0"/>
                        <a:ea typeface="Cambria Math" panose="02040503050406030204" pitchFamily="18" charset="0"/>
                      </a:rPr>
                      <m:t>(</m:t>
                    </m:r>
                    <m:r>
                      <a:rPr lang="en-US" altLang="zh-CN" sz="2000" b="0" i="1">
                        <a:solidFill>
                          <a:sysClr val="windowText" lastClr="000000"/>
                        </a:solidFill>
                        <a:latin typeface="Cambria Math" panose="02040503050406030204" pitchFamily="18" charset="0"/>
                        <a:ea typeface="Cambria Math" panose="02040503050406030204" pitchFamily="18" charset="0"/>
                      </a:rPr>
                      <m:t>𝑐</m:t>
                    </m:r>
                    <m:r>
                      <a:rPr lang="en-US" altLang="zh-CN" sz="2000" b="0" i="1">
                        <a:solidFill>
                          <a:sysClr val="windowText" lastClr="000000"/>
                        </a:solidFill>
                        <a:latin typeface="Cambria Math" panose="02040503050406030204" pitchFamily="18" charset="0"/>
                        <a:ea typeface="Cambria Math" panose="02040503050406030204" pitchFamily="18" charset="0"/>
                      </a:rPr>
                      <m:t>))</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中最小的 </a:t>
                </a:r>
                <a14:m>
                  <m:oMath xmlns:m="http://schemas.openxmlformats.org/officeDocument/2006/math">
                    <m:r>
                      <a:rPr kumimoji="0" lang="en-US" altLang="zh-CN" sz="2000" b="0" i="1" u="none" strike="noStrike" kern="0" cap="none" spc="0" normalizeH="0" baseline="0" noProof="0" smtClean="0">
                        <a:ln>
                          <a:noFill/>
                        </a:ln>
                        <a:solidFill>
                          <a:prstClr val="black"/>
                        </a:solidFill>
                        <a:effectLst/>
                        <a:uLnTx/>
                        <a:uFillTx/>
                        <a:latin typeface="Cambria Math" panose="02040503050406030204" pitchFamily="18" charset="0"/>
                      </a:rPr>
                      <m:t>𝑚</m:t>
                    </m:r>
                  </m:oMath>
                </a14:m>
                <a:r>
                  <a:rPr kumimoji="0" lang="en-US" altLang="zh-CN"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称为学习算法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的样本复杂度。</a:t>
                </a:r>
              </a:p>
            </p:txBody>
          </p:sp>
        </mc:Choice>
        <mc:Fallback xmlns="">
          <p:sp>
            <p:nvSpPr>
              <p:cNvPr id="26" name="内容占位符 2">
                <a:extLst>
                  <a:ext uri="{FF2B5EF4-FFF2-40B4-BE49-F238E27FC236}">
                    <a16:creationId xmlns:a16="http://schemas.microsoft.com/office/drawing/2014/main" id="{85B990DA-047B-F93C-E709-2F886F79745A}"/>
                  </a:ext>
                </a:extLst>
              </p:cNvPr>
              <p:cNvSpPr txBox="1">
                <a:spLocks noRot="1" noChangeAspect="1" noMove="1" noResize="1" noEditPoints="1" noAdjustHandles="1" noChangeArrowheads="1" noChangeShapeType="1" noTextEdit="1"/>
              </p:cNvSpPr>
              <p:nvPr/>
            </p:nvSpPr>
            <p:spPr bwMode="auto">
              <a:xfrm>
                <a:off x="166220" y="2824864"/>
                <a:ext cx="8913234" cy="1633359"/>
              </a:xfrm>
              <a:prstGeom prst="rect">
                <a:avLst/>
              </a:prstGeom>
              <a:blipFill>
                <a:blip r:embed="rId3"/>
                <a:stretch>
                  <a:fillRect l="-1642" t="-5597" r="-1026" b="-2686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8" name="内容占位符 2">
            <a:extLst>
              <a:ext uri="{FF2B5EF4-FFF2-40B4-BE49-F238E27FC236}">
                <a16:creationId xmlns:a16="http://schemas.microsoft.com/office/drawing/2014/main" id="{16FE98D0-749F-4557-4DB4-590BA0D80936}"/>
              </a:ext>
            </a:extLst>
          </p:cNvPr>
          <p:cNvSpPr txBox="1">
            <a:spLocks/>
          </p:cNvSpPr>
          <p:nvPr/>
        </p:nvSpPr>
        <p:spPr bwMode="auto">
          <a:xfrm>
            <a:off x="166220" y="4504601"/>
            <a:ext cx="8913234" cy="21972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0"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en-US" altLang="zh-CN"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PAC</a:t>
            </a: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学习的意义：</a:t>
            </a:r>
          </a:p>
          <a:p>
            <a:pPr marL="342900" marR="0" lvl="1" indent="0" algn="l" defTabSz="914400" rtl="0" eaLnBrk="1" fontAlgn="auto" latinLnBrk="0" hangingPunct="1">
              <a:lnSpc>
                <a:spcPct val="100000"/>
              </a:lnSpc>
              <a:spcBef>
                <a:spcPts val="0"/>
              </a:spcBef>
              <a:spcAft>
                <a:spcPts val="0"/>
              </a:spcAft>
              <a:buClr>
                <a:srgbClr val="16754D"/>
              </a:buClr>
              <a:buSzTx/>
              <a:buNone/>
              <a:tabLst/>
              <a:defRPr/>
            </a:pP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给出了一个抽象地刻画机器学习能力的框架</a:t>
            </a:r>
            <a:r>
              <a:rPr kumimoji="0" lang="en-US" altLang="zh-CN"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基于这个框架可以对很多重要问题进行理论探讨。</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研究某任务在什么样的条件下可学得较好的模型？</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某算法在什么样的条件下可进行有效的学习？</a:t>
            </a:r>
          </a:p>
          <a:p>
            <a:pPr marR="0" lvl="2" indent="-342900" algn="l" defTabSz="914400" rtl="0" eaLnBrk="1" fontAlgn="auto" latinLnBrk="0" hangingPunct="1">
              <a:lnSpc>
                <a:spcPct val="100000"/>
              </a:lnSpc>
              <a:spcBef>
                <a:spcPts val="0"/>
              </a:spcBef>
              <a:spcAft>
                <a:spcPts val="0"/>
              </a:spcAft>
              <a:buClr>
                <a:srgbClr val="16754D"/>
              </a:buClr>
              <a:buSzTx/>
              <a:buFont typeface="Arial" panose="020B0604020202020204" pitchFamily="34" charset="0"/>
              <a:buChar char="•"/>
              <a:tabLst/>
              <a:defRPr/>
            </a:pPr>
            <a:r>
              <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需要多少训练样例才能获得较好的模型？</a:t>
            </a:r>
          </a:p>
          <a:p>
            <a:pPr marL="342900" marR="0" lvl="1" indent="0" algn="l" defTabSz="914400" rtl="0" eaLnBrk="1" fontAlgn="auto" latinLnBrk="0" hangingPunct="1">
              <a:lnSpc>
                <a:spcPct val="100000"/>
              </a:lnSpc>
              <a:spcBef>
                <a:spcPts val="0"/>
              </a:spcBef>
              <a:spcAft>
                <a:spcPts val="0"/>
              </a:spcAft>
              <a:buClr>
                <a:srgbClr val="16754D"/>
              </a:buClr>
              <a:buSzTx/>
              <a:buNone/>
              <a:tabLst/>
              <a:defRPr/>
            </a:pP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把对复杂算法的</a:t>
            </a:r>
            <a:r>
              <a:rPr kumimoji="0" lang="zh-CN" altLang="en-US" i="0" u="none" strike="noStrike" kern="1200" cap="none" spc="0" normalizeH="0" baseline="0" noProof="0" dirty="0">
                <a:ln>
                  <a:noFill/>
                </a:ln>
                <a:solidFill>
                  <a:srgbClr val="FF0000"/>
                </a:solidFill>
                <a:uLnTx/>
                <a:uFillTx/>
                <a:latin typeface="Arial" panose="020B0604020202020204" pitchFamily="34" charset="0"/>
                <a:ea typeface="黑体" panose="02010609060101010101" pitchFamily="49" charset="-122"/>
                <a:cs typeface="+mn-cs"/>
              </a:rPr>
              <a:t>时间复杂度</a:t>
            </a:r>
            <a:r>
              <a:rPr kumimoji="0" lang="zh-CN" altLang="en-US"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的分析转为</a:t>
            </a:r>
            <a:r>
              <a:rPr kumimoji="0" lang="zh-CN" altLang="en-US" i="0" u="none" strike="noStrike" kern="1200" cap="none" spc="0" normalizeH="0" baseline="0" noProof="0" dirty="0">
                <a:ln>
                  <a:noFill/>
                </a:ln>
                <a:solidFill>
                  <a:prstClr val="black"/>
                </a:solidFill>
                <a:uLnTx/>
                <a:uFillTx/>
                <a:latin typeface="Arial" panose="020B0604020202020204" pitchFamily="34" charset="0"/>
                <a:ea typeface="黑体" panose="02010609060101010101" pitchFamily="49" charset="-122"/>
                <a:cs typeface="+mn-cs"/>
              </a:rPr>
              <a:t>对</a:t>
            </a:r>
            <a:r>
              <a:rPr kumimoji="0" lang="zh-CN" altLang="en-US" i="0" u="none" strike="noStrike" kern="1200" cap="none" spc="0" normalizeH="0" baseline="0" noProof="0" dirty="0">
                <a:ln>
                  <a:noFill/>
                </a:ln>
                <a:solidFill>
                  <a:srgbClr val="FF0000"/>
                </a:solidFill>
                <a:uLnTx/>
                <a:uFillTx/>
                <a:latin typeface="Arial" panose="020B0604020202020204" pitchFamily="34" charset="0"/>
                <a:ea typeface="黑体" panose="02010609060101010101" pitchFamily="49" charset="-122"/>
                <a:cs typeface="+mn-cs"/>
              </a:rPr>
              <a:t>样本复杂度</a:t>
            </a:r>
            <a:r>
              <a:rPr kumimoji="0" lang="zh-CN" altLang="en-US" i="0" u="none" strike="noStrike" kern="1200" cap="none" spc="0" normalizeH="0" baseline="0" noProof="0" dirty="0">
                <a:ln>
                  <a:noFill/>
                </a:ln>
                <a:solidFill>
                  <a:prstClr val="black"/>
                </a:solidFill>
                <a:uLnTx/>
                <a:uFillTx/>
                <a:latin typeface="Arial" panose="020B0604020202020204" pitchFamily="34" charset="0"/>
                <a:ea typeface="黑体" panose="02010609060101010101" pitchFamily="49" charset="-122"/>
                <a:cs typeface="+mn-cs"/>
              </a:rPr>
              <a:t>的分析。</a:t>
            </a: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196221802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文本框 2">
            <a:extLst>
              <a:ext uri="{FF2B5EF4-FFF2-40B4-BE49-F238E27FC236}">
                <a16:creationId xmlns:a16="http://schemas.microsoft.com/office/drawing/2014/main" id="{E036A9F8-FCDB-B6C7-5EB2-D280D37028FF}"/>
              </a:ext>
            </a:extLst>
          </p:cNvPr>
          <p:cNvSpPr txBox="1"/>
          <p:nvPr/>
        </p:nvSpPr>
        <p:spPr>
          <a:xfrm>
            <a:off x="53621" y="852610"/>
            <a:ext cx="4670780" cy="338554"/>
          </a:xfrm>
          <a:prstGeom prst="rect">
            <a:avLst/>
          </a:prstGeom>
          <a:noFill/>
        </p:spPr>
        <p:txBody>
          <a:bodyPr wrap="square" lIns="0" tIns="0" rIns="0" bIns="0">
            <a:spAutoFit/>
          </a:bodyPr>
          <a:lstStyle/>
          <a:p>
            <a:pPr marL="342900" indent="-342900">
              <a:buFont typeface="Wingdings" panose="05000000000000000000" pitchFamily="2" charset="2"/>
              <a:buChar char="u"/>
            </a:pPr>
            <a:r>
              <a:rPr lang="zh-CN" altLang="en-US" sz="2200" dirty="0">
                <a:solidFill>
                  <a:srgbClr val="16754D"/>
                </a:solidFill>
                <a:latin typeface="Arial" panose="020B0604020202020204" pitchFamily="34" charset="0"/>
                <a:ea typeface="黑体" panose="02010609060101010101" pitchFamily="49" charset="-122"/>
                <a:cs typeface="Times New Roman" panose="02020603050405020304" pitchFamily="18" charset="0"/>
              </a:rPr>
              <a:t>假设空间的复杂度</a:t>
            </a:r>
            <a:endParaRPr lang="zh-CN" altLang="en-US" sz="2200" dirty="0">
              <a:solidFill>
                <a:srgbClr val="16754D"/>
              </a:solidFill>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8" name="内容占位符 2">
                <a:extLst>
                  <a:ext uri="{FF2B5EF4-FFF2-40B4-BE49-F238E27FC236}">
                    <a16:creationId xmlns:a16="http://schemas.microsoft.com/office/drawing/2014/main" id="{1E6080D4-3711-BE03-2ECD-D87B1E415DD3}"/>
                  </a:ext>
                </a:extLst>
              </p:cNvPr>
              <p:cNvSpPr txBox="1">
                <a:spLocks/>
              </p:cNvSpPr>
              <p:nvPr/>
            </p:nvSpPr>
            <p:spPr bwMode="auto">
              <a:xfrm>
                <a:off x="281349" y="1316616"/>
                <a:ext cx="8776756" cy="161658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的复杂度是影响可学习性的重要因素之一</a:t>
                </a:r>
              </a:p>
              <a:p>
                <a:pPr marL="342900"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一般而言</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其包含任意目标概念的可能性越大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但从中找到某个具体概念的难度也越大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lvl="1" indent="-342900" fontAlgn="auto">
                  <a:lnSpc>
                    <a:spcPct val="120000"/>
                  </a:lnSpc>
                  <a:spcBef>
                    <a:spcPts val="0"/>
                  </a:spcBef>
                  <a:spcAft>
                    <a:spcPts val="0"/>
                  </a:spcAft>
                  <a:buClr>
                    <a:srgbClr val="16754D"/>
                  </a:buClr>
                  <a:buFont typeface="Arial" panose="020B0604020202020204" pitchFamily="34" charset="0"/>
                  <a:buChar char="•"/>
                  <a:defRPr/>
                </a:pPr>
                <a14:m>
                  <m:oMath xmlns:m="http://schemas.openxmlformats.org/officeDocument/2006/math">
                    <m:d>
                      <m:dPr>
                        <m:begChr m:val="|"/>
                        <m:endChr m:val="|"/>
                        <m:ctrlPr>
                          <a:rPr lang="en-US" altLang="zh-CN" i="1" smtClean="0">
                            <a:solidFill>
                              <a:prstClr val="black"/>
                            </a:solidFill>
                            <a:latin typeface="Cambria Math" panose="02040503050406030204" pitchFamily="18" charset="0"/>
                            <a:ea typeface="Cambria Math" panose="02040503050406030204" pitchFamily="18" charset="0"/>
                          </a:rPr>
                        </m:ctrlPr>
                      </m:dPr>
                      <m:e>
                        <m:r>
                          <a:rPr lang="en-US" altLang="zh-CN" i="1">
                            <a:solidFill>
                              <a:prstClr val="black"/>
                            </a:solidFill>
                            <a:latin typeface="Cambria Math" panose="02040503050406030204" pitchFamily="18" charset="0"/>
                            <a:ea typeface="Cambria Math" panose="02040503050406030204" pitchFamily="18" charset="0"/>
                          </a:rPr>
                          <m:t>ℋ</m:t>
                        </m:r>
                      </m:e>
                    </m:d>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有限时</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我们称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为“有限假设空间”</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否则称为“无限假设空间”</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8" name="内容占位符 2">
                <a:extLst>
                  <a:ext uri="{FF2B5EF4-FFF2-40B4-BE49-F238E27FC236}">
                    <a16:creationId xmlns:a16="http://schemas.microsoft.com/office/drawing/2014/main" id="{1E6080D4-3711-BE03-2ECD-D87B1E415DD3}"/>
                  </a:ext>
                </a:extLst>
              </p:cNvPr>
              <p:cNvSpPr txBox="1">
                <a:spLocks noRot="1" noChangeAspect="1" noMove="1" noResize="1" noEditPoints="1" noAdjustHandles="1" noChangeArrowheads="1" noChangeShapeType="1" noTextEdit="1"/>
              </p:cNvSpPr>
              <p:nvPr/>
            </p:nvSpPr>
            <p:spPr bwMode="auto">
              <a:xfrm>
                <a:off x="281349" y="1316616"/>
                <a:ext cx="8776756" cy="1616582"/>
              </a:xfrm>
              <a:prstGeom prst="rect">
                <a:avLst/>
              </a:prstGeom>
              <a:blipFill>
                <a:blip r:embed="rId2"/>
                <a:stretch>
                  <a:fillRect l="-1736" t="-4151" r="-104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2">
                <a:extLst>
                  <a:ext uri="{FF2B5EF4-FFF2-40B4-BE49-F238E27FC236}">
                    <a16:creationId xmlns:a16="http://schemas.microsoft.com/office/drawing/2014/main" id="{3BDAEED4-5FEA-ACA6-5A82-1E6487CB9164}"/>
                  </a:ext>
                </a:extLst>
              </p:cNvPr>
              <p:cNvSpPr txBox="1">
                <a:spLocks/>
              </p:cNvSpPr>
              <p:nvPr/>
            </p:nvSpPr>
            <p:spPr bwMode="auto">
              <a:xfrm>
                <a:off x="173856" y="2933198"/>
                <a:ext cx="8927114" cy="351488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的复杂度是影响学习任务难度的重要因素之一</a:t>
                </a:r>
              </a:p>
              <a:p>
                <a:pPr marL="342900" marR="0" lvl="1" indent="0" algn="l" defTabSz="914400" rtl="0" eaLnBrk="1" fontAlgn="auto" latinLnBrk="0" hangingPunct="1">
                  <a:lnSpc>
                    <a:spcPct val="120000"/>
                  </a:lnSpc>
                  <a:spcBef>
                    <a:spcPts val="0"/>
                  </a:spcBef>
                  <a:spcAft>
                    <a:spcPts val="0"/>
                  </a:spcAft>
                  <a:buClr>
                    <a:srgbClr val="16754D"/>
                  </a:buClr>
                  <a:buSzTx/>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恰</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可学习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(properly PAC learnable)</a:t>
                </a:r>
              </a:p>
              <a:p>
                <a:pPr marL="342900" lvl="1" indent="0" fontAlgn="auto">
                  <a:lnSpc>
                    <a:spcPct val="120000"/>
                  </a:lnSpc>
                  <a:spcBef>
                    <a:spcPts val="0"/>
                  </a:spcBef>
                  <a:spcAft>
                    <a:spcPts val="0"/>
                  </a:spcAft>
                  <a:buClr>
                    <a:srgbClr val="16754D"/>
                  </a:buClr>
                  <a:buNone/>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包含了学习算法 </a:t>
                </a:r>
                <a14:m>
                  <m:oMath xmlns:m="http://schemas.openxmlformats.org/officeDocument/2006/math">
                    <m:r>
                      <a:rPr lang="zh-CN" altLang="en-US" i="1">
                        <a:solidFill>
                          <a:prstClr val="black"/>
                        </a:solidFill>
                        <a:latin typeface="Cambria Math" panose="02040503050406030204" pitchFamily="18" charset="0"/>
                        <a:ea typeface="Cambria Math" panose="02040503050406030204" pitchFamily="18" charset="0"/>
                      </a:rPr>
                      <m:t>𝔏</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所有可能输出的假设</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在</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学习中假设空间与概念类完全相同</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  </a:t>
                </a:r>
                <a14:m>
                  <m:oMath xmlns:m="http://schemas.openxmlformats.org/officeDocument/2006/math">
                    <m:r>
                      <a:rPr kumimoji="0" lang="en-US" altLang="zh-CN"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直观地看</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这意味着学习算法的能力与学习任务“恰好匹配”</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即所有候选假设都来自概念类。</a:t>
                </a:r>
              </a:p>
              <a:p>
                <a:pPr marR="0" lvl="1" indent="-342900" algn="l" defTabSz="914400" rtl="0" eaLnBrk="1" fontAlgn="auto" latinLnBrk="0" hangingPunct="1">
                  <a:lnSpc>
                    <a:spcPct val="120000"/>
                  </a:lnSpc>
                  <a:spcBef>
                    <a:spcPts val="0"/>
                  </a:spcBef>
                  <a:spcAft>
                    <a:spcPts val="0"/>
                  </a:spcAft>
                  <a:buClr>
                    <a:srgbClr val="16754D"/>
                  </a:buClr>
                  <a:buSzTx/>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然而在现实应用中我们对概念类 </a:t>
                </a:r>
                <a14:m>
                  <m:oMath xmlns:m="http://schemas.openxmlformats.org/officeDocument/2006/math">
                    <m:r>
                      <a:rPr kumimoji="0" lang="zh-CN" altLang="en-US"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通常一无所知</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设计一个假设空间与概念类恰好相同的学习算法通常是不切实际的。</a:t>
                </a:r>
              </a:p>
              <a:p>
                <a:pPr marL="0" marR="0" lvl="0" indent="0" algn="l" defTabSz="914400" rtl="0" eaLnBrk="1" fontAlgn="auto" latinLnBrk="0" hangingPunct="1">
                  <a:lnSpc>
                    <a:spcPct val="120000"/>
                  </a:lnSpc>
                  <a:spcBef>
                    <a:spcPts val="0"/>
                  </a:spcBef>
                  <a:spcAft>
                    <a:spcPts val="0"/>
                  </a:spcAft>
                  <a:buClr>
                    <a:srgbClr val="16754D"/>
                  </a:buClr>
                  <a:buSzPct val="100000"/>
                  <a:buNone/>
                  <a:tabLst/>
                  <a:defRPr/>
                </a:pP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研究的重点：当假设空间与概念类不同的情形，即 </a:t>
                </a:r>
                <a14:m>
                  <m:oMath xmlns:m="http://schemas.openxmlformats.org/officeDocument/2006/math">
                    <m: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𝒞</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时</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42900" marR="0" lvl="1" indent="0" algn="l" defTabSz="914400" rtl="0" eaLnBrk="1" fontAlgn="auto" latinLnBrk="0" hangingPunct="1">
                  <a:lnSpc>
                    <a:spcPct val="150000"/>
                  </a:lnSpc>
                  <a:spcBef>
                    <a:spcPts val="0"/>
                  </a:spcBef>
                  <a:spcAft>
                    <a:spcPts val="0"/>
                  </a:spcAft>
                  <a:buClr>
                    <a:srgbClr val="16754D"/>
                  </a:buClr>
                  <a:buSzTx/>
                  <a:buFont typeface="Wingdings" panose="05000000000000000000" pitchFamily="2" charset="2"/>
                  <a:buNone/>
                  <a:tabLst/>
                  <a:defRPr/>
                </a:pP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None/>
                  <a:tabLst/>
                  <a:defRPr/>
                </a:pPr>
                <a:endPar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p:txBody>
          </p:sp>
        </mc:Choice>
        <mc:Fallback xmlns="">
          <p:sp>
            <p:nvSpPr>
              <p:cNvPr id="9" name="内容占位符 2">
                <a:extLst>
                  <a:ext uri="{FF2B5EF4-FFF2-40B4-BE49-F238E27FC236}">
                    <a16:creationId xmlns:a16="http://schemas.microsoft.com/office/drawing/2014/main" id="{3BDAEED4-5FEA-ACA6-5A82-1E6487CB9164}"/>
                  </a:ext>
                </a:extLst>
              </p:cNvPr>
              <p:cNvSpPr txBox="1">
                <a:spLocks noRot="1" noChangeAspect="1" noMove="1" noResize="1" noEditPoints="1" noAdjustHandles="1" noChangeArrowheads="1" noChangeShapeType="1" noTextEdit="1"/>
              </p:cNvSpPr>
              <p:nvPr/>
            </p:nvSpPr>
            <p:spPr bwMode="auto">
              <a:xfrm>
                <a:off x="173856" y="2933198"/>
                <a:ext cx="8927114" cy="3514888"/>
              </a:xfrm>
              <a:prstGeom prst="rect">
                <a:avLst/>
              </a:prstGeom>
              <a:blipFill>
                <a:blip r:embed="rId3"/>
                <a:stretch>
                  <a:fillRect l="-1776" t="-1906" r="-88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143257874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内容占位符 2">
                <a:extLst>
                  <a:ext uri="{FF2B5EF4-FFF2-40B4-BE49-F238E27FC236}">
                    <a16:creationId xmlns:a16="http://schemas.microsoft.com/office/drawing/2014/main" id="{D9CDAEE8-36A1-FE55-FF7C-7C521F1FD15C}"/>
                  </a:ext>
                </a:extLst>
              </p:cNvPr>
              <p:cNvSpPr txBox="1">
                <a:spLocks/>
              </p:cNvSpPr>
              <p:nvPr/>
            </p:nvSpPr>
            <p:spPr bwMode="auto">
              <a:xfrm>
                <a:off x="4293440" y="842440"/>
                <a:ext cx="4557059" cy="35373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rm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0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t>𝑐</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属于假设空间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a:pPr>
                <a:endPar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None/>
                  <a:tabLst/>
                  <a:defRPr/>
                </a:pPr>
                <a:endPar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2">
                <a:extLst>
                  <a:ext uri="{FF2B5EF4-FFF2-40B4-BE49-F238E27FC236}">
                    <a16:creationId xmlns:a16="http://schemas.microsoft.com/office/drawing/2014/main" id="{D9CDAEE8-36A1-FE55-FF7C-7C521F1FD15C}"/>
                  </a:ext>
                </a:extLst>
              </p:cNvPr>
              <p:cNvSpPr txBox="1">
                <a:spLocks noRot="1" noChangeAspect="1" noMove="1" noResize="1" noEditPoints="1" noAdjustHandles="1" noChangeArrowheads="1" noChangeShapeType="1" noTextEdit="1"/>
              </p:cNvSpPr>
              <p:nvPr/>
            </p:nvSpPr>
            <p:spPr bwMode="auto">
              <a:xfrm>
                <a:off x="4293440" y="842440"/>
                <a:ext cx="4557059" cy="353735"/>
              </a:xfrm>
              <a:prstGeom prst="rect">
                <a:avLst/>
              </a:prstGeom>
              <a:blipFill>
                <a:blip r:embed="rId3"/>
                <a:stretch>
                  <a:fillRect l="-3342" t="-25862" b="-3275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7" name="Rectangle 5">
            <a:extLst>
              <a:ext uri="{FF2B5EF4-FFF2-40B4-BE49-F238E27FC236}">
                <a16:creationId xmlns:a16="http://schemas.microsoft.com/office/drawing/2014/main" id="{F6B95FBE-6916-A5E2-3748-AFDB6C87CF25}"/>
              </a:ext>
            </a:extLst>
          </p:cNvPr>
          <p:cNvSpPr>
            <a:spLocks noChangeArrowheads="1"/>
          </p:cNvSpPr>
          <p:nvPr/>
        </p:nvSpPr>
        <p:spPr bwMode="auto">
          <a:xfrm>
            <a:off x="171905" y="1218407"/>
            <a:ext cx="7775575"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0" tIns="0" rIns="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lnSpc>
                <a:spcPct val="100000"/>
              </a:lnSpc>
              <a:buClrTx/>
              <a:buSzTx/>
              <a:buFont typeface="Wingdings" panose="05000000000000000000" pitchFamily="2" charset="2"/>
              <a:buChar char="Ø"/>
              <a:tabLst/>
              <a:defRPr/>
            </a:pP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给定包含</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m</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个样例的训练集</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D</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，如何找出满足误差参数的假设呢？</a:t>
            </a:r>
            <a:endParaRPr kumimoji="1" lang="en-US" altLang="zh-CN"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28" name="内容占位符 2">
                <a:extLst>
                  <a:ext uri="{FF2B5EF4-FFF2-40B4-BE49-F238E27FC236}">
                    <a16:creationId xmlns:a16="http://schemas.microsoft.com/office/drawing/2014/main" id="{2CAA5497-DE0A-0C5C-B091-4594A7FB007E}"/>
                  </a:ext>
                </a:extLst>
              </p:cNvPr>
              <p:cNvSpPr txBox="1">
                <a:spLocks/>
              </p:cNvSpPr>
              <p:nvPr/>
            </p:nvSpPr>
            <p:spPr>
              <a:xfrm>
                <a:off x="233548" y="1550857"/>
                <a:ext cx="8811893" cy="1879686"/>
              </a:xfrm>
              <a:prstGeom prst="rect">
                <a:avLst/>
              </a:prstGeom>
            </p:spPr>
            <p:txBody>
              <a:bodyPr lIns="0" tIns="0" rIns="0" bIns="0">
                <a:norm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buClr>
                    <a:srgbClr val="16754D"/>
                  </a:buClr>
                  <a:buSzPct val="10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一种简单的学习策略</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lvl="0" indent="-324000">
                  <a:lnSpc>
                    <a:spcPct val="100000"/>
                  </a:lnSpc>
                  <a:spcBef>
                    <a:spcPts val="0"/>
                  </a:spcBef>
                  <a:buClr>
                    <a:srgbClr val="16754D"/>
                  </a:buClr>
                  <a:buFont typeface="Arial" panose="020B0604020202020204" pitchFamily="34" charset="0"/>
                  <a:buChar char="•"/>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由于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存在于假设空间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因此任何在训练集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上出现标记错误的假设肯定不是目标概念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marR="0" lvl="0" indent="-324000" algn="l" defTabSz="914400" rtl="0" eaLnBrk="1" fontAlgn="auto" latinLnBrk="0" hangingPunct="1">
                  <a:lnSpc>
                    <a:spcPct val="100000"/>
                  </a:lnSpc>
                  <a:spcBef>
                    <a:spcPts val="0"/>
                  </a:spcBef>
                  <a:buClr>
                    <a:srgbClr val="16754D"/>
                  </a:buClr>
                  <a:buSzPct val="100000"/>
                  <a:buFont typeface="Arial" panose="020B0604020202020204" pitchFamily="34" charset="0"/>
                  <a:buChar char="•"/>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保留与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剔除与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不一致的假设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lvl="0" indent="-324000">
                  <a:lnSpc>
                    <a:spcPct val="100000"/>
                  </a:lnSpc>
                  <a:spcBef>
                    <a:spcPts val="0"/>
                  </a:spcBef>
                  <a:buClr>
                    <a:srgbClr val="16754D"/>
                  </a:buClr>
                  <a:buFont typeface="Arial" panose="020B0604020202020204" pitchFamily="34" charset="0"/>
                  <a:buChar char="•"/>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足够大</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则可不断借助</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中的样例剔除不一致的假设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直到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中仅剩下一个假设为止</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这个假设就是目标概念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𝑐</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800100" marR="0" lvl="1" indent="-342900" algn="l" defTabSz="914400" rtl="0" eaLnBrk="1" fontAlgn="auto" latinLnBrk="0" hangingPunct="1">
                  <a:lnSpc>
                    <a:spcPct val="100000"/>
                  </a:lnSpc>
                  <a:spcBef>
                    <a:spcPts val="0"/>
                  </a:spcBef>
                  <a:buClr>
                    <a:srgbClr val="16754D"/>
                  </a:buClr>
                  <a:buSzTx/>
                  <a:buFont typeface="Wingdings" panose="05000000000000000000" pitchFamily="2" charset="2"/>
                  <a:buChar char="l"/>
                  <a:tabLst/>
                  <a:defRPr/>
                </a:pP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Font typeface="Wingdings" panose="05000000000000000000" pitchFamily="2" charset="2"/>
                  <a:buNone/>
                  <a:tabLst/>
                  <a:defRPr/>
                </a:pP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457200" marR="0" lvl="1" indent="0" algn="l" defTabSz="914400" rtl="0" eaLnBrk="1" fontAlgn="auto" latinLnBrk="0" hangingPunct="1">
                  <a:lnSpc>
                    <a:spcPct val="100000"/>
                  </a:lnSpc>
                  <a:spcBef>
                    <a:spcPts val="0"/>
                  </a:spcBef>
                  <a:buClr>
                    <a:srgbClr val="16754D"/>
                  </a:buClr>
                  <a:buSzTx/>
                  <a:buFont typeface="Wingdings" panose="05000000000000000000" pitchFamily="2" charset="2"/>
                  <a:buNone/>
                  <a:tabLst/>
                  <a:defRPr/>
                </a:pP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Font typeface="Wingdings" panose="05000000000000000000" pitchFamily="2" charset="2"/>
                  <a:buNone/>
                  <a:tabLst/>
                  <a:defRPr/>
                </a:pP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28" name="内容占位符 2">
                <a:extLst>
                  <a:ext uri="{FF2B5EF4-FFF2-40B4-BE49-F238E27FC236}">
                    <a16:creationId xmlns:a16="http://schemas.microsoft.com/office/drawing/2014/main" id="{2CAA5497-DE0A-0C5C-B091-4594A7FB007E}"/>
                  </a:ext>
                </a:extLst>
              </p:cNvPr>
              <p:cNvSpPr txBox="1">
                <a:spLocks noRot="1" noChangeAspect="1" noMove="1" noResize="1" noEditPoints="1" noAdjustHandles="1" noChangeArrowheads="1" noChangeShapeType="1" noTextEdit="1"/>
              </p:cNvSpPr>
              <p:nvPr/>
            </p:nvSpPr>
            <p:spPr>
              <a:xfrm>
                <a:off x="233548" y="1550857"/>
                <a:ext cx="8811893" cy="1879686"/>
              </a:xfrm>
              <a:prstGeom prst="rect">
                <a:avLst/>
              </a:prstGeom>
              <a:blipFill>
                <a:blip r:embed="rId4"/>
                <a:stretch>
                  <a:fillRect l="-1729" t="-4854" r="-1729" b="-5825"/>
                </a:stretch>
              </a:blipFill>
            </p:spPr>
            <p:txBody>
              <a:bodyPr/>
              <a:lstStyle/>
              <a:p>
                <a:r>
                  <a:rPr lang="zh-CN" altLang="en-US">
                    <a:noFill/>
                  </a:rPr>
                  <a:t> </a:t>
                </a:r>
              </a:p>
            </p:txBody>
          </p:sp>
        </mc:Fallback>
      </mc:AlternateContent>
      <p:sp>
        <p:nvSpPr>
          <p:cNvPr id="40" name="文本框 39">
            <a:extLst>
              <a:ext uri="{FF2B5EF4-FFF2-40B4-BE49-F238E27FC236}">
                <a16:creationId xmlns:a16="http://schemas.microsoft.com/office/drawing/2014/main" id="{7FCC4AA8-A480-E473-1C4B-036203571377}"/>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有限假设空间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可分情况</a:t>
            </a:r>
          </a:p>
        </p:txBody>
      </p:sp>
      <p:sp>
        <p:nvSpPr>
          <p:cNvPr id="42" name="Rectangle 5">
            <a:extLst>
              <a:ext uri="{FF2B5EF4-FFF2-40B4-BE49-F238E27FC236}">
                <a16:creationId xmlns:a16="http://schemas.microsoft.com/office/drawing/2014/main" id="{225423E4-D174-4027-48EE-329576BB39F7}"/>
              </a:ext>
            </a:extLst>
          </p:cNvPr>
          <p:cNvSpPr>
            <a:spLocks noChangeArrowheads="1"/>
          </p:cNvSpPr>
          <p:nvPr/>
        </p:nvSpPr>
        <p:spPr bwMode="auto">
          <a:xfrm>
            <a:off x="171905" y="4066019"/>
            <a:ext cx="7799387" cy="307777"/>
          </a:xfrm>
          <a:prstGeom prst="rect">
            <a:avLst/>
          </a:prstGeom>
          <a:gradFill rotWithShape="1">
            <a:gsLst>
              <a:gs pos="0">
                <a:srgbClr val="0070C0">
                  <a:satMod val="103000"/>
                  <a:lumMod val="102000"/>
                  <a:tint val="94000"/>
                </a:srgbClr>
              </a:gs>
              <a:gs pos="50000">
                <a:srgbClr val="0070C0">
                  <a:satMod val="110000"/>
                  <a:lumMod val="100000"/>
                  <a:shade val="100000"/>
                </a:srgbClr>
              </a:gs>
              <a:gs pos="100000">
                <a:srgbClr val="0070C0">
                  <a:lumMod val="99000"/>
                  <a:satMod val="120000"/>
                  <a:shade val="78000"/>
                </a:srgbClr>
              </a:gs>
            </a:gsLst>
            <a:lin ang="5400000" scaled="0"/>
          </a:gradFill>
          <a:ln>
            <a:noFill/>
            <a:headEnd/>
            <a:tailEnd/>
          </a:ln>
          <a:effectLst>
            <a:outerShdw blurRad="57150" dist="19050" dir="5400000" algn="ctr" rotWithShape="0">
              <a:srgbClr val="000000">
                <a:alpha val="63000"/>
              </a:srgbClr>
            </a:outerShdw>
          </a:effectLst>
        </p:spPr>
        <p:txBody>
          <a:bodyPr lIns="36000" tIns="0" rIns="36000" bIns="0" anchor="ctr">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lnSpc>
                <a:spcPct val="100000"/>
              </a:lnSpc>
              <a:spcBef>
                <a:spcPct val="0"/>
              </a:spcBef>
              <a:spcAft>
                <a:spcPct val="0"/>
              </a:spcAft>
              <a:buClrTx/>
              <a:buSzTx/>
              <a:buFont typeface="Wingdings" panose="05000000000000000000" pitchFamily="2" charset="2"/>
              <a:buChar char="Ø"/>
              <a:tabLst/>
              <a:defRPr/>
            </a:pP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到底需要多少样例才能学得目标概念</a:t>
            </a:r>
            <a:r>
              <a:rPr kumimoji="1" lang="en-US" altLang="zh-CN" sz="2000" b="0" i="1"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cs typeface="Times New Roman" panose="02020603050405020304" pitchFamily="18" charset="0"/>
              </a:rPr>
              <a:t>c</a:t>
            </a:r>
            <a:r>
              <a:rPr kumimoji="1" lang="zh-CN" altLang="en-US"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rPr>
              <a:t>的有效近似呢？</a:t>
            </a:r>
            <a:endParaRPr kumimoji="1" lang="en-US" altLang="zh-CN" sz="2000" b="0" i="0" u="none" strike="noStrike" kern="0" cap="none" spc="0" normalizeH="0" noProof="0" dirty="0">
              <a:ln>
                <a:noFill/>
              </a:ln>
              <a:solidFill>
                <a:prstClr val="white"/>
              </a:solidFill>
              <a:effectLst/>
              <a:uLnTx/>
              <a:uFillTx/>
              <a:latin typeface="Arial" panose="020B0604020202020204" pitchFamily="34" charset="0"/>
              <a:ea typeface="黑体" panose="02010609060101010101" pitchFamily="49" charset="-122"/>
            </a:endParaRPr>
          </a:p>
        </p:txBody>
      </p:sp>
      <mc:AlternateContent xmlns:mc="http://schemas.openxmlformats.org/markup-compatibility/2006" xmlns:a14="http://schemas.microsoft.com/office/drawing/2010/main">
        <mc:Choice Requires="a14">
          <p:sp>
            <p:nvSpPr>
              <p:cNvPr id="43" name="内容占位符 2">
                <a:extLst>
                  <a:ext uri="{FF2B5EF4-FFF2-40B4-BE49-F238E27FC236}">
                    <a16:creationId xmlns:a16="http://schemas.microsoft.com/office/drawing/2014/main" id="{64B339AA-FE22-4161-B8F0-81588E3FC639}"/>
                  </a:ext>
                </a:extLst>
              </p:cNvPr>
              <p:cNvSpPr txBox="1">
                <a:spLocks/>
              </p:cNvSpPr>
              <p:nvPr/>
            </p:nvSpPr>
            <p:spPr>
              <a:xfrm>
                <a:off x="212426" y="4426491"/>
                <a:ext cx="8879619" cy="2234368"/>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00000"/>
                  <a:buFont typeface="Wingdings" panose="05000000000000000000" pitchFamily="2" charset="2"/>
                  <a:buChar char="p"/>
                  <a:defRPr lang="zh-CN" altLang="en-US" sz="2200" kern="1200" baseline="0" dirty="0" smtClean="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训练集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的规模使得学习算法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以概率</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找到目标假设的 </a:t>
                </a:r>
                <a14:m>
                  <m:oMath xmlns:m="http://schemas.openxmlformats.org/officeDocument/2006/math">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𝜖</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近似</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0" indent="0">
                  <a:lnSpc>
                    <a:spcPct val="100000"/>
                  </a:lnSpc>
                  <a:spcBef>
                    <a:spcPts val="0"/>
                  </a:spcBef>
                  <a:buClr>
                    <a:srgbClr val="16754D"/>
                  </a:buClr>
                  <a:buNone/>
                  <a:defRPr/>
                </a:pPr>
                <a:r>
                  <a:rPr kumimoji="0" lang="en-US" altLang="zh-CN" sz="2000" b="0" u="none" strike="noStrike" kern="1200" cap="none" spc="0" normalizeH="0" noProof="0" dirty="0">
                    <a:ln>
                      <a:noFill/>
                    </a:ln>
                    <a:solidFill>
                      <a:prstClr val="black"/>
                    </a:solidFill>
                    <a:effectLst/>
                    <a:uLnTx/>
                    <a:uFillTx/>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𝐸</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h</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&gt;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acc>
                          <m:accPr>
                            <m:chr m:val="̂"/>
                            <m:ctrlP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0</m:t>
                        </m:r>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nary>
                      <m:naryPr>
                        <m:chr m:val="∑"/>
                        <m:supHide m:val="on"/>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naryPr>
                      <m:sub>
                        <m:r>
                          <m:rPr>
                            <m:brk m:alnAt="7"/>
                          </m:r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up/>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𝐸</m:t>
                            </m:r>
                            <m:d>
                              <m:dPr>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h</m:t>
                                </m:r>
                              </m:e>
                            </m:d>
                            <m:r>
                              <a:rPr lang="en-US" altLang="zh-CN" sz="2000" i="1">
                                <a:solidFill>
                                  <a:prstClr val="black"/>
                                </a:solidFill>
                                <a:latin typeface="Cambria Math" panose="02040503050406030204" pitchFamily="18" charset="0"/>
                                <a:ea typeface="Cambria Math" panose="02040503050406030204" pitchFamily="18" charset="0"/>
                              </a:rPr>
                              <m:t>&gt;</m:t>
                            </m:r>
                            <m:r>
                              <a:rPr lang="zh-CN" altLang="en-US" sz="2000" i="1">
                                <a:solidFill>
                                  <a:prstClr val="black"/>
                                </a:solidFill>
                                <a:latin typeface="Cambria Math" panose="02040503050406030204" pitchFamily="18" charset="0"/>
                                <a:ea typeface="Cambria Math" panose="02040503050406030204" pitchFamily="18" charset="0"/>
                              </a:rPr>
                              <m:t>𝜖</m:t>
                            </m:r>
                            <m:r>
                              <a:rPr lang="zh-CN" altLang="en-US" sz="2000" i="1">
                                <a:solidFill>
                                  <a:prstClr val="black"/>
                                </a:solidFill>
                                <a:latin typeface="Cambria Math" panose="02040503050406030204" pitchFamily="18" charset="0"/>
                                <a:ea typeface="Cambria Math" panose="02040503050406030204" pitchFamily="18" charset="0"/>
                              </a:rPr>
                              <m:t>∧</m:t>
                            </m:r>
                            <m:acc>
                              <m:accPr>
                                <m:chr m:val="̂"/>
                                <m:ctrlPr>
                                  <a:rPr lang="zh-CN" altLang="en-US" sz="2000" i="1">
                                    <a:solidFill>
                                      <a:prstClr val="black"/>
                                    </a:solidFill>
                                    <a:latin typeface="Cambria Math" panose="02040503050406030204" pitchFamily="18" charset="0"/>
                                    <a:ea typeface="黑体" panose="02010609060101010101" pitchFamily="49" charset="-122"/>
                                  </a:rPr>
                                </m:ctrlPr>
                              </m:accPr>
                              <m:e>
                                <m:r>
                                  <a:rPr lang="en-US" altLang="zh-CN" sz="2000" i="1">
                                    <a:solidFill>
                                      <a:prstClr val="black"/>
                                    </a:solidFill>
                                    <a:latin typeface="Cambria Math" panose="02040503050406030204" pitchFamily="18" charset="0"/>
                                    <a:ea typeface="黑体" panose="02010609060101010101" pitchFamily="49" charset="-122"/>
                                  </a:rPr>
                                  <m:t>𝐸</m:t>
                                </m:r>
                              </m:e>
                            </m:acc>
                            <m:d>
                              <m:dPr>
                                <m:ctrlPr>
                                  <a:rPr lang="en-US" altLang="zh-CN" sz="2000" i="1">
                                    <a:solidFill>
                                      <a:prstClr val="black"/>
                                    </a:solidFill>
                                    <a:latin typeface="Cambria Math" panose="02040503050406030204" pitchFamily="18" charset="0"/>
                                    <a:ea typeface="黑体" panose="02010609060101010101" pitchFamily="49" charset="-122"/>
                                  </a:rPr>
                                </m:ctrlPr>
                              </m:dPr>
                              <m:e>
                                <m:r>
                                  <a:rPr lang="en-US" altLang="zh-CN" sz="2000" i="1">
                                    <a:solidFill>
                                      <a:prstClr val="black"/>
                                    </a:solidFill>
                                    <a:latin typeface="Cambria Math" panose="02040503050406030204" pitchFamily="18" charset="0"/>
                                    <a:ea typeface="黑体" panose="02010609060101010101" pitchFamily="49" charset="-122"/>
                                  </a:rPr>
                                  <m:t>h</m:t>
                                </m:r>
                              </m:e>
                            </m:d>
                            <m:r>
                              <a:rPr lang="en-US" altLang="zh-CN" sz="2000" i="1">
                                <a:solidFill>
                                  <a:prstClr val="black"/>
                                </a:solidFill>
                                <a:latin typeface="Cambria Math" panose="02040503050406030204" pitchFamily="18" charset="0"/>
                                <a:ea typeface="黑体" panose="02010609060101010101" pitchFamily="49" charset="-122"/>
                              </a:rPr>
                              <m:t>=</m:t>
                            </m:r>
                            <m:r>
                              <a:rPr lang="en-US" altLang="zh-CN" sz="2000" i="1">
                                <a:solidFill>
                                  <a:prstClr val="black"/>
                                </a:solidFill>
                                <a:latin typeface="Cambria Math" panose="02040503050406030204" pitchFamily="18" charset="0"/>
                                <a:ea typeface="黑体" panose="02010609060101010101" pitchFamily="49" charset="-122"/>
                              </a:rPr>
                              <m:t>0</m:t>
                            </m:r>
                          </m:e>
                        </m:d>
                      </m:e>
                    </m:nary>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&lt;</m:t>
                    </m:r>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lang="en-US" altLang="zh-CN" sz="2000" i="1" smtClean="0">
                            <a:solidFill>
                              <a:prstClr val="black"/>
                            </a:solidFill>
                            <a:latin typeface="Cambria Math" panose="02040503050406030204" pitchFamily="18" charset="0"/>
                            <a:ea typeface="Cambria Math" panose="02040503050406030204" pitchFamily="18" charset="0"/>
                          </a:rPr>
                        </m:ctrlPr>
                      </m:sSupPr>
                      <m:e>
                        <m:d>
                          <m:dPr>
                            <m:ctrlPr>
                              <a:rPr lang="en-US" altLang="zh-CN" sz="2000" b="0" i="1" smtClean="0">
                                <a:solidFill>
                                  <a:prstClr val="black"/>
                                </a:solidFill>
                                <a:latin typeface="Cambria Math" panose="02040503050406030204" pitchFamily="18" charset="0"/>
                                <a:ea typeface="Cambria Math" panose="02040503050406030204" pitchFamily="18" charset="0"/>
                              </a:rPr>
                            </m:ctrlPr>
                          </m:dPr>
                          <m:e>
                            <m:r>
                              <a:rPr lang="en-US" altLang="zh-CN" sz="2000" b="0" i="1" smtClean="0">
                                <a:solidFill>
                                  <a:prstClr val="black"/>
                                </a:solidFill>
                                <a:latin typeface="Cambria Math" panose="02040503050406030204" pitchFamily="18" charset="0"/>
                                <a:ea typeface="Cambria Math" panose="02040503050406030204" pitchFamily="18" charset="0"/>
                              </a:rPr>
                              <m:t>1</m:t>
                            </m:r>
                            <m:r>
                              <a:rPr lang="en-US" altLang="zh-CN" sz="2000" b="0" i="1" smtClean="0">
                                <a:solidFill>
                                  <a:prstClr val="black"/>
                                </a:solidFill>
                                <a:latin typeface="Cambria Math" panose="02040503050406030204" pitchFamily="18" charset="0"/>
                                <a:ea typeface="Cambria Math" panose="02040503050406030204" pitchFamily="18" charset="0"/>
                              </a:rPr>
                              <m:t>−</m:t>
                            </m:r>
                            <m:r>
                              <a:rPr lang="zh-CN" altLang="en-US" sz="2000" b="0" i="1" smtClean="0">
                                <a:solidFill>
                                  <a:prstClr val="black"/>
                                </a:solidFill>
                                <a:latin typeface="Cambria Math" panose="02040503050406030204" pitchFamily="18" charset="0"/>
                                <a:ea typeface="Cambria Math" panose="02040503050406030204" pitchFamily="18" charset="0"/>
                              </a:rPr>
                              <m:t>𝜖</m:t>
                            </m:r>
                          </m:e>
                        </m:d>
                      </m:e>
                      <m:sup>
                        <m:r>
                          <a:rPr lang="en-US" altLang="zh-CN" sz="2000" b="0" i="1" smtClean="0">
                            <a:solidFill>
                              <a:prstClr val="black"/>
                            </a:solidFill>
                            <a:latin typeface="Cambria Math" panose="02040503050406030204" pitchFamily="18" charset="0"/>
                            <a:ea typeface="Cambria Math" panose="02040503050406030204" pitchFamily="18" charset="0"/>
                          </a:rPr>
                          <m:t>𝑚</m:t>
                        </m:r>
                      </m:sup>
                    </m:sSup>
                  </m:oMath>
                </a14:m>
                <a:endParaRPr lang="en-US" altLang="zh-CN" sz="2000" b="0" i="1" dirty="0">
                  <a:solidFill>
                    <a:prstClr val="black"/>
                  </a:solidFill>
                  <a:latin typeface="Cambria Math" panose="02040503050406030204" pitchFamily="18" charset="0"/>
                  <a:ea typeface="Cambria Math" panose="02040503050406030204" pitchFamily="18" charset="0"/>
                </a:endParaRPr>
              </a:p>
              <a:p>
                <a:pPr marL="0" lvl="0" indent="0">
                  <a:lnSpc>
                    <a:spcPct val="100000"/>
                  </a:lnSpc>
                  <a:spcBef>
                    <a:spcPts val="0"/>
                  </a:spcBef>
                  <a:buClr>
                    <a:srgbClr val="16754D"/>
                  </a:buClr>
                  <a:buNone/>
                  <a:defRPr/>
                </a:pPr>
                <a:r>
                  <a:rPr lang="en-US" altLang="zh-CN" sz="2000" dirty="0">
                    <a:solidFill>
                      <a:prstClr val="black"/>
                    </a:solidFill>
                    <a:ea typeface="Cambria Math" panose="02040503050406030204" pitchFamily="18" charset="0"/>
                  </a:rPr>
                  <a:t>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m:t>
                    </m:r>
                    <m:d>
                      <m:dPr>
                        <m:begChr m:val="|"/>
                        <m:end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𝑒</m:t>
                        </m:r>
                      </m:e>
                      <m:sup>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sup>
                    </m:sSup>
                  </m:oMath>
                </a14:m>
                <a:endParaRPr lang="en-US" altLang="zh-CN" sz="2000" dirty="0">
                  <a:solidFill>
                    <a:prstClr val="black"/>
                  </a:solidFill>
                  <a:ea typeface="黑体" panose="02010609060101010101" pitchFamily="49" charset="-122"/>
                </a:endParaRPr>
              </a:p>
              <a:p>
                <a:pPr marL="0" lvl="0" indent="0">
                  <a:lnSpc>
                    <a:spcPct val="100000"/>
                  </a:lnSpc>
                  <a:spcBef>
                    <a:spcPts val="0"/>
                  </a:spcBef>
                  <a:buClr>
                    <a:srgbClr val="16754D"/>
                  </a:buClr>
                  <a:buNone/>
                  <a:defRPr/>
                </a:pPr>
                <a:r>
                  <a:rPr lang="zh-CN" altLang="en-US" sz="2000" dirty="0">
                    <a:solidFill>
                      <a:prstClr val="black"/>
                    </a:solidFill>
                    <a:ea typeface="黑体" panose="02010609060101010101" pitchFamily="49" charset="-122"/>
                  </a:rPr>
                  <a:t>令 </a:t>
                </a:r>
                <a14:m>
                  <m:oMath xmlns:m="http://schemas.openxmlformats.org/officeDocument/2006/math">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sSup>
                      <m:sSupPr>
                        <m:ctrlPr>
                          <a:rPr lang="en-US" altLang="zh-CN" sz="2000" i="1">
                            <a:solidFill>
                              <a:prstClr val="black"/>
                            </a:solidFill>
                            <a:latin typeface="Cambria Math" panose="02040503050406030204" pitchFamily="18" charset="0"/>
                            <a:ea typeface="Cambria Math" panose="02040503050406030204" pitchFamily="18" charset="0"/>
                          </a:rPr>
                        </m:ctrlPr>
                      </m:sSupPr>
                      <m:e>
                        <m:r>
                          <a:rPr lang="en-US" altLang="zh-CN" sz="2000" i="1">
                            <a:solidFill>
                              <a:prstClr val="black"/>
                            </a:solidFill>
                            <a:latin typeface="Cambria Math" panose="02040503050406030204" pitchFamily="18" charset="0"/>
                            <a:ea typeface="Cambria Math" panose="02040503050406030204" pitchFamily="18" charset="0"/>
                          </a:rPr>
                          <m:t>𝑒</m:t>
                        </m:r>
                      </m:e>
                      <m:sup>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𝑚</m:t>
                        </m:r>
                        <m:r>
                          <a:rPr lang="zh-CN" altLang="en-US" sz="2000" i="1">
                            <a:solidFill>
                              <a:prstClr val="black"/>
                            </a:solidFill>
                            <a:latin typeface="Cambria Math" panose="02040503050406030204" pitchFamily="18" charset="0"/>
                            <a:ea typeface="Cambria Math" panose="02040503050406030204" pitchFamily="18" charset="0"/>
                          </a:rPr>
                          <m:t>𝜖</m:t>
                        </m:r>
                      </m:sup>
                    </m:sSup>
                    <m:r>
                      <a:rPr lang="zh-CN" altLang="en-US" sz="2000" i="1" smtClean="0">
                        <a:solidFill>
                          <a:prstClr val="black"/>
                        </a:solidFill>
                        <a:latin typeface="Cambria Math" panose="02040503050406030204" pitchFamily="18" charset="0"/>
                        <a:ea typeface="Cambria Math" panose="02040503050406030204" pitchFamily="18" charset="0"/>
                      </a:rPr>
                      <m:t>≤</m:t>
                    </m:r>
                    <m:r>
                      <a:rPr lang="zh-CN" altLang="en-US" sz="2000" i="1" smtClean="0">
                        <a:solidFill>
                          <a:prstClr val="black"/>
                        </a:solidFill>
                        <a:latin typeface="Cambria Math" panose="02040503050406030204" pitchFamily="18" charset="0"/>
                        <a:ea typeface="Cambria Math" panose="02040503050406030204" pitchFamily="18" charset="0"/>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dirty="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黑体" panose="02010609060101010101" pitchFamily="49" charset="-122"/>
                      </a:rPr>
                      <m:t>𝑚</m:t>
                    </m:r>
                    <m:r>
                      <a:rPr lang="en-US" altLang="zh-CN" sz="2000" i="1">
                        <a:solidFill>
                          <a:prstClr val="black"/>
                        </a:solidFill>
                        <a:latin typeface="Cambria Math" panose="02040503050406030204" pitchFamily="18" charset="0"/>
                        <a:ea typeface="Cambria Math" panose="02040503050406030204" pitchFamily="18" charset="0"/>
                      </a:rPr>
                      <m:t>≥</m:t>
                    </m:r>
                    <m:f>
                      <m:fPr>
                        <m:ctrlPr>
                          <a:rPr lang="en-US" altLang="zh-CN" sz="2000" i="1">
                            <a:solidFill>
                              <a:prstClr val="black"/>
                            </a:solidFill>
                            <a:latin typeface="Cambria Math" panose="02040503050406030204" pitchFamily="18" charset="0"/>
                            <a:ea typeface="Cambria Math" panose="02040503050406030204" pitchFamily="18" charset="0"/>
                          </a:rPr>
                        </m:ctrlPr>
                      </m:fPr>
                      <m:num>
                        <m:r>
                          <a:rPr lang="en-US" altLang="zh-CN" sz="2000" i="1">
                            <a:solidFill>
                              <a:prstClr val="black"/>
                            </a:solidFill>
                            <a:latin typeface="Cambria Math" panose="02040503050406030204" pitchFamily="18" charset="0"/>
                            <a:ea typeface="Cambria Math" panose="02040503050406030204" pitchFamily="18" charset="0"/>
                          </a:rPr>
                          <m:t>1</m:t>
                        </m:r>
                      </m:num>
                      <m:den>
                        <m:r>
                          <a:rPr lang="zh-CN" altLang="en-US" sz="2000" i="1">
                            <a:solidFill>
                              <a:prstClr val="black"/>
                            </a:solidFill>
                            <a:latin typeface="Cambria Math" panose="02040503050406030204" pitchFamily="18" charset="0"/>
                            <a:ea typeface="Cambria Math" panose="02040503050406030204" pitchFamily="18" charset="0"/>
                          </a:rPr>
                          <m:t>𝜖</m:t>
                        </m:r>
                      </m:den>
                    </m:f>
                    <m:r>
                      <a:rPr lang="en-US" altLang="zh-CN" sz="2000" i="1">
                        <a:solidFill>
                          <a:prstClr val="black"/>
                        </a:solidFill>
                        <a:latin typeface="Cambria Math" panose="02040503050406030204" pitchFamily="18" charset="0"/>
                        <a:ea typeface="Cambria Math" panose="02040503050406030204" pitchFamily="18" charset="0"/>
                      </a:rPr>
                      <m:t>(</m:t>
                    </m:r>
                    <m:r>
                      <m:rPr>
                        <m:sty m:val="p"/>
                      </m:rPr>
                      <a:rPr lang="en-US" altLang="zh-CN" sz="2000">
                        <a:solidFill>
                          <a:prstClr val="black"/>
                        </a:solidFill>
                        <a:latin typeface="Cambria Math" panose="02040503050406030204" pitchFamily="18" charset="0"/>
                        <a:ea typeface="Cambria Math" panose="02040503050406030204" pitchFamily="18" charset="0"/>
                      </a:rPr>
                      <m:t>ln</m:t>
                    </m:r>
                    <m:d>
                      <m:dPr>
                        <m:begChr m:val="|"/>
                        <m:endChr m:val="|"/>
                        <m:ctrlPr>
                          <a:rPr lang="en-US" altLang="zh-CN" sz="2000" i="1">
                            <a:solidFill>
                              <a:prstClr val="black"/>
                            </a:solidFill>
                            <a:latin typeface="Cambria Math" panose="02040503050406030204" pitchFamily="18" charset="0"/>
                            <a:ea typeface="Cambria Math" panose="02040503050406030204" pitchFamily="18" charset="0"/>
                          </a:rPr>
                        </m:ctrlPr>
                      </m:dPr>
                      <m:e>
                        <m:r>
                          <a:rPr lang="en-US" altLang="zh-CN" sz="2000" i="1">
                            <a:solidFill>
                              <a:prstClr val="black"/>
                            </a:solidFill>
                            <a:latin typeface="Cambria Math" panose="02040503050406030204" pitchFamily="18" charset="0"/>
                            <a:ea typeface="Cambria Math" panose="02040503050406030204" pitchFamily="18" charset="0"/>
                          </a:rPr>
                          <m:t>ℋ</m:t>
                        </m:r>
                      </m:e>
                    </m:d>
                    <m:r>
                      <a:rPr lang="en-US" altLang="zh-CN" sz="2000" i="1">
                        <a:solidFill>
                          <a:prstClr val="black"/>
                        </a:solidFill>
                        <a:latin typeface="Cambria Math" panose="02040503050406030204" pitchFamily="18" charset="0"/>
                        <a:ea typeface="Cambria Math" panose="02040503050406030204" pitchFamily="18" charset="0"/>
                      </a:rPr>
                      <m:t>+</m:t>
                    </m:r>
                    <m:r>
                      <m:rPr>
                        <m:sty m:val="p"/>
                      </m:rPr>
                      <a:rPr lang="en-US" altLang="zh-CN" sz="2000">
                        <a:solidFill>
                          <a:prstClr val="black"/>
                        </a:solidFill>
                        <a:latin typeface="Cambria Math" panose="02040503050406030204" pitchFamily="18" charset="0"/>
                        <a:ea typeface="Cambria Math" panose="02040503050406030204" pitchFamily="18" charset="0"/>
                      </a:rPr>
                      <m:t>ln</m:t>
                    </m:r>
                    <m:f>
                      <m:fPr>
                        <m:ctrlPr>
                          <a:rPr lang="en-US" altLang="zh-CN" sz="2000" i="1">
                            <a:solidFill>
                              <a:prstClr val="black"/>
                            </a:solidFill>
                            <a:latin typeface="Cambria Math" panose="02040503050406030204" pitchFamily="18" charset="0"/>
                            <a:ea typeface="Cambria Math" panose="02040503050406030204" pitchFamily="18" charset="0"/>
                          </a:rPr>
                        </m:ctrlPr>
                      </m:fPr>
                      <m:num>
                        <m:r>
                          <a:rPr lang="en-US" altLang="zh-CN" sz="2000" i="1">
                            <a:solidFill>
                              <a:prstClr val="black"/>
                            </a:solidFill>
                            <a:latin typeface="Cambria Math" panose="02040503050406030204" pitchFamily="18" charset="0"/>
                            <a:ea typeface="Cambria Math" panose="02040503050406030204" pitchFamily="18" charset="0"/>
                          </a:rPr>
                          <m:t>1</m:t>
                        </m:r>
                      </m:num>
                      <m:den>
                        <m:r>
                          <a:rPr lang="zh-CN" altLang="en-US" sz="2000" i="1">
                            <a:solidFill>
                              <a:prstClr val="black"/>
                            </a:solidFill>
                            <a:latin typeface="Cambria Math" panose="02040503050406030204" pitchFamily="18" charset="0"/>
                            <a:ea typeface="Cambria Math" panose="02040503050406030204" pitchFamily="18" charset="0"/>
                          </a:rPr>
                          <m:t>𝛿</m:t>
                        </m:r>
                      </m:den>
                    </m:f>
                    <m:r>
                      <a:rPr lang="en-US" altLang="zh-CN" sz="2000" i="1">
                        <a:solidFill>
                          <a:prstClr val="black"/>
                        </a:solidFill>
                        <a:latin typeface="Cambria Math" panose="02040503050406030204" pitchFamily="18" charset="0"/>
                        <a:ea typeface="Cambria Math" panose="02040503050406030204" pitchFamily="18" charset="0"/>
                      </a:rPr>
                      <m:t>)</m:t>
                    </m:r>
                  </m:oMath>
                </a14:m>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buClr>
                    <a:srgbClr val="16754D"/>
                  </a:buClr>
                  <a:buSzPct val="10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可分情况下的有限假设空间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都是</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可学习的</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输出假设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的泛化误差随样例数目的增多而收敛到</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0,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收敛速率为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𝑂</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e>
                    </m:d>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43" name="内容占位符 2">
                <a:extLst>
                  <a:ext uri="{FF2B5EF4-FFF2-40B4-BE49-F238E27FC236}">
                    <a16:creationId xmlns:a16="http://schemas.microsoft.com/office/drawing/2014/main" id="{64B339AA-FE22-4161-B8F0-81588E3FC639}"/>
                  </a:ext>
                </a:extLst>
              </p:cNvPr>
              <p:cNvSpPr txBox="1">
                <a:spLocks noRot="1" noChangeAspect="1" noMove="1" noResize="1" noEditPoints="1" noAdjustHandles="1" noChangeArrowheads="1" noChangeShapeType="1" noTextEdit="1"/>
              </p:cNvSpPr>
              <p:nvPr/>
            </p:nvSpPr>
            <p:spPr>
              <a:xfrm>
                <a:off x="212426" y="4426491"/>
                <a:ext cx="8879619" cy="2234368"/>
              </a:xfrm>
              <a:prstGeom prst="rect">
                <a:avLst/>
              </a:prstGeom>
              <a:blipFill>
                <a:blip r:embed="rId5"/>
                <a:stretch>
                  <a:fillRect l="-1786" t="-92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5" name="文本框 44">
                <a:extLst>
                  <a:ext uri="{FF2B5EF4-FFF2-40B4-BE49-F238E27FC236}">
                    <a16:creationId xmlns:a16="http://schemas.microsoft.com/office/drawing/2014/main" id="{6D5C1E8B-60A5-D2A6-A5C7-D6A00D1AA4C4}"/>
                  </a:ext>
                </a:extLst>
              </p:cNvPr>
              <p:cNvSpPr txBox="1"/>
              <p:nvPr/>
            </p:nvSpPr>
            <p:spPr>
              <a:xfrm>
                <a:off x="212426" y="3397772"/>
                <a:ext cx="8719148" cy="615553"/>
              </a:xfrm>
              <a:prstGeom prst="rect">
                <a:avLst/>
              </a:prstGeom>
              <a:noFill/>
            </p:spPr>
            <p:txBody>
              <a:bodyPr wrap="square" lIns="0" tIns="0" rIns="0" bIns="0">
                <a:spAutoFit/>
              </a:bodyPr>
              <a:lstStyle/>
              <a:p>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通常情形下</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由于训练集规模有限</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中可能存在不止一个与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𝐷</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一致的“等效”假设。</a:t>
                </a:r>
                <a:endParaRPr lang="zh-CN" altLang="en-US" sz="2000" dirty="0">
                  <a:latin typeface="Arial" panose="020B0604020202020204" pitchFamily="34" charset="0"/>
                  <a:ea typeface="黑体" panose="02010609060101010101" pitchFamily="49" charset="-122"/>
                </a:endParaRPr>
              </a:p>
            </p:txBody>
          </p:sp>
        </mc:Choice>
        <mc:Fallback xmlns="">
          <p:sp>
            <p:nvSpPr>
              <p:cNvPr id="45" name="文本框 44">
                <a:extLst>
                  <a:ext uri="{FF2B5EF4-FFF2-40B4-BE49-F238E27FC236}">
                    <a16:creationId xmlns:a16="http://schemas.microsoft.com/office/drawing/2014/main" id="{6D5C1E8B-60A5-D2A6-A5C7-D6A00D1AA4C4}"/>
                  </a:ext>
                </a:extLst>
              </p:cNvPr>
              <p:cNvSpPr txBox="1">
                <a:spLocks noRot="1" noChangeAspect="1" noMove="1" noResize="1" noEditPoints="1" noAdjustHandles="1" noChangeArrowheads="1" noChangeShapeType="1" noTextEdit="1"/>
              </p:cNvSpPr>
              <p:nvPr/>
            </p:nvSpPr>
            <p:spPr>
              <a:xfrm>
                <a:off x="212426" y="3397772"/>
                <a:ext cx="8719148" cy="615553"/>
              </a:xfrm>
              <a:prstGeom prst="rect">
                <a:avLst/>
              </a:prstGeom>
              <a:blipFill>
                <a:blip r:embed="rId6"/>
                <a:stretch>
                  <a:fillRect l="-1818" t="-14851" r="-559" b="-2277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290154496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59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1" name="内容占位符 2">
                <a:extLst>
                  <a:ext uri="{FF2B5EF4-FFF2-40B4-BE49-F238E27FC236}">
                    <a16:creationId xmlns:a16="http://schemas.microsoft.com/office/drawing/2014/main" id="{41A86C79-02FF-1C68-F899-DF0DA00D8586}"/>
                  </a:ext>
                </a:extLst>
              </p:cNvPr>
              <p:cNvSpPr txBox="1">
                <a:spLocks/>
              </p:cNvSpPr>
              <p:nvPr/>
            </p:nvSpPr>
            <p:spPr bwMode="auto">
              <a:xfrm>
                <a:off x="234007" y="2098760"/>
                <a:ext cx="8616950" cy="139610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spcBef>
                    <a:spcPts val="600"/>
                  </a:spcBef>
                  <a:buClr>
                    <a:srgbClr val="16754D"/>
                  </a:buClr>
                  <a:buSzPct val="100000"/>
                  <a:buFont typeface="Wingdings" panose="05000000000000000000" pitchFamily="2" charset="2"/>
                  <a:buNone/>
                  <a:tabLs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12.1</a:t>
                </a:r>
                <a:r>
                  <a:rPr lang="zh-CN" altLang="en-US" sz="2000" kern="0" dirty="0">
                    <a:solidFill>
                      <a:prstClr val="black"/>
                    </a:solidFill>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sz="200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为有限假设空间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0</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&lt;1</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则对任意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有</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buClr>
                    <a:srgbClr val="16754D"/>
                  </a:buClr>
                  <a:buSzPct val="100000"/>
                  <a:defRPr/>
                </a:pPr>
                <a14:m>
                  <m:oMathPara xmlns:m="http://schemas.openxmlformats.org/officeDocument/2006/math">
                    <m:oMathParaPr>
                      <m:jc m:val="centerGroup"/>
                    </m:oMathParaPr>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sz="2000" i="1" kern="0">
                                  <a:solidFill>
                                    <a:prstClr val="black"/>
                                  </a:solidFill>
                                  <a:latin typeface="Cambria Math" panose="02040503050406030204" pitchFamily="18" charset="0"/>
                                  <a:ea typeface="黑体" panose="02010609060101010101" pitchFamily="49" charset="-122"/>
                                </a:rPr>
                                <m:t>𝐸</m:t>
                              </m:r>
                              <m:d>
                                <m:dPr>
                                  <m:ctrlPr>
                                    <a:rPr lang="en-US" altLang="zh-CN" sz="2000" i="1" kern="0">
                                      <a:solidFill>
                                        <a:prstClr val="black"/>
                                      </a:solidFill>
                                      <a:latin typeface="Cambria Math" panose="02040503050406030204" pitchFamily="18" charset="0"/>
                                      <a:ea typeface="黑体" panose="02010609060101010101" pitchFamily="49" charset="-122"/>
                                    </a:rPr>
                                  </m:ctrlPr>
                                </m:dPr>
                                <m:e>
                                  <m:r>
                                    <a:rPr lang="en-US" altLang="zh-CN" sz="2000" i="1" kern="0">
                                      <a:solidFill>
                                        <a:prstClr val="black"/>
                                      </a:solidFill>
                                      <a:latin typeface="Cambria Math" panose="02040503050406030204" pitchFamily="18" charset="0"/>
                                      <a:ea typeface="黑体" panose="02010609060101010101" pitchFamily="49" charset="-122"/>
                                    </a:rPr>
                                    <m:t>h</m:t>
                                  </m:r>
                                </m:e>
                              </m:d>
                              <m:r>
                                <a:rPr lang="en-US" altLang="zh-CN" sz="2000" i="1" kern="0">
                                  <a:solidFill>
                                    <a:prstClr val="black"/>
                                  </a:solidFill>
                                  <a:latin typeface="Cambria Math" panose="02040503050406030204" pitchFamily="18" charset="0"/>
                                  <a:ea typeface="黑体" panose="02010609060101010101" pitchFamily="49" charset="-122"/>
                                </a:rPr>
                                <m:t>−</m:t>
                              </m:r>
                              <m:acc>
                                <m:accPr>
                                  <m:chr m:val="̂"/>
                                  <m:ctrlPr>
                                    <a:rPr lang="en-US" altLang="zh-CN" sz="2000" i="1" kern="0">
                                      <a:solidFill>
                                        <a:prstClr val="black"/>
                                      </a:solidFill>
                                      <a:latin typeface="Cambria Math" panose="02040503050406030204" pitchFamily="18" charset="0"/>
                                      <a:ea typeface="黑体" panose="02010609060101010101" pitchFamily="49" charset="-122"/>
                                    </a:rPr>
                                  </m:ctrlPr>
                                </m:accPr>
                                <m:e>
                                  <m:r>
                                    <a:rPr lang="en-US" altLang="zh-CN" sz="2000" i="1" kern="0">
                                      <a:solidFill>
                                        <a:prstClr val="black"/>
                                      </a:solidFill>
                                      <a:latin typeface="Cambria Math" panose="02040503050406030204" pitchFamily="18" charset="0"/>
                                      <a:ea typeface="黑体" panose="02010609060101010101" pitchFamily="49" charset="-122"/>
                                    </a:rPr>
                                    <m:t>𝐸</m:t>
                                  </m:r>
                                </m:e>
                              </m:acc>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h</m:t>
                              </m:r>
                              <m:r>
                                <a:rPr lang="en-US" altLang="zh-CN" sz="2000" i="1" kern="0">
                                  <a:solidFill>
                                    <a:prstClr val="black"/>
                                  </a:solidFill>
                                  <a:latin typeface="Cambria Math" panose="02040503050406030204" pitchFamily="18" charset="0"/>
                                  <a:ea typeface="黑体" panose="02010609060101010101" pitchFamily="49" charset="-122"/>
                                </a:rPr>
                                <m:t>)</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ad>
                            <m:radPr>
                              <m:degHide m:val="on"/>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radPr>
                            <m:deg/>
                            <m:e>
                              <m:f>
                                <m:f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ln</m:t>
                                      </m:r>
                                    </m:fName>
                                    <m:e>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e>
                                      </m:d>
                                    </m:e>
                                  </m:func>
                                  <m:r>
                                    <a:rPr lang="en-US" altLang="zh-CN" sz="2000" i="1" kern="0">
                                      <a:solidFill>
                                        <a:prstClr val="black"/>
                                      </a:solidFill>
                                      <a:latin typeface="Cambria Math" panose="02040503050406030204" pitchFamily="18" charset="0"/>
                                      <a:ea typeface="Cambria Math" panose="02040503050406030204" pitchFamily="18" charset="0"/>
                                    </a:rPr>
                                    <m:t>+</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Cambria Math" panose="02040503050406030204" pitchFamily="18" charset="0"/>
                                            </a:rPr>
                                            <m:t>2/</m:t>
                                          </m:r>
                                          <m:r>
                                            <a:rPr lang="zh-CN" altLang="en-US" sz="2000" i="1" kern="0">
                                              <a:solidFill>
                                                <a:prstClr val="black"/>
                                              </a:solidFill>
                                              <a:latin typeface="Cambria Math" panose="02040503050406030204" pitchFamily="18" charset="0"/>
                                              <a:ea typeface="Cambria Math" panose="02040503050406030204" pitchFamily="18" charset="0"/>
                                            </a:rPr>
                                            <m:t>𝛿</m:t>
                                          </m:r>
                                        </m:e>
                                      </m:d>
                                    </m:e>
                                  </m:func>
                                </m:num>
                                <m:den>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den>
                              </m:f>
                            </m:e>
                          </m:rad>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spcBef>
                    <a:spcPts val="600"/>
                  </a:spcBef>
                  <a:buClr>
                    <a:srgbClr val="16754D"/>
                  </a:buClr>
                  <a:buSzPct val="100000"/>
                  <a:buFont typeface="Wingdings" panose="05000000000000000000" pitchFamily="2" charset="2"/>
                  <a:buNone/>
                  <a:tabLst/>
                  <a:defRPr/>
                </a:pPr>
                <a:endPar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31" name="内容占位符 2">
                <a:extLst>
                  <a:ext uri="{FF2B5EF4-FFF2-40B4-BE49-F238E27FC236}">
                    <a16:creationId xmlns:a16="http://schemas.microsoft.com/office/drawing/2014/main" id="{41A86C79-02FF-1C68-F899-DF0DA00D8586}"/>
                  </a:ext>
                </a:extLst>
              </p:cNvPr>
              <p:cNvSpPr txBox="1">
                <a:spLocks noRot="1" noChangeAspect="1" noMove="1" noResize="1" noEditPoints="1" noAdjustHandles="1" noChangeArrowheads="1" noChangeShapeType="1" noTextEdit="1"/>
              </p:cNvSpPr>
              <p:nvPr/>
            </p:nvSpPr>
            <p:spPr bwMode="auto">
              <a:xfrm>
                <a:off x="234007" y="2098760"/>
                <a:ext cx="8616950" cy="1396101"/>
              </a:xfrm>
              <a:prstGeom prst="rect">
                <a:avLst/>
              </a:prstGeom>
              <a:blipFill>
                <a:blip r:embed="rId2"/>
                <a:stretch>
                  <a:fillRect l="-1768" t="-6550"/>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7" name="文本框 36">
                <a:extLst>
                  <a:ext uri="{FF2B5EF4-FFF2-40B4-BE49-F238E27FC236}">
                    <a16:creationId xmlns:a16="http://schemas.microsoft.com/office/drawing/2014/main" id="{449F28A3-3422-CEB7-FC90-8C484D62E445}"/>
                  </a:ext>
                </a:extLst>
              </p:cNvPr>
              <p:cNvSpPr txBox="1"/>
              <p:nvPr/>
            </p:nvSpPr>
            <p:spPr>
              <a:xfrm>
                <a:off x="234008" y="1304898"/>
                <a:ext cx="8758702" cy="623889"/>
              </a:xfrm>
              <a:prstGeom prst="rect">
                <a:avLst/>
              </a:prstGeom>
              <a:noFill/>
            </p:spPr>
            <p:txBody>
              <a:bodyPr wrap="square" lIns="0" tIns="0" rIns="0" bIns="0">
                <a:spAutoFit/>
              </a:bodyPr>
              <a:lstStyle/>
              <a:p>
                <a:pPr>
                  <a:spcBef>
                    <a:spcPts val="600"/>
                  </a:spcBef>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对于较困难的学习问题</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目标概念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𝑐</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不属于</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即假定对于任何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acc>
                      <m:accPr>
                        <m:chr m:val="̂"/>
                        <m:ctrlPr>
                          <a:rPr lang="en-US" altLang="zh-CN" sz="2000" i="1">
                            <a:solidFill>
                              <a:sysClr val="windowText" lastClr="000000"/>
                            </a:solidFill>
                            <a:latin typeface="Cambria Math" panose="02040503050406030204" pitchFamily="18" charset="0"/>
                            <a:ea typeface="Cambria Math" panose="02040503050406030204" pitchFamily="18" charset="0"/>
                          </a:rPr>
                        </m:ctrlPr>
                      </m:accPr>
                      <m:e>
                        <m:r>
                          <a:rPr lang="en-US" altLang="zh-CN" sz="2000" i="1">
                            <a:solidFill>
                              <a:sysClr val="windowText" lastClr="000000"/>
                            </a:solidFill>
                            <a:latin typeface="Cambria Math" panose="02040503050406030204" pitchFamily="18" charset="0"/>
                            <a:ea typeface="Cambria Math" panose="02040503050406030204" pitchFamily="18" charset="0"/>
                          </a:rPr>
                          <m:t>𝐸</m:t>
                        </m:r>
                      </m:e>
                    </m:acc>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)≠0</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中的任何一个假设都会在训练集上出现或多或少的错误</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zh-CN" altLang="en-US" sz="1600" dirty="0">
                  <a:latin typeface="Arial" panose="020B0604020202020204" pitchFamily="34" charset="0"/>
                  <a:ea typeface="黑体" panose="02010609060101010101" pitchFamily="49" charset="-122"/>
                </a:endParaRPr>
              </a:p>
            </p:txBody>
          </p:sp>
        </mc:Choice>
        <mc:Fallback xmlns="">
          <p:sp>
            <p:nvSpPr>
              <p:cNvPr id="37" name="文本框 36">
                <a:extLst>
                  <a:ext uri="{FF2B5EF4-FFF2-40B4-BE49-F238E27FC236}">
                    <a16:creationId xmlns:a16="http://schemas.microsoft.com/office/drawing/2014/main" id="{449F28A3-3422-CEB7-FC90-8C484D62E445}"/>
                  </a:ext>
                </a:extLst>
              </p:cNvPr>
              <p:cNvSpPr txBox="1">
                <a:spLocks noRot="1" noChangeAspect="1" noMove="1" noResize="1" noEditPoints="1" noAdjustHandles="1" noChangeArrowheads="1" noChangeShapeType="1" noTextEdit="1"/>
              </p:cNvSpPr>
              <p:nvPr/>
            </p:nvSpPr>
            <p:spPr>
              <a:xfrm>
                <a:off x="234008" y="1304898"/>
                <a:ext cx="8758702" cy="623889"/>
              </a:xfrm>
              <a:prstGeom prst="rect">
                <a:avLst/>
              </a:prstGeom>
              <a:blipFill>
                <a:blip r:embed="rId3"/>
                <a:stretch>
                  <a:fillRect l="-1740" t="-14706" r="-2644" b="-2549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43" name="文本框 42">
                <a:extLst>
                  <a:ext uri="{FF2B5EF4-FFF2-40B4-BE49-F238E27FC236}">
                    <a16:creationId xmlns:a16="http://schemas.microsoft.com/office/drawing/2014/main" id="{873FB6A8-F963-4791-D5CB-09DB960D3F45}"/>
                  </a:ext>
                </a:extLst>
              </p:cNvPr>
              <p:cNvSpPr txBox="1">
                <a:spLocks noChangeArrowheads="1"/>
              </p:cNvSpPr>
              <p:nvPr/>
            </p:nvSpPr>
            <p:spPr bwMode="auto">
              <a:xfrm>
                <a:off x="801816" y="4858457"/>
                <a:ext cx="6918567" cy="150368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00000"/>
                  </a:lnSpc>
                  <a:spcBef>
                    <a:spcPts val="600"/>
                  </a:spcBef>
                  <a:spcAft>
                    <a:spcPct val="0"/>
                  </a:spcAft>
                  <a:buClrTx/>
                  <a:buSzTx/>
                  <a:buFontTx/>
                  <a:buNone/>
                  <a:tabLst/>
                  <a:defRPr/>
                </a:pPr>
                <a:r>
                  <a:rPr kumimoji="0" lang="zh-CN" altLang="en-US"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经验风险最小化（</a:t>
                </a:r>
                <a:r>
                  <a:rPr kumimoji="0" lang="en-US" altLang="zh-CN"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Empirical Risk Minimization</a:t>
                </a:r>
                <a:r>
                  <a:rPr lang="en-US" altLang="zh-CN" sz="2000" kern="0" noProof="0" dirty="0">
                    <a:solidFill>
                      <a:srgbClr val="FF0000"/>
                    </a:solidFill>
                    <a:latin typeface="Arial" panose="020B0604020202020204" pitchFamily="34" charset="0"/>
                    <a:ea typeface="黑体" panose="02010609060101010101" pitchFamily="49" charset="-122"/>
                  </a:rPr>
                  <a:t>, </a:t>
                </a:r>
                <a:r>
                  <a:rPr kumimoji="0" lang="en-US" altLang="zh-CN"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ERM</a:t>
                </a:r>
                <a:r>
                  <a:rPr kumimoji="0" lang="zh-CN" altLang="en-US" sz="2000" i="0" u="none" strike="noStrike" kern="0" cap="none" spc="0" normalizeH="0" noProof="0" dirty="0">
                    <a:ln>
                      <a:noFill/>
                    </a:ln>
                    <a:solidFill>
                      <a:srgbClr val="FF0000"/>
                    </a:solidFill>
                    <a:effectLst/>
                    <a:uLnTx/>
                    <a:uFillTx/>
                    <a:latin typeface="Arial" panose="020B0604020202020204" pitchFamily="34" charset="0"/>
                    <a:ea typeface="黑体" panose="02010609060101010101" pitchFamily="49" charset="-122"/>
                  </a:rPr>
                  <a:t>）原则：</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spcAft>
                    <a:spcPct val="0"/>
                  </a:spcAf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表示学习算法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输出的假设</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满足</a:t>
                </a:r>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0" indent="0" defTabSz="914400" eaLnBrk="1" fontAlgn="base" latinLnBrk="0" hangingPunct="1">
                  <a:lnSpc>
                    <a:spcPct val="100000"/>
                  </a:lnSpc>
                  <a:spcBef>
                    <a:spcPts val="600"/>
                  </a:spcBef>
                  <a:spcAft>
                    <a:spcPct val="0"/>
                  </a:spcAft>
                  <a:buClrTx/>
                  <a:buSzTx/>
                  <a:buFontTx/>
                  <a:buNone/>
                  <a:tabLst/>
                  <a:defRPr/>
                </a:pPr>
                <a14:m>
                  <m:oMathPara xmlns:m="http://schemas.openxmlformats.org/officeDocument/2006/math">
                    <m:oMathParaPr>
                      <m:jc m:val="centerGroup"/>
                    </m:oMathParaPr>
                    <m:oMath xmlns:m="http://schemas.openxmlformats.org/officeDocument/2006/math">
                      <m:acc>
                        <m:accPr>
                          <m:chr m:val="̂"/>
                          <m:ctrlPr>
                            <a:rPr kumimoji="0" lang="zh-CN" altLang="en-US" sz="200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min</m:t>
                              </m:r>
                            </m:e>
                            <m:lim>
                              <m:sSup>
                                <m:sSup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up>
                              </m:s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lim>
                          </m:limLow>
                        </m:fName>
                        <m:e>
                          <m:acc>
                            <m:accPr>
                              <m: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p>
                            <m:sSup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up>
                          </m:sSup>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e>
                      </m:func>
                    </m:oMath>
                  </m:oMathPara>
                </a14:m>
                <a:endPar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lvl="0" fontAlgn="base">
                  <a:spcBef>
                    <a:spcPts val="600"/>
                  </a:spcBef>
                  <a:spcAft>
                    <a:spcPct val="0"/>
                  </a:spcAft>
                  <a:defRPr/>
                </a:pP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则称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为满足经验风险最小化原则的算法</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43" name="文本框 42">
                <a:extLst>
                  <a:ext uri="{FF2B5EF4-FFF2-40B4-BE49-F238E27FC236}">
                    <a16:creationId xmlns:a16="http://schemas.microsoft.com/office/drawing/2014/main" id="{873FB6A8-F963-4791-D5CB-09DB960D3F45}"/>
                  </a:ext>
                </a:extLst>
              </p:cNvPr>
              <p:cNvSpPr txBox="1">
                <a:spLocks noRot="1" noChangeAspect="1" noMove="1" noResize="1" noEditPoints="1" noAdjustHandles="1" noChangeArrowheads="1" noChangeShapeType="1" noTextEdit="1"/>
              </p:cNvSpPr>
              <p:nvPr/>
            </p:nvSpPr>
            <p:spPr bwMode="auto">
              <a:xfrm>
                <a:off x="801816" y="4858457"/>
                <a:ext cx="6918567" cy="1503681"/>
              </a:xfrm>
              <a:prstGeom prst="rect">
                <a:avLst/>
              </a:prstGeom>
              <a:blipFill>
                <a:blip r:embed="rId4"/>
                <a:stretch>
                  <a:fillRect l="-2293" t="-6073" r="-1411" b="-93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0" name="文本框 49">
                <a:extLst>
                  <a:ext uri="{FF2B5EF4-FFF2-40B4-BE49-F238E27FC236}">
                    <a16:creationId xmlns:a16="http://schemas.microsoft.com/office/drawing/2014/main" id="{C2330B70-2B05-7DBA-054B-955E481B97C7}"/>
                  </a:ext>
                </a:extLst>
              </p:cNvPr>
              <p:cNvSpPr txBox="1"/>
              <p:nvPr/>
            </p:nvSpPr>
            <p:spPr>
              <a:xfrm>
                <a:off x="234007" y="3409837"/>
                <a:ext cx="8716332" cy="1231106"/>
              </a:xfrm>
              <a:prstGeom prst="rect">
                <a:avLst/>
              </a:prstGeom>
              <a:noFill/>
            </p:spPr>
            <p:txBody>
              <a:bodyPr wrap="square" lIns="0" tIns="0" rIns="0" bIns="0">
                <a:spAutoFit/>
              </a:bodyPr>
              <a:lstStyle/>
              <a:p>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证明略。</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详见 周志华等</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机器学习理论导引”</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2020,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机械工业出版社</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Ch 3</a:t>
                </a:r>
                <a:endPar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定理</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12.1</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表明在有限假设集的情况下，当样本大小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足够大时</a:t>
                </a:r>
                <a:r>
                  <a:rPr lang="en-US" altLang="zh-CN" sz="2000" noProof="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的</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经验误差</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是其</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泛化误差</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很好的近似。此时尽管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cs typeface="+mn-cs"/>
                      </a:rPr>
                      <m:t>𝑐</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，若能找到 </a:t>
                </a:r>
                <a14:m>
                  <m:oMath xmlns:m="http://schemas.openxmlformats.org/officeDocument/2006/math">
                    <m:r>
                      <a:rPr kumimoji="0" lang="en-US" altLang="zh-CN" sz="200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中</a:t>
                </a:r>
                <a:r>
                  <a:rPr kumimoji="0" lang="zh-CN" altLang="en-US" sz="2000" i="0" u="none" strike="noStrike" kern="1200" cap="none" spc="0" normalizeH="0" noProof="0" dirty="0">
                    <a:ln>
                      <a:noFill/>
                    </a:ln>
                    <a:solidFill>
                      <a:srgbClr val="FF0000"/>
                    </a:solidFill>
                    <a:effectLst/>
                    <a:uLnTx/>
                    <a:uFillTx/>
                    <a:latin typeface="Arial" panose="020B0604020202020204" pitchFamily="34" charset="0"/>
                    <a:ea typeface="黑体" panose="02010609060101010101" pitchFamily="49" charset="-122"/>
                    <a:cs typeface="+mn-cs"/>
                  </a:rPr>
                  <a:t>泛化误差最小的假设</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也不失为一个较好的选择。定理</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12.1</a:t>
                </a:r>
                <a:r>
                  <a:rPr kumimoji="0" lang="zh-CN" altLang="en-US"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实际上指出了一种通用的学习原则</a:t>
                </a:r>
                <a:r>
                  <a:rPr kumimoji="0" lang="en-US" altLang="zh-CN" sz="200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endParaRPr lang="zh-CN" altLang="en-US" dirty="0">
                  <a:latin typeface="Arial" panose="020B0604020202020204" pitchFamily="34" charset="0"/>
                  <a:ea typeface="黑体" panose="02010609060101010101" pitchFamily="49" charset="-122"/>
                </a:endParaRPr>
              </a:p>
            </p:txBody>
          </p:sp>
        </mc:Choice>
        <mc:Fallback xmlns="">
          <p:sp>
            <p:nvSpPr>
              <p:cNvPr id="50" name="文本框 49">
                <a:extLst>
                  <a:ext uri="{FF2B5EF4-FFF2-40B4-BE49-F238E27FC236}">
                    <a16:creationId xmlns:a16="http://schemas.microsoft.com/office/drawing/2014/main" id="{C2330B70-2B05-7DBA-054B-955E481B97C7}"/>
                  </a:ext>
                </a:extLst>
              </p:cNvPr>
              <p:cNvSpPr txBox="1">
                <a:spLocks noRot="1" noChangeAspect="1" noMove="1" noResize="1" noEditPoints="1" noAdjustHandles="1" noChangeArrowheads="1" noChangeShapeType="1" noTextEdit="1"/>
              </p:cNvSpPr>
              <p:nvPr/>
            </p:nvSpPr>
            <p:spPr>
              <a:xfrm>
                <a:off x="234007" y="3409837"/>
                <a:ext cx="8716332" cy="1231106"/>
              </a:xfrm>
              <a:prstGeom prst="rect">
                <a:avLst/>
              </a:prstGeom>
              <a:blipFill>
                <a:blip r:embed="rId5"/>
                <a:stretch>
                  <a:fillRect l="-1748" t="-6931" r="-350" b="-12376"/>
                </a:stretch>
              </a:blipFill>
            </p:spPr>
            <p:txBody>
              <a:bodyPr/>
              <a:lstStyle/>
              <a:p>
                <a:r>
                  <a:rPr lang="zh-CN" altLang="en-US">
                    <a:noFill/>
                  </a:rPr>
                  <a:t> </a:t>
                </a:r>
              </a:p>
            </p:txBody>
          </p:sp>
        </mc:Fallback>
      </mc:AlternateContent>
      <p:sp>
        <p:nvSpPr>
          <p:cNvPr id="3" name="文本框 2">
            <a:extLst>
              <a:ext uri="{FF2B5EF4-FFF2-40B4-BE49-F238E27FC236}">
                <a16:creationId xmlns:a16="http://schemas.microsoft.com/office/drawing/2014/main" id="{1D5B003F-C22E-6872-979B-2271E0A41E90}"/>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有限假设空间  不</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可分情况</a:t>
            </a:r>
          </a:p>
        </p:txBody>
      </p:sp>
    </p:spTree>
    <p:extLst>
      <p:ext uri="{BB962C8B-B14F-4D97-AF65-F5344CB8AC3E}">
        <p14:creationId xmlns:p14="http://schemas.microsoft.com/office/powerpoint/2010/main" val="1013112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文本框 2">
            <a:extLst>
              <a:ext uri="{FF2B5EF4-FFF2-40B4-BE49-F238E27FC236}">
                <a16:creationId xmlns:a16="http://schemas.microsoft.com/office/drawing/2014/main" id="{1D5B003F-C22E-6872-979B-2271E0A41E90}"/>
              </a:ext>
            </a:extLst>
          </p:cNvPr>
          <p:cNvSpPr txBox="1"/>
          <p:nvPr/>
        </p:nvSpPr>
        <p:spPr>
          <a:xfrm>
            <a:off x="131351" y="850741"/>
            <a:ext cx="3585416" cy="338554"/>
          </a:xfrm>
          <a:prstGeom prst="rect">
            <a:avLst/>
          </a:prstGeom>
          <a:noFill/>
        </p:spPr>
        <p:txBody>
          <a:bodyPr wrap="square" lIns="0" tIns="0" rIns="0" bIns="0">
            <a:spAutoFit/>
          </a:bodyPr>
          <a:lstStyle/>
          <a:p>
            <a:pPr marL="342900" marR="0" lvl="0" indent="-342900" algn="l" defTabSz="914400" rtl="0" eaLnBrk="1" fontAlgn="auto" latinLnBrk="0" hangingPunct="1">
              <a:spcAft>
                <a:spcPts val="0"/>
              </a:spcAft>
              <a:buClr>
                <a:srgbClr val="16754D"/>
              </a:buClr>
              <a:buSzPct val="100000"/>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不可知 </a:t>
            </a: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PAC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可学习</a:t>
            </a:r>
          </a:p>
        </p:txBody>
      </p:sp>
      <mc:AlternateContent xmlns:mc="http://schemas.openxmlformats.org/markup-compatibility/2006" xmlns:a14="http://schemas.microsoft.com/office/drawing/2010/main">
        <mc:Choice Requires="a14">
          <p:sp>
            <p:nvSpPr>
              <p:cNvPr id="5" name="内容占位符 2">
                <a:extLst>
                  <a:ext uri="{FF2B5EF4-FFF2-40B4-BE49-F238E27FC236}">
                    <a16:creationId xmlns:a16="http://schemas.microsoft.com/office/drawing/2014/main" id="{6BFDD681-25F6-2F1F-808A-FAE9E107FBB8}"/>
                  </a:ext>
                </a:extLst>
              </p:cNvPr>
              <p:cNvSpPr txBox="1">
                <a:spLocks/>
              </p:cNvSpPr>
              <p:nvPr/>
            </p:nvSpPr>
            <p:spPr bwMode="auto">
              <a:xfrm>
                <a:off x="260349" y="1272425"/>
                <a:ext cx="8637465" cy="116754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在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时，学习算法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无法得到</a:t>
                </a:r>
                <a:r>
                  <a:rPr lang="zh-CN" altLang="en-US" sz="2000" dirty="0">
                    <a:solidFill>
                      <a:sysClr val="windowText" lastClr="000000"/>
                    </a:solidFill>
                    <a:latin typeface="Arial" panose="020B0604020202020204" pitchFamily="34" charset="0"/>
                    <a:ea typeface="黑体" panose="02010609060101010101" pitchFamily="49" charset="-122"/>
                  </a:rPr>
                  <a:t>目标概念 </a:t>
                </a:r>
                <a14:m>
                  <m:oMath xmlns:m="http://schemas.openxmlformats.org/officeDocument/2006/math">
                    <m:r>
                      <a:rPr lang="en-US" altLang="zh-CN" sz="2000" b="0" i="1" smtClean="0">
                        <a:solidFill>
                          <a:sysClr val="windowText" lastClr="000000"/>
                        </a:solidFill>
                        <a:latin typeface="Cambria Math" panose="02040503050406030204" pitchFamily="18" charset="0"/>
                      </a:rPr>
                      <m:t>𝑐</m:t>
                    </m:r>
                  </m:oMath>
                </a14:m>
                <a:r>
                  <a:rPr lang="zh-CN" altLang="en-US" sz="2000" dirty="0">
                    <a:solidFill>
                      <a:sysClr val="windowText" lastClr="000000"/>
                    </a:solidFill>
                    <a:latin typeface="Arial" panose="020B0604020202020204" pitchFamily="34" charset="0"/>
                    <a:ea typeface="黑体" panose="02010609060101010101" pitchFamily="49" charset="-122"/>
                  </a:rPr>
                  <a:t> 的 </a:t>
                </a:r>
                <a14:m>
                  <m:oMath xmlns:m="http://schemas.openxmlformats.org/officeDocument/2006/math">
                    <m:r>
                      <a:rPr lang="zh-CN" altLang="en-US" sz="2000" i="1" smtClean="0">
                        <a:solidFill>
                          <a:sysClr val="windowText" lastClr="000000"/>
                        </a:solidFill>
                        <a:latin typeface="Cambria Math" panose="02040503050406030204" pitchFamily="18" charset="0"/>
                      </a:rPr>
                      <m:t>𝜖</m:t>
                    </m:r>
                  </m:oMath>
                </a14:m>
                <a:r>
                  <a:rPr lang="zh-CN" altLang="en-US" sz="2000" dirty="0">
                    <a:solidFill>
                      <a:sysClr val="windowText" lastClr="000000"/>
                    </a:solidFill>
                    <a:latin typeface="Arial" panose="020B0604020202020204" pitchFamily="34" charset="0"/>
                    <a:ea typeface="黑体" panose="02010609060101010101" pitchFamily="49" charset="-122"/>
                  </a:rPr>
                  <a:t> 近似。但是当假设空间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lang="zh-CN" altLang="en-US" sz="2000" dirty="0">
                    <a:solidFill>
                      <a:sysClr val="windowText" lastClr="000000"/>
                    </a:solidFill>
                    <a:latin typeface="Arial" panose="020B0604020202020204" pitchFamily="34" charset="0"/>
                    <a:ea typeface="黑体" panose="02010609060101010101" pitchFamily="49" charset="-122"/>
                  </a:rPr>
                  <a:t> 给定时，其中必存在一个</a:t>
                </a:r>
                <a:r>
                  <a:rPr lang="zh-CN" altLang="en-US" sz="2000" dirty="0">
                    <a:solidFill>
                      <a:srgbClr val="C00000"/>
                    </a:solidFill>
                    <a:latin typeface="Arial" panose="020B0604020202020204" pitchFamily="34" charset="0"/>
                    <a:ea typeface="黑体" panose="02010609060101010101" pitchFamily="49" charset="-122"/>
                  </a:rPr>
                  <a:t>泛化误差最小的假设</a:t>
                </a:r>
                <a:r>
                  <a:rPr lang="zh-CN" altLang="en-US"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func>
                      <m:funcPr>
                        <m:ctrlPr>
                          <a:rPr lang="en-US" altLang="zh-CN" sz="2000" i="1" smtClean="0">
                            <a:solidFill>
                              <a:sysClr val="windowText" lastClr="000000"/>
                            </a:solidFill>
                            <a:latin typeface="Cambria Math" panose="02040503050406030204" pitchFamily="18" charset="0"/>
                          </a:rPr>
                        </m:ctrlPr>
                      </m:funcPr>
                      <m:fName>
                        <m:limLow>
                          <m:limLowPr>
                            <m:ctrlPr>
                              <a:rPr lang="en-US" altLang="zh-CN" sz="2000" i="1" smtClean="0">
                                <a:solidFill>
                                  <a:sysClr val="windowText" lastClr="000000"/>
                                </a:solidFill>
                                <a:latin typeface="Cambria Math" panose="02040503050406030204" pitchFamily="18" charset="0"/>
                              </a:rPr>
                            </m:ctrlPr>
                          </m:limLowPr>
                          <m:e>
                            <m:r>
                              <m:rPr>
                                <m:sty m:val="p"/>
                              </m:rPr>
                              <a:rPr lang="en-US" altLang="zh-CN" sz="2000" b="0" i="0" smtClean="0">
                                <a:solidFill>
                                  <a:sysClr val="windowText" lastClr="000000"/>
                                </a:solidFill>
                                <a:latin typeface="Cambria Math" panose="02040503050406030204" pitchFamily="18" charset="0"/>
                              </a:rPr>
                              <m:t>arg</m:t>
                            </m:r>
                            <m:r>
                              <a:rPr lang="en-US" altLang="zh-CN" sz="2000" b="0" i="0" smtClean="0">
                                <a:solidFill>
                                  <a:sysClr val="windowText" lastClr="000000"/>
                                </a:solidFill>
                                <a:latin typeface="Cambria Math" panose="02040503050406030204" pitchFamily="18" charset="0"/>
                              </a:rPr>
                              <m:t> </m:t>
                            </m:r>
                            <m:r>
                              <m:rPr>
                                <m:sty m:val="p"/>
                              </m:rPr>
                              <a:rPr lang="en-US" altLang="zh-CN" sz="2000" b="0" i="0" smtClean="0">
                                <a:solidFill>
                                  <a:sysClr val="windowText" lastClr="000000"/>
                                </a:solidFill>
                                <a:latin typeface="Cambria Math" panose="02040503050406030204" pitchFamily="18" charset="0"/>
                              </a:rPr>
                              <m:t>min</m:t>
                            </m:r>
                          </m:e>
                          <m:lim>
                            <m:r>
                              <a:rPr lang="en-US" altLang="zh-CN" sz="2000" b="0" i="1" smtClean="0">
                                <a:solidFill>
                                  <a:sysClr val="windowText" lastClr="000000"/>
                                </a:solidFill>
                                <a:latin typeface="Cambria Math" panose="02040503050406030204" pitchFamily="18" charset="0"/>
                              </a:rPr>
                              <m:t>h</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ℋ</m:t>
                            </m:r>
                          </m:lim>
                        </m:limLow>
                      </m:fName>
                      <m:e>
                        <m:r>
                          <a:rPr lang="en-US" altLang="zh-CN" sz="2000" b="0" i="1" smtClean="0">
                            <a:solidFill>
                              <a:sysClr val="windowText" lastClr="000000"/>
                            </a:solidFill>
                            <a:latin typeface="Cambria Math" panose="02040503050406030204" pitchFamily="18" charset="0"/>
                          </a:rPr>
                          <m:t>𝐸</m:t>
                        </m:r>
                        <m:r>
                          <a:rPr lang="en-US" altLang="zh-CN" sz="2000" b="0" i="1" smtClean="0">
                            <a:solidFill>
                              <a:sysClr val="windowText" lastClr="000000"/>
                            </a:solidFill>
                            <a:latin typeface="Cambria Math" panose="02040503050406030204" pitchFamily="18" charset="0"/>
                          </a:rPr>
                          <m:t>(</m:t>
                        </m:r>
                        <m:r>
                          <a:rPr lang="en-US" altLang="zh-CN" sz="2000" b="0" i="1" smtClean="0">
                            <a:solidFill>
                              <a:sysClr val="windowText" lastClr="000000"/>
                            </a:solidFill>
                            <a:latin typeface="Cambria Math" panose="02040503050406030204" pitchFamily="18" charset="0"/>
                          </a:rPr>
                          <m:t>h</m:t>
                        </m:r>
                        <m:r>
                          <a:rPr lang="en-US" altLang="zh-CN" sz="2000" b="0" i="1" smtClean="0">
                            <a:solidFill>
                              <a:sysClr val="windowText" lastClr="000000"/>
                            </a:solidFill>
                            <a:latin typeface="Cambria Math" panose="02040503050406030204" pitchFamily="18" charset="0"/>
                          </a:rPr>
                          <m:t>)</m:t>
                        </m:r>
                      </m:e>
                    </m:func>
                  </m:oMath>
                </a14:m>
                <a:r>
                  <a:rPr lang="zh-CN" altLang="en-US" sz="2000" dirty="0">
                    <a:solidFill>
                      <a:sysClr val="windowText" lastClr="000000"/>
                    </a:solidFill>
                    <a:latin typeface="Arial" panose="020B0604020202020204" pitchFamily="34" charset="0"/>
                    <a:ea typeface="黑体" panose="02010609060101010101" pitchFamily="49" charset="-122"/>
                  </a:rPr>
                  <a:t>，找出此假设</a:t>
                </a:r>
                <a:r>
                  <a:rPr lang="zh-CN" altLang="en-US" sz="2000" dirty="0">
                    <a:solidFill>
                      <a:srgbClr val="C00000"/>
                    </a:solidFill>
                    <a:latin typeface="Arial" panose="020B0604020202020204" pitchFamily="34" charset="0"/>
                    <a:ea typeface="黑体" panose="02010609060101010101" pitchFamily="49" charset="-122"/>
                  </a:rPr>
                  <a:t>的 </a:t>
                </a:r>
                <a14:m>
                  <m:oMath xmlns:m="http://schemas.openxmlformats.org/officeDocument/2006/math">
                    <m:r>
                      <a:rPr lang="zh-CN" altLang="en-US" sz="2000" i="1">
                        <a:solidFill>
                          <a:srgbClr val="C00000"/>
                        </a:solidFill>
                        <a:latin typeface="Cambria Math" panose="02040503050406030204" pitchFamily="18" charset="0"/>
                      </a:rPr>
                      <m:t>𝜖</m:t>
                    </m:r>
                  </m:oMath>
                </a14:m>
                <a:r>
                  <a:rPr lang="zh-CN" altLang="en-US" sz="2000" dirty="0">
                    <a:solidFill>
                      <a:srgbClr val="C00000"/>
                    </a:solidFill>
                    <a:latin typeface="Arial" panose="020B0604020202020204" pitchFamily="34" charset="0"/>
                    <a:ea typeface="黑体" panose="02010609060101010101" pitchFamily="49" charset="-122"/>
                  </a:rPr>
                  <a:t> 近似</a:t>
                </a:r>
                <a:r>
                  <a:rPr lang="zh-CN" altLang="en-US" sz="2000" dirty="0">
                    <a:solidFill>
                      <a:sysClr val="windowText" lastClr="000000"/>
                    </a:solidFill>
                    <a:latin typeface="Arial" panose="020B0604020202020204" pitchFamily="34" charset="0"/>
                    <a:ea typeface="黑体" panose="02010609060101010101" pitchFamily="49" charset="-122"/>
                  </a:rPr>
                  <a:t>也不失为一个较好的目标。</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可以把</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学习的定义做如下推广：</a:t>
                </a:r>
              </a:p>
            </p:txBody>
          </p:sp>
        </mc:Choice>
        <mc:Fallback xmlns="">
          <p:sp>
            <p:nvSpPr>
              <p:cNvPr id="5" name="内容占位符 2">
                <a:extLst>
                  <a:ext uri="{FF2B5EF4-FFF2-40B4-BE49-F238E27FC236}">
                    <a16:creationId xmlns:a16="http://schemas.microsoft.com/office/drawing/2014/main" id="{6BFDD681-25F6-2F1F-808A-FAE9E107FBB8}"/>
                  </a:ext>
                </a:extLst>
              </p:cNvPr>
              <p:cNvSpPr txBox="1">
                <a:spLocks noRot="1" noChangeAspect="1" noMove="1" noResize="1" noEditPoints="1" noAdjustHandles="1" noChangeArrowheads="1" noChangeShapeType="1" noTextEdit="1"/>
              </p:cNvSpPr>
              <p:nvPr/>
            </p:nvSpPr>
            <p:spPr bwMode="auto">
              <a:xfrm>
                <a:off x="260349" y="1272425"/>
                <a:ext cx="8637465" cy="1167543"/>
              </a:xfrm>
              <a:prstGeom prst="rect">
                <a:avLst/>
              </a:prstGeom>
              <a:blipFill>
                <a:blip r:embed="rId3"/>
                <a:stretch>
                  <a:fillRect l="-1835" t="-7853" r="-71" b="-471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6" name="矩形 4">
                <a:extLst>
                  <a:ext uri="{FF2B5EF4-FFF2-40B4-BE49-F238E27FC236}">
                    <a16:creationId xmlns:a16="http://schemas.microsoft.com/office/drawing/2014/main" id="{2F799E9F-615A-0FA5-E1A3-2C1898790965}"/>
                  </a:ext>
                </a:extLst>
              </p:cNvPr>
              <p:cNvSpPr>
                <a:spLocks noChangeArrowheads="1"/>
              </p:cNvSpPr>
              <p:nvPr/>
            </p:nvSpPr>
            <p:spPr bwMode="auto">
              <a:xfrm>
                <a:off x="260350" y="2536931"/>
                <a:ext cx="8548687" cy="233042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noAutofit/>
              </a:bodyPr>
              <a:lstStyle>
                <a:lvl1pPr>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20000"/>
                  </a:lnSpc>
                  <a:buClrTx/>
                  <a:buSzTx/>
                  <a:buFontTx/>
                  <a:buNone/>
                  <a:tabLst/>
                  <a:defRPr/>
                </a:pPr>
                <a:r>
                  <a:rPr kumimoji="0" lang="zh-CN" altLang="en-US" sz="2000" b="1"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定义</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不可知</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PAC</a:t>
                </a:r>
                <a:r>
                  <a:rPr kumimoji="0" lang="zh-CN" altLang="en-US"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可学习</a:t>
                </a:r>
                <a:r>
                  <a:rPr kumimoji="0" lang="en-US" altLang="zh-CN" sz="2000" b="1"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rPr>
                  <a:t>(agnostic PAC Learnable)</a:t>
                </a:r>
              </a:p>
              <a:p>
                <a:pPr lvl="0" indent="457200">
                  <a:buClr>
                    <a:srgbClr val="16754D"/>
                  </a:buClr>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表示从分布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𝒟</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中独立同分布采样得到的样例数目</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0</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对所有分布 </a:t>
                </a:r>
                <a14:m>
                  <m:oMath xmlns:m="http://schemas.openxmlformats.org/officeDocument/2006/math">
                    <m:r>
                      <a:rPr kumimoji="0" lang="zh-CN" altLang="en-US" sz="2000" b="0" i="1" u="none" strike="noStrike" kern="1200" cap="none" spc="0" normalizeH="0" baseline="0" noProof="0">
                        <a:ln>
                          <a:noFill/>
                        </a:ln>
                        <a:solidFill>
                          <a:sysClr val="windowText" lastClr="000000"/>
                        </a:solidFill>
                        <a:effectLst/>
                        <a:uLnTx/>
                        <a:uFillTx/>
                        <a:latin typeface="Cambria Math" panose="02040503050406030204" pitchFamily="18" charset="0"/>
                      </a:rPr>
                      <m:t>𝒟</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zh-CN" altLang="en-US" sz="2000" b="1"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rPr>
                  <a:t>存在</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和多项式函数 </a:t>
                </a:r>
                <a14:m>
                  <m:oMath xmlns:m="http://schemas.openxmlformats.org/officeDocument/2006/math">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rPr>
                      <m:t>poly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 </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使得对于任何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ploy</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𝜖</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type m:val="li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den>
                    </m:f>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𝒙</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size</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𝑐</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能从假设空间 </a:t>
                </a:r>
                <a14:m>
                  <m:oMath xmlns:m="http://schemas.openxmlformats.org/officeDocument/2006/math">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中输出满足下式的假设</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lvl="0" indent="457200">
                  <a:lnSpc>
                    <a:spcPct val="120000"/>
                  </a:lnSpc>
                  <a:buClr>
                    <a:srgbClr val="16754D"/>
                  </a:buClr>
                  <a:defRPr/>
                </a:pPr>
                <a14:m>
                  <m:oMathPara xmlns:m="http://schemas.openxmlformats.org/officeDocument/2006/math">
                    <m:oMathParaPr>
                      <m:jc m:val="centerGroup"/>
                    </m:oMathParaPr>
                    <m:oMath xmlns:m="http://schemas.openxmlformats.org/officeDocument/2006/math">
                      <m:r>
                        <a:rPr lang="en-US" altLang="zh-CN" sz="2000" b="0" i="1" smtClean="0">
                          <a:solidFill>
                            <a:sysClr val="windowText" lastClr="000000"/>
                          </a:solidFill>
                          <a:latin typeface="Cambria Math" panose="02040503050406030204" pitchFamily="18" charset="0"/>
                          <a:ea typeface="黑体" panose="02010609060101010101" pitchFamily="49" charset="-122"/>
                        </a:rPr>
                        <m:t>𝑃</m:t>
                      </m:r>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𝐸</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黑体" panose="02010609060101010101" pitchFamily="49" charset="-122"/>
                            </a:rPr>
                            <m:t>h</m:t>
                          </m:r>
                        </m:e>
                      </m:d>
                      <m:r>
                        <a:rPr lang="en-US" altLang="zh-CN" sz="2000" i="1">
                          <a:solidFill>
                            <a:sysClr val="windowText" lastClr="000000"/>
                          </a:solidFill>
                          <a:latin typeface="Cambria Math" panose="02040503050406030204" pitchFamily="18" charset="0"/>
                          <a:ea typeface="黑体" panose="02010609060101010101" pitchFamily="49" charset="-122"/>
                        </a:rPr>
                        <m:t>−</m:t>
                      </m:r>
                      <m:func>
                        <m:funcPr>
                          <m:ctrlPr>
                            <a:rPr lang="en-US" altLang="zh-CN" sz="2000"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sz="2000"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sz="2000">
                                  <a:solidFill>
                                    <a:sysClr val="windowText" lastClr="000000"/>
                                  </a:solidFill>
                                  <a:latin typeface="Cambria Math" panose="02040503050406030204" pitchFamily="18" charset="0"/>
                                  <a:ea typeface="黑体" panose="02010609060101010101" pitchFamily="49" charset="-122"/>
                                </a:rPr>
                                <m:t>min</m:t>
                              </m:r>
                            </m:e>
                            <m:lim>
                              <m:sSup>
                                <m:sSupPr>
                                  <m:ctrlPr>
                                    <a:rPr lang="en-US" altLang="zh-CN" sz="2000" i="1">
                                      <a:solidFill>
                                        <a:sysClr val="windowText" lastClr="000000"/>
                                      </a:solidFill>
                                      <a:latin typeface="Cambria Math" panose="02040503050406030204" pitchFamily="18" charset="0"/>
                                      <a:ea typeface="黑体" panose="02010609060101010101" pitchFamily="49" charset="-122"/>
                                    </a:rPr>
                                  </m:ctrlPr>
                                </m:sSupPr>
                                <m:e>
                                  <m:r>
                                    <a:rPr lang="en-US" altLang="zh-CN" sz="2000" i="1">
                                      <a:solidFill>
                                        <a:sysClr val="windowText" lastClr="000000"/>
                                      </a:solidFill>
                                      <a:latin typeface="Cambria Math" panose="02040503050406030204" pitchFamily="18" charset="0"/>
                                      <a:ea typeface="黑体" panose="02010609060101010101" pitchFamily="49" charset="-122"/>
                                    </a:rPr>
                                    <m:t>h</m:t>
                                  </m:r>
                                </m:e>
                                <m:sup>
                                  <m:r>
                                    <a:rPr lang="en-US" altLang="zh-CN" sz="2000" i="1">
                                      <a:solidFill>
                                        <a:sysClr val="windowText" lastClr="000000"/>
                                      </a:solidFill>
                                      <a:latin typeface="Cambria Math" panose="02040503050406030204" pitchFamily="18" charset="0"/>
                                      <a:ea typeface="黑体" panose="02010609060101010101" pitchFamily="49" charset="-122"/>
                                    </a:rPr>
                                    <m:t>′</m:t>
                                  </m:r>
                                </m:sup>
                              </m:sSup>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ℋ</m:t>
                              </m:r>
                            </m:lim>
                          </m:limLow>
                        </m:fName>
                        <m:e>
                          <m:acc>
                            <m:accPr>
                              <m:chr m:val="̂"/>
                              <m:ctrlPr>
                                <a:rPr lang="en-US" altLang="zh-CN" sz="2000" b="0" i="1" smtClean="0">
                                  <a:solidFill>
                                    <a:sysClr val="windowText" lastClr="000000"/>
                                  </a:solidFill>
                                  <a:latin typeface="Cambria Math" panose="02040503050406030204" pitchFamily="18" charset="0"/>
                                  <a:ea typeface="黑体" panose="02010609060101010101" pitchFamily="49" charset="-122"/>
                                </a:rPr>
                              </m:ctrlPr>
                            </m:accPr>
                            <m:e>
                              <m:r>
                                <a:rPr lang="en-US" altLang="zh-CN" sz="2000"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p>
                                <m:sSupPr>
                                  <m:ctrlPr>
                                    <a:rPr lang="en-US" altLang="zh-CN" sz="2000" i="1">
                                      <a:solidFill>
                                        <a:sysClr val="windowText" lastClr="000000"/>
                                      </a:solidFill>
                                      <a:latin typeface="Cambria Math" panose="02040503050406030204" pitchFamily="18" charset="0"/>
                                      <a:ea typeface="黑体" panose="02010609060101010101" pitchFamily="49" charset="-122"/>
                                    </a:rPr>
                                  </m:ctrlPr>
                                </m:sSupPr>
                                <m:e>
                                  <m:r>
                                    <a:rPr lang="en-US" altLang="zh-CN" sz="2000" i="1">
                                      <a:solidFill>
                                        <a:sysClr val="windowText" lastClr="000000"/>
                                      </a:solidFill>
                                      <a:latin typeface="Cambria Math" panose="02040503050406030204" pitchFamily="18" charset="0"/>
                                      <a:ea typeface="黑体" panose="02010609060101010101" pitchFamily="49" charset="-122"/>
                                    </a:rPr>
                                    <m:t>h</m:t>
                                  </m:r>
                                </m:e>
                                <m:sup>
                                  <m:r>
                                    <a:rPr lang="en-US" altLang="zh-CN" sz="2000" i="1">
                                      <a:solidFill>
                                        <a:sysClr val="windowText" lastClr="000000"/>
                                      </a:solidFill>
                                      <a:latin typeface="Cambria Math" panose="02040503050406030204" pitchFamily="18" charset="0"/>
                                      <a:ea typeface="黑体" panose="02010609060101010101" pitchFamily="49" charset="-122"/>
                                    </a:rPr>
                                    <m:t>′</m:t>
                                  </m:r>
                                </m:sup>
                              </m:sSup>
                            </m:e>
                          </m:d>
                          <m:r>
                            <a:rPr lang="en-US" altLang="zh-CN" sz="2000" i="1">
                              <a:solidFill>
                                <a:sysClr val="windowText" lastClr="000000"/>
                              </a:solidFill>
                              <a:latin typeface="Cambria Math" panose="02040503050406030204" pitchFamily="18" charset="0"/>
                              <a:ea typeface="Cambria Math" panose="02040503050406030204" pitchFamily="18" charset="0"/>
                            </a:rPr>
                            <m:t>≤</m:t>
                          </m:r>
                          <m:r>
                            <a:rPr lang="zh-CN" altLang="en-US" sz="2000" i="1">
                              <a:solidFill>
                                <a:sysClr val="windowText" lastClr="000000"/>
                              </a:solidFill>
                              <a:latin typeface="Cambria Math" panose="02040503050406030204" pitchFamily="18" charset="0"/>
                              <a:ea typeface="Cambria Math" panose="02040503050406030204" pitchFamily="18" charset="0"/>
                            </a:rPr>
                            <m:t>𝜖</m:t>
                          </m:r>
                        </m:e>
                      </m:func>
                      <m:r>
                        <a:rPr lang="en-US" altLang="zh-CN" sz="2000" b="0" i="1" smtClean="0">
                          <a:solidFill>
                            <a:sysClr val="windowText" lastClr="000000"/>
                          </a:solidFill>
                          <a:latin typeface="Cambria Math" panose="02040503050406030204" pitchFamily="18" charset="0"/>
                          <a:ea typeface="黑体" panose="02010609060101010101" pitchFamily="49" charset="-122"/>
                        </a:rPr>
                        <m:t>) </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Cambria Math" panose="02040503050406030204" pitchFamily="18" charset="0"/>
                        </a:rPr>
                        <m:t>1</m:t>
                      </m:r>
                      <m:r>
                        <a:rPr lang="en-US" altLang="zh-CN" sz="2000" b="0" i="1" smtClean="0">
                          <a:solidFill>
                            <a:sysClr val="windowText" lastClr="000000"/>
                          </a:solidFill>
                          <a:latin typeface="Cambria Math" panose="02040503050406030204" pitchFamily="18" charset="0"/>
                          <a:ea typeface="Cambria Math" panose="02040503050406030204" pitchFamily="18" charset="0"/>
                        </a:rPr>
                        <m:t>−</m:t>
                      </m:r>
                      <m:r>
                        <a:rPr lang="zh-CN" altLang="en-US" sz="2000" b="0" i="1" smtClean="0">
                          <a:solidFill>
                            <a:sysClr val="windowText" lastClr="000000"/>
                          </a:solidFill>
                          <a:latin typeface="Cambria Math" panose="02040503050406030204" pitchFamily="18" charset="0"/>
                          <a:ea typeface="Cambria Math" panose="02040503050406030204" pitchFamily="18" charset="0"/>
                        </a:rPr>
                        <m:t>𝛿</m:t>
                      </m:r>
                    </m:oMath>
                  </m:oMathPara>
                </a14:m>
                <a:endParaRPr lang="en-US" altLang="zh-CN" sz="2000" dirty="0">
                  <a:solidFill>
                    <a:sysClr val="windowText" lastClr="000000"/>
                  </a:solidFill>
                  <a:latin typeface="Arial" panose="020B0604020202020204" pitchFamily="34" charset="0"/>
                  <a:ea typeface="黑体" panose="02010609060101010101" pitchFamily="49" charset="-122"/>
                </a:endParaRPr>
              </a:p>
              <a:p>
                <a:pPr lvl="0">
                  <a:lnSpc>
                    <a:spcPct val="120000"/>
                  </a:lnSpc>
                  <a:buClr>
                    <a:srgbClr val="16754D"/>
                  </a:buClr>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则称假设空间 </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ℋ </a:t>
                </a:r>
                <a:r>
                  <a:rPr lang="zh-CN" altLang="en-US" sz="2000" kern="0" dirty="0">
                    <a:solidFill>
                      <a:prstClr val="black"/>
                    </a:solidFill>
                    <a:latin typeface="Arial" panose="020B0604020202020204" pitchFamily="34" charset="0"/>
                    <a:ea typeface="黑体" panose="02010609060101010101" pitchFamily="49" charset="-122"/>
                  </a:rPr>
                  <a:t>是不可知</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PAC</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可学习的 </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(agnostic PAC Learnable)</a:t>
                </a:r>
                <a:r>
                  <a:rPr lang="zh-CN" altLang="en-US" sz="2000" kern="0" dirty="0">
                    <a:solidFill>
                      <a:prstClr val="black"/>
                    </a:solidFill>
                    <a:latin typeface="Arial" panose="020B0604020202020204" pitchFamily="34" charset="0"/>
                    <a:ea typeface="黑体" panose="02010609060101010101" pitchFamily="49" charset="-122"/>
                  </a:rPr>
                  <a:t>。</a:t>
                </a:r>
                <a:endPar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矩形 4">
                <a:extLst>
                  <a:ext uri="{FF2B5EF4-FFF2-40B4-BE49-F238E27FC236}">
                    <a16:creationId xmlns:a16="http://schemas.microsoft.com/office/drawing/2014/main" id="{2F799E9F-615A-0FA5-E1A3-2C1898790965}"/>
                  </a:ext>
                </a:extLst>
              </p:cNvPr>
              <p:cNvSpPr>
                <a:spLocks noRot="1" noChangeAspect="1" noMove="1" noResize="1" noEditPoints="1" noAdjustHandles="1" noChangeArrowheads="1" noChangeShapeType="1" noTextEdit="1"/>
              </p:cNvSpPr>
              <p:nvPr/>
            </p:nvSpPr>
            <p:spPr bwMode="auto">
              <a:xfrm>
                <a:off x="260350" y="2536931"/>
                <a:ext cx="8548687" cy="2330427"/>
              </a:xfrm>
              <a:prstGeom prst="rect">
                <a:avLst/>
              </a:prstGeom>
              <a:blipFill>
                <a:blip r:embed="rId4"/>
                <a:stretch>
                  <a:fillRect l="-1854" t="-2880" r="-256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9" name="矩形 18">
            <a:extLst>
              <a:ext uri="{FF2B5EF4-FFF2-40B4-BE49-F238E27FC236}">
                <a16:creationId xmlns:a16="http://schemas.microsoft.com/office/drawing/2014/main" id="{A784B9C3-D57C-7787-CA62-BD9700EF147F}"/>
              </a:ext>
            </a:extLst>
          </p:cNvPr>
          <p:cNvSpPr/>
          <p:nvPr/>
        </p:nvSpPr>
        <p:spPr>
          <a:xfrm>
            <a:off x="3716767" y="3904431"/>
            <a:ext cx="1190625" cy="444509"/>
          </a:xfrm>
          <a:prstGeom prst="rect">
            <a:avLst/>
          </a:prstGeom>
          <a:noFill/>
          <a:ln w="28575" cap="flat" cmpd="sng" algn="ctr">
            <a:solidFill>
              <a:srgbClr val="FF0000"/>
            </a:solidFill>
            <a:prstDash val="solid"/>
            <a:miter lim="800000"/>
          </a:ln>
          <a:effectLst/>
        </p:spPr>
        <p:txBody>
          <a:bodyPr lIns="0" tIns="0" rIns="0" bIns="0" anchor="ctr">
            <a:noAutofit/>
          </a:bodyPr>
          <a:lstStyle/>
          <a:p>
            <a:pPr marL="0" marR="0" lvl="0" indent="0" algn="ctr" defTabSz="914400" eaLnBrk="1" fontAlgn="auto" latinLnBrk="0" hangingPunct="1">
              <a:buClrTx/>
              <a:buSzTx/>
              <a:buFontTx/>
              <a:buNone/>
              <a:tabLst/>
              <a:defRPr/>
            </a:pPr>
            <a:endParaRPr kumimoji="0" lang="zh-CN" altLang="en-US" sz="2000" b="0" i="0" u="none" strike="noStrike" kern="0" cap="none" spc="0" normalizeH="0" baseline="0" noProof="0">
              <a:ln>
                <a:noFill/>
              </a:ln>
              <a:solidFill>
                <a:prstClr val="white"/>
              </a:solidFill>
              <a:effectLst/>
              <a:uLnTx/>
              <a:uFillTx/>
              <a:latin typeface="Arial" panose="020B0604020202020204" pitchFamily="34" charset="0"/>
              <a:ea typeface="黑体" panose="02010609060101010101" pitchFamily="49" charset="-122"/>
              <a:cs typeface="+mn-cs"/>
            </a:endParaRPr>
          </a:p>
        </p:txBody>
      </p:sp>
      <p:sp>
        <p:nvSpPr>
          <p:cNvPr id="21" name="文本框 20">
            <a:extLst>
              <a:ext uri="{FF2B5EF4-FFF2-40B4-BE49-F238E27FC236}">
                <a16:creationId xmlns:a16="http://schemas.microsoft.com/office/drawing/2014/main" id="{2AD33308-1261-9D72-2695-1DD6862481C5}"/>
              </a:ext>
            </a:extLst>
          </p:cNvPr>
          <p:cNvSpPr txBox="1"/>
          <p:nvPr/>
        </p:nvSpPr>
        <p:spPr>
          <a:xfrm>
            <a:off x="260350" y="4846099"/>
            <a:ext cx="5835650" cy="307777"/>
          </a:xfrm>
          <a:prstGeom prst="rect">
            <a:avLst/>
          </a:prstGeom>
          <a:noFill/>
        </p:spPr>
        <p:txBody>
          <a:bodyPr wrap="square" lIns="0" tIns="0" rIns="0" bIns="0">
            <a:noAutofit/>
          </a:bodyPr>
          <a:lstStyle/>
          <a:p>
            <a:pPr marL="342900" marR="0" lvl="0" indent="-342900" algn="l" defTabSz="914400" rtl="0" eaLnBrk="1" fontAlgn="auto" latinLnBrk="0" hangingPunct="1">
              <a:buClr>
                <a:srgbClr val="16754D"/>
              </a:buClr>
              <a:buSzPct val="100000"/>
              <a:buFont typeface="Arial" panose="020B0604020202020204" pitchFamily="34" charset="0"/>
              <a:buChar char="•"/>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12.1</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说明有限假设集是不可知</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可学习的。</a:t>
            </a:r>
          </a:p>
        </p:txBody>
      </p:sp>
      <mc:AlternateContent xmlns:mc="http://schemas.openxmlformats.org/markup-compatibility/2006" xmlns:a14="http://schemas.microsoft.com/office/drawing/2010/main">
        <mc:Choice Requires="a14">
          <p:sp>
            <p:nvSpPr>
              <p:cNvPr id="7" name="内容占位符 2">
                <a:extLst>
                  <a:ext uri="{FF2B5EF4-FFF2-40B4-BE49-F238E27FC236}">
                    <a16:creationId xmlns:a16="http://schemas.microsoft.com/office/drawing/2014/main" id="{FC9E4F54-941D-96E4-E740-2DE317F25B3F}"/>
                  </a:ext>
                </a:extLst>
              </p:cNvPr>
              <p:cNvSpPr txBox="1">
                <a:spLocks/>
              </p:cNvSpPr>
              <p:nvPr/>
            </p:nvSpPr>
            <p:spPr bwMode="auto">
              <a:xfrm>
                <a:off x="266699" y="5450622"/>
                <a:ext cx="8817011" cy="99037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fontAlgn="auto">
                  <a:lnSpc>
                    <a:spcPct val="100000"/>
                  </a:lnSpc>
                  <a:spcBef>
                    <a:spcPts val="0"/>
                  </a:spcBef>
                  <a:spcAft>
                    <a:spcPts val="0"/>
                  </a:spcAft>
                  <a:buClr>
                    <a:srgbClr val="16754D"/>
                  </a:buClr>
                  <a:buNone/>
                  <a:defRPr/>
                </a:pPr>
                <a:r>
                  <a:rPr lang="zh-CN" altLang="en-US" sz="2000" dirty="0">
                    <a:solidFill>
                      <a:sysClr val="windowText" lastClr="000000"/>
                    </a:solidFill>
                    <a:latin typeface="Arial" panose="020B0604020202020204" pitchFamily="34" charset="0"/>
                    <a:ea typeface="黑体" panose="02010609060101010101" pitchFamily="49" charset="-122"/>
                  </a:rPr>
                  <a:t>若</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学习算法 </a:t>
                </a:r>
                <a14:m>
                  <m:oMath xmlns:m="http://schemas.openxmlformats.org/officeDocument/2006/math">
                    <m:r>
                      <a:rPr lang="zh-CN" altLang="en-US" sz="2000" i="1">
                        <a:solidFill>
                          <a:prstClr val="black"/>
                        </a:solidFill>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的运行时间也是多项式函数 </a:t>
                </a:r>
                <a14:m>
                  <m:oMath xmlns:m="http://schemas.openxmlformats.org/officeDocument/2006/math">
                    <m:r>
                      <m:rPr>
                        <m:sty m:val="p"/>
                      </m:rPr>
                      <a:rPr lang="en-US" altLang="zh-CN" sz="2000">
                        <a:solidFill>
                          <a:sysClr val="windowText" lastClr="000000"/>
                        </a:solidFill>
                        <a:latin typeface="Cambria Math" panose="02040503050406030204" pitchFamily="18" charset="0"/>
                        <a:ea typeface="Cambria Math" panose="02040503050406030204" pitchFamily="18" charset="0"/>
                      </a:rPr>
                      <m:t>ploy</m:t>
                    </m:r>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𝜖</m:t>
                        </m:r>
                      </m:den>
                    </m:f>
                    <m:r>
                      <a:rPr lang="en-US" altLang="zh-CN" sz="2000" i="1">
                        <a:solidFill>
                          <a:sysClr val="windowText" lastClr="000000"/>
                        </a:solidFill>
                        <a:latin typeface="Cambria Math" panose="02040503050406030204" pitchFamily="18" charset="0"/>
                        <a:ea typeface="Cambria Math" panose="02040503050406030204" pitchFamily="18" charset="0"/>
                      </a:rPr>
                      <m:t>,</m:t>
                    </m:r>
                    <m:f>
                      <m:fPr>
                        <m:type m:val="lin"/>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1</m:t>
                        </m:r>
                      </m:num>
                      <m:den>
                        <m:r>
                          <a:rPr lang="zh-CN" altLang="en-US" sz="2000" i="1">
                            <a:solidFill>
                              <a:sysClr val="windowText" lastClr="000000"/>
                            </a:solidFill>
                            <a:latin typeface="Cambria Math" panose="02040503050406030204" pitchFamily="18" charset="0"/>
                            <a:ea typeface="Cambria Math" panose="02040503050406030204" pitchFamily="18" charset="0"/>
                          </a:rPr>
                          <m:t>𝛿</m:t>
                        </m:r>
                      </m:den>
                    </m:f>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r>
                          <a:rPr lang="en-US" altLang="zh-CN" sz="2000" b="1" i="1">
                            <a:solidFill>
                              <a:sysClr val="windowText" lastClr="000000"/>
                            </a:solidFill>
                            <a:latin typeface="Cambria Math" panose="02040503050406030204" pitchFamily="18" charset="0"/>
                            <a:ea typeface="Cambria Math" panose="02040503050406030204" pitchFamily="18" charset="0"/>
                          </a:rPr>
                          <m:t>𝒙</m:t>
                        </m:r>
                      </m:e>
                    </m:d>
                    <m:r>
                      <a:rPr lang="en-US" altLang="zh-CN" sz="2000" i="1">
                        <a:solidFill>
                          <a:sysClr val="windowText" lastClr="000000"/>
                        </a:solidFill>
                        <a:latin typeface="Cambria Math" panose="02040503050406030204" pitchFamily="18" charset="0"/>
                        <a:ea typeface="Cambria Math" panose="02040503050406030204" pitchFamily="18" charset="0"/>
                      </a:rPr>
                      <m:t>,</m:t>
                    </m:r>
                    <m:r>
                      <m:rPr>
                        <m:sty m:val="p"/>
                      </m:rPr>
                      <a:rPr lang="en-US" altLang="zh-CN" sz="2000">
                        <a:solidFill>
                          <a:sysClr val="windowText" lastClr="000000"/>
                        </a:solidFill>
                        <a:latin typeface="Cambria Math" panose="02040503050406030204" pitchFamily="18" charset="0"/>
                        <a:ea typeface="Cambria Math" panose="02040503050406030204" pitchFamily="18" charset="0"/>
                      </a:rPr>
                      <m:t>size</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𝑐</m:t>
                    </m:r>
                    <m:r>
                      <a:rPr lang="en-US" altLang="zh-CN" sz="2000" i="1">
                        <a:solidFill>
                          <a:sysClr val="windowText" lastClr="000000"/>
                        </a:solidFill>
                        <a:latin typeface="Cambria Math" panose="02040503050406030204" pitchFamily="18" charset="0"/>
                        <a:ea typeface="Cambria Math" panose="02040503050406030204" pitchFamily="18" charset="0"/>
                      </a:rPr>
                      <m:t>))</m:t>
                    </m:r>
                  </m:oMath>
                </a14:m>
                <a:r>
                  <a:rPr lang="en-US" altLang="zh-CN" sz="2000" dirty="0">
                    <a:solidFill>
                      <a:sysClr val="windowText" lastClr="000000"/>
                    </a:solidFill>
                    <a:latin typeface="Arial" panose="020B0604020202020204" pitchFamily="34" charset="0"/>
                    <a:ea typeface="黑体" panose="02010609060101010101" pitchFamily="49" charset="-122"/>
                  </a:rPr>
                  <a:t>,</a:t>
                </a: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则称假设空间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sz="2000" dirty="0">
                    <a:solidFill>
                      <a:sysClr val="windowText" lastClr="000000"/>
                    </a:solidFill>
                    <a:latin typeface="Arial" panose="020B0604020202020204" pitchFamily="34" charset="0"/>
                    <a:ea typeface="黑体" panose="02010609060101010101" pitchFamily="49" charset="-122"/>
                  </a:rPr>
                  <a:t>是高效不可知</a:t>
                </a:r>
                <a:r>
                  <a:rPr lang="en-US" altLang="zh-CN" sz="2000" dirty="0">
                    <a:solidFill>
                      <a:sysClr val="windowText" lastClr="000000"/>
                    </a:solidFill>
                    <a:latin typeface="Arial" panose="020B0604020202020204" pitchFamily="34" charset="0"/>
                    <a:ea typeface="黑体" panose="02010609060101010101" pitchFamily="49" charset="-122"/>
                  </a:rPr>
                  <a:t>PAC</a:t>
                </a:r>
                <a:r>
                  <a:rPr lang="zh-CN" altLang="en-US" sz="2000" dirty="0">
                    <a:solidFill>
                      <a:sysClr val="windowText" lastClr="000000"/>
                    </a:solidFill>
                    <a:latin typeface="Arial" panose="020B0604020202020204" pitchFamily="34" charset="0"/>
                    <a:ea typeface="黑体" panose="02010609060101010101" pitchFamily="49" charset="-122"/>
                  </a:rPr>
                  <a:t>可学的，学习算法 </a:t>
                </a:r>
                <a14:m>
                  <m:oMath xmlns:m="http://schemas.openxmlformats.org/officeDocument/2006/math">
                    <m:r>
                      <a:rPr lang="zh-CN" altLang="en-US" sz="2000" i="1" smtClean="0">
                        <a:solidFill>
                          <a:sysClr val="windowText" lastClr="000000"/>
                        </a:solidFill>
                        <a:latin typeface="Cambria Math" panose="02040503050406030204" pitchFamily="18" charset="0"/>
                        <a:ea typeface="黑体" panose="02010609060101010101" pitchFamily="49" charset="-122"/>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sz="2000" noProof="0" dirty="0">
                    <a:solidFill>
                      <a:sysClr val="windowText" lastClr="000000"/>
                    </a:solidFill>
                    <a:latin typeface="Arial" panose="020B0604020202020204" pitchFamily="34" charset="0"/>
                    <a:ea typeface="黑体" panose="02010609060101010101" pitchFamily="49" charset="-122"/>
                  </a:rPr>
                  <a:t>称为假设空间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lang="zh-CN" altLang="en-US" sz="2000" noProof="0" dirty="0">
                    <a:solidFill>
                      <a:sysClr val="windowText" lastClr="000000"/>
                    </a:solidFill>
                    <a:latin typeface="Arial" panose="020B0604020202020204" pitchFamily="34" charset="0"/>
                    <a:ea typeface="黑体" panose="02010609060101010101" pitchFamily="49" charset="-122"/>
                  </a:rPr>
                  <a:t> 的不可知</a:t>
                </a:r>
                <a:r>
                  <a:rPr lang="en-US" altLang="zh-CN" sz="2000" noProof="0" dirty="0">
                    <a:solidFill>
                      <a:sysClr val="windowText" lastClr="000000"/>
                    </a:solidFill>
                    <a:latin typeface="Arial" panose="020B0604020202020204" pitchFamily="34" charset="0"/>
                    <a:ea typeface="黑体" panose="02010609060101010101" pitchFamily="49" charset="-122"/>
                  </a:rPr>
                  <a:t>PAC</a:t>
                </a:r>
                <a:r>
                  <a:rPr lang="zh-CN" altLang="en-US" sz="2000" noProof="0" dirty="0">
                    <a:solidFill>
                      <a:sysClr val="windowText" lastClr="000000"/>
                    </a:solidFill>
                    <a:latin typeface="Arial" panose="020B0604020202020204" pitchFamily="34" charset="0"/>
                    <a:ea typeface="黑体" panose="02010609060101010101" pitchFamily="49" charset="-122"/>
                  </a:rPr>
                  <a:t>可学习算法，满足上述要求最小的 </a:t>
                </a:r>
                <a14:m>
                  <m:oMath xmlns:m="http://schemas.openxmlformats.org/officeDocument/2006/math">
                    <m:r>
                      <a:rPr lang="en-US" altLang="zh-CN" sz="2000" b="0" i="1" noProof="0" smtClean="0">
                        <a:solidFill>
                          <a:sysClr val="windowText" lastClr="000000"/>
                        </a:solidFill>
                        <a:latin typeface="Cambria Math" panose="02040503050406030204" pitchFamily="18" charset="0"/>
                        <a:ea typeface="黑体" panose="02010609060101010101" pitchFamily="49" charset="-122"/>
                      </a:rPr>
                      <m:t>𝑚</m:t>
                    </m:r>
                  </m:oMath>
                </a14:m>
                <a:r>
                  <a:rPr lang="zh-CN" altLang="en-US" sz="2000" noProof="0" dirty="0">
                    <a:solidFill>
                      <a:sysClr val="windowText" lastClr="000000"/>
                    </a:solidFill>
                    <a:latin typeface="Arial" panose="020B0604020202020204" pitchFamily="34" charset="0"/>
                    <a:ea typeface="黑体" panose="02010609060101010101" pitchFamily="49" charset="-122"/>
                  </a:rPr>
                  <a:t> 称为学习算法 </a:t>
                </a:r>
                <a14:m>
                  <m:oMath xmlns:m="http://schemas.openxmlformats.org/officeDocument/2006/math">
                    <m:r>
                      <a:rPr lang="zh-CN" altLang="en-US" sz="2000" i="1">
                        <a:solidFill>
                          <a:sysClr val="windowText" lastClr="000000"/>
                        </a:solidFill>
                        <a:latin typeface="Cambria Math" panose="02040503050406030204" pitchFamily="18" charset="0"/>
                        <a:ea typeface="黑体" panose="02010609060101010101" pitchFamily="49" charset="-122"/>
                      </a:rPr>
                      <m:t>𝔏</m:t>
                    </m:r>
                  </m:oMath>
                </a14:m>
                <a:r>
                  <a:rPr lang="zh-CN" altLang="en-US" sz="2000" noProof="0" dirty="0">
                    <a:solidFill>
                      <a:sysClr val="windowText" lastClr="000000"/>
                    </a:solidFill>
                    <a:latin typeface="Arial" panose="020B0604020202020204" pitchFamily="34" charset="0"/>
                    <a:ea typeface="黑体" panose="02010609060101010101" pitchFamily="49" charset="-122"/>
                  </a:rPr>
                  <a:t> 的样本复杂度。</a:t>
                </a: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7" name="内容占位符 2">
                <a:extLst>
                  <a:ext uri="{FF2B5EF4-FFF2-40B4-BE49-F238E27FC236}">
                    <a16:creationId xmlns:a16="http://schemas.microsoft.com/office/drawing/2014/main" id="{FC9E4F54-941D-96E4-E740-2DE317F25B3F}"/>
                  </a:ext>
                </a:extLst>
              </p:cNvPr>
              <p:cNvSpPr txBox="1">
                <a:spLocks noRot="1" noChangeAspect="1" noMove="1" noResize="1" noEditPoints="1" noAdjustHandles="1" noChangeArrowheads="1" noChangeShapeType="1" noTextEdit="1"/>
              </p:cNvSpPr>
              <p:nvPr/>
            </p:nvSpPr>
            <p:spPr bwMode="auto">
              <a:xfrm>
                <a:off x="266699" y="5450622"/>
                <a:ext cx="8817011" cy="990372"/>
              </a:xfrm>
              <a:prstGeom prst="rect">
                <a:avLst/>
              </a:prstGeom>
              <a:blipFill>
                <a:blip r:embed="rId5"/>
                <a:stretch>
                  <a:fillRect l="-1798" t="-50307" r="-1591" b="-920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4143148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3">
                <a:extLst>
                  <a:ext uri="{FF2B5EF4-FFF2-40B4-BE49-F238E27FC236}">
                    <a16:creationId xmlns:a16="http://schemas.microsoft.com/office/drawing/2014/main" id="{E092D23C-2AC1-B017-A5E1-85F27ECCA76A}"/>
                  </a:ext>
                </a:extLst>
              </p:cNvPr>
              <p:cNvSpPr txBox="1">
                <a:spLocks/>
              </p:cNvSpPr>
              <p:nvPr/>
            </p:nvSpPr>
            <p:spPr bwMode="auto">
              <a:xfrm>
                <a:off x="141848" y="1371488"/>
                <a:ext cx="9045574" cy="15431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defTabSz="914400" rtl="0" eaLnBrk="1" fontAlgn="auto" latinLnBrk="0" hangingPunct="1">
                  <a:lnSpc>
                    <a:spcPct val="100000"/>
                  </a:lnSpc>
                  <a:spcBef>
                    <a:spcPts val="600"/>
                  </a:spcBef>
                  <a:spcAft>
                    <a:spcPts val="0"/>
                  </a:spcAft>
                  <a:buClr>
                    <a:srgbClr val="16754D"/>
                  </a:buClr>
                  <a:buSzPct val="12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现实学习任务所面临的通常是</a:t>
                </a:r>
                <a:r>
                  <a:rPr kumimoji="0" lang="zh-CN" altLang="en-US" sz="2000"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无限假设空间</a:t>
                </a:r>
                <a:r>
                  <a:rPr kumimoji="0" lang="zh-CN" altLang="en-US" sz="20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a:t>
                </a:r>
                <a:r>
                  <a:rPr lang="zh-CN" altLang="en-US" sz="2000" noProof="0" dirty="0">
                    <a:latin typeface="Arial" panose="020B0604020202020204" pitchFamily="34" charset="0"/>
                    <a:ea typeface="黑体" panose="02010609060101010101" pitchFamily="49" charset="-122"/>
                  </a:rPr>
                  <a:t>如</a:t>
                </a:r>
                <a:r>
                  <a:rPr kumimoji="0" lang="zh-CN" altLang="en-US" sz="2000" b="0" i="0" u="none" strike="noStrike" kern="1200" cap="none" spc="0" normalizeH="0" noProof="0" dirty="0">
                    <a:ln>
                      <a:noFill/>
                    </a:ln>
                    <a:effectLst/>
                    <a:uLnTx/>
                    <a:uFillTx/>
                    <a:latin typeface="Arial" panose="020B0604020202020204" pitchFamily="34" charset="0"/>
                    <a:ea typeface="黑体" panose="02010609060101010101" pitchFamily="49" charset="-122"/>
                  </a:rPr>
                  <a:t>实数</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域中的所有区间</a:t>
                </a:r>
                <a:r>
                  <a:rPr lang="zh-CN" altLang="en-US" sz="2000" dirty="0">
                    <a:solidFill>
                      <a:sysClr val="windowText" lastClr="000000"/>
                    </a:solidFill>
                    <a:latin typeface="Arial" panose="020B0604020202020204" pitchFamily="34" charset="0"/>
                    <a:ea typeface="黑体" panose="02010609060101010101" pitchFamily="49" charset="-122"/>
                  </a:rPr>
                  <a:t>，</a:t>
                </a:r>
                <a14:m>
                  <m:oMath xmlns:m="http://schemas.openxmlformats.org/officeDocument/2006/math">
                    <m:sSup>
                      <m:sSup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ctrlPr>
                      </m:sSup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e>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rPr>
                          <m:t>𝑑</m:t>
                        </m:r>
                      </m:sup>
                    </m:sSup>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空间中的所有线性超平面。</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1" indent="0"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研究此种情形下的可学习性，需使用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之外的方法度量假设空间的复杂性：</a:t>
                </a:r>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342900" marR="0" lvl="2" indent="-342900"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en-US" altLang="zh-CN" sz="2000" b="0" i="0" u="none" strike="noStrike" kern="1200" cap="none" spc="0" normalizeH="0" noProof="0" dirty="0" err="1">
                    <a:ln>
                      <a:noFill/>
                    </a:ln>
                    <a:solidFill>
                      <a:sysClr val="windowText" lastClr="000000"/>
                    </a:solidFill>
                    <a:effectLst/>
                    <a:uLnTx/>
                    <a:uFillTx/>
                    <a:latin typeface="Arial" panose="020B0604020202020204" pitchFamily="34" charset="0"/>
                    <a:ea typeface="黑体" panose="02010609060101010101" pitchFamily="49" charset="-122"/>
                  </a:rPr>
                  <a:t>Vapnik-Chervonenkis</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dimension)</a:t>
                </a:r>
              </a:p>
              <a:p>
                <a:pPr marL="342900" marR="0" lvl="2" indent="-342900"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noProof="0" dirty="0" err="1">
                    <a:ln>
                      <a:noFill/>
                    </a:ln>
                    <a:solidFill>
                      <a:sysClr val="windowText" lastClr="000000"/>
                    </a:solidFill>
                    <a:effectLst/>
                    <a:uLnTx/>
                    <a:uFillTx/>
                    <a:latin typeface="Arial" panose="020B0604020202020204" pitchFamily="34" charset="0"/>
                    <a:ea typeface="黑体" panose="02010609060101010101" pitchFamily="49" charset="-122"/>
                  </a:rPr>
                  <a:t>Rademacher</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Complexity)</a:t>
                </a:r>
              </a:p>
            </p:txBody>
          </p:sp>
        </mc:Choice>
        <mc:Fallback xmlns="">
          <p:sp>
            <p:nvSpPr>
              <p:cNvPr id="3" name="内容占位符 3">
                <a:extLst>
                  <a:ext uri="{FF2B5EF4-FFF2-40B4-BE49-F238E27FC236}">
                    <a16:creationId xmlns:a16="http://schemas.microsoft.com/office/drawing/2014/main" id="{E092D23C-2AC1-B017-A5E1-85F27ECCA76A}"/>
                  </a:ext>
                </a:extLst>
              </p:cNvPr>
              <p:cNvSpPr txBox="1">
                <a:spLocks noRot="1" noChangeAspect="1" noMove="1" noResize="1" noEditPoints="1" noAdjustHandles="1" noChangeArrowheads="1" noChangeShapeType="1" noTextEdit="1"/>
              </p:cNvSpPr>
              <p:nvPr/>
            </p:nvSpPr>
            <p:spPr bwMode="auto">
              <a:xfrm>
                <a:off x="141848" y="1371488"/>
                <a:ext cx="9045574" cy="1543158"/>
              </a:xfrm>
              <a:prstGeom prst="rect">
                <a:avLst/>
              </a:prstGeom>
              <a:blipFill>
                <a:blip r:embed="rId2"/>
                <a:stretch>
                  <a:fillRect l="-1887" t="-5534" r="-809" b="-1106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3">
                <a:extLst>
                  <a:ext uri="{FF2B5EF4-FFF2-40B4-BE49-F238E27FC236}">
                    <a16:creationId xmlns:a16="http://schemas.microsoft.com/office/drawing/2014/main" id="{9E994FC5-601D-8176-633D-41C0367DBD4C}"/>
                  </a:ext>
                </a:extLst>
              </p:cNvPr>
              <p:cNvSpPr txBox="1">
                <a:spLocks/>
              </p:cNvSpPr>
              <p:nvPr/>
            </p:nvSpPr>
            <p:spPr bwMode="auto">
              <a:xfrm>
                <a:off x="141848" y="3214034"/>
                <a:ext cx="8860303" cy="317802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fontAlgn="auto">
                  <a:lnSpc>
                    <a:spcPct val="100000"/>
                  </a:lnSpc>
                  <a:spcBef>
                    <a:spcPts val="0"/>
                  </a:spcBef>
                  <a:spcAft>
                    <a:spcPts val="0"/>
                  </a:spcAft>
                  <a:buClr>
                    <a:srgbClr val="16754D"/>
                  </a:buClr>
                  <a:buSzPct val="120000"/>
                  <a:buNone/>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记号引入：</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r>
                  <a:rPr lang="zh-CN" altLang="en-US" dirty="0">
                    <a:solidFill>
                      <a:sysClr val="windowText" lastClr="000000"/>
                    </a:solidFill>
                    <a:latin typeface="Arial" panose="020B0604020202020204" pitchFamily="34" charset="0"/>
                    <a:ea typeface="黑体" panose="02010609060101010101" pitchFamily="49" charset="-122"/>
                  </a:rPr>
                  <a:t>令 </a:t>
                </a:r>
                <a14:m>
                  <m:oMath xmlns:m="http://schemas.openxmlformats.org/officeDocument/2006/math">
                    <m:r>
                      <a:rPr lang="en-US" altLang="zh-CN" i="1">
                        <a:solidFill>
                          <a:sysClr val="windowText" lastClr="000000"/>
                        </a:solidFill>
                        <a:latin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表示</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假设空间，其中的假设是 </a:t>
                </a:r>
                <a14:m>
                  <m:oMath xmlns:m="http://schemas.openxmlformats.org/officeDocument/2006/math">
                    <m:r>
                      <a:rPr kumimoji="0" lang="zh-CN" altLang="en-US"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到 </a:t>
                </a:r>
                <a14:m>
                  <m:oMath xmlns:m="http://schemas.openxmlformats.org/officeDocument/2006/math">
                    <m:r>
                      <a:rPr kumimoji="0" lang="zh-CN" altLang="en-US"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𝒴</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的映射，对于数据集 </a:t>
                </a:r>
                <a14:m>
                  <m:oMath xmlns:m="http://schemas.openxmlformats.org/officeDocument/2006/math">
                    <m:r>
                      <a:rPr lang="en-US" altLang="zh-CN" i="1">
                        <a:solidFill>
                          <a:sysClr val="windowText" lastClr="000000"/>
                        </a:solidFill>
                        <a:latin typeface="Cambria Math" panose="02040503050406030204" pitchFamily="18" charset="0"/>
                      </a:rPr>
                      <m:t>𝐷</m:t>
                    </m:r>
                    <m:r>
                      <a:rPr lang="en-US" altLang="zh-CN" i="1">
                        <a:solidFill>
                          <a:sysClr val="windowText" lastClr="000000"/>
                        </a:solidFill>
                        <a:latin typeface="Cambria Math" panose="02040503050406030204" pitchFamily="18" charset="0"/>
                      </a:rPr>
                      <m:t>={</m:t>
                    </m:r>
                    <m:sSub>
                      <m:sSubPr>
                        <m:ctrlPr>
                          <a:rPr lang="en-US" altLang="zh-CN" i="1">
                            <a:solidFill>
                              <a:sysClr val="windowText" lastClr="000000"/>
                            </a:solidFill>
                            <a:latin typeface="Cambria Math" panose="02040503050406030204" pitchFamily="18" charset="0"/>
                          </a:rPr>
                        </m:ctrlPr>
                      </m:sSubPr>
                      <m:e>
                        <m:r>
                          <a:rPr lang="en-US" altLang="zh-CN" i="1">
                            <a:solidFill>
                              <a:sysClr val="windowText" lastClr="000000"/>
                            </a:solidFill>
                            <a:latin typeface="Cambria Math" panose="02040503050406030204" pitchFamily="18" charset="0"/>
                          </a:rPr>
                          <m:t>𝑥</m:t>
                        </m:r>
                      </m:e>
                      <m:sub>
                        <m:r>
                          <a:rPr lang="en-US" altLang="zh-CN" i="1">
                            <a:solidFill>
                              <a:sysClr val="windowText" lastClr="000000"/>
                            </a:solidFill>
                            <a:latin typeface="Cambria Math" panose="02040503050406030204" pitchFamily="18" charset="0"/>
                          </a:rPr>
                          <m:t>1</m:t>
                        </m:r>
                      </m:sub>
                    </m:sSub>
                    <m:r>
                      <a:rPr lang="en-US" altLang="zh-CN" i="1">
                        <a:solidFill>
                          <a:sysClr val="windowText" lastClr="000000"/>
                        </a:solidFill>
                        <a:latin typeface="Cambria Math" panose="02040503050406030204" pitchFamily="18" charset="0"/>
                      </a:rPr>
                      <m:t>,</m:t>
                    </m:r>
                    <m:sSub>
                      <m:sSubPr>
                        <m:ctrlPr>
                          <a:rPr lang="en-US" altLang="zh-CN" i="1">
                            <a:solidFill>
                              <a:sysClr val="windowText" lastClr="000000"/>
                            </a:solidFill>
                            <a:latin typeface="Cambria Math" panose="02040503050406030204" pitchFamily="18" charset="0"/>
                          </a:rPr>
                        </m:ctrlPr>
                      </m:sSubPr>
                      <m:e>
                        <m:r>
                          <a:rPr lang="en-US" altLang="zh-CN" i="1">
                            <a:solidFill>
                              <a:sysClr val="windowText" lastClr="000000"/>
                            </a:solidFill>
                            <a:latin typeface="Cambria Math" panose="02040503050406030204" pitchFamily="18" charset="0"/>
                          </a:rPr>
                          <m:t>𝑥</m:t>
                        </m:r>
                      </m:e>
                      <m:sub>
                        <m:r>
                          <a:rPr lang="en-US" altLang="zh-CN" i="1">
                            <a:solidFill>
                              <a:sysClr val="windowText" lastClr="000000"/>
                            </a:solidFill>
                            <a:latin typeface="Cambria Math" panose="02040503050406030204" pitchFamily="18" charset="0"/>
                          </a:rPr>
                          <m:t>2</m:t>
                        </m:r>
                      </m:sub>
                    </m:sSub>
                    <m:r>
                      <a:rPr lang="en-US" altLang="zh-CN" i="1">
                        <a:solidFill>
                          <a:sysClr val="windowText" lastClr="000000"/>
                        </a:solidFill>
                        <a:latin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m:t>
                    </m:r>
                    <m:sSub>
                      <m:sSubPr>
                        <m:ctrlPr>
                          <a:rPr lang="en-US" altLang="zh-CN" i="1">
                            <a:solidFill>
                              <a:sysClr val="windowText" lastClr="000000"/>
                            </a:solidFill>
                            <a:latin typeface="Cambria Math" panose="02040503050406030204" pitchFamily="18" charset="0"/>
                            <a:ea typeface="Cambria Math" panose="02040503050406030204" pitchFamily="18" charset="0"/>
                          </a:rPr>
                        </m:ctrlPr>
                      </m:sSubPr>
                      <m:e>
                        <m:r>
                          <a:rPr lang="en-US" altLang="zh-CN" i="1">
                            <a:solidFill>
                              <a:sysClr val="windowText" lastClr="000000"/>
                            </a:solidFill>
                            <a:latin typeface="Cambria Math" panose="02040503050406030204" pitchFamily="18" charset="0"/>
                            <a:ea typeface="Cambria Math" panose="02040503050406030204" pitchFamily="18" charset="0"/>
                          </a:rPr>
                          <m:t>𝑥</m:t>
                        </m:r>
                      </m:e>
                      <m:sub>
                        <m:r>
                          <a:rPr lang="en-US" altLang="zh-CN" i="1">
                            <a:solidFill>
                              <a:sysClr val="windowText" lastClr="000000"/>
                            </a:solidFill>
                            <a:latin typeface="Cambria Math" panose="02040503050406030204" pitchFamily="18" charset="0"/>
                            <a:ea typeface="Cambria Math" panose="02040503050406030204" pitchFamily="18" charset="0"/>
                          </a:rPr>
                          <m:t>𝑚</m:t>
                        </m:r>
                      </m:sub>
                    </m:sSub>
                    <m:r>
                      <a:rPr lang="en-US" altLang="zh-CN" i="1">
                        <a:solidFill>
                          <a:sysClr val="windowText" lastClr="000000"/>
                        </a:solidFill>
                        <a:latin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m:t>
                    </m:r>
                    <m:r>
                      <a:rPr lang="zh-CN" altLang="en-US" i="1">
                        <a:solidFill>
                          <a:sysClr val="windowText" lastClr="000000"/>
                        </a:solidFill>
                        <a:latin typeface="Cambria Math" panose="02040503050406030204" pitchFamily="18" charset="0"/>
                        <a:ea typeface="黑体" panose="02010609060101010101" pitchFamily="49" charset="-122"/>
                      </a:rPr>
                      <m:t>𝒳</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14:m>
                  <m:oMath xmlns:m="http://schemas.openxmlformats.org/officeDocument/2006/math">
                    <m:r>
                      <a:rPr kumimoji="0" lang="en-US" altLang="zh-CN" b="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中每个假设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h</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都能对</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中示例赋予标记</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rPr>
                  <a:t>标记结果</a:t>
                </a:r>
                <a:r>
                  <a:rPr lang="zh-CN" altLang="en-US" dirty="0">
                    <a:solidFill>
                      <a:sysClr val="windowText" lastClr="000000"/>
                    </a:solidFill>
                    <a:latin typeface="Arial" panose="020B0604020202020204" pitchFamily="34" charset="0"/>
                    <a:ea typeface="黑体" panose="02010609060101010101" pitchFamily="49" charset="-122"/>
                  </a:rPr>
                  <a:t>称为 </a:t>
                </a:r>
                <a14:m>
                  <m:oMath xmlns:m="http://schemas.openxmlformats.org/officeDocument/2006/math">
                    <m:r>
                      <a:rPr lang="en-US" altLang="zh-CN" b="0" i="1" smtClean="0">
                        <a:solidFill>
                          <a:srgbClr val="CC3399"/>
                        </a:solidFill>
                        <a:latin typeface="Cambria Math" panose="02040503050406030204" pitchFamily="18" charset="0"/>
                      </a:rPr>
                      <m:t>h</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在数据集 </a:t>
                </a:r>
                <a14:m>
                  <m:oMath xmlns:m="http://schemas.openxmlformats.org/officeDocument/2006/math">
                    <m:r>
                      <a:rPr lang="en-US" altLang="zh-CN" i="1">
                        <a:solidFill>
                          <a:srgbClr val="CC3399"/>
                        </a:solidFill>
                        <a:latin typeface="Cambria Math" panose="02040503050406030204" pitchFamily="18" charset="0"/>
                      </a:rPr>
                      <m:t>𝐷</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上的限制 </a:t>
                </a:r>
                <a:r>
                  <a:rPr lang="en-US" altLang="zh-CN" dirty="0">
                    <a:solidFill>
                      <a:srgbClr val="CC3399"/>
                    </a:solidFill>
                    <a:latin typeface="Arial" panose="020B0604020202020204" pitchFamily="34" charset="0"/>
                    <a:ea typeface="黑体" panose="02010609060101010101" pitchFamily="49" charset="-122"/>
                  </a:rPr>
                  <a:t>(restriction)</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是</a:t>
                </a:r>
                <a:r>
                  <a:rPr kumimoji="0" lang="zh-CN" altLang="en-US"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一个 </a:t>
                </a:r>
                <a14:m>
                  <m:oMath xmlns:m="http://schemas.openxmlformats.org/officeDocument/2006/math">
                    <m:r>
                      <a:rPr kumimoji="0" lang="en-US" altLang="zh-CN" b="0" i="1" u="none" strike="noStrike" kern="1200" cap="none" spc="0" normalizeH="0" noProof="0" smtClean="0">
                        <a:ln>
                          <a:noFill/>
                        </a:ln>
                        <a:solidFill>
                          <a:schemeClr val="accent6">
                            <a:lumMod val="75000"/>
                          </a:schemeClr>
                        </a:solidFill>
                        <a:effectLst/>
                        <a:uLnTx/>
                        <a:uFillTx/>
                        <a:latin typeface="Cambria Math" panose="02040503050406030204" pitchFamily="18" charset="0"/>
                        <a:ea typeface="黑体" panose="02010609060101010101" pitchFamily="49" charset="-122"/>
                      </a:rPr>
                      <m:t>𝑚</m:t>
                    </m:r>
                  </m:oMath>
                </a14:m>
                <a:r>
                  <a:rPr kumimoji="0" lang="zh-CN" altLang="en-US" i="0" u="none" strike="noStrike" kern="1200" cap="none" spc="0" normalizeH="0" noProof="0" dirty="0">
                    <a:ln>
                      <a:noFill/>
                    </a:ln>
                    <a:solidFill>
                      <a:schemeClr val="accent6">
                        <a:lumMod val="75000"/>
                      </a:schemeClr>
                    </a:solidFill>
                    <a:effectLst/>
                    <a:uLnTx/>
                    <a:uFillTx/>
                    <a:latin typeface="Arial" panose="020B0604020202020204" pitchFamily="34" charset="0"/>
                    <a:ea typeface="黑体" panose="02010609060101010101" pitchFamily="49" charset="-122"/>
                  </a:rPr>
                  <a:t> </a:t>
                </a:r>
                <a:r>
                  <a:rPr lang="zh-CN" altLang="en-US" dirty="0">
                    <a:solidFill>
                      <a:schemeClr val="accent6">
                        <a:lumMod val="75000"/>
                      </a:schemeClr>
                    </a:solidFill>
                    <a:latin typeface="Arial" panose="020B0604020202020204" pitchFamily="34" charset="0"/>
                    <a:ea typeface="黑体" panose="02010609060101010101" pitchFamily="49" charset="-122"/>
                  </a:rPr>
                  <a:t>维向量</a:t>
                </a:r>
                <a:r>
                  <a:rPr lang="en-US" altLang="zh-CN" dirty="0">
                    <a:solidFill>
                      <a:sysClr val="windowText" lastClr="000000"/>
                    </a:solidFill>
                    <a:latin typeface="Arial" panose="020B0604020202020204" pitchFamily="34" charset="0"/>
                    <a:ea typeface="黑体" panose="02010609060101010101" pitchFamily="49" charset="-122"/>
                  </a:rPr>
                  <a:t>.</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p>
              <a:p>
                <a:pPr marL="0" lvl="1" indent="0" fontAlgn="auto">
                  <a:lnSpc>
                    <a:spcPct val="100000"/>
                  </a:lnSpc>
                  <a:spcBef>
                    <a:spcPts val="0"/>
                  </a:spcBef>
                  <a:spcAft>
                    <a:spcPts val="0"/>
                  </a:spcAft>
                  <a:buClr>
                    <a:srgbClr val="16754D"/>
                  </a:buClr>
                  <a:buSzPct val="120000"/>
                  <a:buNone/>
                  <a:defRPr/>
                </a:pPr>
                <a14:m>
                  <m:oMath xmlns:m="http://schemas.openxmlformats.org/officeDocument/2006/math">
                    <m:r>
                      <a:rPr lang="en-US" altLang="zh-CN" i="1" smtClean="0">
                        <a:solidFill>
                          <a:sysClr val="windowText" lastClr="000000"/>
                        </a:solidFill>
                        <a:latin typeface="Cambria Math" panose="02040503050406030204" pitchFamily="18" charset="0"/>
                        <a:ea typeface="Cambria Math" panose="02040503050406030204" pitchFamily="18" charset="0"/>
                      </a:rPr>
                      <m:t>ℋ</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m:t>
                        </m:r>
                      </m:e>
                      <m:sub>
                        <m:r>
                          <a:rPr lang="en-US" altLang="zh-CN" i="1">
                            <a:solidFill>
                              <a:sysClr val="windowText" lastClr="000000"/>
                            </a:solidFill>
                            <a:latin typeface="Cambria Math" panose="02040503050406030204" pitchFamily="18" charset="0"/>
                            <a:ea typeface="黑体" panose="02010609060101010101" pitchFamily="49" charset="-122"/>
                          </a:rPr>
                          <m:t>𝐷</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d>
                      <m:dPr>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e>
                    </m:d>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ℋ</m:t>
                    </m:r>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称为 </a:t>
                </a:r>
                <a14:m>
                  <m:oMath xmlns:m="http://schemas.openxmlformats.org/officeDocument/2006/math">
                    <m:r>
                      <a:rPr lang="en-US" altLang="zh-CN" i="1" smtClean="0">
                        <a:solidFill>
                          <a:srgbClr val="CC3399"/>
                        </a:solidFill>
                        <a:latin typeface="Cambria Math" panose="02040503050406030204" pitchFamily="18" charset="0"/>
                      </a:rPr>
                      <m:t>ℋ</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在数据集 </a:t>
                </a:r>
                <a14:m>
                  <m:oMath xmlns:m="http://schemas.openxmlformats.org/officeDocument/2006/math">
                    <m:r>
                      <a:rPr lang="en-US" altLang="zh-CN" i="1">
                        <a:solidFill>
                          <a:srgbClr val="CC3399"/>
                        </a:solidFill>
                        <a:latin typeface="Cambria Math" panose="02040503050406030204" pitchFamily="18" charset="0"/>
                      </a:rPr>
                      <m:t>𝐷</m:t>
                    </m:r>
                  </m:oMath>
                </a14:m>
                <a:r>
                  <a:rPr lang="en-US" altLang="zh-CN" dirty="0">
                    <a:solidFill>
                      <a:srgbClr val="CC3399"/>
                    </a:solidFill>
                    <a:latin typeface="Arial" panose="020B0604020202020204" pitchFamily="34" charset="0"/>
                    <a:ea typeface="黑体" panose="02010609060101010101" pitchFamily="49" charset="-122"/>
                  </a:rPr>
                  <a:t> </a:t>
                </a:r>
                <a:r>
                  <a:rPr lang="zh-CN" altLang="en-US" dirty="0">
                    <a:solidFill>
                      <a:srgbClr val="CC3399"/>
                    </a:solidFill>
                    <a:latin typeface="Arial" panose="020B0604020202020204" pitchFamily="34" charset="0"/>
                    <a:ea typeface="黑体" panose="02010609060101010101" pitchFamily="49" charset="-122"/>
                  </a:rPr>
                  <a:t>上的限制 </a:t>
                </a:r>
                <a:r>
                  <a:rPr lang="en-US" altLang="zh-CN" dirty="0">
                    <a:solidFill>
                      <a:srgbClr val="CC3399"/>
                    </a:solidFill>
                    <a:latin typeface="Arial" panose="020B0604020202020204" pitchFamily="34" charset="0"/>
                    <a:ea typeface="黑体" panose="02010609060101010101" pitchFamily="49" charset="-122"/>
                  </a:rPr>
                  <a:t>(restriction)</a:t>
                </a:r>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是从 </a:t>
                </a:r>
                <a14:m>
                  <m:oMath xmlns:m="http://schemas.openxmlformats.org/officeDocument/2006/math">
                    <m:r>
                      <a:rPr lang="en-US" altLang="zh-CN" i="1">
                        <a:solidFill>
                          <a:sysClr val="windowText" lastClr="000000"/>
                        </a:solidFill>
                        <a:latin typeface="Cambria Math" panose="02040503050406030204" pitchFamily="18" charset="0"/>
                      </a:rPr>
                      <m:t>𝐷</m:t>
                    </m:r>
                  </m:oMath>
                </a14:m>
                <a:r>
                  <a:rPr lang="zh-CN" altLang="en-US" dirty="0">
                    <a:solidFill>
                      <a:sysClr val="windowText" lastClr="000000"/>
                    </a:solidFill>
                    <a:latin typeface="Arial" panose="020B0604020202020204" pitchFamily="34" charset="0"/>
                    <a:ea typeface="黑体" panose="02010609060101010101" pitchFamily="49" charset="-122"/>
                  </a:rPr>
                  <a:t> 到 </a:t>
                </a:r>
                <a14:m>
                  <m:oMath xmlns:m="http://schemas.openxmlformats.org/officeDocument/2006/math">
                    <m:sSup>
                      <m:sSupPr>
                        <m:ctrlPr>
                          <a:rPr lang="en-US" altLang="zh-CN" i="1" smtClean="0">
                            <a:solidFill>
                              <a:sysClr val="windowText" lastClr="000000"/>
                            </a:solidFill>
                            <a:latin typeface="Cambria Math" panose="02040503050406030204" pitchFamily="18" charset="0"/>
                            <a:ea typeface="黑体" panose="02010609060101010101" pitchFamily="49" charset="-122"/>
                          </a:rPr>
                        </m:ctrlPr>
                      </m:sSupPr>
                      <m:e>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m:t>
                        </m:r>
                      </m:e>
                      <m:sup>
                        <m:r>
                          <a:rPr lang="en-US" altLang="zh-CN" b="0" i="1" smtClean="0">
                            <a:solidFill>
                              <a:sysClr val="windowText" lastClr="000000"/>
                            </a:solidFill>
                            <a:latin typeface="Cambria Math" panose="02040503050406030204" pitchFamily="18" charset="0"/>
                            <a:ea typeface="黑体" panose="02010609060101010101" pitchFamily="49" charset="-122"/>
                          </a:rPr>
                          <m:t>𝑚</m:t>
                        </m:r>
                      </m:sup>
                    </m:sSup>
                  </m:oMath>
                </a14:m>
                <a:r>
                  <a:rPr lang="zh-CN" altLang="en-US" dirty="0">
                    <a:solidFill>
                      <a:sysClr val="windowText" lastClr="000000"/>
                    </a:solidFill>
                    <a:latin typeface="Arial" panose="020B0604020202020204" pitchFamily="34" charset="0"/>
                    <a:ea typeface="黑体" panose="02010609060101010101" pitchFamily="49" charset="-122"/>
                  </a:rPr>
                  <a:t> 的</a:t>
                </a:r>
                <a:r>
                  <a:rPr lang="zh-CN" altLang="en-US" dirty="0">
                    <a:solidFill>
                      <a:schemeClr val="accent6">
                        <a:lumMod val="75000"/>
                      </a:schemeClr>
                    </a:solidFill>
                    <a:latin typeface="Arial" panose="020B0604020202020204" pitchFamily="34" charset="0"/>
                    <a:ea typeface="黑体" panose="02010609060101010101" pitchFamily="49" charset="-122"/>
                  </a:rPr>
                  <a:t>一族映射</a:t>
                </a:r>
                <a:r>
                  <a:rPr lang="zh-CN" altLang="en-US"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随着</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𝑚</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的增大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中所有假设对</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中的示例所能赋予标记的可能结果数也会增大</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None/>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例如</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对于二分类问题</a:t>
                </a:r>
                <a:r>
                  <a:rPr lang="zh-CN" altLang="en-US" noProof="0"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中只有两个示例，则赋予标记的可能结果只有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4</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种</a:t>
                </a:r>
                <a:r>
                  <a:rPr lang="zh-CN" altLang="en-US" dirty="0">
                    <a:solidFill>
                      <a:sysClr val="windowText" lastClr="000000"/>
                    </a:solidFill>
                    <a:latin typeface="Arial" panose="020B0604020202020204" pitchFamily="34" charset="0"/>
                    <a:ea typeface="黑体" panose="02010609060101010101" pitchFamily="49" charset="-122"/>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3</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个示例，则可能结果有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8</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种。</a:t>
                </a:r>
              </a:p>
            </p:txBody>
          </p:sp>
        </mc:Choice>
        <mc:Fallback xmlns="">
          <p:sp>
            <p:nvSpPr>
              <p:cNvPr id="5" name="内容占位符 3">
                <a:extLst>
                  <a:ext uri="{FF2B5EF4-FFF2-40B4-BE49-F238E27FC236}">
                    <a16:creationId xmlns:a16="http://schemas.microsoft.com/office/drawing/2014/main" id="{9E994FC5-601D-8176-633D-41C0367DBD4C}"/>
                  </a:ext>
                </a:extLst>
              </p:cNvPr>
              <p:cNvSpPr txBox="1">
                <a:spLocks noRot="1" noChangeAspect="1" noMove="1" noResize="1" noEditPoints="1" noAdjustHandles="1" noChangeArrowheads="1" noChangeShapeType="1" noTextEdit="1"/>
              </p:cNvSpPr>
              <p:nvPr/>
            </p:nvSpPr>
            <p:spPr bwMode="auto">
              <a:xfrm>
                <a:off x="141848" y="3214034"/>
                <a:ext cx="8860303" cy="3178029"/>
              </a:xfrm>
              <a:prstGeom prst="rect">
                <a:avLst/>
              </a:prstGeom>
              <a:blipFill>
                <a:blip r:embed="rId3"/>
                <a:stretch>
                  <a:fillRect l="-1719" t="-2874" r="-4539" b="-3257"/>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7" name="文本框 6">
            <a:extLst>
              <a:ext uri="{FF2B5EF4-FFF2-40B4-BE49-F238E27FC236}">
                <a16:creationId xmlns:a16="http://schemas.microsoft.com/office/drawing/2014/main" id="{4C5888FC-2235-2CC2-D913-07B9C342754D}"/>
              </a:ext>
            </a:extLst>
          </p:cNvPr>
          <p:cNvSpPr txBox="1"/>
          <p:nvPr/>
        </p:nvSpPr>
        <p:spPr>
          <a:xfrm>
            <a:off x="131351" y="850741"/>
            <a:ext cx="3585416"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zh-CN" altLang="en-US" sz="2200" dirty="0">
                <a:solidFill>
                  <a:srgbClr val="16754D"/>
                </a:solidFill>
                <a:latin typeface="Arial" panose="020B0604020202020204" pitchFamily="34" charset="0"/>
                <a:ea typeface="黑体" panose="02010609060101010101" pitchFamily="49" charset="-122"/>
              </a:rPr>
              <a:t>无限维假设空间</a:t>
            </a:r>
            <a:endPar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377574897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23" name="内容占位符 4">
                <a:extLst>
                  <a:ext uri="{FF2B5EF4-FFF2-40B4-BE49-F238E27FC236}">
                    <a16:creationId xmlns:a16="http://schemas.microsoft.com/office/drawing/2014/main" id="{EC652D73-C6D5-B789-DA0E-9493014E6DDD}"/>
                  </a:ext>
                </a:extLst>
              </p:cNvPr>
              <p:cNvSpPr txBox="1">
                <a:spLocks/>
              </p:cNvSpPr>
              <p:nvPr/>
            </p:nvSpPr>
            <p:spPr bwMode="auto">
              <a:xfrm>
                <a:off x="131350" y="2102610"/>
                <a:ext cx="8629650" cy="161935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0"/>
                  </a:spcAft>
                  <a:buClr>
                    <a:srgbClr val="16754D"/>
                  </a:buClr>
                  <a:buSzPct val="100000"/>
                  <a:buFont typeface="Wingdings" panose="05000000000000000000" pitchFamily="2" charset="2"/>
                  <a:buChar char="Ø"/>
                  <a:tabLst/>
                  <a:defRPr/>
                </a:pPr>
                <a:r>
                  <a:rPr kumimoji="0" lang="zh-CN" altLang="en-US"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定义</a:t>
                </a:r>
                <a:r>
                  <a:rPr kumimoji="0" lang="en-US" altLang="zh-CN"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baseline="0" noProof="0" dirty="0">
                    <a:ln>
                      <a:noFill/>
                    </a:ln>
                    <a:solidFill>
                      <a:srgbClr val="0066FF"/>
                    </a:solidFill>
                    <a:effectLst/>
                    <a:uLnTx/>
                    <a:uFillTx/>
                    <a:latin typeface="Arial" panose="020B0604020202020204" pitchFamily="34" charset="0"/>
                    <a:ea typeface="黑体" panose="02010609060101010101" pitchFamily="49" charset="-122"/>
                  </a:rPr>
                  <a:t>增长函数</a:t>
                </a:r>
                <a:r>
                  <a:rPr kumimoji="0" lang="en-US" altLang="zh-CN" i="0" u="none" strike="noStrike" kern="1200" cap="none" spc="0" normalizeH="0" baseline="0" noProof="0" dirty="0">
                    <a:ln>
                      <a:noFill/>
                    </a:ln>
                    <a:solidFill>
                      <a:srgbClr val="0066FF"/>
                    </a:solidFill>
                    <a:effectLst/>
                    <a:uLnTx/>
                    <a:uFillTx/>
                    <a:latin typeface="Arial" panose="020B0604020202020204" pitchFamily="34" charset="0"/>
                    <a:ea typeface="黑体" panose="02010609060101010101" pitchFamily="49" charset="-122"/>
                  </a:rPr>
                  <a:t>(growth function)</a:t>
                </a:r>
              </a:p>
              <a:p>
                <a:pPr marL="0" marR="0" lvl="0" indent="4572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对所有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ℕ</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的增长函数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𝑚</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为：</a:t>
                </a:r>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max</m:t>
                              </m:r>
                            </m:e>
                            <m:li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smtClean="0">
                                      <a:solidFill>
                                        <a:sysClr val="windowText" lastClr="000000"/>
                                      </a:solidFill>
                                      <a:latin typeface="Cambria Math" panose="02040503050406030204" pitchFamily="18" charset="0"/>
                                      <a:ea typeface="Cambria Math" panose="02040503050406030204" pitchFamily="18" charset="0"/>
                                    </a:rPr>
                                    <m:t>⋯</m:t>
                                  </m:r>
                                  <m:r>
                                    <a:rPr lang="en-US" altLang="zh-CN" sz="2000" b="0" i="1" smtClean="0">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𝑥</m:t>
                                  </m:r>
                                </m:e>
                                <m:sub>
                                  <m:r>
                                    <a:rPr lang="en-US" altLang="zh-CN" sz="2000" b="0" i="1" smtClean="0">
                                      <a:solidFill>
                                        <a:sysClr val="windowText" lastClr="000000"/>
                                      </a:solidFill>
                                      <a:latin typeface="Cambria Math" panose="02040503050406030204" pitchFamily="18" charset="0"/>
                                      <a:ea typeface="黑体" panose="02010609060101010101" pitchFamily="49" charset="-122"/>
                                    </a:rPr>
                                    <m:t>𝑚</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lim>
                          </m:limLow>
                        </m:fName>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ℋ</m:t>
                                  </m:r>
                                </m:e>
                              </m:d>
                            </m:e>
                          </m:d>
                        </m:e>
                      </m:func>
                    </m:oMath>
                  </m:oMathPara>
                </a14:m>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457200" fontAlgn="auto">
                  <a:lnSpc>
                    <a:spcPct val="100000"/>
                  </a:lnSpc>
                  <a:spcBef>
                    <a:spcPts val="600"/>
                  </a:spcBef>
                  <a:spcAft>
                    <a:spcPts val="0"/>
                  </a:spcAft>
                  <a:buClr>
                    <a:srgbClr val="16754D"/>
                  </a:buClr>
                  <a:buNone/>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对于大小为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的数据集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有</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lang="en-US" altLang="zh-CN"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m:rPr>
                            <m:sty m:val="p"/>
                          </m:rPr>
                          <a:rPr kumimoji="0" lang="el-GR"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Π</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max</m:t>
                            </m:r>
                          </m:e>
                          <m:lim>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lim>
                        </m:limLow>
                      </m:fName>
                      <m:e>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e>
                        </m:d>
                      </m:e>
                    </m:func>
                  </m:oMath>
                </a14:m>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4">
                <a:extLst>
                  <a:ext uri="{FF2B5EF4-FFF2-40B4-BE49-F238E27FC236}">
                    <a16:creationId xmlns:a16="http://schemas.microsoft.com/office/drawing/2014/main" id="{EC652D73-C6D5-B789-DA0E-9493014E6DDD}"/>
                  </a:ext>
                </a:extLst>
              </p:cNvPr>
              <p:cNvSpPr txBox="1">
                <a:spLocks noRot="1" noChangeAspect="1" noMove="1" noResize="1" noEditPoints="1" noAdjustHandles="1" noChangeArrowheads="1" noChangeShapeType="1" noTextEdit="1"/>
              </p:cNvSpPr>
              <p:nvPr/>
            </p:nvSpPr>
            <p:spPr bwMode="auto">
              <a:xfrm>
                <a:off x="131350" y="2102610"/>
                <a:ext cx="8629650" cy="1619352"/>
              </a:xfrm>
              <a:prstGeom prst="rect">
                <a:avLst/>
              </a:prstGeom>
              <a:blipFill>
                <a:blip r:embed="rId2"/>
                <a:stretch>
                  <a:fillRect l="-1696" t="-563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28" name="内容占位符 4">
                <a:extLst>
                  <a:ext uri="{FF2B5EF4-FFF2-40B4-BE49-F238E27FC236}">
                    <a16:creationId xmlns:a16="http://schemas.microsoft.com/office/drawing/2014/main" id="{6C24DC84-175C-49B6-06D4-36384B4FD6BF}"/>
                  </a:ext>
                </a:extLst>
              </p:cNvPr>
              <p:cNvSpPr txBox="1">
                <a:spLocks/>
              </p:cNvSpPr>
              <p:nvPr/>
            </p:nvSpPr>
            <p:spPr bwMode="auto">
              <a:xfrm>
                <a:off x="453587" y="3726986"/>
                <a:ext cx="8629651" cy="122925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lvl="0" fontAlgn="base">
                  <a:buClr>
                    <a:srgbClr val="16754D"/>
                  </a:buClr>
                  <a:buSzPct val="120000"/>
                  <a:buFont typeface="Arial" panose="020B0604020202020204" pitchFamily="34" charset="0"/>
                  <a:buChar char="•"/>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增长函数表示假设空间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对</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sysClr val="windowText" lastClr="000000"/>
                        </a:solidFill>
                        <a:latin typeface="Cambria Math" panose="02040503050406030204" pitchFamily="18" charset="0"/>
                      </a:rPr>
                      <m:t>𝑚</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个示例所能赋予标记的最大可能结果数</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lvl="0" fontAlgn="base">
                  <a:buClr>
                    <a:srgbClr val="16754D"/>
                  </a:buClr>
                  <a:buSzPct val="120000"/>
                  <a:buFont typeface="Arial" panose="020B0604020202020204" pitchFamily="34" charset="0"/>
                  <a:buChar char="•"/>
                  <a:defRPr/>
                </a:pP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对示例所能赋予标记的可能结果数越大</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的表示能力越强</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对学习任务的适应能力也越强</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p>
              <a:p>
                <a:pPr marL="342900" marR="0" lvl="0" indent="-342900" defTabSz="914400" eaLnBrk="1" fontAlgn="base" latinLnBrk="0" hangingPunct="1">
                  <a:buClr>
                    <a:srgbClr val="16754D"/>
                  </a:buClr>
                  <a:buSzPct val="120000"/>
                  <a:buFont typeface="Arial" panose="020B0604020202020204" pitchFamily="34" charset="0"/>
                  <a:buChar char="•"/>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增长函数表述了假设空间</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的表示能力</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由此反映出假设空间的复杂度</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28" name="内容占位符 4">
                <a:extLst>
                  <a:ext uri="{FF2B5EF4-FFF2-40B4-BE49-F238E27FC236}">
                    <a16:creationId xmlns:a16="http://schemas.microsoft.com/office/drawing/2014/main" id="{6C24DC84-175C-49B6-06D4-36384B4FD6BF}"/>
                  </a:ext>
                </a:extLst>
              </p:cNvPr>
              <p:cNvSpPr txBox="1">
                <a:spLocks noRot="1" noChangeAspect="1" noMove="1" noResize="1" noEditPoints="1" noAdjustHandles="1" noChangeArrowheads="1" noChangeShapeType="1" noTextEdit="1"/>
              </p:cNvSpPr>
              <p:nvPr/>
            </p:nvSpPr>
            <p:spPr bwMode="auto">
              <a:xfrm>
                <a:off x="453587" y="3726986"/>
                <a:ext cx="8629651" cy="1229255"/>
              </a:xfrm>
              <a:prstGeom prst="rect">
                <a:avLst/>
              </a:prstGeom>
              <a:blipFill>
                <a:blip r:embed="rId3"/>
                <a:stretch>
                  <a:fillRect l="-1977" t="-8911" r="-1766" b="-1435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7" name="文本框 36">
            <a:extLst>
              <a:ext uri="{FF2B5EF4-FFF2-40B4-BE49-F238E27FC236}">
                <a16:creationId xmlns:a16="http://schemas.microsoft.com/office/drawing/2014/main" id="{E73508F8-16F0-216B-5582-3A8B6E7BE73A}"/>
              </a:ext>
            </a:extLst>
          </p:cNvPr>
          <p:cNvSpPr txBox="1"/>
          <p:nvPr/>
        </p:nvSpPr>
        <p:spPr>
          <a:xfrm>
            <a:off x="131350" y="850741"/>
            <a:ext cx="5576179"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en-US" altLang="zh-CN" sz="2200" dirty="0">
                <a:solidFill>
                  <a:srgbClr val="16754D"/>
                </a:solidFill>
                <a:latin typeface="Arial" panose="020B0604020202020204" pitchFamily="34" charset="0"/>
                <a:ea typeface="黑体" panose="02010609060101010101" pitchFamily="49" charset="-122"/>
              </a:rPr>
              <a:t>VC </a:t>
            </a:r>
            <a:r>
              <a:rPr lang="zh-CN" altLang="en-US" sz="2200" dirty="0">
                <a:solidFill>
                  <a:srgbClr val="16754D"/>
                </a:solidFill>
                <a:latin typeface="Arial" panose="020B0604020202020204" pitchFamily="34" charset="0"/>
                <a:ea typeface="黑体" panose="02010609060101010101" pitchFamily="49" charset="-122"/>
              </a:rPr>
              <a:t>维 </a:t>
            </a:r>
            <a:r>
              <a:rPr lang="en-US" altLang="zh-CN" sz="2200" dirty="0">
                <a:solidFill>
                  <a:srgbClr val="16754D"/>
                </a:solidFill>
                <a:latin typeface="Arial" panose="020B0604020202020204" pitchFamily="34" charset="0"/>
                <a:ea typeface="黑体" panose="02010609060101010101" pitchFamily="49" charset="-122"/>
              </a:rPr>
              <a:t>(</a:t>
            </a:r>
            <a:r>
              <a:rPr lang="en-US" altLang="zh-CN" sz="2200" dirty="0" err="1">
                <a:solidFill>
                  <a:srgbClr val="16754D"/>
                </a:solidFill>
                <a:latin typeface="Arial" panose="020B0604020202020204" pitchFamily="34" charset="0"/>
                <a:ea typeface="黑体" panose="02010609060101010101" pitchFamily="49" charset="-122"/>
              </a:rPr>
              <a:t>Vapnik-Chervonenkis</a:t>
            </a:r>
            <a:r>
              <a:rPr lang="en-US" altLang="zh-CN" sz="2200" dirty="0">
                <a:solidFill>
                  <a:srgbClr val="16754D"/>
                </a:solidFill>
                <a:latin typeface="Arial" panose="020B0604020202020204" pitchFamily="34" charset="0"/>
                <a:ea typeface="黑体" panose="02010609060101010101" pitchFamily="49" charset="-122"/>
              </a:rPr>
              <a:t> dimension)</a:t>
            </a: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18A1E984-C9DC-B8C9-19AE-CD90DEC45560}"/>
                  </a:ext>
                </a:extLst>
              </p:cNvPr>
              <p:cNvSpPr txBox="1">
                <a:spLocks/>
              </p:cNvSpPr>
              <p:nvPr/>
            </p:nvSpPr>
            <p:spPr bwMode="auto">
              <a:xfrm>
                <a:off x="140658" y="5356386"/>
                <a:ext cx="9008366" cy="101080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中不同的假设对于</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𝐷</m:t>
                    </m:r>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中示例赋予标记的结果可能相同</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也可能不同</a:t>
                </a:r>
                <a:r>
                  <a:rPr lang="zh-CN" altLang="en-US" noProof="0" dirty="0">
                    <a:solidFill>
                      <a:sysClr val="windowText" lastClr="000000"/>
                    </a:solidFill>
                    <a:latin typeface="Arial" panose="020B0604020202020204" pitchFamily="34" charset="0"/>
                    <a:ea typeface="黑体" panose="02010609060101010101" pitchFamily="49" charset="-122"/>
                  </a:rPr>
                  <a:t>。</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lvl="1" indent="0">
                  <a:lnSpc>
                    <a:spcPct val="100000"/>
                  </a:lnSpc>
                  <a:spcBef>
                    <a:spcPts val="0"/>
                  </a:spcBef>
                  <a:spcAft>
                    <a:spcPts val="0"/>
                  </a:spcAft>
                  <a:buClr>
                    <a:srgbClr val="16754D"/>
                  </a:buClr>
                  <a:buSzPct val="120000"/>
                  <a:buNone/>
                  <a:defRPr/>
                </a:pP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尽管</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cs typeface="+mn-cs"/>
                      </a:rPr>
                      <m:t>ℋ</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可能包含无穷多个假设</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但是其对 </a:t>
                </a:r>
                <a14:m>
                  <m:oMath xmlns:m="http://schemas.openxmlformats.org/officeDocument/2006/math">
                    <m:r>
                      <a:rPr kumimoji="0" lang="en-US" altLang="zh-CN" b="0" i="1" u="none" strike="noStrike" kern="1200" cap="none" spc="0" normalizeH="0" noProof="0">
                        <a:ln>
                          <a:noFill/>
                        </a:ln>
                        <a:solidFill>
                          <a:sysClr val="windowText" lastClr="000000"/>
                        </a:solidFill>
                        <a:effectLst/>
                        <a:uLnTx/>
                        <a:uFillTx/>
                        <a:latin typeface="Cambria Math" panose="02040503050406030204" pitchFamily="18" charset="0"/>
                        <a:cs typeface="+mn-cs"/>
                      </a:rPr>
                      <m:t>𝐷</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中示例赋予标记的可能结果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Cambria Math" panose="02040503050406030204" pitchFamily="18" charset="0"/>
                          </a:rPr>
                          <m:t>ℋ</m:t>
                        </m:r>
                      </m:e>
                      <m: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𝐷</m:t>
                        </m:r>
                      </m:sub>
                    </m:sSub>
                  </m:oMath>
                </a14:m>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是有限的</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对于</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𝑚</m:t>
                    </m:r>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个示例，最多有</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sSup>
                      <m:sSupPr>
                        <m:ctrlPr>
                          <a:rPr kumimoji="0" lang="en-US" altLang="zh-CN"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ctrlPr>
                      </m:sSup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2</m:t>
                        </m:r>
                      </m:e>
                      <m:sup>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𝑚</m:t>
                        </m:r>
                      </m:sup>
                    </m:sSup>
                  </m:oMath>
                </a14:m>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个可能结果 </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二分类</a:t>
                </a:r>
                <a:r>
                  <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endParaRPr kumimoji="0" lang="en-US" altLang="zh-CN"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3" name="内容占位符 4">
                <a:extLst>
                  <a:ext uri="{FF2B5EF4-FFF2-40B4-BE49-F238E27FC236}">
                    <a16:creationId xmlns:a16="http://schemas.microsoft.com/office/drawing/2014/main" id="{18A1E984-C9DC-B8C9-19AE-CD90DEC45560}"/>
                  </a:ext>
                </a:extLst>
              </p:cNvPr>
              <p:cNvSpPr txBox="1">
                <a:spLocks noRot="1" noChangeAspect="1" noMove="1" noResize="1" noEditPoints="1" noAdjustHandles="1" noChangeArrowheads="1" noChangeShapeType="1" noTextEdit="1"/>
              </p:cNvSpPr>
              <p:nvPr/>
            </p:nvSpPr>
            <p:spPr bwMode="auto">
              <a:xfrm>
                <a:off x="140658" y="5356386"/>
                <a:ext cx="9008366" cy="1010808"/>
              </a:xfrm>
              <a:prstGeom prst="rect">
                <a:avLst/>
              </a:prstGeom>
              <a:blipFill>
                <a:blip r:embed="rId4"/>
                <a:stretch>
                  <a:fillRect l="-1691" t="-9091" r="-1488" b="-909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5" name="内容占位符 4">
            <a:extLst>
              <a:ext uri="{FF2B5EF4-FFF2-40B4-BE49-F238E27FC236}">
                <a16:creationId xmlns:a16="http://schemas.microsoft.com/office/drawing/2014/main" id="{00358260-1B07-FD3E-0B61-EF31883658D7}"/>
              </a:ext>
            </a:extLst>
          </p:cNvPr>
          <p:cNvSpPr txBox="1">
            <a:spLocks/>
          </p:cNvSpPr>
          <p:nvPr/>
        </p:nvSpPr>
        <p:spPr bwMode="auto">
          <a:xfrm>
            <a:off x="68209" y="1160960"/>
            <a:ext cx="8047091" cy="642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概念引入：</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360000" marR="0" lvl="2"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增长函数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(growth function)</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，对分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(dichotomy)</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，打散 </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(shattering)</a:t>
            </a:r>
          </a:p>
        </p:txBody>
      </p:sp>
    </p:spTree>
    <p:extLst>
      <p:ext uri="{BB962C8B-B14F-4D97-AF65-F5344CB8AC3E}">
        <p14:creationId xmlns:p14="http://schemas.microsoft.com/office/powerpoint/2010/main" val="288025049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7" name="文本框 6">
            <a:extLst>
              <a:ext uri="{FF2B5EF4-FFF2-40B4-BE49-F238E27FC236}">
                <a16:creationId xmlns:a16="http://schemas.microsoft.com/office/drawing/2014/main" id="{3C64CE16-B000-D641-23C3-3B4C8E644DBD}"/>
              </a:ext>
            </a:extLst>
          </p:cNvPr>
          <p:cNvSpPr txBox="1"/>
          <p:nvPr/>
        </p:nvSpPr>
        <p:spPr>
          <a:xfrm>
            <a:off x="131350" y="850741"/>
            <a:ext cx="5576179" cy="338554"/>
          </a:xfrm>
          <a:prstGeom prst="rect">
            <a:avLst/>
          </a:prstGeom>
          <a:noFill/>
        </p:spPr>
        <p:txBody>
          <a:bodyPr wrap="square" lIns="0" tIns="0" rIns="0" bIns="0">
            <a:spAutoFit/>
          </a:bodyPr>
          <a:lstStyle/>
          <a:p>
            <a:pPr marL="324000" marR="0" lvl="0" indent="-324000" algn="l" defTabSz="914400" rtl="0" eaLnBrk="1" fontAlgn="auto" latinLnBrk="0" hangingPunct="1">
              <a:spcAft>
                <a:spcPts val="0"/>
              </a:spcAft>
              <a:buClr>
                <a:srgbClr val="16754D"/>
              </a:buClr>
              <a:buSzPct val="100000"/>
              <a:buFont typeface="Wingdings" panose="05000000000000000000" pitchFamily="2" charset="2"/>
              <a:buChar char="l"/>
              <a:tabLst/>
              <a:defRPr/>
            </a:pPr>
            <a:r>
              <a:rPr lang="en-US" altLang="zh-CN" sz="2200" dirty="0">
                <a:solidFill>
                  <a:srgbClr val="16754D"/>
                </a:solidFill>
                <a:latin typeface="Arial" panose="020B0604020202020204" pitchFamily="34" charset="0"/>
                <a:ea typeface="黑体" panose="02010609060101010101" pitchFamily="49" charset="-122"/>
              </a:rPr>
              <a:t>VC </a:t>
            </a:r>
            <a:r>
              <a:rPr lang="zh-CN" altLang="en-US" sz="2200" dirty="0">
                <a:solidFill>
                  <a:srgbClr val="16754D"/>
                </a:solidFill>
                <a:latin typeface="Arial" panose="020B0604020202020204" pitchFamily="34" charset="0"/>
                <a:ea typeface="黑体" panose="02010609060101010101" pitchFamily="49" charset="-122"/>
              </a:rPr>
              <a:t>维 </a:t>
            </a:r>
            <a:r>
              <a:rPr lang="en-US" altLang="zh-CN" sz="2200" dirty="0">
                <a:solidFill>
                  <a:srgbClr val="16754D"/>
                </a:solidFill>
                <a:latin typeface="Arial" panose="020B0604020202020204" pitchFamily="34" charset="0"/>
                <a:ea typeface="黑体" panose="02010609060101010101" pitchFamily="49" charset="-122"/>
              </a:rPr>
              <a:t>(</a:t>
            </a:r>
            <a:r>
              <a:rPr lang="en-US" altLang="zh-CN" sz="2200" dirty="0" err="1">
                <a:solidFill>
                  <a:srgbClr val="16754D"/>
                </a:solidFill>
                <a:latin typeface="Arial" panose="020B0604020202020204" pitchFamily="34" charset="0"/>
                <a:ea typeface="黑体" panose="02010609060101010101" pitchFamily="49" charset="-122"/>
              </a:rPr>
              <a:t>Vapnik-Chervonenkis</a:t>
            </a:r>
            <a:r>
              <a:rPr lang="en-US" altLang="zh-CN" sz="2200" dirty="0">
                <a:solidFill>
                  <a:srgbClr val="16754D"/>
                </a:solidFill>
                <a:latin typeface="Arial" panose="020B0604020202020204" pitchFamily="34" charset="0"/>
                <a:ea typeface="黑体" panose="02010609060101010101" pitchFamily="49" charset="-122"/>
              </a:rPr>
              <a:t> dimension)</a:t>
            </a:r>
          </a:p>
        </p:txBody>
      </p:sp>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7989393D-A849-1053-E6E6-34CEC927AE73}"/>
                  </a:ext>
                </a:extLst>
              </p:cNvPr>
              <p:cNvSpPr txBox="1">
                <a:spLocks/>
              </p:cNvSpPr>
              <p:nvPr/>
            </p:nvSpPr>
            <p:spPr bwMode="auto">
              <a:xfrm>
                <a:off x="131350" y="1503721"/>
                <a:ext cx="8881298" cy="143746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600"/>
                  </a:spcAft>
                  <a:buClr>
                    <a:srgbClr val="16754D"/>
                  </a:buClr>
                  <a:buSzPct val="120000"/>
                  <a:buFont typeface="Arial" panose="020B0604020202020204" pitchFamily="34" charset="0"/>
                  <a:buChar char="•"/>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对分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(dichotomy):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对二分类问题来说</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中的假设对</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中示例赋予标记的每种可能结果称为对</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的一种“对分”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lvl="1" indent="-342900" fontAlgn="auto">
                  <a:lnSpc>
                    <a:spcPct val="100000"/>
                  </a:lnSpc>
                  <a:spcBef>
                    <a:spcPts val="0"/>
                  </a:spcBef>
                  <a:spcAft>
                    <a:spcPts val="600"/>
                  </a:spcAft>
                  <a:buClr>
                    <a:srgbClr val="16754D"/>
                  </a:buClr>
                  <a:buSzPct val="120000"/>
                  <a:buFont typeface="Arial" panose="020B0604020202020204" pitchFamily="34" charset="0"/>
                  <a:buChar char="•"/>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打散 </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(shattering):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能实现示例集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上的所有对分，即 </a:t>
                </a:r>
                <a14:m>
                  <m:oMath xmlns:m="http://schemas.openxmlformats.org/officeDocument/2006/math">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Cambria Math" panose="02040503050406030204" pitchFamily="18" charset="0"/>
                              </a:rPr>
                              <m:t>ℋ</m:t>
                            </m:r>
                          </m:e>
                          <m: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𝐷</m:t>
                            </m:r>
                          </m:sub>
                        </m:sSub>
                      </m:e>
                    </m:d>
                    <m:r>
                      <a:rPr lang="en-US" altLang="zh-CN" i="1">
                        <a:solidFill>
                          <a:sysClr val="windowText" lastClr="000000"/>
                        </a:solidFill>
                        <a:latin typeface="Cambria Math" panose="02040503050406030204" pitchFamily="18" charset="0"/>
                        <a:ea typeface="黑体" panose="02010609060101010101" pitchFamily="49" charset="-122"/>
                      </a:rPr>
                      <m:t> </m:t>
                    </m:r>
                    <m:r>
                      <a:rPr lang="en-US" altLang="zh-CN" i="1">
                        <a:solidFill>
                          <a:sysClr val="windowText" lastClr="000000"/>
                        </a:solidFill>
                        <a:latin typeface="Cambria Math" panose="02040503050406030204" pitchFamily="18" charset="0"/>
                      </a:rPr>
                      <m:t>=</m:t>
                    </m:r>
                    <m:sSup>
                      <m:sSupPr>
                        <m:ctrlPr>
                          <a:rPr lang="en-US" altLang="zh-CN" i="1">
                            <a:solidFill>
                              <a:sysClr val="windowText" lastClr="000000"/>
                            </a:solidFill>
                            <a:latin typeface="Cambria Math" panose="02040503050406030204" pitchFamily="18" charset="0"/>
                          </a:rPr>
                        </m:ctrlPr>
                      </m:sSupPr>
                      <m:e>
                        <m:r>
                          <a:rPr lang="en-US" altLang="zh-CN" i="1">
                            <a:solidFill>
                              <a:sysClr val="windowText" lastClr="000000"/>
                            </a:solidFill>
                            <a:latin typeface="Cambria Math" panose="02040503050406030204" pitchFamily="18" charset="0"/>
                          </a:rPr>
                          <m:t>2</m:t>
                        </m:r>
                      </m:e>
                      <m:sup>
                        <m:r>
                          <a:rPr lang="en-US" altLang="zh-CN" i="1">
                            <a:solidFill>
                              <a:sysClr val="windowText" lastClr="000000"/>
                            </a:solidFill>
                            <a:latin typeface="Cambria Math" panose="02040503050406030204" pitchFamily="18" charset="0"/>
                          </a:rPr>
                          <m:t>𝑚</m:t>
                        </m:r>
                      </m:sup>
                    </m:sSup>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则称示例集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rPr>
                      <m:t>𝐷</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能被假设空间 </a:t>
                </a:r>
                <a14:m>
                  <m:oMath xmlns:m="http://schemas.openxmlformats.org/officeDocument/2006/math">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“打散”</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此时 </a:t>
                </a:r>
                <a14:m>
                  <m:oMath xmlns:m="http://schemas.openxmlformats.org/officeDocument/2006/math">
                    <m:sSub>
                      <m:sSubPr>
                        <m:ctrlPr>
                          <a:rPr lang="en-US" altLang="zh-CN" i="1">
                            <a:solidFill>
                              <a:sysClr val="windowText" lastClr="000000"/>
                            </a:solidFill>
                            <a:latin typeface="Cambria Math" panose="02040503050406030204" pitchFamily="18" charset="0"/>
                          </a:rPr>
                        </m:ctrlPr>
                      </m:sSubPr>
                      <m:e>
                        <m:r>
                          <m:rPr>
                            <m:sty m:val="p"/>
                          </m:rPr>
                          <a:rPr lang="el-GR" altLang="zh-CN" i="1">
                            <a:solidFill>
                              <a:sysClr val="windowText" lastClr="000000"/>
                            </a:solidFill>
                            <a:latin typeface="Cambria Math" panose="02040503050406030204" pitchFamily="18" charset="0"/>
                            <a:ea typeface="Cambria Math" panose="02040503050406030204" pitchFamily="18" charset="0"/>
                          </a:rPr>
                          <m:t>Π</m:t>
                        </m:r>
                      </m:e>
                      <m:sub>
                        <m:r>
                          <a:rPr lang="en-US" altLang="zh-CN"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i="1">
                            <a:solidFill>
                              <a:sysClr val="windowText" lastClr="000000"/>
                            </a:solidFill>
                            <a:latin typeface="Cambria Math" panose="02040503050406030204" pitchFamily="18" charset="0"/>
                            <a:ea typeface="Cambria Math" panose="02040503050406030204" pitchFamily="18" charset="0"/>
                          </a:rPr>
                        </m:ctrlPr>
                      </m:dPr>
                      <m:e>
                        <m:r>
                          <a:rPr lang="en-US" altLang="zh-CN" i="1">
                            <a:solidFill>
                              <a:sysClr val="windowText" lastClr="000000"/>
                            </a:solidFill>
                            <a:latin typeface="Cambria Math" panose="02040503050406030204" pitchFamily="18" charset="0"/>
                          </a:rPr>
                          <m:t>𝑚</m:t>
                        </m:r>
                      </m:e>
                    </m:d>
                    <m:r>
                      <a:rPr lang="en-US" altLang="zh-CN" i="1">
                        <a:solidFill>
                          <a:sysClr val="windowText" lastClr="000000"/>
                        </a:solidFill>
                        <a:latin typeface="Cambria Math" panose="02040503050406030204" pitchFamily="18" charset="0"/>
                      </a:rPr>
                      <m:t>=</m:t>
                    </m:r>
                    <m:sSup>
                      <m:sSupPr>
                        <m:ctrlPr>
                          <a:rPr lang="en-US" altLang="zh-CN" i="1">
                            <a:solidFill>
                              <a:sysClr val="windowText" lastClr="000000"/>
                            </a:solidFill>
                            <a:latin typeface="Cambria Math" panose="02040503050406030204" pitchFamily="18" charset="0"/>
                          </a:rPr>
                        </m:ctrlPr>
                      </m:sSupPr>
                      <m:e>
                        <m:r>
                          <a:rPr lang="en-US" altLang="zh-CN" i="1">
                            <a:solidFill>
                              <a:sysClr val="windowText" lastClr="000000"/>
                            </a:solidFill>
                            <a:latin typeface="Cambria Math" panose="02040503050406030204" pitchFamily="18" charset="0"/>
                          </a:rPr>
                          <m:t>2</m:t>
                        </m:r>
                      </m:e>
                      <m:sup>
                        <m:r>
                          <a:rPr lang="en-US" altLang="zh-CN" i="1">
                            <a:solidFill>
                              <a:sysClr val="windowText" lastClr="000000"/>
                            </a:solidFill>
                            <a:latin typeface="Cambria Math" panose="02040503050406030204" pitchFamily="18" charset="0"/>
                          </a:rPr>
                          <m:t>𝑚</m:t>
                        </m:r>
                      </m:sup>
                    </m:sSup>
                  </m:oMath>
                </a14:m>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endPar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8" name="内容占位符 4">
                <a:extLst>
                  <a:ext uri="{FF2B5EF4-FFF2-40B4-BE49-F238E27FC236}">
                    <a16:creationId xmlns:a16="http://schemas.microsoft.com/office/drawing/2014/main" id="{7989393D-A849-1053-E6E6-34CEC927AE73}"/>
                  </a:ext>
                </a:extLst>
              </p:cNvPr>
              <p:cNvSpPr txBox="1">
                <a:spLocks noRot="1" noChangeAspect="1" noMove="1" noResize="1" noEditPoints="1" noAdjustHandles="1" noChangeArrowheads="1" noChangeShapeType="1" noTextEdit="1"/>
              </p:cNvSpPr>
              <p:nvPr/>
            </p:nvSpPr>
            <p:spPr bwMode="auto">
              <a:xfrm>
                <a:off x="131350" y="1503721"/>
                <a:ext cx="8881298" cy="1437465"/>
              </a:xfrm>
              <a:prstGeom prst="rect">
                <a:avLst/>
              </a:prstGeom>
              <a:blipFill>
                <a:blip r:embed="rId2"/>
                <a:stretch>
                  <a:fillRect l="-1992" t="-8085" r="-481" b="-51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9" name="内容占位符 4">
                <a:extLst>
                  <a:ext uri="{FF2B5EF4-FFF2-40B4-BE49-F238E27FC236}">
                    <a16:creationId xmlns:a16="http://schemas.microsoft.com/office/drawing/2014/main" id="{2FE640B2-B53E-22AE-3A2E-9650D6AB9681}"/>
                  </a:ext>
                </a:extLst>
              </p:cNvPr>
              <p:cNvSpPr txBox="1">
                <a:spLocks/>
              </p:cNvSpPr>
              <p:nvPr/>
            </p:nvSpPr>
            <p:spPr bwMode="auto">
              <a:xfrm>
                <a:off x="233554" y="3255612"/>
                <a:ext cx="8779094" cy="25103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假设空间 </a:t>
                </a:r>
                <a14:m>
                  <m:oMath xmlns:m="http://schemas.openxmlformats.org/officeDocument/2006/math">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a:t>
                </a:r>
                <a:r>
                  <a:rPr kumimoji="0" lang="en-US" altLang="zh-CN"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VC</a:t>
                </a:r>
                <a:r>
                  <a:rPr kumimoji="0" lang="zh-CN" altLang="en-US"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维</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是能被 </a:t>
                </a:r>
                <a14:m>
                  <m:oMath xmlns:m="http://schemas.openxmlformats.org/officeDocument/2006/math">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打散的</a:t>
                </a:r>
                <a:r>
                  <a:rPr kumimoji="0" lang="zh-CN" altLang="en-US" sz="2200" b="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rPr>
                  <a:t>最大示例集</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的大小</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即</a:t>
                </a:r>
                <a:endParaRPr lang="en-US" altLang="zh-CN" sz="2200" dirty="0">
                  <a:solidFill>
                    <a:sysClr val="windowText" lastClr="000000"/>
                  </a:solidFill>
                  <a:latin typeface="Arial" panose="020B0604020202020204" pitchFamily="34" charset="0"/>
                  <a:ea typeface="黑体" panose="02010609060101010101" pitchFamily="49" charset="-122"/>
                </a:endParaRPr>
              </a:p>
              <a:p>
                <a:pPr marL="0" lvl="1" indent="0" fontAlgn="auto">
                  <a:lnSpc>
                    <a:spcPct val="100000"/>
                  </a:lnSpc>
                  <a:spcBef>
                    <a:spcPts val="60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m:rPr>
                          <m:sty m:val="p"/>
                        </m:rPr>
                        <a:rPr kumimoji="0" lang="en-US" altLang="zh-CN" sz="22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VC</m:t>
                      </m:r>
                      <m:d>
                        <m:dPr>
                          <m:ctrlP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e>
                      </m:d>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sty m:val="p"/>
                        </m:rPr>
                        <a:rPr kumimoji="0" lang="en-US" altLang="zh-CN" sz="2200" b="0" i="0"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max</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lang="en-US" altLang="zh-CN" sz="2400" i="1">
                              <a:solidFill>
                                <a:sysClr val="windowText" lastClr="000000"/>
                              </a:solidFill>
                              <a:latin typeface="Cambria Math" panose="02040503050406030204" pitchFamily="18" charset="0"/>
                            </a:rPr>
                          </m:ctrlPr>
                        </m:sSubPr>
                        <m:e>
                          <m:r>
                            <m:rPr>
                              <m:sty m:val="p"/>
                            </m:rPr>
                            <a:rPr lang="el-GR" altLang="zh-CN" sz="2400" i="1">
                              <a:solidFill>
                                <a:sysClr val="windowText" lastClr="000000"/>
                              </a:solidFill>
                              <a:latin typeface="Cambria Math" panose="02040503050406030204" pitchFamily="18" charset="0"/>
                              <a:ea typeface="Cambria Math" panose="02040503050406030204" pitchFamily="18" charset="0"/>
                            </a:rPr>
                            <m:t>Π</m:t>
                          </m:r>
                        </m:e>
                        <m:sub>
                          <m:r>
                            <a:rPr lang="en-US" altLang="zh-CN" sz="2400"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sz="2400" i="1">
                              <a:solidFill>
                                <a:sysClr val="windowText" lastClr="000000"/>
                              </a:solidFill>
                              <a:latin typeface="Cambria Math" panose="02040503050406030204" pitchFamily="18" charset="0"/>
                              <a:ea typeface="Cambria Math" panose="02040503050406030204" pitchFamily="18" charset="0"/>
                            </a:rPr>
                          </m:ctrlPr>
                        </m:dPr>
                        <m:e>
                          <m:r>
                            <a:rPr lang="en-US" altLang="zh-CN" sz="2400" i="1">
                              <a:solidFill>
                                <a:sysClr val="windowText" lastClr="000000"/>
                              </a:solidFill>
                              <a:latin typeface="Cambria Math" panose="02040503050406030204" pitchFamily="18" charset="0"/>
                            </a:rPr>
                            <m:t>𝑚</m:t>
                          </m:r>
                        </m:e>
                      </m:d>
                      <m:r>
                        <a:rPr lang="en-US" altLang="zh-CN" sz="2400" i="1">
                          <a:solidFill>
                            <a:sysClr val="windowText" lastClr="000000"/>
                          </a:solidFill>
                          <a:latin typeface="Cambria Math" panose="02040503050406030204" pitchFamily="18" charset="0"/>
                        </a:rPr>
                        <m:t>=</m:t>
                      </m:r>
                      <m:sSup>
                        <m:sSupPr>
                          <m:ctrlPr>
                            <a:rPr lang="en-US" altLang="zh-CN" sz="2400" i="1">
                              <a:solidFill>
                                <a:sysClr val="windowText" lastClr="000000"/>
                              </a:solidFill>
                              <a:latin typeface="Cambria Math" panose="02040503050406030204" pitchFamily="18" charset="0"/>
                            </a:rPr>
                          </m:ctrlPr>
                        </m:sSupPr>
                        <m:e>
                          <m:r>
                            <a:rPr lang="en-US" altLang="zh-CN" sz="2400" i="1">
                              <a:solidFill>
                                <a:sysClr val="windowText" lastClr="000000"/>
                              </a:solidFill>
                              <a:latin typeface="Cambria Math" panose="02040503050406030204" pitchFamily="18" charset="0"/>
                            </a:rPr>
                            <m:t>2</m:t>
                          </m:r>
                        </m:e>
                        <m:sup>
                          <m:r>
                            <a:rPr lang="en-US" altLang="zh-CN" sz="2400" i="1">
                              <a:solidFill>
                                <a:sysClr val="windowText" lastClr="000000"/>
                              </a:solidFill>
                              <a:latin typeface="Cambria Math" panose="02040503050406030204" pitchFamily="18" charset="0"/>
                            </a:rPr>
                            <m:t>𝑚</m:t>
                          </m:r>
                        </m:sup>
                      </m:sSup>
                      <m:r>
                        <a:rPr kumimoji="0" lang="en-US" altLang="zh-CN" sz="22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m:oMathPara>
                </a14:m>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600"/>
                  </a:spcBef>
                  <a:spcAft>
                    <a:spcPts val="0"/>
                  </a:spcAft>
                  <a:buClr>
                    <a:srgbClr val="16754D"/>
                  </a:buClr>
                  <a:buSzPct val="120000"/>
                  <a:buNone/>
                  <a:defRPr/>
                </a:pPr>
                <a14:m>
                  <m:oMath xmlns:m="http://schemas.openxmlformats.org/officeDocument/2006/math">
                    <m:r>
                      <m:rPr>
                        <m:sty m:val="p"/>
                      </m:rPr>
                      <a:rPr lang="en-US" altLang="zh-CN" b="0" i="0" smtClean="0">
                        <a:solidFill>
                          <a:sysClr val="windowText" lastClr="000000"/>
                        </a:solidFill>
                        <a:latin typeface="Cambria Math" panose="02040503050406030204" pitchFamily="18" charset="0"/>
                        <a:ea typeface="黑体" panose="02010609060101010101" pitchFamily="49" charset="-122"/>
                      </a:rPr>
                      <m:t>VC</m:t>
                    </m:r>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Cambria Math" panose="02040503050406030204" pitchFamily="18" charset="0"/>
                          </a:rPr>
                          <m:t>ℋ</m:t>
                        </m:r>
                      </m:e>
                    </m:d>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zh-CN" altLang="en-US" dirty="0">
                    <a:solidFill>
                      <a:sysClr val="windowText" lastClr="000000"/>
                    </a:solidFill>
                    <a:latin typeface="Arial" panose="020B0604020202020204" pitchFamily="34" charset="0"/>
                    <a:ea typeface="黑体" panose="02010609060101010101" pitchFamily="49" charset="-122"/>
                  </a:rPr>
                  <a:t> 意味着</a:t>
                </a:r>
                <a:r>
                  <a:rPr lang="zh-CN" altLang="en-US" dirty="0">
                    <a:solidFill>
                      <a:srgbClr val="C00000"/>
                    </a:solidFill>
                    <a:latin typeface="Arial" panose="020B0604020202020204" pitchFamily="34" charset="0"/>
                    <a:ea typeface="黑体" panose="02010609060101010101" pitchFamily="49" charset="-122"/>
                  </a:rPr>
                  <a:t>存在</a:t>
                </a:r>
                <a:r>
                  <a:rPr lang="zh-CN" altLang="en-US" dirty="0">
                    <a:solidFill>
                      <a:sysClr val="windowText" lastClr="000000"/>
                    </a:solidFill>
                    <a:latin typeface="Arial" panose="020B0604020202020204" pitchFamily="34" charset="0"/>
                    <a:ea typeface="黑体" panose="02010609060101010101" pitchFamily="49" charset="-122"/>
                  </a:rPr>
                  <a:t>一个大小为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zh-CN" altLang="en-US" dirty="0">
                    <a:solidFill>
                      <a:sysClr val="windowText" lastClr="000000"/>
                    </a:solidFill>
                    <a:latin typeface="Arial" panose="020B0604020202020204" pitchFamily="34" charset="0"/>
                    <a:ea typeface="黑体" panose="02010609060101010101" pitchFamily="49" charset="-122"/>
                  </a:rPr>
                  <a:t> 的示例集能被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打散。注意：这并不意味着所有大小为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的示例集都能被假设空间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打散。</a:t>
                </a:r>
                <a:endParaRPr lang="en-US" altLang="zh-CN" dirty="0">
                  <a:solidFill>
                    <a:sysClr val="windowText" lastClr="000000"/>
                  </a:solidFill>
                  <a:latin typeface="Arial" panose="020B0604020202020204" pitchFamily="34" charset="0"/>
                  <a:ea typeface="黑体" panose="02010609060101010101" pitchFamily="49" charset="-122"/>
                </a:endParaRPr>
              </a:p>
              <a:p>
                <a:pPr marL="342900" lvl="1" indent="-342900" fontAlgn="auto">
                  <a:lnSpc>
                    <a:spcPct val="100000"/>
                  </a:lnSpc>
                  <a:spcBef>
                    <a:spcPts val="600"/>
                  </a:spcBef>
                  <a:spcAft>
                    <a:spcPts val="0"/>
                  </a:spcAft>
                  <a:buClr>
                    <a:srgbClr val="16754D"/>
                  </a:buClr>
                  <a:buSzPct val="120000"/>
                  <a:buFont typeface="Wingdings" panose="05000000000000000000" pitchFamily="2" charset="2"/>
                  <a:buChar char="Ø"/>
                  <a:defRPr/>
                </a:pPr>
                <a:r>
                  <a:rPr lang="zh-CN" altLang="en-US" dirty="0">
                    <a:solidFill>
                      <a:srgbClr val="669900"/>
                    </a:solidFill>
                    <a:latin typeface="Arial" panose="020B0604020202020204" pitchFamily="34" charset="0"/>
                    <a:ea typeface="黑体" panose="02010609060101010101" pitchFamily="49" charset="-122"/>
                  </a:rPr>
                  <a:t>证明</a:t>
                </a:r>
                <a:r>
                  <a:rPr lang="zh-CN" altLang="en-US" dirty="0">
                    <a:solidFill>
                      <a:sysClr val="windowText" lastClr="000000"/>
                    </a:solidFill>
                    <a:latin typeface="Arial" panose="020B0604020202020204" pitchFamily="34" charset="0"/>
                    <a:ea typeface="黑体" panose="02010609060101010101" pitchFamily="49" charset="-122"/>
                  </a:rPr>
                  <a:t>一个假设空间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zh-CN" altLang="en-US" dirty="0">
                    <a:solidFill>
                      <a:sysClr val="windowText" lastClr="000000"/>
                    </a:solidFill>
                    <a:latin typeface="Arial" panose="020B0604020202020204" pitchFamily="34" charset="0"/>
                    <a:ea typeface="黑体" panose="02010609060101010101" pitchFamily="49" charset="-122"/>
                  </a:rPr>
                  <a:t> 的 </a:t>
                </a:r>
                <a:r>
                  <a:rPr lang="en-US" altLang="zh-CN" dirty="0">
                    <a:solidFill>
                      <a:srgbClr val="669900"/>
                    </a:solidFill>
                    <a:latin typeface="Arial" panose="020B0604020202020204" pitchFamily="34" charset="0"/>
                    <a:ea typeface="黑体" panose="02010609060101010101" pitchFamily="49" charset="-122"/>
                  </a:rPr>
                  <a:t>VC </a:t>
                </a:r>
                <a:r>
                  <a:rPr lang="zh-CN" altLang="en-US" dirty="0">
                    <a:solidFill>
                      <a:srgbClr val="669900"/>
                    </a:solidFill>
                    <a:latin typeface="Arial" panose="020B0604020202020204" pitchFamily="34" charset="0"/>
                    <a:ea typeface="黑体" panose="02010609060101010101" pitchFamily="49" charset="-122"/>
                  </a:rPr>
                  <a:t>维为 </a:t>
                </a:r>
                <a14:m>
                  <m:oMath xmlns:m="http://schemas.openxmlformats.org/officeDocument/2006/math">
                    <m:r>
                      <a:rPr lang="en-US" altLang="zh-CN" b="0" i="1" smtClean="0">
                        <a:solidFill>
                          <a:srgbClr val="6699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a:t>
                </a:r>
              </a:p>
              <a:p>
                <a:pPr marL="666000" lvl="1" indent="-324000" fontAlgn="auto">
                  <a:lnSpc>
                    <a:spcPct val="100000"/>
                  </a:lnSpc>
                  <a:spcBef>
                    <a:spcPts val="0"/>
                  </a:spcBef>
                  <a:spcAft>
                    <a:spcPts val="0"/>
                  </a:spcAft>
                  <a:buClr>
                    <a:srgbClr val="16754D"/>
                  </a:buClr>
                  <a:buSzPct val="120000"/>
                  <a:buFont typeface="Arial" panose="020B0604020202020204" pitchFamily="34" charset="0"/>
                  <a:buChar char="•"/>
                  <a:defRPr/>
                </a:pPr>
                <a:r>
                  <a:rPr lang="zh-CN" altLang="en-US" dirty="0">
                    <a:solidFill>
                      <a:sysClr val="windowText" lastClr="000000"/>
                    </a:solidFill>
                    <a:latin typeface="Arial" panose="020B0604020202020204" pitchFamily="34" charset="0"/>
                    <a:ea typeface="黑体" panose="02010609060101010101" pitchFamily="49" charset="-122"/>
                  </a:rPr>
                  <a:t>存在大小为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的样本集 </a:t>
                </a:r>
                <a14:m>
                  <m:oMath xmlns:m="http://schemas.openxmlformats.org/officeDocument/2006/math">
                    <m:r>
                      <a:rPr lang="en-US" altLang="zh-CN" i="1">
                        <a:solidFill>
                          <a:prstClr val="black"/>
                        </a:solidFill>
                        <a:latin typeface="Cambria Math" panose="02040503050406030204" pitchFamily="18" charset="0"/>
                      </a:rPr>
                      <m:t>𝐷</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打散</a:t>
                </a:r>
                <a:r>
                  <a:rPr lang="en-US" altLang="zh-CN" dirty="0">
                    <a:solidFill>
                      <a:sysClr val="windowText" lastClr="000000"/>
                    </a:solidFill>
                    <a:latin typeface="Arial" panose="020B0604020202020204" pitchFamily="34" charset="0"/>
                    <a:ea typeface="黑体" panose="02010609060101010101" pitchFamily="49" charset="-122"/>
                  </a:rPr>
                  <a:t>;</a:t>
                </a:r>
              </a:p>
              <a:p>
                <a:pPr marL="666000" lvl="1" indent="-324000" fontAlgn="auto">
                  <a:lnSpc>
                    <a:spcPct val="100000"/>
                  </a:lnSpc>
                  <a:spcBef>
                    <a:spcPts val="0"/>
                  </a:spcBef>
                  <a:spcAft>
                    <a:spcPts val="0"/>
                  </a:spcAft>
                  <a:buClr>
                    <a:srgbClr val="16754D"/>
                  </a:buClr>
                  <a:buSzPct val="120000"/>
                  <a:buFont typeface="Arial" panose="020B0604020202020204" pitchFamily="34" charset="0"/>
                  <a:buChar char="•"/>
                  <a:defRPr/>
                </a:pPr>
                <a:r>
                  <a:rPr lang="zh-CN" altLang="en-US" dirty="0">
                    <a:solidFill>
                      <a:sysClr val="windowText" lastClr="000000"/>
                    </a:solidFill>
                    <a:latin typeface="Arial" panose="020B0604020202020204" pitchFamily="34" charset="0"/>
                    <a:ea typeface="黑体" panose="02010609060101010101" pitchFamily="49" charset="-122"/>
                  </a:rPr>
                  <a:t>任意大小为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𝑑</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1</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的样本集 </a:t>
                </a:r>
                <a14:m>
                  <m:oMath xmlns:m="http://schemas.openxmlformats.org/officeDocument/2006/math">
                    <m:sSup>
                      <m:sSupPr>
                        <m:ctrlPr>
                          <a:rPr lang="en-US" altLang="zh-CN" i="1" smtClean="0">
                            <a:solidFill>
                              <a:sysClr val="windowText" lastClr="000000"/>
                            </a:solidFill>
                            <a:latin typeface="Cambria Math" panose="02040503050406030204" pitchFamily="18" charset="0"/>
                            <a:ea typeface="黑体" panose="02010609060101010101" pitchFamily="49" charset="-122"/>
                          </a:rPr>
                        </m:ctrlPr>
                      </m:sSupPr>
                      <m:e>
                        <m:r>
                          <a:rPr lang="en-US" altLang="zh-CN" b="0" i="1" smtClean="0">
                            <a:solidFill>
                              <a:sysClr val="windowText" lastClr="000000"/>
                            </a:solidFill>
                            <a:latin typeface="Cambria Math" panose="02040503050406030204" pitchFamily="18" charset="0"/>
                            <a:ea typeface="黑体" panose="02010609060101010101" pitchFamily="49" charset="-122"/>
                          </a:rPr>
                          <m:t>𝐷</m:t>
                        </m:r>
                      </m:e>
                      <m:sup>
                        <m:r>
                          <a:rPr lang="en-US" altLang="zh-CN" b="0" i="1" smtClean="0">
                            <a:solidFill>
                              <a:sysClr val="windowText" lastClr="000000"/>
                            </a:solidFill>
                            <a:latin typeface="Cambria Math" panose="02040503050406030204" pitchFamily="18" charset="0"/>
                            <a:ea typeface="黑体" panose="02010609060101010101" pitchFamily="49" charset="-122"/>
                          </a:rPr>
                          <m:t>′</m:t>
                        </m:r>
                      </m:sup>
                    </m:sSup>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都不能被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打散</a:t>
                </a:r>
                <a:r>
                  <a:rPr lang="en-US" altLang="zh-CN" dirty="0">
                    <a:solidFill>
                      <a:sysClr val="windowText" lastClr="000000"/>
                    </a:solidFill>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9" name="内容占位符 4">
                <a:extLst>
                  <a:ext uri="{FF2B5EF4-FFF2-40B4-BE49-F238E27FC236}">
                    <a16:creationId xmlns:a16="http://schemas.microsoft.com/office/drawing/2014/main" id="{2FE640B2-B53E-22AE-3A2E-9650D6AB9681}"/>
                  </a:ext>
                </a:extLst>
              </p:cNvPr>
              <p:cNvSpPr txBox="1">
                <a:spLocks noRot="1" noChangeAspect="1" noMove="1" noResize="1" noEditPoints="1" noAdjustHandles="1" noChangeArrowheads="1" noChangeShapeType="1" noTextEdit="1"/>
              </p:cNvSpPr>
              <p:nvPr/>
            </p:nvSpPr>
            <p:spPr bwMode="auto">
              <a:xfrm>
                <a:off x="233554" y="3255612"/>
                <a:ext cx="8779094" cy="2510313"/>
              </a:xfrm>
              <a:prstGeom prst="rect">
                <a:avLst/>
              </a:prstGeom>
              <a:blipFill>
                <a:blip r:embed="rId3"/>
                <a:stretch>
                  <a:fillRect l="-1944" t="-4126" b="-97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801933749"/>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29403A96-ACBE-78FA-3FFD-44859D00A69A}"/>
                  </a:ext>
                </a:extLst>
              </p:cNvPr>
              <p:cNvSpPr txBox="1">
                <a:spLocks/>
              </p:cNvSpPr>
              <p:nvPr/>
            </p:nvSpPr>
            <p:spPr bwMode="auto">
              <a:xfrm>
                <a:off x="89515" y="861642"/>
                <a:ext cx="8629650" cy="2383581"/>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例</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实数域中的区间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60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表示实数域中所有闭区间构成的集合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d>
                          <m:dPr>
                            <m:begChr m:val="["/>
                            <m:end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e>
                        </m:d>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zh-CN" altLang="en-US"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ℝ</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𝒳</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若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则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𝑎</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𝑏</m:t>
                            </m:r>
                          </m:e>
                        </m:d>
                      </m:sub>
                    </m:sSub>
                    <m:r>
                      <a:rPr lang="en-US" altLang="zh-CN" b="0" i="1" smtClean="0">
                        <a:solidFill>
                          <a:sysClr val="windowText" lastClr="000000"/>
                        </a:solidFill>
                        <a:latin typeface="Cambria Math" panose="02040503050406030204" pitchFamily="18" charset="0"/>
                        <a:ea typeface="黑体" panose="02010609060101010101" pitchFamily="49" charset="-122"/>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否则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𝑎</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𝑏</m:t>
                            </m:r>
                          </m:e>
                        </m:d>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令样本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=0.5</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1</m:t>
                    </m:r>
                    <m:r>
                      <a:rPr lang="en-US" altLang="zh-CN" i="1">
                        <a:solidFill>
                          <a:sysClr val="windowText" lastClr="000000"/>
                        </a:solidFill>
                        <a:latin typeface="Cambria Math" panose="02040503050406030204" pitchFamily="18" charset="0"/>
                        <a:ea typeface="黑体" panose="02010609060101010101" pitchFamily="49" charset="-122"/>
                      </a:rPr>
                      <m:t>.5</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则假设空间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中存在假设 </a:t>
                </a:r>
                <a14:m>
                  <m:oMath xmlns:m="http://schemas.openxmlformats.org/officeDocument/2006/math">
                    <m:d>
                      <m:dPr>
                        <m:begChr m:val="{"/>
                        <m:end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0,1</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0,2</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1,2</m:t>
                                </m:r>
                              </m:e>
                            </m:d>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h</m:t>
                            </m:r>
                          </m:e>
                          <m: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a:solidFill>
                                      <a:sysClr val="windowText" lastClr="000000"/>
                                    </a:solidFill>
                                    <a:latin typeface="Cambria Math" panose="02040503050406030204" pitchFamily="18" charset="0"/>
                                    <a:ea typeface="黑体" panose="02010609060101010101" pitchFamily="49" charset="-122"/>
                                  </a:rPr>
                                  <m:t>2,3</m:t>
                                </m:r>
                              </m:e>
                            </m:d>
                          </m:sub>
                        </m:sSub>
                      </m:e>
                    </m:d>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将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打散，所以假设空间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维至少为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2</a:t>
                </a:r>
                <a:r>
                  <a:rPr lang="en-US" altLang="zh-CN" dirty="0">
                    <a:solidFill>
                      <a:sysClr val="windowText" lastClr="000000"/>
                    </a:solidFill>
                    <a:latin typeface="Arial" panose="020B0604020202020204" pitchFamily="34" charset="0"/>
                    <a:ea typeface="黑体" panose="02010609060101010101" pitchFamily="49" charset="-122"/>
                  </a:rPr>
                  <a:t>;</a:t>
                </a:r>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对任意大小为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3</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的示例集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3</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5</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不妨设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3</m:t>
                        </m:r>
                      </m:sub>
                    </m:s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&lt;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&lt;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5</m:t>
                        </m:r>
                      </m:sub>
                    </m:sSub>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则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中不存在任何假设 </a:t>
                </a:r>
                <a14:m>
                  <m:oMath xmlns:m="http://schemas.openxmlformats.org/officeDocument/2006/math">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𝑎</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𝑏</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ub>
                    </m:sSub>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能实现对分结果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3</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4</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5</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于是</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维为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2.</a:t>
                </a:r>
              </a:p>
            </p:txBody>
          </p:sp>
        </mc:Choice>
        <mc:Fallback xmlns="">
          <p:sp>
            <p:nvSpPr>
              <p:cNvPr id="3" name="内容占位符 4">
                <a:extLst>
                  <a:ext uri="{FF2B5EF4-FFF2-40B4-BE49-F238E27FC236}">
                    <a16:creationId xmlns:a16="http://schemas.microsoft.com/office/drawing/2014/main" id="{29403A96-ACBE-78FA-3FFD-44859D00A69A}"/>
                  </a:ext>
                </a:extLst>
              </p:cNvPr>
              <p:cNvSpPr txBox="1">
                <a:spLocks noRot="1" noChangeAspect="1" noMove="1" noResize="1" noEditPoints="1" noAdjustHandles="1" noChangeArrowheads="1" noChangeShapeType="1" noTextEdit="1"/>
              </p:cNvSpPr>
              <p:nvPr/>
            </p:nvSpPr>
            <p:spPr bwMode="auto">
              <a:xfrm>
                <a:off x="89515" y="861642"/>
                <a:ext cx="8629650" cy="2383581"/>
              </a:xfrm>
              <a:prstGeom prst="rect">
                <a:avLst/>
              </a:prstGeom>
              <a:blipFill>
                <a:blip r:embed="rId2"/>
                <a:stretch>
                  <a:fillRect l="-1837" t="-3836" r="-1413" b="-306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AAEA3F44-8FED-51E3-DD92-7BBA22B74DAD}"/>
                  </a:ext>
                </a:extLst>
              </p:cNvPr>
              <p:cNvSpPr txBox="1">
                <a:spLocks/>
              </p:cNvSpPr>
              <p:nvPr/>
            </p:nvSpPr>
            <p:spPr bwMode="auto">
              <a:xfrm>
                <a:off x="89514" y="3323551"/>
                <a:ext cx="8881300" cy="131308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base" latinLnBrk="0" hangingPunct="1">
                  <a:lnSpc>
                    <a:spcPct val="100000"/>
                  </a:lnSpc>
                  <a:spcBef>
                    <a:spcPts val="0"/>
                  </a:spcBef>
                  <a:spcAft>
                    <a:spcPts val="0"/>
                  </a:spcAft>
                  <a:buClr>
                    <a:srgbClr val="16754D"/>
                  </a:buClr>
                  <a:buSzPct val="120000"/>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例</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2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二维实平面的线性划分</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lvl="1" indent="0">
                  <a:lnSpc>
                    <a:spcPct val="100000"/>
                  </a:lnSpc>
                  <a:spcBef>
                    <a:spcPts val="0"/>
                  </a:spcBef>
                  <a:spcAft>
                    <a:spcPts val="0"/>
                  </a:spcAft>
                  <a:buClr>
                    <a:srgbClr val="16754D"/>
                  </a:buClr>
                  <a:buSzPct val="120000"/>
                  <a:buNone/>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令</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表示二维实平面上所有线性划分构成的集合</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p>
                      <m:sSup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p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e>
                      <m:sup>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up>
                    </m:sSup>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由下图可知</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存在大小为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3</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的示例集可被</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打散</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但不存在大小为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4</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的示例集可被</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打散</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于是</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二维实平面上所有线性划分构成的假设空间</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3.</a:t>
                </a:r>
              </a:p>
            </p:txBody>
          </p:sp>
        </mc:Choice>
        <mc:Fallback xmlns="">
          <p:sp>
            <p:nvSpPr>
              <p:cNvPr id="5" name="内容占位符 4">
                <a:extLst>
                  <a:ext uri="{FF2B5EF4-FFF2-40B4-BE49-F238E27FC236}">
                    <a16:creationId xmlns:a16="http://schemas.microsoft.com/office/drawing/2014/main" id="{AAEA3F44-8FED-51E3-DD92-7BBA22B74DAD}"/>
                  </a:ext>
                </a:extLst>
              </p:cNvPr>
              <p:cNvSpPr txBox="1">
                <a:spLocks noRot="1" noChangeAspect="1" noMove="1" noResize="1" noEditPoints="1" noAdjustHandles="1" noChangeArrowheads="1" noChangeShapeType="1" noTextEdit="1"/>
              </p:cNvSpPr>
              <p:nvPr/>
            </p:nvSpPr>
            <p:spPr bwMode="auto">
              <a:xfrm>
                <a:off x="89514" y="3323551"/>
                <a:ext cx="8881300" cy="1313089"/>
              </a:xfrm>
              <a:prstGeom prst="rect">
                <a:avLst/>
              </a:prstGeom>
              <a:blipFill>
                <a:blip r:embed="rId3"/>
                <a:stretch>
                  <a:fillRect l="-1784" t="-6944" r="-549" b="-509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pic>
        <p:nvPicPr>
          <p:cNvPr id="11" name="图片 5">
            <a:extLst>
              <a:ext uri="{FF2B5EF4-FFF2-40B4-BE49-F238E27FC236}">
                <a16:creationId xmlns:a16="http://schemas.microsoft.com/office/drawing/2014/main" id="{E961A120-4EDB-576A-B342-54B1AE1A7A8B}"/>
              </a:ext>
            </a:extLst>
          </p:cNvPr>
          <p:cNvPicPr>
            <a:picLocks noChangeAspect="1"/>
          </p:cNvPicPr>
          <p:nvPr/>
        </p:nvPicPr>
        <p:blipFill rotWithShape="1">
          <a:blip r:embed="rId4">
            <a:extLst>
              <a:ext uri="{28A0092B-C50C-407E-A947-70E740481C1C}">
                <a14:useLocalDpi xmlns:a14="http://schemas.microsoft.com/office/drawing/2010/main" val="0"/>
              </a:ext>
            </a:extLst>
          </a:blip>
          <a:srcRect l="2606" t="4803" r="1305" b="23247"/>
          <a:stretch/>
        </p:blipFill>
        <p:spPr bwMode="auto">
          <a:xfrm>
            <a:off x="144410" y="4599429"/>
            <a:ext cx="8910076" cy="216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2201589092"/>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65</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13" name="文本框 12">
                <a:extLst>
                  <a:ext uri="{FF2B5EF4-FFF2-40B4-BE49-F238E27FC236}">
                    <a16:creationId xmlns:a16="http://schemas.microsoft.com/office/drawing/2014/main" id="{B03D282F-EDA5-704D-F7C0-A963BAD7B287}"/>
                  </a:ext>
                </a:extLst>
              </p:cNvPr>
              <p:cNvSpPr txBox="1">
                <a:spLocks noChangeArrowheads="1"/>
              </p:cNvSpPr>
              <p:nvPr/>
            </p:nvSpPr>
            <p:spPr bwMode="auto">
              <a:xfrm>
                <a:off x="86006" y="2674919"/>
                <a:ext cx="8940613" cy="83561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defTabSz="914400" eaLnBrk="1" fontAlgn="base" latinLnBrk="0" hangingPunct="1">
                  <a:spcAft>
                    <a:spcPct val="0"/>
                  </a:spcAft>
                  <a:buClrTx/>
                  <a:buSzPct val="120000"/>
                  <a:buFontTx/>
                  <a:buNone/>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由</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Sauer</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引理可以计算出增长函数的上界</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defTabSz="914400" eaLnBrk="1" fontAlgn="base" latinLnBrk="0" hangingPunct="1">
                  <a:spcAft>
                    <a:spcPct val="0"/>
                  </a:spcAft>
                  <a:buClrTx/>
                  <a:buSzPct val="120000"/>
                  <a:buFontTx/>
                  <a:buNone/>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推论</a:t>
                </a:r>
                <a:r>
                  <a:rPr lang="en-US" altLang="zh-CN" sz="2000" kern="0" dirty="0">
                    <a:solidFill>
                      <a:prstClr val="black"/>
                    </a:solidFill>
                    <a:latin typeface="Arial" panose="020B0604020202020204" pitchFamily="34" charset="0"/>
                    <a:ea typeface="黑体" panose="02010609060101010101" pitchFamily="49" charset="-122"/>
                  </a:rPr>
                  <a:t> 12.2</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若假设空间 </a:t>
                </a:r>
                <a14:m>
                  <m:oMath xmlns:m="http://schemas.openxmlformats.org/officeDocument/2006/math">
                    <m:r>
                      <a:rPr lang="en-US" altLang="zh-CN" sz="2000" i="1" smtClean="0">
                        <a:solidFill>
                          <a:prstClr val="black"/>
                        </a:solidFill>
                        <a:latin typeface="Cambria Math" panose="02040503050406030204" pitchFamily="18" charset="0"/>
                        <a:ea typeface="Cambria Math" panose="02040503050406030204" pitchFamily="18" charset="0"/>
                      </a:rPr>
                      <m:t>ℋ</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的</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维为</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𝑑</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则对任意整数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𝑑</m:t>
                    </m:r>
                  </m:oMath>
                </a14:m>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有</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lang="en-US" altLang="zh-CN" sz="2000" kern="0" dirty="0">
                    <a:solidFill>
                      <a:prstClr val="black"/>
                    </a:solidFill>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bPr>
                      <m:e>
                        <m:r>
                          <m:rPr>
                            <m:sty m:val="p"/>
                          </m:rPr>
                          <a:rPr kumimoji="0" lang="el-GR"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Π</m:t>
                        </m:r>
                      </m:e>
                      <m:sub>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sub>
                    </m:sSub>
                    <m:d>
                      <m:dPr>
                        <m:ctrlP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dPr>
                      <m:e>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𝑚</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sSupPr>
                      <m:e>
                        <m:d>
                          <m:dPr>
                            <m:ctrlPr>
                              <a:rPr lang="en-US" altLang="zh-CN" sz="2000" i="1">
                                <a:solidFill>
                                  <a:sysClr val="windowText" lastClr="000000"/>
                                </a:solidFill>
                                <a:latin typeface="Cambria Math" panose="02040503050406030204" pitchFamily="18" charset="0"/>
                                <a:ea typeface="Cambria Math" panose="02040503050406030204" pitchFamily="18" charset="0"/>
                              </a:rPr>
                            </m:ctrlPr>
                          </m:dPr>
                          <m:e>
                            <m:f>
                              <m:fPr>
                                <m:ctrlPr>
                                  <a:rPr lang="en-US" altLang="zh-CN" sz="2000" i="1">
                                    <a:solidFill>
                                      <a:sysClr val="windowText" lastClr="000000"/>
                                    </a:solidFill>
                                    <a:latin typeface="Cambria Math" panose="02040503050406030204" pitchFamily="18" charset="0"/>
                                    <a:ea typeface="Cambria Math" panose="02040503050406030204" pitchFamily="18" charset="0"/>
                                  </a:rPr>
                                </m:ctrlPr>
                              </m:fPr>
                              <m:num>
                                <m:r>
                                  <a:rPr lang="en-US" altLang="zh-CN" sz="2000" i="1">
                                    <a:solidFill>
                                      <a:sysClr val="windowText" lastClr="000000"/>
                                    </a:solidFill>
                                    <a:latin typeface="Cambria Math" panose="02040503050406030204" pitchFamily="18" charset="0"/>
                                    <a:ea typeface="Cambria Math" panose="02040503050406030204" pitchFamily="18" charset="0"/>
                                  </a:rPr>
                                  <m:t>𝑒</m:t>
                                </m:r>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Cambria Math" panose="02040503050406030204" pitchFamily="18" charset="0"/>
                                  </a:rPr>
                                  <m:t>𝑚</m:t>
                                </m:r>
                              </m:num>
                              <m:den>
                                <m:r>
                                  <a:rPr lang="en-US" altLang="zh-CN" sz="2000" i="1">
                                    <a:solidFill>
                                      <a:sysClr val="windowText" lastClr="000000"/>
                                    </a:solidFill>
                                    <a:latin typeface="Cambria Math" panose="02040503050406030204" pitchFamily="18" charset="0"/>
                                    <a:ea typeface="Cambria Math" panose="02040503050406030204" pitchFamily="18" charset="0"/>
                                  </a:rPr>
                                  <m:t>𝑑</m:t>
                                </m:r>
                              </m:den>
                            </m:f>
                          </m:e>
                        </m:d>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𝑑</m:t>
                        </m:r>
                      </m:sup>
                    </m:sSup>
                  </m:oMath>
                </a14:m>
                <a:endParaRPr kumimoji="0" lang="en-US" altLang="zh-CN" sz="18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3" name="文本框 12">
                <a:extLst>
                  <a:ext uri="{FF2B5EF4-FFF2-40B4-BE49-F238E27FC236}">
                    <a16:creationId xmlns:a16="http://schemas.microsoft.com/office/drawing/2014/main" id="{B03D282F-EDA5-704D-F7C0-A963BAD7B287}"/>
                  </a:ext>
                </a:extLst>
              </p:cNvPr>
              <p:cNvSpPr txBox="1">
                <a:spLocks noRot="1" noChangeAspect="1" noMove="1" noResize="1" noEditPoints="1" noAdjustHandles="1" noChangeArrowheads="1" noChangeShapeType="1" noTextEdit="1"/>
              </p:cNvSpPr>
              <p:nvPr/>
            </p:nvSpPr>
            <p:spPr bwMode="auto">
              <a:xfrm>
                <a:off x="86006" y="2674919"/>
                <a:ext cx="8940613" cy="835613"/>
              </a:xfrm>
              <a:prstGeom prst="rect">
                <a:avLst/>
              </a:prstGeom>
              <a:blipFill>
                <a:blip r:embed="rId2"/>
                <a:stretch>
                  <a:fillRect l="-1704" t="-10949" b="-8029"/>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内容占位符 4">
                <a:extLst>
                  <a:ext uri="{FF2B5EF4-FFF2-40B4-BE49-F238E27FC236}">
                    <a16:creationId xmlns:a16="http://schemas.microsoft.com/office/drawing/2014/main" id="{3D6737ED-41BA-CF30-28EC-73DE36105C9E}"/>
                  </a:ext>
                </a:extLst>
              </p:cNvPr>
              <p:cNvSpPr txBox="1">
                <a:spLocks/>
              </p:cNvSpPr>
              <p:nvPr/>
            </p:nvSpPr>
            <p:spPr bwMode="auto">
              <a:xfrm>
                <a:off x="145117" y="1153615"/>
                <a:ext cx="8881501" cy="148708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fontAlgn="auto">
                  <a:lnSpc>
                    <a:spcPct val="100000"/>
                  </a:lnSpc>
                  <a:spcBef>
                    <a:spcPts val="0"/>
                  </a:spcBef>
                  <a:spcAft>
                    <a:spcPts val="0"/>
                  </a:spcAft>
                  <a:buSzPct val="120000"/>
                  <a:buFont typeface="Wingdings" panose="05000000000000000000" pitchFamily="2" charset="2"/>
                  <a:buNone/>
                  <a:defRPr/>
                </a:pPr>
                <a:r>
                  <a:rPr lang="en-US" altLang="zh-CN" dirty="0">
                    <a:latin typeface="Arial" panose="020B0604020202020204" pitchFamily="34" charset="0"/>
                    <a:ea typeface="黑体" panose="02010609060101010101" pitchFamily="49" charset="-122"/>
                  </a:rPr>
                  <a:t>Sauer</a:t>
                </a:r>
                <a:r>
                  <a:rPr lang="zh-CN" altLang="en-US" dirty="0">
                    <a:latin typeface="Arial" panose="020B0604020202020204" pitchFamily="34" charset="0"/>
                    <a:ea typeface="黑体" panose="02010609060101010101" pitchFamily="49" charset="-122"/>
                  </a:rPr>
                  <a:t>引理</a:t>
                </a:r>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引理</a:t>
                </a:r>
                <a:r>
                  <a:rPr lang="en-US" altLang="zh-CN" dirty="0">
                    <a:latin typeface="Arial" panose="020B0604020202020204" pitchFamily="34" charset="0"/>
                    <a:ea typeface="黑体" panose="02010609060101010101" pitchFamily="49" charset="-122"/>
                  </a:rPr>
                  <a:t>12.2) [Sauer, 1972] </a:t>
                </a:r>
                <a:r>
                  <a:rPr lang="zh-CN" altLang="en-US" dirty="0">
                    <a:latin typeface="Arial" panose="020B0604020202020204" pitchFamily="34" charset="0"/>
                    <a:ea typeface="黑体" panose="02010609060101010101" pitchFamily="49" charset="-122"/>
                  </a:rPr>
                  <a:t>若假设空间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ℋ</m:t>
                    </m:r>
                  </m:oMath>
                </a14:m>
                <a:r>
                  <a:rPr lang="zh-CN" altLang="en-US" dirty="0">
                    <a:latin typeface="Arial" panose="020B0604020202020204" pitchFamily="34" charset="0"/>
                    <a:ea typeface="黑体" panose="02010609060101010101" pitchFamily="49" charset="-122"/>
                  </a:rPr>
                  <a:t> 的</a:t>
                </a:r>
                <a:r>
                  <a:rPr lang="en-US" altLang="zh-CN" dirty="0">
                    <a:latin typeface="Arial" panose="020B0604020202020204" pitchFamily="34" charset="0"/>
                    <a:ea typeface="黑体" panose="02010609060101010101" pitchFamily="49" charset="-122"/>
                  </a:rPr>
                  <a:t>VC</a:t>
                </a:r>
                <a:r>
                  <a:rPr lang="zh-CN" altLang="en-US" dirty="0">
                    <a:latin typeface="Arial" panose="020B0604020202020204" pitchFamily="34" charset="0"/>
                    <a:ea typeface="黑体" panose="02010609060101010101" pitchFamily="49" charset="-122"/>
                  </a:rPr>
                  <a:t>维为</a:t>
                </a:r>
                <a:r>
                  <a:rPr lang="en-US" altLang="zh-CN" dirty="0">
                    <a:latin typeface="Arial" panose="020B0604020202020204" pitchFamily="34" charset="0"/>
                    <a:ea typeface="黑体" panose="02010609060101010101" pitchFamily="49" charset="-122"/>
                  </a:rPr>
                  <a:t> </a:t>
                </a:r>
                <a14:m>
                  <m:oMath xmlns:m="http://schemas.openxmlformats.org/officeDocument/2006/math">
                    <m:r>
                      <a:rPr lang="en-US" altLang="zh-CN" i="1" smtClean="0">
                        <a:solidFill>
                          <a:prstClr val="black"/>
                        </a:solidFill>
                        <a:latin typeface="Cambria Math" panose="02040503050406030204" pitchFamily="18" charset="0"/>
                        <a:ea typeface="Cambria Math" panose="02040503050406030204" pitchFamily="18" charset="0"/>
                      </a:rPr>
                      <m:t>𝑑</m:t>
                    </m:r>
                  </m:oMath>
                </a14:m>
                <a:r>
                  <a:rPr lang="en-US" altLang="zh-CN" dirty="0">
                    <a:latin typeface="Arial" panose="020B0604020202020204" pitchFamily="34" charset="0"/>
                    <a:ea typeface="黑体" panose="02010609060101010101" pitchFamily="49" charset="-122"/>
                  </a:rPr>
                  <a:t> </a:t>
                </a:r>
                <a:r>
                  <a:rPr lang="zh-CN" altLang="en-US" dirty="0">
                    <a:latin typeface="Arial" panose="020B0604020202020204" pitchFamily="34" charset="0"/>
                    <a:ea typeface="黑体" panose="02010609060101010101" pitchFamily="49" charset="-122"/>
                  </a:rPr>
                  <a:t>，则对任意 </a:t>
                </a:r>
                <a14:m>
                  <m:oMath xmlns:m="http://schemas.openxmlformats.org/officeDocument/2006/math">
                    <m:r>
                      <a:rPr lang="en-US" altLang="zh-CN" i="1" smtClean="0">
                        <a:latin typeface="Cambria Math" panose="02040503050406030204" pitchFamily="18" charset="0"/>
                      </a:rPr>
                      <m:t>𝑚</m:t>
                    </m:r>
                    <m:r>
                      <a:rPr lang="en-US" altLang="zh-CN" i="1" smtClean="0">
                        <a:latin typeface="Cambria Math" panose="02040503050406030204" pitchFamily="18" charset="0"/>
                        <a:ea typeface="Cambria Math" panose="02040503050406030204" pitchFamily="18" charset="0"/>
                      </a:rPr>
                      <m:t>∈</m:t>
                    </m:r>
                    <m:r>
                      <a:rPr lang="en-US" altLang="zh-CN" i="1" smtClean="0">
                        <a:latin typeface="Cambria Math" panose="02040503050406030204" pitchFamily="18" charset="0"/>
                        <a:ea typeface="Cambria Math" panose="02040503050406030204" pitchFamily="18" charset="0"/>
                      </a:rPr>
                      <m:t>ℕ</m:t>
                    </m:r>
                  </m:oMath>
                </a14:m>
                <a:r>
                  <a:rPr lang="zh-CN" altLang="en-US" dirty="0">
                    <a:latin typeface="Arial" panose="020B0604020202020204" pitchFamily="34" charset="0"/>
                    <a:ea typeface="黑体" panose="02010609060101010101" pitchFamily="49" charset="-122"/>
                  </a:rPr>
                  <a:t> 有</a:t>
                </a:r>
                <a:r>
                  <a:rPr lang="en-US" altLang="zh-CN" dirty="0">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SzPct val="120000"/>
                  <a:buFont typeface="Wingdings" panose="05000000000000000000" pitchFamily="2" charset="2"/>
                  <a:buNone/>
                  <a:defRPr/>
                </a:pPr>
                <a14:m>
                  <m:oMathPara xmlns:m="http://schemas.openxmlformats.org/officeDocument/2006/math">
                    <m:oMathParaPr>
                      <m:jc m:val="centerGroup"/>
                    </m:oMathParaPr>
                    <m:oMath xmlns:m="http://schemas.openxmlformats.org/officeDocument/2006/math">
                      <m:sSub>
                        <m:sSubPr>
                          <m:ctrlPr>
                            <a:rPr lang="en-US" altLang="zh-CN" i="1">
                              <a:solidFill>
                                <a:sysClr val="windowText" lastClr="000000"/>
                              </a:solidFill>
                              <a:latin typeface="Cambria Math" panose="02040503050406030204" pitchFamily="18" charset="0"/>
                            </a:rPr>
                          </m:ctrlPr>
                        </m:sSubPr>
                        <m:e>
                          <m:r>
                            <m:rPr>
                              <m:sty m:val="p"/>
                            </m:rPr>
                            <a:rPr lang="el-GR" altLang="zh-CN" i="1">
                              <a:solidFill>
                                <a:sysClr val="windowText" lastClr="000000"/>
                              </a:solidFill>
                              <a:latin typeface="Cambria Math" panose="02040503050406030204" pitchFamily="18" charset="0"/>
                              <a:ea typeface="Cambria Math" panose="02040503050406030204" pitchFamily="18" charset="0"/>
                            </a:rPr>
                            <m:t>Π</m:t>
                          </m:r>
                        </m:e>
                        <m:sub>
                          <m:r>
                            <a:rPr lang="en-US" altLang="zh-CN" i="1">
                              <a:solidFill>
                                <a:sysClr val="windowText" lastClr="000000"/>
                              </a:solidFill>
                              <a:latin typeface="Cambria Math" panose="02040503050406030204" pitchFamily="18" charset="0"/>
                              <a:ea typeface="Cambria Math" panose="02040503050406030204" pitchFamily="18" charset="0"/>
                            </a:rPr>
                            <m:t>ℋ</m:t>
                          </m:r>
                        </m:sub>
                      </m:sSub>
                      <m:d>
                        <m:dPr>
                          <m:ctrlPr>
                            <a:rPr lang="en-US" altLang="zh-CN" i="1">
                              <a:solidFill>
                                <a:sysClr val="windowText" lastClr="000000"/>
                              </a:solidFill>
                              <a:latin typeface="Cambria Math" panose="02040503050406030204" pitchFamily="18" charset="0"/>
                              <a:ea typeface="Cambria Math" panose="02040503050406030204" pitchFamily="18" charset="0"/>
                            </a:rPr>
                          </m:ctrlPr>
                        </m:dPr>
                        <m:e>
                          <m:r>
                            <a:rPr lang="en-US" altLang="zh-CN" i="1">
                              <a:solidFill>
                                <a:sysClr val="windowText" lastClr="000000"/>
                              </a:solidFill>
                              <a:latin typeface="Cambria Math" panose="02040503050406030204" pitchFamily="18" charset="0"/>
                            </a:rPr>
                            <m:t>𝑚</m:t>
                          </m:r>
                        </m:e>
                      </m:d>
                      <m:r>
                        <a:rPr lang="en-US" altLang="zh-CN" i="1" smtClean="0">
                          <a:solidFill>
                            <a:sysClr val="windowText" lastClr="000000"/>
                          </a:solidFill>
                          <a:latin typeface="Cambria Math" panose="02040503050406030204" pitchFamily="18" charset="0"/>
                          <a:ea typeface="Cambria Math" panose="02040503050406030204" pitchFamily="18" charset="0"/>
                        </a:rPr>
                        <m:t>≤</m:t>
                      </m:r>
                      <m:nary>
                        <m:naryPr>
                          <m:chr m:val="∑"/>
                          <m:ctrlPr>
                            <a:rPr lang="en-US" altLang="zh-CN" i="1" smtClean="0">
                              <a:solidFill>
                                <a:sysClr val="windowText" lastClr="000000"/>
                              </a:solidFill>
                              <a:latin typeface="Cambria Math" panose="02040503050406030204" pitchFamily="18" charset="0"/>
                              <a:ea typeface="Cambria Math" panose="02040503050406030204" pitchFamily="18" charset="0"/>
                            </a:rPr>
                          </m:ctrlPr>
                        </m:naryPr>
                        <m:sub>
                          <m:r>
                            <m:rPr>
                              <m:brk m:alnAt="23"/>
                            </m:rPr>
                            <a:rPr lang="en-US" altLang="zh-CN" i="1" smtClean="0">
                              <a:solidFill>
                                <a:sysClr val="windowText" lastClr="000000"/>
                              </a:solidFill>
                              <a:latin typeface="Cambria Math" panose="02040503050406030204" pitchFamily="18" charset="0"/>
                              <a:ea typeface="Cambria Math" panose="02040503050406030204" pitchFamily="18" charset="0"/>
                            </a:rPr>
                            <m:t>𝑖</m:t>
                          </m:r>
                          <m:r>
                            <a:rPr lang="en-US" altLang="zh-CN" i="1" smtClean="0">
                              <a:solidFill>
                                <a:sysClr val="windowText" lastClr="000000"/>
                              </a:solidFill>
                              <a:latin typeface="Cambria Math" panose="02040503050406030204" pitchFamily="18" charset="0"/>
                              <a:ea typeface="Cambria Math" panose="02040503050406030204" pitchFamily="18" charset="0"/>
                            </a:rPr>
                            <m:t>=</m:t>
                          </m:r>
                          <m:r>
                            <m:rPr>
                              <m:brk m:alnAt="23"/>
                            </m:rPr>
                            <a:rPr lang="en-US" altLang="zh-CN" i="1" smtClean="0">
                              <a:solidFill>
                                <a:sysClr val="windowText" lastClr="000000"/>
                              </a:solidFill>
                              <a:latin typeface="Cambria Math" panose="02040503050406030204" pitchFamily="18" charset="0"/>
                              <a:ea typeface="Cambria Math" panose="02040503050406030204" pitchFamily="18" charset="0"/>
                            </a:rPr>
                            <m:t>0</m:t>
                          </m:r>
                        </m:sub>
                        <m:sup>
                          <m:r>
                            <a:rPr lang="en-US" altLang="zh-CN" i="1" smtClean="0">
                              <a:solidFill>
                                <a:sysClr val="windowText" lastClr="000000"/>
                              </a:solidFill>
                              <a:latin typeface="Cambria Math" panose="02040503050406030204" pitchFamily="18" charset="0"/>
                              <a:ea typeface="Cambria Math" panose="02040503050406030204" pitchFamily="18" charset="0"/>
                            </a:rPr>
                            <m:t>𝑑</m:t>
                          </m:r>
                        </m:sup>
                        <m:e>
                          <m:d>
                            <m:dPr>
                              <m:ctrlPr>
                                <a:rPr lang="en-US" altLang="zh-CN" i="1" smtClean="0">
                                  <a:solidFill>
                                    <a:sysClr val="windowText" lastClr="000000"/>
                                  </a:solidFill>
                                  <a:latin typeface="Cambria Math" panose="02040503050406030204" pitchFamily="18" charset="0"/>
                                  <a:ea typeface="Cambria Math" panose="02040503050406030204" pitchFamily="18" charset="0"/>
                                </a:rPr>
                              </m:ctrlPr>
                            </m:dPr>
                            <m:e>
                              <m:m>
                                <m:mPr>
                                  <m:mcs>
                                    <m:mc>
                                      <m:mcPr>
                                        <m:count m:val="1"/>
                                        <m:mcJc m:val="center"/>
                                      </m:mcPr>
                                    </m:mc>
                                  </m:mcs>
                                  <m:ctrlPr>
                                    <a:rPr lang="en-US" altLang="zh-CN" i="1" smtClean="0">
                                      <a:solidFill>
                                        <a:sysClr val="windowText" lastClr="000000"/>
                                      </a:solidFill>
                                      <a:latin typeface="Cambria Math" panose="02040503050406030204" pitchFamily="18" charset="0"/>
                                      <a:ea typeface="Cambria Math" panose="02040503050406030204" pitchFamily="18" charset="0"/>
                                    </a:rPr>
                                  </m:ctrlPr>
                                </m:mPr>
                                <m:mr>
                                  <m:e>
                                    <m:r>
                                      <m:rPr>
                                        <m:brk m:alnAt="7"/>
                                      </m:rPr>
                                      <a:rPr lang="en-US" altLang="zh-CN" i="1" smtClean="0">
                                        <a:solidFill>
                                          <a:sysClr val="windowText" lastClr="000000"/>
                                        </a:solidFill>
                                        <a:latin typeface="Cambria Math" panose="02040503050406030204" pitchFamily="18" charset="0"/>
                                        <a:ea typeface="Cambria Math" panose="02040503050406030204" pitchFamily="18" charset="0"/>
                                      </a:rPr>
                                      <m:t>𝑚</m:t>
                                    </m:r>
                                  </m:e>
                                </m:mr>
                                <m:mr>
                                  <m:e>
                                    <m:r>
                                      <a:rPr lang="en-US" altLang="zh-CN" i="1" smtClean="0">
                                        <a:solidFill>
                                          <a:sysClr val="windowText" lastClr="000000"/>
                                        </a:solidFill>
                                        <a:latin typeface="Cambria Math" panose="02040503050406030204" pitchFamily="18" charset="0"/>
                                        <a:ea typeface="Cambria Math" panose="02040503050406030204" pitchFamily="18" charset="0"/>
                                      </a:rPr>
                                      <m:t>𝑖</m:t>
                                    </m:r>
                                  </m:e>
                                </m:mr>
                              </m:m>
                            </m:e>
                          </m:d>
                        </m:e>
                      </m:nary>
                    </m:oMath>
                  </m:oMathPara>
                </a14:m>
                <a:endParaRPr lang="en-US" altLang="zh-CN" dirty="0">
                  <a:latin typeface="Arial" panose="020B0604020202020204" pitchFamily="34" charset="0"/>
                  <a:ea typeface="黑体" panose="02010609060101010101" pitchFamily="49" charset="-122"/>
                </a:endParaRPr>
              </a:p>
            </p:txBody>
          </p:sp>
        </mc:Choice>
        <mc:Fallback xmlns="">
          <p:sp>
            <p:nvSpPr>
              <p:cNvPr id="19" name="内容占位符 4">
                <a:extLst>
                  <a:ext uri="{FF2B5EF4-FFF2-40B4-BE49-F238E27FC236}">
                    <a16:creationId xmlns:a16="http://schemas.microsoft.com/office/drawing/2014/main" id="{3D6737ED-41BA-CF30-28EC-73DE36105C9E}"/>
                  </a:ext>
                </a:extLst>
              </p:cNvPr>
              <p:cNvSpPr txBox="1">
                <a:spLocks noRot="1" noChangeAspect="1" noMove="1" noResize="1" noEditPoints="1" noAdjustHandles="1" noChangeArrowheads="1" noChangeShapeType="1" noTextEdit="1"/>
              </p:cNvSpPr>
              <p:nvPr/>
            </p:nvSpPr>
            <p:spPr bwMode="auto">
              <a:xfrm>
                <a:off x="145117" y="1153615"/>
                <a:ext cx="8881501" cy="1487083"/>
              </a:xfrm>
              <a:prstGeom prst="rect">
                <a:avLst/>
              </a:prstGeom>
              <a:blipFill>
                <a:blip r:embed="rId3"/>
                <a:stretch>
                  <a:fillRect l="-1784" t="-614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4" name="文本框 23">
            <a:extLst>
              <a:ext uri="{FF2B5EF4-FFF2-40B4-BE49-F238E27FC236}">
                <a16:creationId xmlns:a16="http://schemas.microsoft.com/office/drawing/2014/main" id="{5098964A-F89B-FD40-E106-E4515F2D2076}"/>
              </a:ext>
            </a:extLst>
          </p:cNvPr>
          <p:cNvSpPr txBox="1"/>
          <p:nvPr/>
        </p:nvSpPr>
        <p:spPr>
          <a:xfrm>
            <a:off x="86006" y="3798751"/>
            <a:ext cx="4266132" cy="307777"/>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增长函数与</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泛化误差</a:t>
            </a:r>
          </a:p>
        </p:txBody>
      </p:sp>
      <p:sp>
        <p:nvSpPr>
          <p:cNvPr id="5" name="文本框 4">
            <a:extLst>
              <a:ext uri="{FF2B5EF4-FFF2-40B4-BE49-F238E27FC236}">
                <a16:creationId xmlns:a16="http://schemas.microsoft.com/office/drawing/2014/main" id="{A6017B2F-7391-5D6B-DC34-C27DD4960147}"/>
              </a:ext>
            </a:extLst>
          </p:cNvPr>
          <p:cNvSpPr txBox="1"/>
          <p:nvPr/>
        </p:nvSpPr>
        <p:spPr>
          <a:xfrm>
            <a:off x="115980" y="853945"/>
            <a:ext cx="4206184" cy="307777"/>
          </a:xfrm>
          <a:prstGeom prst="rect">
            <a:avLst/>
          </a:prstGeom>
          <a:noFill/>
        </p:spPr>
        <p:txBody>
          <a:bodyPr wrap="square" lIns="0" tIns="0" rIns="0" bIns="0">
            <a:spAutoFit/>
          </a:bodyPr>
          <a:lstStyle/>
          <a:p>
            <a:pPr marL="34290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Ø"/>
              <a:tabLst/>
              <a:defRPr/>
            </a:pP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维与增长函数之间的定量关系</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a:t>
            </a:r>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7382BC58-61C2-43CC-D149-B548C56AE1E9}"/>
                  </a:ext>
                </a:extLst>
              </p:cNvPr>
              <p:cNvSpPr txBox="1">
                <a:spLocks/>
              </p:cNvSpPr>
              <p:nvPr/>
            </p:nvSpPr>
            <p:spPr bwMode="auto">
              <a:xfrm>
                <a:off x="241487" y="4387662"/>
                <a:ext cx="8629650" cy="175756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利用增长函数 </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(growth function)</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估计经验误差与泛化误差之间的关系</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12.2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对假设空间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ℕ</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 </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0</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和任意 </a:t>
                </a:r>
                <a14:m>
                  <m:oMath xmlns:m="http://schemas.openxmlformats.org/officeDocument/2006/math">
                    <m:r>
                      <a:rPr lang="en-US" altLang="zh-CN" b="0" i="1" smtClean="0">
                        <a:solidFill>
                          <a:prstClr val="black"/>
                        </a:solidFill>
                        <a:latin typeface="Cambria Math" panose="02040503050406030204" pitchFamily="18" charset="0"/>
                        <a:ea typeface="Cambria Math" panose="02040503050406030204" pitchFamily="18" charset="0"/>
                      </a:rPr>
                      <m:t>h</m:t>
                    </m:r>
                    <m:r>
                      <a:rPr lang="en-US" altLang="zh-CN" i="1">
                        <a:solidFill>
                          <a:prstClr val="black"/>
                        </a:solidFill>
                        <a:latin typeface="Cambria Math" panose="02040503050406030204" pitchFamily="18" charset="0"/>
                        <a:ea typeface="Cambria Math" panose="02040503050406030204" pitchFamily="18" charset="0"/>
                      </a:rPr>
                      <m:t>∈</m:t>
                    </m:r>
                    <m:r>
                      <a:rPr lang="en-US" altLang="zh-CN" i="1" smtClean="0">
                        <a:solidFill>
                          <a:prstClr val="black"/>
                        </a:solidFill>
                        <a:latin typeface="Cambria Math" panose="02040503050406030204" pitchFamily="18" charset="0"/>
                        <a:ea typeface="Cambria Math" panose="02040503050406030204" pitchFamily="18" charset="0"/>
                      </a:rPr>
                      <m:t>ℋ</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有</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spcAft>
                    <a:spcPts val="0"/>
                  </a:spcAft>
                  <a:buClr>
                    <a:srgbClr val="16754D"/>
                  </a:buClr>
                  <a:buSzPct val="120000"/>
                  <a:buNone/>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acc>
                        <m:accPr>
                          <m: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4</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bPr>
                        <m:e>
                          <m:r>
                            <m:rPr>
                              <m:sty m:val="p"/>
                            </m:rPr>
                            <a:rPr kumimoji="0" lang="el-GR"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Π</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Sub>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e>
                      </m:d>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exp</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sSup>
                            <m:sSup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sSup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𝜖</m:t>
                              </m:r>
                            </m:e>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sup>
                          </m:sSup>
                        </m:num>
                        <m:den>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8</m:t>
                          </m:r>
                        </m:den>
                      </m:f>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oMath>
                  </m:oMathPara>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spcAft>
                    <a:spcPts val="0"/>
                  </a:spcAft>
                  <a:buClr>
                    <a:srgbClr val="16754D"/>
                  </a:buClr>
                  <a:buSzPct val="120000"/>
                  <a:buNone/>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证明略。</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详见 周志华等</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机器学习理论导引”</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2020, </a:t>
                </a:r>
                <a:r>
                  <a:rPr kumimoji="0" lang="zh-CN" altLang="en-US"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机械工业出版社</a:t>
                </a:r>
                <a:r>
                  <a:rPr kumimoji="0" lang="en-US" altLang="zh-CN" sz="18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Ch 3</a:t>
                </a:r>
              </a:p>
              <a:p>
                <a:pPr marL="0" lvl="1" indent="0">
                  <a:lnSpc>
                    <a:spcPct val="100000"/>
                  </a:lnSpc>
                  <a:spcBef>
                    <a:spcPts val="0"/>
                  </a:spcBef>
                  <a:spcAft>
                    <a:spcPts val="0"/>
                  </a:spcAft>
                  <a:buClr>
                    <a:srgbClr val="16754D"/>
                  </a:buClr>
                  <a:buSzPct val="120000"/>
                  <a:buNone/>
                </a:pPr>
                <a:endPar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6" name="内容占位符 4">
                <a:extLst>
                  <a:ext uri="{FF2B5EF4-FFF2-40B4-BE49-F238E27FC236}">
                    <a16:creationId xmlns:a16="http://schemas.microsoft.com/office/drawing/2014/main" id="{7382BC58-61C2-43CC-D149-B548C56AE1E9}"/>
                  </a:ext>
                </a:extLst>
              </p:cNvPr>
              <p:cNvSpPr txBox="1">
                <a:spLocks noRot="1" noChangeAspect="1" noMove="1" noResize="1" noEditPoints="1" noAdjustHandles="1" noChangeArrowheads="1" noChangeShapeType="1" noTextEdit="1"/>
              </p:cNvSpPr>
              <p:nvPr/>
            </p:nvSpPr>
            <p:spPr bwMode="auto">
              <a:xfrm>
                <a:off x="241487" y="4387662"/>
                <a:ext cx="8629650" cy="1757566"/>
              </a:xfrm>
              <a:prstGeom prst="rect">
                <a:avLst/>
              </a:prstGeom>
              <a:blipFill>
                <a:blip r:embed="rId4"/>
                <a:stretch>
                  <a:fillRect l="-1837" t="-5208"/>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99534410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66</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14" name="文本框 13">
            <a:extLst>
              <a:ext uri="{FF2B5EF4-FFF2-40B4-BE49-F238E27FC236}">
                <a16:creationId xmlns:a16="http://schemas.microsoft.com/office/drawing/2014/main" id="{8FEDB41A-19B7-A6E9-C25A-A4B79D57EE01}"/>
              </a:ext>
            </a:extLst>
          </p:cNvPr>
          <p:cNvSpPr txBox="1"/>
          <p:nvPr/>
        </p:nvSpPr>
        <p:spPr>
          <a:xfrm>
            <a:off x="53620" y="874126"/>
            <a:ext cx="4266132"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基于</a:t>
            </a: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VC</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维泛化误差界</a:t>
            </a:r>
          </a:p>
        </p:txBody>
      </p:sp>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E17AD99B-079D-5580-B8AC-665D144AC286}"/>
                  </a:ext>
                </a:extLst>
              </p:cNvPr>
              <p:cNvSpPr txBox="1">
                <a:spLocks/>
              </p:cNvSpPr>
              <p:nvPr/>
            </p:nvSpPr>
            <p:spPr bwMode="auto">
              <a:xfrm>
                <a:off x="377044" y="3607304"/>
                <a:ext cx="8617909" cy="9610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4290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上式的泛化误差界只与样例数目</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有关</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收敛速率为</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𝑂</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ad>
                              <m:radPr>
                                <m:degHide m:val="o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radPr>
                              <m:deg/>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e>
                            </m:rad>
                          </m:den>
                        </m:f>
                      </m:e>
                    </m:d>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34290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Char char="ü"/>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上式的泛化误差界与数据分布</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𝒟</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及样例集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𝐷</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无关</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endPar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7" name="内容占位符 4">
                <a:extLst>
                  <a:ext uri="{FF2B5EF4-FFF2-40B4-BE49-F238E27FC236}">
                    <a16:creationId xmlns:a16="http://schemas.microsoft.com/office/drawing/2014/main" id="{E17AD99B-079D-5580-B8AC-665D144AC286}"/>
                  </a:ext>
                </a:extLst>
              </p:cNvPr>
              <p:cNvSpPr txBox="1">
                <a:spLocks noRot="1" noChangeAspect="1" noMove="1" noResize="1" noEditPoints="1" noAdjustHandles="1" noChangeArrowheads="1" noChangeShapeType="1" noTextEdit="1"/>
              </p:cNvSpPr>
              <p:nvPr/>
            </p:nvSpPr>
            <p:spPr bwMode="auto">
              <a:xfrm>
                <a:off x="377044" y="3607304"/>
                <a:ext cx="8617909" cy="961016"/>
              </a:xfrm>
              <a:prstGeom prst="rect">
                <a:avLst/>
              </a:prstGeom>
              <a:blipFill>
                <a:blip r:embed="rId2"/>
                <a:stretch>
                  <a:fillRect l="-2051" t="-637" b="-700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C8659687-50D5-1854-ED90-0DF926D5F4E5}"/>
              </a:ext>
            </a:extLst>
          </p:cNvPr>
          <p:cNvSpPr txBox="1">
            <a:spLocks noChangeArrowheads="1"/>
          </p:cNvSpPr>
          <p:nvPr/>
        </p:nvSpPr>
        <p:spPr bwMode="auto">
          <a:xfrm>
            <a:off x="322932" y="4559085"/>
            <a:ext cx="8672021" cy="6155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0" tIns="0" rIns="0" bIns="0">
            <a:noAutofit/>
          </a:bodyPr>
          <a:lstStyle>
            <a:lvl1pPr marL="342900" indent="-342900">
              <a:defRPr>
                <a:solidFill>
                  <a:schemeClr val="tx1"/>
                </a:solidFill>
                <a:latin typeface="Verdana" panose="020B0604030504040204" pitchFamily="34" charset="0"/>
                <a:ea typeface="幼圆" panose="02010509060101010101" pitchFamily="49" charset="-122"/>
              </a:defRPr>
            </a:lvl1pPr>
            <a:lvl2pPr>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0" algn="l" defTabSz="914400" rtl="0" eaLnBrk="1" fontAlgn="base" latinLnBrk="0" hangingPunct="1">
              <a:lnSpc>
                <a:spcPct val="100000"/>
              </a:lnSpc>
              <a:spcBef>
                <a:spcPts val="0"/>
              </a:spcBef>
              <a:spcAft>
                <a:spcPts val="0"/>
              </a:spcAft>
              <a:buClrTx/>
              <a:buSzPct val="120000"/>
              <a:buFontTx/>
              <a:buNone/>
              <a:tabLst/>
              <a:defRPr/>
            </a:pP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基于</a:t>
            </a:r>
            <a:r>
              <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rPr>
              <a:t>维的泛化误差界</a:t>
            </a:r>
            <a:endParaRPr kumimoji="0" lang="en-US" altLang="zh-CN" sz="2000" b="0" i="0" u="none" strike="noStrike" kern="0" cap="none" spc="0" normalizeH="0" baseline="0" noProof="0" dirty="0">
              <a:ln>
                <a:noFill/>
              </a:ln>
              <a:solidFill>
                <a:prstClr val="black"/>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base" latinLnBrk="0" hangingPunct="1">
              <a:lnSpc>
                <a:spcPct val="100000"/>
              </a:lnSpc>
              <a:spcBef>
                <a:spcPts val="0"/>
              </a:spcBef>
              <a:spcAft>
                <a:spcPts val="0"/>
              </a:spcAft>
              <a:buClrTx/>
              <a:buSzPct val="120000"/>
              <a:buFontTx/>
              <a:buNone/>
              <a:tabLst/>
              <a:defRPr/>
            </a:pPr>
            <a:r>
              <a:rPr kumimoji="0" lang="zh-CN" altLang="en-US"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分布无关 </a:t>
            </a:r>
            <a:r>
              <a:rPr kumimoji="0" lang="en-US" altLang="zh-CN"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(distribution-free) &amp; </a:t>
            </a:r>
            <a:r>
              <a:rPr kumimoji="0" lang="zh-CN" altLang="en-US"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数据独立 </a:t>
            </a:r>
            <a:r>
              <a:rPr kumimoji="0" lang="en-US" altLang="zh-CN" sz="2000" b="0" i="0" u="none" strike="noStrike" kern="0" cap="none" spc="0" normalizeH="0" baseline="0" noProof="0" dirty="0">
                <a:ln>
                  <a:noFill/>
                </a:ln>
                <a:solidFill>
                  <a:srgbClr val="C00000"/>
                </a:solidFill>
                <a:effectLst/>
                <a:uLnTx/>
                <a:uFillTx/>
                <a:latin typeface="Arial" panose="020B0604020202020204" pitchFamily="34" charset="0"/>
                <a:ea typeface="黑体" panose="02010609060101010101" pitchFamily="49" charset="-122"/>
                <a:cs typeface="+mn-cs"/>
              </a:rPr>
              <a:t>(data-independent)</a:t>
            </a:r>
          </a:p>
        </p:txBody>
      </p:sp>
      <mc:AlternateContent xmlns:mc="http://schemas.openxmlformats.org/markup-compatibility/2006" xmlns:a14="http://schemas.microsoft.com/office/drawing/2010/main">
        <mc:Choice Requires="a14">
          <p:sp>
            <p:nvSpPr>
              <p:cNvPr id="11" name="内容占位符 4">
                <a:extLst>
                  <a:ext uri="{FF2B5EF4-FFF2-40B4-BE49-F238E27FC236}">
                    <a16:creationId xmlns:a16="http://schemas.microsoft.com/office/drawing/2014/main" id="{FE34DC09-80F5-F2D1-5E42-9D15ACF29ACA}"/>
                  </a:ext>
                </a:extLst>
              </p:cNvPr>
              <p:cNvSpPr txBox="1">
                <a:spLocks/>
              </p:cNvSpPr>
              <p:nvPr/>
            </p:nvSpPr>
            <p:spPr bwMode="auto">
              <a:xfrm>
                <a:off x="273918" y="5275486"/>
                <a:ext cx="8824160" cy="136537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类似定理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12.1</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，从定理</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12.3</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易看出，当假设空间的</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维有限且样本大小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足够大时，</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的经验误差 </a:t>
                </a:r>
                <a14:m>
                  <m:oMath xmlns:m="http://schemas.openxmlformats.org/officeDocument/2006/math">
                    <m:acc>
                      <m:accPr>
                        <m:chr m:val="̂"/>
                        <m:ctrlPr>
                          <a:rPr kumimoji="0" lang="zh-CN" altLang="en-US"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ctrlPr>
                      </m:accPr>
                      <m:e>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e>
                    </m:acc>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oMath>
                </a14:m>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 是其泛化误差 </a:t>
                </a:r>
                <a14:m>
                  <m:oMath xmlns:m="http://schemas.openxmlformats.org/officeDocument/2006/math">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𝐸</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prstClr val="black"/>
                        </a:solidFill>
                        <a:effectLst/>
                        <a:uLnTx/>
                        <a:uFillTx/>
                        <a:latin typeface="Cambria Math" panose="02040503050406030204" pitchFamily="18" charset="0"/>
                        <a:ea typeface="黑体" panose="02010609060101010101" pitchFamily="49" charset="-122"/>
                        <a:cs typeface="+mn-cs"/>
                      </a:rPr>
                      <m:t>)</m:t>
                    </m:r>
                  </m:oMath>
                </a14:m>
                <a:r>
                  <a:rPr kumimoji="0" lang="zh-CN" altLang="en-US" sz="2000" b="0" i="0" u="none" strike="noStrike" kern="1200" cap="none" spc="0" normalizeH="0" baseline="0" noProof="0" dirty="0">
                    <a:ln>
                      <a:noFill/>
                    </a:ln>
                    <a:solidFill>
                      <a:srgbClr val="FF0000"/>
                    </a:solidFill>
                    <a:effectLst/>
                    <a:uLnTx/>
                    <a:uFillTx/>
                    <a:latin typeface="Arial" panose="020B0604020202020204" pitchFamily="34" charset="0"/>
                    <a:ea typeface="黑体" panose="02010609060101010101" pitchFamily="49" charset="-122"/>
                    <a:cs typeface="+mn-cs"/>
                  </a:rPr>
                  <a:t> 的较好近似</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，因此对于满足经验风险最小化原则的学习算法 </a:t>
                </a:r>
                <a14:m>
                  <m:oMath xmlns:m="http://schemas.openxmlformats.org/officeDocument/2006/math">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𝔏</m:t>
                    </m:r>
                  </m:oMath>
                </a14:m>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，有下述定理：</a:t>
                </a:r>
                <a:endPar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base" latinLnBrk="0" hangingPunct="1">
                  <a:lnSpc>
                    <a:spcPct val="100000"/>
                  </a:lnSpc>
                  <a:spcBef>
                    <a:spcPts val="400"/>
                  </a:spcBef>
                  <a:spcAft>
                    <a:spcPts val="0"/>
                  </a:spcAft>
                  <a:buClr>
                    <a:srgbClr val="16754D"/>
                  </a:buClr>
                  <a:buSzPct val="120000"/>
                  <a:buFont typeface="Wingdings" panose="05000000000000000000" pitchFamily="2" charset="2"/>
                  <a:buNone/>
                  <a:tabLst/>
                  <a:defRPr/>
                </a:pPr>
                <a:r>
                  <a:rPr kumimoji="0" lang="zh-CN" altLang="en-US"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1"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12.4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任何</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维有限的假设空间</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都是 </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不可知</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PAC</a:t>
                </a:r>
                <a:r>
                  <a:rPr kumimoji="0" lang="zh-CN" altLang="en-US"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可学习的</a:t>
                </a:r>
                <a:r>
                  <a:rPr kumimoji="0" lang="en-US" altLang="zh-CN" sz="20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p:txBody>
          </p:sp>
        </mc:Choice>
        <mc:Fallback xmlns="">
          <p:sp>
            <p:nvSpPr>
              <p:cNvPr id="11" name="内容占位符 4">
                <a:extLst>
                  <a:ext uri="{FF2B5EF4-FFF2-40B4-BE49-F238E27FC236}">
                    <a16:creationId xmlns:a16="http://schemas.microsoft.com/office/drawing/2014/main" id="{FE34DC09-80F5-F2D1-5E42-9D15ACF29ACA}"/>
                  </a:ext>
                </a:extLst>
              </p:cNvPr>
              <p:cNvSpPr txBox="1">
                <a:spLocks noRot="1" noChangeAspect="1" noMove="1" noResize="1" noEditPoints="1" noAdjustHandles="1" noChangeArrowheads="1" noChangeShapeType="1" noTextEdit="1"/>
              </p:cNvSpPr>
              <p:nvPr/>
            </p:nvSpPr>
            <p:spPr bwMode="auto">
              <a:xfrm>
                <a:off x="273918" y="5275486"/>
                <a:ext cx="8824160" cy="1365375"/>
              </a:xfrm>
              <a:prstGeom prst="rect">
                <a:avLst/>
              </a:prstGeom>
              <a:blipFill>
                <a:blip r:embed="rId3"/>
                <a:stretch>
                  <a:fillRect l="-1797" t="-6696" r="-1728" b="-58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88DCE43E-3870-C800-C623-02BBE2775B22}"/>
                  </a:ext>
                </a:extLst>
              </p:cNvPr>
              <p:cNvSpPr txBox="1">
                <a:spLocks/>
              </p:cNvSpPr>
              <p:nvPr/>
            </p:nvSpPr>
            <p:spPr bwMode="auto">
              <a:xfrm>
                <a:off x="377044" y="1209801"/>
                <a:ext cx="8766956" cy="140631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定理</a:t>
                </a:r>
                <a:r>
                  <a:rPr kumimoji="0" lang="en-US" altLang="zh-CN" sz="20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12.3</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&gt;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0</m:t>
                    </m:r>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和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a:t>
                </a:r>
                <a:r>
                  <a:rPr lang="en-US" altLang="zh-CN" noProof="0" dirty="0">
                    <a:solidFill>
                      <a:sysClr val="windowText" lastClr="000000"/>
                    </a:solidFill>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𝐸</m:t>
                          </m:r>
                          <m:d>
                            <m:dPr>
                              <m:ctrlPr>
                                <a:rPr lang="en-US" altLang="zh-CN" i="1">
                                  <a:solidFill>
                                    <a:prstClr val="black"/>
                                  </a:solidFill>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h</m:t>
                              </m:r>
                            </m:e>
                          </m:d>
                          <m:r>
                            <a:rPr lang="en-US" altLang="zh-CN" i="1">
                              <a:solidFill>
                                <a:prstClr val="black"/>
                              </a:solidFill>
                              <a:latin typeface="Cambria Math" panose="02040503050406030204" pitchFamily="18" charset="0"/>
                              <a:ea typeface="黑体" panose="02010609060101010101" pitchFamily="49" charset="-122"/>
                            </a:rPr>
                            <m:t>−</m:t>
                          </m:r>
                          <m:acc>
                            <m:accPr>
                              <m:chr m:val="̂"/>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𝐸</m:t>
                              </m:r>
                            </m:e>
                          </m:acc>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ad>
                            <m:radPr>
                              <m:degHide m:val="on"/>
                              <m:ctrlPr>
                                <a:rPr lang="en-US" altLang="zh-CN" i="1">
                                  <a:solidFill>
                                    <a:prstClr val="black"/>
                                  </a:solidFill>
                                  <a:latin typeface="Cambria Math" panose="02040503050406030204" pitchFamily="18" charset="0"/>
                                  <a:ea typeface="黑体" panose="02010609060101010101" pitchFamily="49" charset="-122"/>
                                </a:rPr>
                              </m:ctrlPr>
                            </m:radPr>
                            <m:deg/>
                            <m:e>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8</m:t>
                                  </m:r>
                                  <m:r>
                                    <a:rPr lang="en-US" altLang="zh-CN" i="1">
                                      <a:solidFill>
                                        <a:prstClr val="black"/>
                                      </a:solidFill>
                                      <a:latin typeface="Cambria Math" panose="02040503050406030204" pitchFamily="18" charset="0"/>
                                      <a:ea typeface="黑体" panose="02010609060101010101" pitchFamily="49" charset="-122"/>
                                    </a:rPr>
                                    <m:t>𝑑</m:t>
                                  </m:r>
                                  <m:r>
                                    <a:rPr lang="en-US" altLang="zh-CN" b="0" i="0" smtClean="0">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2</m:t>
                                      </m:r>
                                      <m:r>
                                        <a:rPr lang="en-US" altLang="zh-CN" i="1">
                                          <a:solidFill>
                                            <a:prstClr val="black"/>
                                          </a:solidFill>
                                          <a:latin typeface="Cambria Math" panose="02040503050406030204" pitchFamily="18" charset="0"/>
                                          <a:ea typeface="黑体" panose="02010609060101010101" pitchFamily="49" charset="-122"/>
                                        </a:rPr>
                                        <m:t>𝑒𝑚</m:t>
                                      </m:r>
                                    </m:num>
                                    <m:den>
                                      <m:r>
                                        <a:rPr lang="en-US" altLang="zh-CN" i="1">
                                          <a:solidFill>
                                            <a:prstClr val="black"/>
                                          </a:solidFill>
                                          <a:latin typeface="Cambria Math" panose="02040503050406030204" pitchFamily="18" charset="0"/>
                                          <a:ea typeface="黑体" panose="02010609060101010101" pitchFamily="49" charset="-122"/>
                                        </a:rPr>
                                        <m:t>𝑑</m:t>
                                      </m:r>
                                    </m:den>
                                  </m:f>
                                  <m:r>
                                    <a:rPr lang="en-US" altLang="zh-CN" i="1">
                                      <a:solidFill>
                                        <a:prstClr val="black"/>
                                      </a:solidFill>
                                      <a:latin typeface="Cambria Math" panose="02040503050406030204" pitchFamily="18" charset="0"/>
                                      <a:ea typeface="黑体" panose="02010609060101010101" pitchFamily="49" charset="-122"/>
                                    </a:rPr>
                                    <m:t>+</m:t>
                                  </m:r>
                                  <m:r>
                                    <a:rPr lang="en-US" altLang="zh-CN" i="1">
                                      <a:solidFill>
                                        <a:prstClr val="black"/>
                                      </a:solidFill>
                                      <a:latin typeface="Cambria Math" panose="02040503050406030204" pitchFamily="18" charset="0"/>
                                      <a:ea typeface="黑体" panose="02010609060101010101" pitchFamily="49" charset="-122"/>
                                    </a:rPr>
                                    <m:t>8</m:t>
                                  </m:r>
                                  <m:r>
                                    <a:rPr lang="en-US" altLang="zh-CN" b="0" i="0" smtClean="0">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4</m:t>
                                      </m:r>
                                    </m:num>
                                    <m:den>
                                      <m:r>
                                        <a:rPr lang="zh-CN" altLang="en-US" i="1">
                                          <a:solidFill>
                                            <a:prstClr val="black"/>
                                          </a:solidFill>
                                          <a:latin typeface="Cambria Math" panose="02040503050406030204" pitchFamily="18" charset="0"/>
                                          <a:ea typeface="黑体" panose="02010609060101010101" pitchFamily="49" charset="-122"/>
                                        </a:rPr>
                                        <m:t>𝛿</m:t>
                                      </m:r>
                                    </m:den>
                                  </m:f>
                                </m:num>
                                <m:den>
                                  <m:r>
                                    <a:rPr lang="en-US" altLang="zh-CN" i="1">
                                      <a:solidFill>
                                        <a:prstClr val="black"/>
                                      </a:solidFill>
                                      <a:latin typeface="Cambria Math" panose="02040503050406030204" pitchFamily="18" charset="0"/>
                                      <a:ea typeface="黑体" panose="02010609060101010101" pitchFamily="49" charset="-122"/>
                                    </a:rPr>
                                    <m:t>𝑚</m:t>
                                  </m:r>
                                </m:den>
                              </m:f>
                            </m:e>
                          </m:rad>
                        </m:e>
                      </m:d>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3" name="内容占位符 4">
                <a:extLst>
                  <a:ext uri="{FF2B5EF4-FFF2-40B4-BE49-F238E27FC236}">
                    <a16:creationId xmlns:a16="http://schemas.microsoft.com/office/drawing/2014/main" id="{88DCE43E-3870-C800-C623-02BBE2775B22}"/>
                  </a:ext>
                </a:extLst>
              </p:cNvPr>
              <p:cNvSpPr txBox="1">
                <a:spLocks noRot="1" noChangeAspect="1" noMove="1" noResize="1" noEditPoints="1" noAdjustHandles="1" noChangeArrowheads="1" noChangeShapeType="1" noTextEdit="1"/>
              </p:cNvSpPr>
              <p:nvPr/>
            </p:nvSpPr>
            <p:spPr bwMode="auto">
              <a:xfrm>
                <a:off x="377044" y="1209801"/>
                <a:ext cx="8766956" cy="1406316"/>
              </a:xfrm>
              <a:prstGeom prst="rect">
                <a:avLst/>
              </a:prstGeom>
              <a:blipFill>
                <a:blip r:embed="rId4"/>
                <a:stretch>
                  <a:fillRect l="-1808" t="-6494" r="-132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5" name="文本框 4">
                <a:extLst>
                  <a:ext uri="{FF2B5EF4-FFF2-40B4-BE49-F238E27FC236}">
                    <a16:creationId xmlns:a16="http://schemas.microsoft.com/office/drawing/2014/main" id="{96FE4522-9533-14B3-11F0-F15BDB52840D}"/>
                  </a:ext>
                </a:extLst>
              </p:cNvPr>
              <p:cNvSpPr txBox="1"/>
              <p:nvPr/>
            </p:nvSpPr>
            <p:spPr>
              <a:xfrm>
                <a:off x="377044" y="2468950"/>
                <a:ext cx="8218549" cy="1195968"/>
              </a:xfrm>
              <a:prstGeom prst="rect">
                <a:avLst/>
              </a:prstGeom>
              <a:noFill/>
            </p:spPr>
            <p:txBody>
              <a:bodyPr wrap="square" lIns="0" tIns="0" rIns="0" bIns="0">
                <a:spAutoFit/>
              </a:bodyPr>
              <a:lstStyle/>
              <a:p>
                <a:pPr marL="0" lvl="1" fontAlgn="base">
                  <a:spcAft>
                    <a:spcPct val="0"/>
                  </a:spcAft>
                  <a:buClr>
                    <a:srgbClr val="16754D"/>
                  </a:buClr>
                  <a:buSzPct val="120000"/>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证明</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令 </a:t>
                </a:r>
                <a14:m>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bPr>
                      <m:e>
                        <m:r>
                          <m:rPr>
                            <m:sty m:val="p"/>
                          </m:rPr>
                          <a:rPr kumimoji="0" lang="el-GR"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Π</m:t>
                        </m:r>
                      </m:e>
                      <m:sub>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sub>
                    </m:sSub>
                    <m:d>
                      <m:dPr>
                        <m:ctrlP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2</m:t>
                        </m:r>
                        <m:r>
                          <a:rPr kumimoji="0" lang="en-US" altLang="zh-CN" sz="2000" b="0" i="1" u="none" strike="noStrike" kern="1200" cap="none" spc="0" normalizeH="0" baseline="0" noProof="0">
                            <a:ln>
                              <a:noFill/>
                            </a:ln>
                            <a:solidFill>
                              <a:sysClr val="windowText" lastClr="000000"/>
                            </a:solidFill>
                            <a:effectLst/>
                            <a:uLnTx/>
                            <a:uFillTx/>
                            <a:latin typeface="Cambria Math" panose="02040503050406030204" pitchFamily="18" charset="0"/>
                            <a:cs typeface="+mn-cs"/>
                          </a:rPr>
                          <m:t>𝑚</m:t>
                        </m:r>
                      </m:e>
                    </m:d>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funcPr>
                      <m:fNa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exp</m:t>
                        </m:r>
                      </m:fName>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m:t>
                            </m:r>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𝑚</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ctrlPr>
                                  </m:sSup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rPr>
                                      <m:t>𝜖</m:t>
                                    </m:r>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2</m:t>
                                    </m:r>
                                  </m:sup>
                                </m:sSup>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cs typeface="+mn-cs"/>
                                  </a:rPr>
                                  <m:t>8</m:t>
                                </m:r>
                              </m:den>
                            </m:f>
                          </m:e>
                        </m:d>
                      </m:e>
                    </m:func>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4</m:t>
                    </m:r>
                    <m:sSup>
                      <m:sSup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pPr>
                      <m:e>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𝑒𝑚</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𝑑</m:t>
                                </m:r>
                              </m:den>
                            </m:f>
                          </m:e>
                        </m:d>
                      </m:e>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𝑑</m:t>
                        </m:r>
                      </m:sup>
                    </m:sSup>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lang="en-US" altLang="zh-CN" sz="2000">
                            <a:solidFill>
                              <a:sysClr val="windowText" lastClr="000000"/>
                            </a:solidFill>
                            <a:latin typeface="Cambria Math" panose="02040503050406030204" pitchFamily="18" charset="0"/>
                          </a:rPr>
                          <m:t>exp</m:t>
                        </m:r>
                      </m:fName>
                      <m:e>
                        <m:d>
                          <m:dPr>
                            <m:ctrlPr>
                              <a:rPr lang="en-US" altLang="zh-CN" sz="2000" i="1">
                                <a:solidFill>
                                  <a:sysClr val="windowText" lastClr="000000"/>
                                </a:solidFill>
                                <a:latin typeface="Cambria Math" panose="02040503050406030204" pitchFamily="18" charset="0"/>
                              </a:rPr>
                            </m:ctrlPr>
                          </m:dPr>
                          <m:e>
                            <m:r>
                              <a:rPr lang="en-US" altLang="zh-CN" sz="2000" i="1">
                                <a:solidFill>
                                  <a:sysClr val="windowText" lastClr="000000"/>
                                </a:solidFill>
                                <a:latin typeface="Cambria Math" panose="02040503050406030204" pitchFamily="18" charset="0"/>
                              </a:rPr>
                              <m:t>−</m:t>
                            </m:r>
                            <m:f>
                              <m:fPr>
                                <m:ctrlPr>
                                  <a:rPr lang="en-US" altLang="zh-CN" sz="2000" i="1">
                                    <a:solidFill>
                                      <a:sysClr val="windowText" lastClr="000000"/>
                                    </a:solidFill>
                                    <a:latin typeface="Cambria Math" panose="02040503050406030204" pitchFamily="18" charset="0"/>
                                  </a:rPr>
                                </m:ctrlPr>
                              </m:fPr>
                              <m:num>
                                <m:r>
                                  <a:rPr lang="en-US" altLang="zh-CN" sz="2000" i="1">
                                    <a:solidFill>
                                      <a:sysClr val="windowText" lastClr="000000"/>
                                    </a:solidFill>
                                    <a:latin typeface="Cambria Math" panose="02040503050406030204" pitchFamily="18" charset="0"/>
                                  </a:rPr>
                                  <m:t>𝑚</m:t>
                                </m:r>
                                <m:sSup>
                                  <m:sSupPr>
                                    <m:ctrlPr>
                                      <a:rPr lang="en-US" altLang="zh-CN" sz="2000" i="1">
                                        <a:solidFill>
                                          <a:sysClr val="windowText" lastClr="000000"/>
                                        </a:solidFill>
                                        <a:latin typeface="Cambria Math" panose="02040503050406030204" pitchFamily="18" charset="0"/>
                                      </a:rPr>
                                    </m:ctrlPr>
                                  </m:sSupPr>
                                  <m:e>
                                    <m:r>
                                      <a:rPr lang="zh-CN" altLang="en-US" sz="2000" i="1">
                                        <a:solidFill>
                                          <a:sysClr val="windowText" lastClr="000000"/>
                                        </a:solidFill>
                                        <a:latin typeface="Cambria Math" panose="02040503050406030204" pitchFamily="18" charset="0"/>
                                      </a:rPr>
                                      <m:t>𝜖</m:t>
                                    </m:r>
                                  </m:e>
                                  <m:sup>
                                    <m:r>
                                      <a:rPr lang="en-US" altLang="zh-CN" sz="2000" i="1">
                                        <a:solidFill>
                                          <a:sysClr val="windowText" lastClr="000000"/>
                                        </a:solidFill>
                                        <a:latin typeface="Cambria Math" panose="02040503050406030204" pitchFamily="18" charset="0"/>
                                      </a:rPr>
                                      <m:t>2</m:t>
                                    </m:r>
                                  </m:sup>
                                </m:sSup>
                              </m:num>
                              <m:den>
                                <m:r>
                                  <a:rPr lang="en-US" altLang="zh-CN" sz="2000" i="1">
                                    <a:solidFill>
                                      <a:sysClr val="windowText" lastClr="000000"/>
                                    </a:solidFill>
                                    <a:latin typeface="Cambria Math" panose="02040503050406030204" pitchFamily="18" charset="0"/>
                                  </a:rPr>
                                  <m:t>8</m:t>
                                </m:r>
                              </m:den>
                            </m:f>
                          </m:e>
                        </m:d>
                      </m:e>
                    </m:func>
                    <m:r>
                      <a:rPr lang="en-US" altLang="zh-CN" sz="2000" b="0" i="1" smtClean="0">
                        <a:solidFill>
                          <a:sysClr val="windowText" lastClr="000000"/>
                        </a:solidFill>
                        <a:latin typeface="Cambria Math" panose="02040503050406030204" pitchFamily="18" charset="0"/>
                      </a:rPr>
                      <m:t>=</m:t>
                    </m:r>
                    <m:r>
                      <a:rPr lang="zh-CN" altLang="en-US" sz="2000" b="0" i="1" smtClean="0">
                        <a:solidFill>
                          <a:sysClr val="windowText" lastClr="000000"/>
                        </a:solidFill>
                        <a:latin typeface="Cambria Math" panose="02040503050406030204" pitchFamily="18" charset="0"/>
                      </a:rPr>
                      <m:t>𝛿</m:t>
                    </m:r>
                  </m:oMath>
                </a14:m>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解得</a:t>
                </a:r>
                <a:r>
                  <a:rPr lang="en-US" altLang="zh-CN" sz="2000" dirty="0">
                    <a:solidFill>
                      <a:prstClr val="black"/>
                    </a:solidFill>
                    <a:latin typeface="Arial" panose="020B0604020202020204" pitchFamily="34" charset="0"/>
                    <a:ea typeface="黑体" panose="02010609060101010101" pitchFamily="49" charset="-122"/>
                  </a:rPr>
                  <a:t> </a:t>
                </a:r>
              </a:p>
              <a:p>
                <a:pPr marL="0" lvl="1" fontAlgn="base">
                  <a:spcAft>
                    <a:spcPct val="0"/>
                  </a:spcAft>
                  <a:buClr>
                    <a:srgbClr val="16754D"/>
                  </a:buClr>
                  <a:buSzPct val="120000"/>
                  <a:defRPr/>
                </a:pPr>
                <a14:m>
                  <m:oMath xmlns:m="http://schemas.openxmlformats.org/officeDocument/2006/math">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𝜖</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ad>
                      <m:radPr>
                        <m:degHide m:val="on"/>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radPr>
                      <m:deg/>
                      <m:e>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8</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𝑑</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ln</m:t>
                            </m:r>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2</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𝑒𝑚</m:t>
                                </m:r>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𝑑</m:t>
                                </m:r>
                              </m:den>
                            </m:f>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8</m:t>
                            </m:r>
                            <m: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ln</m:t>
                            </m:r>
                            <m:f>
                              <m:f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4</m:t>
                                </m:r>
                              </m:num>
                              <m:den>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𝛿</m:t>
                                </m:r>
                              </m:den>
                            </m:f>
                          </m:num>
                          <m:den>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e>
                    </m:rad>
                  </m:oMath>
                </a14:m>
                <a:r>
                  <a:rPr lang="en-US" altLang="zh-CN" sz="2000" dirty="0">
                    <a:solidFill>
                      <a:prstClr val="black"/>
                    </a:solidFill>
                    <a:latin typeface="Arial" panose="020B0604020202020204" pitchFamily="34" charset="0"/>
                    <a:ea typeface="黑体" panose="02010609060101010101" pitchFamily="49" charset="-122"/>
                  </a:rPr>
                  <a:t> .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代入定理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12.2,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于是定理</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12.3</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得证</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cs typeface="+mn-cs"/>
                  </a:rPr>
                  <a:t>.</a:t>
                </a:r>
              </a:p>
            </p:txBody>
          </p:sp>
        </mc:Choice>
        <mc:Fallback xmlns="">
          <p:sp>
            <p:nvSpPr>
              <p:cNvPr id="5" name="文本框 4">
                <a:extLst>
                  <a:ext uri="{FF2B5EF4-FFF2-40B4-BE49-F238E27FC236}">
                    <a16:creationId xmlns:a16="http://schemas.microsoft.com/office/drawing/2014/main" id="{96FE4522-9533-14B3-11F0-F15BDB52840D}"/>
                  </a:ext>
                </a:extLst>
              </p:cNvPr>
              <p:cNvSpPr txBox="1">
                <a:spLocks noRot="1" noChangeAspect="1" noMove="1" noResize="1" noEditPoints="1" noAdjustHandles="1" noChangeArrowheads="1" noChangeShapeType="1" noTextEdit="1"/>
              </p:cNvSpPr>
              <p:nvPr/>
            </p:nvSpPr>
            <p:spPr>
              <a:xfrm>
                <a:off x="377044" y="2468950"/>
                <a:ext cx="8218549" cy="1195968"/>
              </a:xfrm>
              <a:prstGeom prst="rect">
                <a:avLst/>
              </a:prstGeom>
              <a:blipFill>
                <a:blip r:embed="rId5"/>
                <a:stretch>
                  <a:fillRect l="-1929" b="-6122"/>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74726208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67</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9" name="矩形 8">
                <a:extLst>
                  <a:ext uri="{FF2B5EF4-FFF2-40B4-BE49-F238E27FC236}">
                    <a16:creationId xmlns:a16="http://schemas.microsoft.com/office/drawing/2014/main" id="{809DCFEE-1508-D1A2-5F5D-AD4EC98B2FA6}"/>
                  </a:ext>
                </a:extLst>
              </p:cNvPr>
              <p:cNvSpPr>
                <a:spLocks noChangeArrowheads="1"/>
              </p:cNvSpPr>
              <p:nvPr/>
            </p:nvSpPr>
            <p:spPr bwMode="auto">
              <a:xfrm>
                <a:off x="253537" y="5059714"/>
                <a:ext cx="8883650" cy="139095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wrap="square" lIns="0" tIns="0" rIns="0" bIns="0">
                <a:spAutoFit/>
              </a:bodyPr>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342900" marR="0" lvl="0" indent="-342900" defTabSz="914400" eaLnBrk="1" fontAlgn="base" latinLnBrk="0" hangingPunct="1">
                  <a:spcAft>
                    <a:spcPct val="0"/>
                  </a:spcAft>
                  <a:buClr>
                    <a:srgbClr val="16754D"/>
                  </a:buClr>
                  <a:buSzPct val="120000"/>
                  <a:buFont typeface="Arial" panose="020B0604020202020204" pitchFamily="34" charset="0"/>
                  <a:buChar char="•"/>
                  <a:tabLst/>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其中 </a:t>
                </a:r>
                <a14:m>
                  <m:oMath xmlns:m="http://schemas.openxmlformats.org/officeDocument/2006/math">
                    <m:f>
                      <m:f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e>
                    </m:nary>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体现了预测值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与样例真实标记 </a:t>
                </a:r>
                <a14:m>
                  <m:oMath xmlns:m="http://schemas.openxmlformats.org/officeDocument/2006/math">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之间的一致性</a:t>
                </a:r>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a:t>
                </a:r>
                <a:endPar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endParaRPr>
              </a:p>
              <a:p>
                <a:pPr lvl="0" fontAlgn="base">
                  <a:spcAft>
                    <a:spcPct val="0"/>
                  </a:spcAft>
                  <a:buClr>
                    <a:srgbClr val="16754D"/>
                  </a:buClr>
                  <a:buSzPct val="120000"/>
                  <a:buFont typeface="Arial" panose="020B0604020202020204" pitchFamily="34" charset="0"/>
                  <a:buChar char="•"/>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若对于所有的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1</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2</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𝑚</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都有 </a:t>
                </a:r>
                <a14:m>
                  <m:oMath xmlns:m="http://schemas.openxmlformats.org/officeDocument/2006/math">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d>
                      <m:d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dPr>
                      <m:e>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e>
                    </m:d>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𝑦</m:t>
                        </m:r>
                      </m:e>
                      <m:sub>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sub>
                    </m:sSub>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则 </a:t>
                </a:r>
                <a14:m>
                  <m:oMath xmlns:m="http://schemas.openxmlformats.org/officeDocument/2006/math">
                    <m:f>
                      <m:fPr>
                        <m:ctrlPr>
                          <a:rPr lang="en-US" altLang="zh-CN" sz="2000" i="1" kern="0">
                            <a:solidFill>
                              <a:srgbClr val="000000"/>
                            </a:solidFill>
                            <a:latin typeface="Cambria Math" panose="02040503050406030204" pitchFamily="18" charset="0"/>
                            <a:ea typeface="黑体" panose="02010609060101010101" pitchFamily="49" charset="-122"/>
                          </a:rPr>
                        </m:ctrlPr>
                      </m:fPr>
                      <m:num>
                        <m:r>
                          <a:rPr lang="en-US" altLang="zh-CN" sz="2000" i="1" kern="0">
                            <a:solidFill>
                              <a:srgbClr val="000000"/>
                            </a:solidFill>
                            <a:latin typeface="Cambria Math" panose="02040503050406030204" pitchFamily="18" charset="0"/>
                            <a:ea typeface="黑体" panose="02010609060101010101" pitchFamily="49" charset="-122"/>
                          </a:rPr>
                          <m:t>1</m:t>
                        </m:r>
                      </m:num>
                      <m:den>
                        <m:r>
                          <a:rPr lang="en-US" altLang="zh-CN" sz="2000" i="1" kern="0">
                            <a:solidFill>
                              <a:srgbClr val="000000"/>
                            </a:solidFill>
                            <a:latin typeface="Cambria Math" panose="02040503050406030204" pitchFamily="18" charset="0"/>
                            <a:ea typeface="黑体" panose="02010609060101010101" pitchFamily="49" charset="-122"/>
                          </a:rPr>
                          <m:t>𝑚</m:t>
                        </m:r>
                      </m:den>
                    </m:f>
                    <m:nary>
                      <m:naryPr>
                        <m:chr m:val="∑"/>
                        <m:ctrlPr>
                          <a:rPr lang="en-US" altLang="zh-CN" sz="2000" i="1" kern="0">
                            <a:solidFill>
                              <a:srgbClr val="000000"/>
                            </a:solidFill>
                            <a:latin typeface="Cambria Math" panose="02040503050406030204" pitchFamily="18" charset="0"/>
                            <a:ea typeface="黑体" panose="02010609060101010101" pitchFamily="49" charset="-122"/>
                          </a:rPr>
                        </m:ctrlPr>
                      </m:naryPr>
                      <m:sub>
                        <m:r>
                          <m:rPr>
                            <m:brk m:alnAt="23"/>
                          </m:rPr>
                          <a:rPr lang="en-US" altLang="zh-CN" sz="2000" i="1" kern="0">
                            <a:solidFill>
                              <a:srgbClr val="000000"/>
                            </a:solidFill>
                            <a:latin typeface="Cambria Math" panose="02040503050406030204" pitchFamily="18" charset="0"/>
                            <a:ea typeface="黑体" panose="02010609060101010101" pitchFamily="49" charset="-122"/>
                          </a:rPr>
                          <m:t>𝑖</m:t>
                        </m:r>
                        <m:r>
                          <a:rPr lang="en-US" altLang="zh-CN" sz="2000" i="1" kern="0">
                            <a:solidFill>
                              <a:srgbClr val="000000"/>
                            </a:solidFill>
                            <a:latin typeface="Cambria Math" panose="02040503050406030204" pitchFamily="18" charset="0"/>
                            <a:ea typeface="黑体" panose="02010609060101010101" pitchFamily="49" charset="-122"/>
                          </a:rPr>
                          <m:t>=</m:t>
                        </m:r>
                        <m:r>
                          <a:rPr lang="en-US" altLang="zh-CN" sz="2000" i="1" kern="0">
                            <a:solidFill>
                              <a:srgbClr val="000000"/>
                            </a:solidFill>
                            <a:latin typeface="Cambria Math" panose="02040503050406030204" pitchFamily="18" charset="0"/>
                            <a:ea typeface="黑体" panose="02010609060101010101" pitchFamily="49" charset="-122"/>
                          </a:rPr>
                          <m:t>1</m:t>
                        </m:r>
                      </m:sub>
                      <m:sup>
                        <m:r>
                          <a:rPr lang="en-US" altLang="zh-CN" sz="2000" i="1" kern="0">
                            <a:solidFill>
                              <a:srgbClr val="000000"/>
                            </a:solidFill>
                            <a:latin typeface="Cambria Math" panose="02040503050406030204" pitchFamily="18" charset="0"/>
                            <a:ea typeface="黑体" panose="02010609060101010101" pitchFamily="49" charset="-122"/>
                          </a:rPr>
                          <m:t>𝑚</m:t>
                        </m:r>
                      </m:sup>
                      <m:e>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i="1" kern="0">
                                <a:solidFill>
                                  <a:srgbClr val="000000"/>
                                </a:solidFill>
                                <a:latin typeface="Cambria Math" panose="02040503050406030204" pitchFamily="18" charset="0"/>
                                <a:ea typeface="黑体" panose="02010609060101010101" pitchFamily="49" charset="-122"/>
                              </a:rPr>
                              <m:t>𝑦</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h</m:t>
                        </m:r>
                        <m:r>
                          <a:rPr lang="en-US" altLang="zh-CN" sz="2000" i="1" kern="0">
                            <a:solidFill>
                              <a:srgbClr val="000000"/>
                            </a:solidFill>
                            <a:latin typeface="Cambria Math" panose="02040503050406030204" pitchFamily="18" charset="0"/>
                            <a:ea typeface="黑体" panose="02010609060101010101" pitchFamily="49" charset="-122"/>
                          </a:rPr>
                          <m:t>(</m:t>
                        </m:r>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b="1" i="1" kern="0">
                                <a:solidFill>
                                  <a:srgbClr val="000000"/>
                                </a:solidFill>
                                <a:latin typeface="Cambria Math" panose="02040503050406030204" pitchFamily="18" charset="0"/>
                                <a:ea typeface="黑体" panose="02010609060101010101" pitchFamily="49" charset="-122"/>
                              </a:rPr>
                              <m:t>𝒙</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m:t>
                        </m:r>
                      </m:e>
                    </m:nary>
                  </m:oMath>
                </a14:m>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 取最大值</a:t>
                </a:r>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1.</a:t>
                </a:r>
              </a:p>
              <a:p>
                <a:pPr lvl="0" fontAlgn="base">
                  <a:spcAft>
                    <a:spcPct val="0"/>
                  </a:spcAft>
                  <a:buClr>
                    <a:srgbClr val="16754D"/>
                  </a:buClr>
                  <a:buSzPct val="120000"/>
                  <a:buFont typeface="Arial" panose="020B0604020202020204" pitchFamily="34" charset="0"/>
                  <a:buChar char="•"/>
                  <a:defRPr/>
                </a:pPr>
                <a:r>
                  <a:rPr kumimoji="0" lang="zh-CN" altLang="en-US"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经验误差最小的假设是 </a:t>
                </a:r>
                <a14:m>
                  <m:oMath xmlns:m="http://schemas.openxmlformats.org/officeDocument/2006/math">
                    <m:func>
                      <m:func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arg</m:t>
                            </m:r>
                            <m: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 </m:t>
                            </m:r>
                            <m:r>
                              <m:rPr>
                                <m:sty m:val="p"/>
                              </m:rPr>
                              <a:rPr kumimoji="0" lang="en-US" altLang="zh-CN" sz="2000" b="0" i="0"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max</m:t>
                            </m:r>
                          </m:e>
                          <m:li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0" cap="none" spc="0" normalizeH="0" noProof="0" smtClean="0">
                                <a:ln>
                                  <a:noFill/>
                                </a:ln>
                                <a:solidFill>
                                  <a:srgbClr val="000000"/>
                                </a:solidFill>
                                <a:effectLst/>
                                <a:uLnTx/>
                                <a:uFillTx/>
                                <a:latin typeface="Cambria Math" panose="02040503050406030204" pitchFamily="18" charset="0"/>
                                <a:ea typeface="黑体" panose="02010609060101010101" pitchFamily="49" charset="-122"/>
                              </a:rPr>
                              <m:t>𝑚</m:t>
                            </m:r>
                          </m:sup>
                          <m:e>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i="1" kern="0">
                                    <a:solidFill>
                                      <a:srgbClr val="000000"/>
                                    </a:solidFill>
                                    <a:latin typeface="Cambria Math" panose="02040503050406030204" pitchFamily="18" charset="0"/>
                                    <a:ea typeface="黑体" panose="02010609060101010101" pitchFamily="49" charset="-122"/>
                                  </a:rPr>
                                  <m:t>𝑦</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h</m:t>
                            </m:r>
                            <m:r>
                              <a:rPr lang="en-US" altLang="zh-CN" sz="2000" i="1" kern="0">
                                <a:solidFill>
                                  <a:srgbClr val="000000"/>
                                </a:solidFill>
                                <a:latin typeface="Cambria Math" panose="02040503050406030204" pitchFamily="18" charset="0"/>
                                <a:ea typeface="黑体" panose="02010609060101010101" pitchFamily="49" charset="-122"/>
                              </a:rPr>
                              <m:t>(</m:t>
                            </m:r>
                            <m:sSub>
                              <m:sSubPr>
                                <m:ctrlPr>
                                  <a:rPr lang="en-US" altLang="zh-CN" sz="2000" i="1" kern="0">
                                    <a:solidFill>
                                      <a:srgbClr val="000000"/>
                                    </a:solidFill>
                                    <a:latin typeface="Cambria Math" panose="02040503050406030204" pitchFamily="18" charset="0"/>
                                    <a:ea typeface="黑体" panose="02010609060101010101" pitchFamily="49" charset="-122"/>
                                  </a:rPr>
                                </m:ctrlPr>
                              </m:sSubPr>
                              <m:e>
                                <m:r>
                                  <a:rPr lang="en-US" altLang="zh-CN" sz="2000" b="1" i="1" kern="0">
                                    <a:solidFill>
                                      <a:srgbClr val="000000"/>
                                    </a:solidFill>
                                    <a:latin typeface="Cambria Math" panose="02040503050406030204" pitchFamily="18" charset="0"/>
                                    <a:ea typeface="黑体" panose="02010609060101010101" pitchFamily="49" charset="-122"/>
                                  </a:rPr>
                                  <m:t>𝒙</m:t>
                                </m:r>
                              </m:e>
                              <m:sub>
                                <m:r>
                                  <a:rPr lang="en-US" altLang="zh-CN" sz="2000" i="1" kern="0">
                                    <a:solidFill>
                                      <a:srgbClr val="000000"/>
                                    </a:solidFill>
                                    <a:latin typeface="Cambria Math" panose="02040503050406030204" pitchFamily="18" charset="0"/>
                                    <a:ea typeface="黑体" panose="02010609060101010101" pitchFamily="49" charset="-122"/>
                                  </a:rPr>
                                  <m:t>𝑖</m:t>
                                </m:r>
                              </m:sub>
                            </m:sSub>
                            <m:r>
                              <a:rPr lang="en-US" altLang="zh-CN" sz="2000" i="1" kern="0">
                                <a:solidFill>
                                  <a:srgbClr val="000000"/>
                                </a:solidFill>
                                <a:latin typeface="Cambria Math" panose="02040503050406030204" pitchFamily="18" charset="0"/>
                                <a:ea typeface="黑体" panose="02010609060101010101" pitchFamily="49" charset="-122"/>
                              </a:rPr>
                              <m:t>)</m:t>
                            </m:r>
                          </m:e>
                        </m:nary>
                      </m:e>
                    </m:func>
                  </m:oMath>
                </a14:m>
                <a:r>
                  <a:rPr kumimoji="0" lang="en-US" altLang="zh-CN" sz="2000" b="0" i="0" u="none" strike="noStrike" kern="0" cap="none" spc="0" normalizeH="0" noProof="0" dirty="0">
                    <a:ln>
                      <a:noFill/>
                    </a:ln>
                    <a:solidFill>
                      <a:srgbClr val="000000"/>
                    </a:solidFill>
                    <a:effectLst/>
                    <a:uLnTx/>
                    <a:uFillTx/>
                    <a:latin typeface="Arial" panose="020B0604020202020204" pitchFamily="34" charset="0"/>
                    <a:ea typeface="黑体" panose="02010609060101010101" pitchFamily="49" charset="-122"/>
                  </a:rPr>
                  <a:t>.</a:t>
                </a:r>
              </a:p>
            </p:txBody>
          </p:sp>
        </mc:Choice>
        <mc:Fallback xmlns="">
          <p:sp>
            <p:nvSpPr>
              <p:cNvPr id="9" name="矩形 8">
                <a:extLst>
                  <a:ext uri="{FF2B5EF4-FFF2-40B4-BE49-F238E27FC236}">
                    <a16:creationId xmlns:a16="http://schemas.microsoft.com/office/drawing/2014/main" id="{809DCFEE-1508-D1A2-5F5D-AD4EC98B2FA6}"/>
                  </a:ext>
                </a:extLst>
              </p:cNvPr>
              <p:cNvSpPr>
                <a:spLocks noRot="1" noChangeAspect="1" noMove="1" noResize="1" noEditPoints="1" noAdjustHandles="1" noChangeArrowheads="1" noChangeShapeType="1" noTextEdit="1"/>
              </p:cNvSpPr>
              <p:nvPr/>
            </p:nvSpPr>
            <p:spPr bwMode="auto">
              <a:xfrm>
                <a:off x="253537" y="5059714"/>
                <a:ext cx="8883650" cy="1390958"/>
              </a:xfrm>
              <a:prstGeom prst="rect">
                <a:avLst/>
              </a:prstGeom>
              <a:blipFill>
                <a:blip r:embed="rId2"/>
                <a:stretch>
                  <a:fillRect l="-1990" t="-33772" b="-4517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9" name="文本框 18">
                <a:extLst>
                  <a:ext uri="{FF2B5EF4-FFF2-40B4-BE49-F238E27FC236}">
                    <a16:creationId xmlns:a16="http://schemas.microsoft.com/office/drawing/2014/main" id="{7D5ECE33-F571-141F-BE8F-E1BAB80FB715}"/>
                  </a:ext>
                </a:extLst>
              </p:cNvPr>
              <p:cNvSpPr txBox="1"/>
              <p:nvPr/>
            </p:nvSpPr>
            <p:spPr>
              <a:xfrm>
                <a:off x="253537" y="3457596"/>
                <a:ext cx="8636926" cy="1455848"/>
              </a:xfrm>
              <a:prstGeom prst="rect">
                <a:avLst/>
              </a:prstGeom>
              <a:noFill/>
            </p:spPr>
            <p:txBody>
              <a:bodyPr wrap="square" lIns="0" tIns="0" rIns="0" bIns="0">
                <a:spAutoFit/>
              </a:bodyPr>
              <a:lstStyle/>
              <a:p>
                <a:pPr lvl="0">
                  <a:buClr>
                    <a:srgbClr val="16754D"/>
                  </a:buClr>
                </a:pPr>
                <a:r>
                  <a:rPr lang="zh-CN" altLang="en-US" sz="2000" dirty="0">
                    <a:solidFill>
                      <a:sysClr val="windowText" lastClr="000000"/>
                    </a:solidFill>
                    <a:latin typeface="Arial" panose="020B0604020202020204" pitchFamily="34" charset="0"/>
                    <a:ea typeface="黑体" panose="02010609060101010101" pitchFamily="49" charset="-122"/>
                  </a:rPr>
                  <a:t>给定训练集 </a:t>
                </a:r>
                <a14:m>
                  <m:oMath xmlns:m="http://schemas.openxmlformats.org/officeDocument/2006/math">
                    <m:r>
                      <a:rPr lang="en-US" altLang="zh-CN" sz="2000" i="1">
                        <a:solidFill>
                          <a:sysClr val="windowText" lastClr="000000"/>
                        </a:solidFill>
                        <a:latin typeface="Cambria Math" panose="02040503050406030204" pitchFamily="18" charset="0"/>
                        <a:ea typeface="黑体" panose="02010609060101010101" pitchFamily="49" charset="-122"/>
                      </a:rPr>
                      <m:t>𝐷</m:t>
                    </m:r>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1</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2</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2</m:t>
                            </m:r>
                          </m:sub>
                        </m:sSub>
                      </m:e>
                    </m:d>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𝑚</m:t>
                        </m:r>
                      </m:sub>
                    </m:sSub>
                    <m:r>
                      <a:rPr lang="en-US" altLang="zh-CN" sz="2000" i="1">
                        <a:solidFill>
                          <a:sysClr val="windowText" lastClr="000000"/>
                        </a:solidFill>
                        <a:latin typeface="Cambria Math" panose="02040503050406030204" pitchFamily="18" charset="0"/>
                        <a:ea typeface="Cambria Math" panose="02040503050406030204" pitchFamily="18" charset="0"/>
                      </a:rPr>
                      <m:t>)</m:t>
                    </m:r>
                    <m:r>
                      <a:rPr lang="en-US" altLang="zh-CN" sz="2000" i="1">
                        <a:solidFill>
                          <a:sysClr val="windowText" lastClr="000000"/>
                        </a:solidFill>
                        <a:latin typeface="Cambria Math" panose="02040503050406030204" pitchFamily="18" charset="0"/>
                        <a:ea typeface="黑体" panose="02010609060101010101" pitchFamily="49" charset="-122"/>
                      </a:rPr>
                      <m:t>}</m:t>
                    </m:r>
                  </m:oMath>
                </a14:m>
                <a:r>
                  <a:rPr lang="en-US" altLang="zh-CN" sz="2000"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sz="2000" i="1">
                            <a:solidFill>
                              <a:prstClr val="black"/>
                            </a:solidFill>
                            <a:latin typeface="Cambria Math" panose="02040503050406030204" pitchFamily="18" charset="0"/>
                          </a:rPr>
                        </m:ctrlPr>
                      </m:sSubPr>
                      <m:e>
                        <m:r>
                          <a:rPr lang="en-US" altLang="zh-CN" sz="2000" i="1">
                            <a:solidFill>
                              <a:prstClr val="black"/>
                            </a:solidFill>
                            <a:latin typeface="Cambria Math" panose="02040503050406030204" pitchFamily="18" charset="0"/>
                          </a:rPr>
                          <m:t>𝑦</m:t>
                        </m:r>
                      </m:e>
                      <m:sub>
                        <m:r>
                          <a:rPr lang="en-US" altLang="zh-CN" sz="2000" i="1">
                            <a:solidFill>
                              <a:prstClr val="black"/>
                            </a:solidFill>
                            <a:latin typeface="Cambria Math" panose="02040503050406030204" pitchFamily="18" charset="0"/>
                          </a:rPr>
                          <m:t>𝑖</m:t>
                        </m:r>
                      </m:sub>
                    </m:sSub>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1</m:t>
                    </m:r>
                    <m:r>
                      <a:rPr lang="en-US" altLang="zh-CN" sz="2000" i="1">
                        <a:solidFill>
                          <a:prstClr val="black"/>
                        </a:solidFill>
                        <a:latin typeface="Cambria Math" panose="02040503050406030204" pitchFamily="18" charset="0"/>
                        <a:ea typeface="Cambria Math" panose="02040503050406030204" pitchFamily="18" charset="0"/>
                      </a:rPr>
                      <m:t>,−</m:t>
                    </m:r>
                    <m:r>
                      <a:rPr lang="en-US" altLang="zh-CN" sz="2000" i="1">
                        <a:solidFill>
                          <a:prstClr val="black"/>
                        </a:solidFill>
                        <a:latin typeface="Cambria Math" panose="02040503050406030204" pitchFamily="18" charset="0"/>
                        <a:ea typeface="Cambria Math" panose="02040503050406030204" pitchFamily="18" charset="0"/>
                      </a:rPr>
                      <m:t>1</m:t>
                    </m:r>
                    <m:r>
                      <a:rPr lang="en-US" altLang="zh-CN" sz="2000" i="1">
                        <a:solidFill>
                          <a:prstClr val="black"/>
                        </a:solidFill>
                        <a:latin typeface="Cambria Math" panose="02040503050406030204" pitchFamily="18" charset="0"/>
                        <a:ea typeface="Cambria Math" panose="02040503050406030204" pitchFamily="18" charset="0"/>
                      </a:rPr>
                      <m:t>}</m:t>
                    </m:r>
                  </m:oMath>
                </a14:m>
                <a:endParaRPr lang="en-US" altLang="zh-CN" sz="2000" dirty="0">
                  <a:solidFill>
                    <a:sysClr val="windowText" lastClr="000000"/>
                  </a:solidFill>
                  <a:latin typeface="Arial" panose="020B0604020202020204" pitchFamily="34" charset="0"/>
                  <a:ea typeface="黑体" panose="02010609060101010101" pitchFamily="49" charset="-122"/>
                </a:endParaRPr>
              </a:p>
              <a:p>
                <a:pPr marL="0" marR="0" lvl="0" indent="0" algn="l" defTabSz="914400" rtl="0" eaLnBrk="1" fontAlgn="base" latinLnBrk="0" hangingPunct="1">
                  <a:spcAft>
                    <a:spcPct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则假设</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cs typeface="+mn-cs"/>
                      </a:rPr>
                      <m:t>h</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的经验误差为</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defTabSz="914400" rtl="0" eaLnBrk="1" fontAlgn="base" latinLnBrk="0" hangingPunct="1">
                  <a:spcAft>
                    <a:spcPct val="0"/>
                  </a:spcAft>
                  <a:buClr>
                    <a:srgbClr val="16754D"/>
                  </a:buClr>
                  <a:buSzPct val="120000"/>
                  <a:buFont typeface="Wingdings" panose="05000000000000000000" pitchFamily="2" charset="2"/>
                  <a:buNone/>
                  <a:tabLst/>
                  <a:defRPr/>
                </a:pPr>
                <a14:m>
                  <m:oMathPara xmlns:m="http://schemas.openxmlformats.org/officeDocument/2006/math">
                    <m:oMathParaPr>
                      <m:jc m:val="left"/>
                    </m:oMathParaPr>
                    <m:oMath xmlns:m="http://schemas.openxmlformats.org/officeDocument/2006/math">
                      <m:acc>
                        <m:accPr>
                          <m:chr m:val="̂"/>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𝐸</m:t>
                          </m:r>
                        </m:e>
                      </m:acc>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𝕀</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𝒙</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𝑦</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𝑦</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den>
                          </m:f>
                        </m:e>
                      </m:nary>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den>
                      </m:f>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2</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i="1">
                                  <a:solidFill>
                                    <a:sysClr val="windowText" lastClr="000000"/>
                                  </a:solidFill>
                                  <a:latin typeface="Cambria Math" panose="02040503050406030204" pitchFamily="18" charset="0"/>
                                  <a:ea typeface="黑体" panose="02010609060101010101" pitchFamily="49" charset="-122"/>
                                </a:rPr>
                                <m:t>𝑦</m:t>
                              </m:r>
                            </m:e>
                            <m:sub>
                              <m:r>
                                <a:rPr lang="en-US" altLang="zh-CN" sz="2000" i="1">
                                  <a:solidFill>
                                    <a:sysClr val="windowText" lastClr="000000"/>
                                  </a:solidFill>
                                  <a:latin typeface="Cambria Math" panose="02040503050406030204" pitchFamily="18" charset="0"/>
                                  <a:ea typeface="黑体" panose="02010609060101010101" pitchFamily="49" charset="-122"/>
                                </a:rPr>
                                <m:t>𝑖</m:t>
                              </m:r>
                            </m:sub>
                          </m:sSub>
                          <m:r>
                            <a:rPr lang="en-US" altLang="zh-CN" sz="2000" i="1">
                              <a:solidFill>
                                <a:sysClr val="windowText" lastClr="000000"/>
                              </a:solidFill>
                              <a:latin typeface="Cambria Math" panose="02040503050406030204" pitchFamily="18" charset="0"/>
                              <a:ea typeface="黑体" panose="02010609060101010101" pitchFamily="49" charset="-122"/>
                            </a:rPr>
                            <m:t>h</m:t>
                          </m:r>
                          <m:r>
                            <a:rPr lang="en-US" altLang="zh-CN" sz="2000" i="1">
                              <a:solidFill>
                                <a:sysClr val="windowText" lastClr="000000"/>
                              </a:solidFill>
                              <a:latin typeface="Cambria Math" panose="02040503050406030204" pitchFamily="18" charset="0"/>
                              <a:ea typeface="黑体" panose="02010609060101010101" pitchFamily="49" charset="-122"/>
                            </a:rPr>
                            <m:t>(</m:t>
                          </m:r>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r>
                                <a:rPr lang="en-US" altLang="zh-CN" sz="2000" b="1" i="1">
                                  <a:solidFill>
                                    <a:sysClr val="windowText" lastClr="000000"/>
                                  </a:solidFill>
                                  <a:latin typeface="Cambria Math" panose="02040503050406030204" pitchFamily="18" charset="0"/>
                                  <a:ea typeface="黑体" panose="02010609060101010101" pitchFamily="49" charset="-122"/>
                                </a:rPr>
                                <m:t>𝒙</m:t>
                              </m:r>
                            </m:e>
                            <m:sub>
                              <m:r>
                                <a:rPr lang="en-US" altLang="zh-CN" sz="2000" i="1">
                                  <a:solidFill>
                                    <a:sysClr val="windowText" lastClr="000000"/>
                                  </a:solidFill>
                                  <a:latin typeface="Cambria Math" panose="02040503050406030204" pitchFamily="18" charset="0"/>
                                  <a:ea typeface="黑体" panose="02010609060101010101" pitchFamily="49" charset="-122"/>
                                </a:rPr>
                                <m:t>𝑖</m:t>
                              </m:r>
                            </m:sub>
                          </m:sSub>
                          <m:r>
                            <a:rPr lang="en-US" altLang="zh-CN" sz="2000" i="1">
                              <a:solidFill>
                                <a:sysClr val="windowText" lastClr="000000"/>
                              </a:solidFill>
                              <a:latin typeface="Cambria Math" panose="02040503050406030204" pitchFamily="18" charset="0"/>
                              <a:ea typeface="黑体" panose="02010609060101010101" pitchFamily="49" charset="-122"/>
                            </a:rPr>
                            <m:t>)</m:t>
                          </m:r>
                        </m:e>
                      </m:nary>
                    </m:oMath>
                  </m:oMathPara>
                </a14:m>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mc:Choice>
        <mc:Fallback xmlns="">
          <p:sp>
            <p:nvSpPr>
              <p:cNvPr id="19" name="文本框 18">
                <a:extLst>
                  <a:ext uri="{FF2B5EF4-FFF2-40B4-BE49-F238E27FC236}">
                    <a16:creationId xmlns:a16="http://schemas.microsoft.com/office/drawing/2014/main" id="{7D5ECE33-F571-141F-BE8F-E1BAB80FB715}"/>
                  </a:ext>
                </a:extLst>
              </p:cNvPr>
              <p:cNvSpPr txBox="1">
                <a:spLocks noRot="1" noChangeAspect="1" noMove="1" noResize="1" noEditPoints="1" noAdjustHandles="1" noChangeArrowheads="1" noChangeShapeType="1" noTextEdit="1"/>
              </p:cNvSpPr>
              <p:nvPr/>
            </p:nvSpPr>
            <p:spPr>
              <a:xfrm>
                <a:off x="253537" y="3457596"/>
                <a:ext cx="8636926" cy="1455848"/>
              </a:xfrm>
              <a:prstGeom prst="rect">
                <a:avLst/>
              </a:prstGeom>
              <a:blipFill>
                <a:blip r:embed="rId3"/>
                <a:stretch>
                  <a:fillRect l="-1836" t="-6276"/>
                </a:stretch>
              </a:blipFill>
            </p:spPr>
            <p:txBody>
              <a:bodyPr/>
              <a:lstStyle/>
              <a:p>
                <a:r>
                  <a:rPr lang="zh-CN" altLang="en-US">
                    <a:noFill/>
                  </a:rPr>
                  <a:t> </a:t>
                </a:r>
              </a:p>
            </p:txBody>
          </p:sp>
        </mc:Fallback>
      </mc:AlternateContent>
      <p:sp>
        <p:nvSpPr>
          <p:cNvPr id="5" name="文本框 4">
            <a:extLst>
              <a:ext uri="{FF2B5EF4-FFF2-40B4-BE49-F238E27FC236}">
                <a16:creationId xmlns:a16="http://schemas.microsoft.com/office/drawing/2014/main" id="{CC46BCC8-142E-831C-6EC9-102F50132402}"/>
              </a:ext>
            </a:extLst>
          </p:cNvPr>
          <p:cNvSpPr txBox="1"/>
          <p:nvPr/>
        </p:nvSpPr>
        <p:spPr>
          <a:xfrm>
            <a:off x="53620" y="874126"/>
            <a:ext cx="4266132" cy="338554"/>
          </a:xfrm>
          <a:prstGeom prst="rect">
            <a:avLst/>
          </a:prstGeom>
          <a:noFill/>
        </p:spPr>
        <p:txBody>
          <a:bodyPr wrap="square" lIns="0" tIns="0" rIns="0" bIns="0">
            <a:sp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l"/>
              <a:tabLst/>
              <a:defRPr/>
            </a:pPr>
            <a:r>
              <a:rPr kumimoji="0" lang="en-US" altLang="zh-CN"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Rademacher </a:t>
            </a:r>
            <a:r>
              <a:rPr kumimoji="0" lang="zh-CN" altLang="en-US" sz="22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p>
        </p:txBody>
      </p:sp>
      <p:sp>
        <p:nvSpPr>
          <p:cNvPr id="6" name="内容占位符 3">
            <a:extLst>
              <a:ext uri="{FF2B5EF4-FFF2-40B4-BE49-F238E27FC236}">
                <a16:creationId xmlns:a16="http://schemas.microsoft.com/office/drawing/2014/main" id="{D180125E-0B5E-C1F2-D33D-C87F78422379}"/>
              </a:ext>
            </a:extLst>
          </p:cNvPr>
          <p:cNvSpPr txBox="1">
            <a:spLocks/>
          </p:cNvSpPr>
          <p:nvPr/>
        </p:nvSpPr>
        <p:spPr bwMode="auto">
          <a:xfrm>
            <a:off x="253537" y="1265196"/>
            <a:ext cx="8833205" cy="1277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基于</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维的泛化误差界是</a:t>
            </a:r>
            <a:r>
              <a:rPr kumimoji="0" lang="zh-CN" altLang="en-US" sz="2000" i="0" u="none" strike="noStrike" kern="1200" cap="none" spc="0" normalizeH="0" noProof="0" dirty="0">
                <a:ln>
                  <a:noFill/>
                </a:ln>
                <a:solidFill>
                  <a:srgbClr val="C00000"/>
                </a:solidFill>
                <a:effectLst/>
                <a:uLnTx/>
                <a:uFillTx/>
                <a:latin typeface="Arial" panose="020B0604020202020204" pitchFamily="34" charset="0"/>
                <a:ea typeface="黑体" panose="02010609060101010101" pitchFamily="49" charset="-122"/>
                <a:cs typeface="+mn-cs"/>
              </a:rPr>
              <a:t>分布无关、数据独立</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的</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这使得基于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维的可学习性分析结果具有一定的“普适性”。但由于没有考虑数据自身，因此得到的泛化误差界通常比较松，是</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假设空间所能达到的最大</a:t>
            </a:r>
            <a:r>
              <a:rPr lang="zh-CN" altLang="en-US" sz="2000" dirty="0">
                <a:solidFill>
                  <a:srgbClr val="0070C0"/>
                </a:solidFill>
                <a:latin typeface="Arial" panose="020B0604020202020204" pitchFamily="34" charset="0"/>
                <a:ea typeface="黑体" panose="02010609060101010101" pitchFamily="49" charset="-122"/>
              </a:rPr>
              <a:t>划分</a:t>
            </a:r>
            <a:r>
              <a:rPr kumimoji="0" lang="zh-CN" altLang="en-US" sz="2000" i="0" u="none" strike="noStrike" kern="1200" cap="none" spc="0" normalizeH="0" noProof="0" dirty="0">
                <a:ln>
                  <a:noFill/>
                </a:ln>
                <a:solidFill>
                  <a:srgbClr val="0070C0"/>
                </a:solidFill>
                <a:effectLst/>
                <a:uLnTx/>
                <a:uFillTx/>
                <a:latin typeface="Arial" panose="020B0604020202020204" pitchFamily="34" charset="0"/>
                <a:ea typeface="黑体" panose="02010609060101010101" pitchFamily="49" charset="-122"/>
                <a:cs typeface="+mn-cs"/>
              </a:rPr>
              <a:t>能力</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能否将数据的分布也考虑进来？</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p:txBody>
      </p:sp>
      <p:sp>
        <p:nvSpPr>
          <p:cNvPr id="10" name="文本框 9">
            <a:extLst>
              <a:ext uri="{FF2B5EF4-FFF2-40B4-BE49-F238E27FC236}">
                <a16:creationId xmlns:a16="http://schemas.microsoft.com/office/drawing/2014/main" id="{96FDCCE6-F8B2-6AC6-5263-247C33990D07}"/>
              </a:ext>
            </a:extLst>
          </p:cNvPr>
          <p:cNvSpPr txBox="1"/>
          <p:nvPr/>
        </p:nvSpPr>
        <p:spPr>
          <a:xfrm>
            <a:off x="253537" y="2813447"/>
            <a:ext cx="8636926" cy="615553"/>
          </a:xfrm>
          <a:prstGeom prst="rect">
            <a:avLst/>
          </a:prstGeom>
          <a:noFill/>
        </p:spPr>
        <p:txBody>
          <a:bodyPr wrap="square" lIns="0" tIns="0" rIns="0" bIns="0">
            <a:spAutoFit/>
          </a:bodyPr>
          <a:lstStyle/>
          <a:p>
            <a:pPr marL="0" marR="0" lvl="0" indent="0" defTabSz="914400" eaLnBrk="1" fontAlgn="base" latinLnBrk="0" hangingPunct="1">
              <a:spcAft>
                <a:spcPct val="0"/>
              </a:spcAft>
              <a:buClrTx/>
              <a:buSzTx/>
              <a:buFontTx/>
              <a:buNone/>
              <a:tabLst/>
              <a:defRPr/>
            </a:pP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 </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complexity): </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另一种刻画假设空间复杂度的途径，与</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维不同的是，它</a:t>
            </a:r>
            <a:r>
              <a:rPr kumimoji="0" lang="zh-CN" altLang="en-US" sz="2000" i="0" u="none" strike="noStrike" kern="0" cap="none" spc="0" normalizeH="0" noProof="0" dirty="0">
                <a:ln>
                  <a:noFill/>
                </a:ln>
                <a:solidFill>
                  <a:srgbClr val="C00000"/>
                </a:solidFill>
                <a:effectLst/>
                <a:uLnTx/>
                <a:uFillTx/>
                <a:latin typeface="Arial" panose="020B0604020202020204" pitchFamily="34" charset="0"/>
                <a:ea typeface="黑体" panose="02010609060101010101" pitchFamily="49" charset="-122"/>
              </a:rPr>
              <a:t>在一定程度上考虑了数据分布</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p:spTree>
    <p:extLst>
      <p:ext uri="{BB962C8B-B14F-4D97-AF65-F5344CB8AC3E}">
        <p14:creationId xmlns:p14="http://schemas.microsoft.com/office/powerpoint/2010/main" val="3898090100"/>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68</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3">
                <a:extLst>
                  <a:ext uri="{FF2B5EF4-FFF2-40B4-BE49-F238E27FC236}">
                    <a16:creationId xmlns:a16="http://schemas.microsoft.com/office/drawing/2014/main" id="{74C74BB9-A768-2624-0087-A85A07A92BDF}"/>
                  </a:ext>
                </a:extLst>
              </p:cNvPr>
              <p:cNvSpPr txBox="1">
                <a:spLocks/>
              </p:cNvSpPr>
              <p:nvPr/>
            </p:nvSpPr>
            <p:spPr>
              <a:xfrm>
                <a:off x="141474" y="941689"/>
                <a:ext cx="8939602" cy="1905545"/>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若假设标签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𝑦</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受到随机因素的影响</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不再是 </a:t>
                </a:r>
                <a14:m>
                  <m:oMath xmlns:m="http://schemas.openxmlformats.org/officeDocument/2006/math">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en-US" altLang="zh-CN" sz="2000" b="1" i="1" u="none" strike="noStrike" kern="1200" cap="none" spc="0" normalizeH="0" noProof="0" smtClean="0">
                            <a:ln>
                              <a:noFill/>
                            </a:ln>
                            <a:solidFill>
                              <a:prstClr val="black"/>
                            </a:solidFill>
                            <a:effectLst/>
                            <a:uLnTx/>
                            <a:uFillTx/>
                            <a:latin typeface="Cambria Math" panose="02040503050406030204" pitchFamily="18" charset="0"/>
                          </a:rPr>
                          <m:t>𝒙</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的真实标记</a:t>
                </a:r>
                <a:r>
                  <a:rPr lang="en-US" altLang="zh-CN" sz="2000" noProof="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选择假设空间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ℋ</m:t>
                    </m:r>
                  </m:oMath>
                </a14:m>
                <a:r>
                  <a:rPr lang="zh-CN" altLang="en-US" sz="2000" dirty="0">
                    <a:solidFill>
                      <a:prstClr val="black"/>
                    </a:solidFill>
                    <a:latin typeface="Arial" panose="020B0604020202020204" pitchFamily="34" charset="0"/>
                    <a:ea typeface="黑体" panose="02010609060101010101" pitchFamily="49" charset="-122"/>
                  </a:rPr>
                  <a:t> 中在训练集上表现最好的假设</a:t>
                </a:r>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不如</a:t>
                </a: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选择</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中事先已经考虑了随机噪声影响的假设</a:t>
                </a:r>
                <a:r>
                  <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42900" lvl="1" indent="-342900">
                  <a:lnSpc>
                    <a:spcPct val="100000"/>
                  </a:lnSpc>
                  <a:spcBef>
                    <a:spcPts val="600"/>
                  </a:spcBef>
                  <a:buClr>
                    <a:srgbClr val="16754D"/>
                  </a:buClr>
                  <a:buFont typeface="Arial" panose="020B0604020202020204" pitchFamily="34" charset="0"/>
                  <a:buChar char="•"/>
                  <a:defRPr/>
                </a:pP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考虑随机变量 </a:t>
                </a:r>
                <a14:m>
                  <m:oMath xmlns:m="http://schemas.openxmlformats.org/officeDocument/2006/math">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𝑖</m:t>
                        </m:r>
                      </m:sub>
                    </m:sSub>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它</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以</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0.5</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的概率取值</a:t>
                </a:r>
                <a:r>
                  <a:rPr lang="en-US" altLang="zh-CN" dirty="0">
                    <a:solidFill>
                      <a:prstClr val="black"/>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1, 0.5</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的概率取值</a:t>
                </a:r>
                <a:r>
                  <a:rPr lang="en-US" altLang="zh-CN" dirty="0">
                    <a:solidFill>
                      <a:prstClr val="black"/>
                    </a:solidFill>
                    <a:latin typeface="Arial" panose="020B0604020202020204" pitchFamily="34" charset="0"/>
                    <a:ea typeface="黑体" panose="02010609060101010101" pitchFamily="49" charset="-122"/>
                  </a:rPr>
                  <a:t>-</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a:t>
                </a:r>
                <a:r>
                  <a:rPr lang="en-US" altLang="zh-CN" noProof="0" dirty="0">
                    <a:solidFill>
                      <a:prstClr val="black"/>
                    </a:solidFill>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称为 </a:t>
                </a:r>
                <a:r>
                  <a:rPr lang="en-US" altLang="zh-CN" dirty="0">
                    <a:solidFill>
                      <a:prstClr val="black"/>
                    </a:solidFill>
                    <a:latin typeface="Arial" panose="020B0604020202020204" pitchFamily="34" charset="0"/>
                    <a:ea typeface="黑体" panose="02010609060101010101" pitchFamily="49" charset="-122"/>
                  </a:rPr>
                  <a:t>Rademacher </a:t>
                </a:r>
                <a:r>
                  <a:rPr lang="zh-CN" altLang="en-US" dirty="0">
                    <a:solidFill>
                      <a:prstClr val="black"/>
                    </a:solidFill>
                    <a:latin typeface="Arial" panose="020B0604020202020204" pitchFamily="34" charset="0"/>
                    <a:ea typeface="黑体" panose="02010609060101010101" pitchFamily="49" charset="-122"/>
                  </a:rPr>
                  <a:t>随机变量。</a:t>
                </a:r>
                <a:endParaRPr lang="en-US" altLang="zh-CN" dirty="0">
                  <a:solidFill>
                    <a:prstClr val="black"/>
                  </a:solidFill>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14:m>
                  <m:oMath xmlns:m="http://schemas.openxmlformats.org/officeDocument/2006/math">
                    <m:sSub>
                      <m:sSubPr>
                        <m:ctrlPr>
                          <a:rPr lang="en-US" altLang="zh-CN" i="1">
                            <a:solidFill>
                              <a:prstClr val="black"/>
                            </a:solidFill>
                            <a:latin typeface="Cambria Math" panose="02040503050406030204" pitchFamily="18" charset="0"/>
                          </a:rPr>
                        </m:ctrlPr>
                      </m:sSubPr>
                      <m:e>
                        <m:r>
                          <a:rPr lang="zh-CN" altLang="en-US" i="1">
                            <a:solidFill>
                              <a:prstClr val="black"/>
                            </a:solidFill>
                            <a:latin typeface="Cambria Math" panose="02040503050406030204" pitchFamily="18" charset="0"/>
                          </a:rPr>
                          <m:t>𝜎</m:t>
                        </m:r>
                      </m:e>
                      <m:sub>
                        <m:r>
                          <a:rPr lang="en-US" altLang="zh-CN" i="1">
                            <a:solidFill>
                              <a:prstClr val="black"/>
                            </a:solidFill>
                            <a:latin typeface="Cambria Math" panose="02040503050406030204" pitchFamily="18" charset="0"/>
                          </a:rPr>
                          <m:t>𝑖</m:t>
                        </m:r>
                      </m:sub>
                    </m:sSub>
                  </m:oMath>
                </a14:m>
                <a:r>
                  <a:rPr kumimoji="0" lang="en-US" altLang="zh-CN"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可将</a:t>
                </a:r>
                <a:r>
                  <a:rPr kumimoji="0" lang="en-US" altLang="zh-CN" b="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func>
                      <m:func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arg</m:t>
                            </m:r>
                            <m: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 </m:t>
                            </m:r>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max</m:t>
                            </m:r>
                          </m:e>
                          <m:li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p>
                          <m:e>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𝑦</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e>
                        </m:nary>
                      </m:e>
                    </m:func>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改写为  </a:t>
                </a:r>
                <a14:m>
                  <m:oMath xmlns:m="http://schemas.openxmlformats.org/officeDocument/2006/math">
                    <m:func>
                      <m:func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funcPr>
                      <m:fName>
                        <m:limLow>
                          <m:limLow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limLowPr>
                          <m:e>
                            <m:r>
                              <m:rPr>
                                <m:sty m:val="p"/>
                              </m:rPr>
                              <a:rPr kumimoji="0" lang="en-US" altLang="zh-CN" b="0" i="0"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sup</m:t>
                            </m:r>
                          </m:e>
                          <m:lim>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fPr>
                          <m:num>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1</m:t>
                            </m:r>
                          </m:num>
                          <m:den>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naryPr>
                          <m:sub>
                            <m:r>
                              <m:rPr>
                                <m:brk m:alnAt="23"/>
                              </m:r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1</m:t>
                            </m:r>
                          </m:sub>
                          <m:sup>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𝑚</m:t>
                            </m:r>
                          </m:sup>
                          <m:e>
                            <m:sSub>
                              <m:sSub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𝒙</m:t>
                                </m:r>
                              </m:e>
                              <m: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noProof="0">
                                <a:ln>
                                  <a:noFill/>
                                </a:ln>
                                <a:solidFill>
                                  <a:prstClr val="black"/>
                                </a:solidFill>
                                <a:effectLst/>
                                <a:uLnTx/>
                                <a:uFillTx/>
                                <a:latin typeface="Cambria Math" panose="02040503050406030204" pitchFamily="18" charset="0"/>
                                <a:ea typeface="黑体" panose="02010609060101010101" pitchFamily="49" charset="-122"/>
                              </a:rPr>
                              <m:t>)</m:t>
                            </m:r>
                          </m:e>
                        </m:nary>
                      </m:e>
                    </m:func>
                  </m:oMath>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5" name="内容占位符 3">
                <a:extLst>
                  <a:ext uri="{FF2B5EF4-FFF2-40B4-BE49-F238E27FC236}">
                    <a16:creationId xmlns:a16="http://schemas.microsoft.com/office/drawing/2014/main" id="{74C74BB9-A768-2624-0087-A85A07A92BDF}"/>
                  </a:ext>
                </a:extLst>
              </p:cNvPr>
              <p:cNvSpPr txBox="1">
                <a:spLocks noRot="1" noChangeAspect="1" noMove="1" noResize="1" noEditPoints="1" noAdjustHandles="1" noChangeArrowheads="1" noChangeShapeType="1" noTextEdit="1"/>
              </p:cNvSpPr>
              <p:nvPr/>
            </p:nvSpPr>
            <p:spPr>
              <a:xfrm>
                <a:off x="141474" y="941689"/>
                <a:ext cx="8939602" cy="1905545"/>
              </a:xfrm>
              <a:prstGeom prst="rect">
                <a:avLst/>
              </a:prstGeom>
              <a:blipFill>
                <a:blip r:embed="rId2"/>
                <a:stretch>
                  <a:fillRect l="-1704" t="-4792" r="-2454" b="-28435"/>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1" name="内容占位符 3">
                <a:extLst>
                  <a:ext uri="{FF2B5EF4-FFF2-40B4-BE49-F238E27FC236}">
                    <a16:creationId xmlns:a16="http://schemas.microsoft.com/office/drawing/2014/main" id="{2A52CC63-A6EF-1EDB-F15C-D40F0046A409}"/>
                  </a:ext>
                </a:extLst>
              </p:cNvPr>
              <p:cNvSpPr txBox="1">
                <a:spLocks/>
              </p:cNvSpPr>
              <p:nvPr/>
            </p:nvSpPr>
            <p:spPr>
              <a:xfrm>
                <a:off x="141474" y="3195551"/>
                <a:ext cx="8757078" cy="2880388"/>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0" indent="0">
                  <a:lnSpc>
                    <a:spcPct val="100000"/>
                  </a:lnSpc>
                  <a:spcBef>
                    <a:spcPts val="0"/>
                  </a:spcBef>
                  <a:buClr>
                    <a:srgbClr val="16754D"/>
                  </a:buClr>
                  <a:buNone/>
                  <a:defRPr/>
                </a:pPr>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对 </a:t>
                </a:r>
                <a14:m>
                  <m:oMath xmlns:m="http://schemas.openxmlformats.org/officeDocument/2006/math">
                    <m:r>
                      <a:rPr kumimoji="0" lang="zh-CN" altLang="en-US" sz="2000" b="1" i="1" u="none" strike="noStrike" kern="1200" cap="none" spc="0" normalizeH="0" noProof="0" smtClean="0">
                        <a:ln>
                          <a:noFill/>
                        </a:ln>
                        <a:solidFill>
                          <a:prstClr val="black"/>
                        </a:solidFill>
                        <a:effectLst/>
                        <a:uLnTx/>
                        <a:uFillTx/>
                        <a:latin typeface="Cambria Math" panose="02040503050406030204" pitchFamily="18" charset="0"/>
                      </a:rPr>
                      <m:t>𝝈</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sSub>
                      <m:sSubPr>
                        <m:ctrlP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ctrlPr>
                      </m:sSubPr>
                      <m:e>
                        <m:r>
                          <a:rPr kumimoji="0" lang="zh-CN" altLang="en-US" sz="2000" b="0" i="1" u="none" strike="noStrike" kern="1200" cap="none" spc="0" normalizeH="0" noProof="0" smtClean="0">
                            <a:ln>
                              <a:noFill/>
                            </a:ln>
                            <a:solidFill>
                              <a:prstClr val="black"/>
                            </a:solidFill>
                            <a:effectLst/>
                            <a:uLnTx/>
                            <a:uFillTx/>
                            <a:latin typeface="Cambria Math" panose="02040503050406030204" pitchFamily="18" charset="0"/>
                          </a:rPr>
                          <m:t>𝜎</m:t>
                        </m:r>
                      </m:e>
                      <m: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1</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lang="en-US" altLang="zh-CN" sz="2000" i="1">
                            <a:solidFill>
                              <a:prstClr val="black"/>
                            </a:solidFill>
                            <a:latin typeface="Cambria Math" panose="02040503050406030204" pitchFamily="18" charset="0"/>
                          </a:rPr>
                        </m:ctrlPr>
                      </m:sSubPr>
                      <m:e>
                        <m:r>
                          <a:rPr lang="zh-CN" altLang="en-US" sz="2000" i="1">
                            <a:solidFill>
                              <a:prstClr val="black"/>
                            </a:solidFill>
                            <a:latin typeface="Cambria Math" panose="02040503050406030204" pitchFamily="18" charset="0"/>
                          </a:rPr>
                          <m:t>𝜎</m:t>
                        </m:r>
                      </m:e>
                      <m:sub>
                        <m:r>
                          <a:rPr lang="en-US" altLang="zh-CN" sz="2000" b="0" i="1" smtClean="0">
                            <a:solidFill>
                              <a:prstClr val="black"/>
                            </a:solidFill>
                            <a:latin typeface="Cambria Math" panose="02040503050406030204" pitchFamily="18" charset="0"/>
                          </a:rPr>
                          <m:t>𝑚</m:t>
                        </m:r>
                      </m:sub>
                    </m:sSub>
                    <m:r>
                      <a:rPr kumimoji="0" lang="en-US" altLang="zh-CN" sz="2000" b="0" i="1" u="none" strike="noStrike" kern="1200" cap="none" spc="0" normalizeH="0" noProof="0" smtClean="0">
                        <a:ln>
                          <a:noFill/>
                        </a:ln>
                        <a:solidFill>
                          <a:prstClr val="black"/>
                        </a:solidFill>
                        <a:effectLst/>
                        <a:uLnTx/>
                        <a:uFillTx/>
                        <a:latin typeface="Cambria Math" panose="02040503050406030204" pitchFamily="18" charset="0"/>
                      </a:rPr>
                      <m:t>)</m:t>
                    </m:r>
                  </m:oMath>
                </a14:m>
                <a:r>
                  <a:rPr kumimoji="0" lang="zh-CN" altLang="en-US"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求期望可得</a:t>
                </a:r>
                <a:endParaRPr kumimoji="0" lang="en-US" altLang="zh-CN" sz="2000"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325800" marR="0" lvl="1" indent="0" algn="l" defTabSz="914400" rtl="0" eaLnBrk="1" fontAlgn="auto" latinLnBrk="0" hangingPunct="1">
                  <a:lnSpc>
                    <a:spcPct val="100000"/>
                  </a:lnSpc>
                  <a:spcBef>
                    <a:spcPts val="0"/>
                  </a:spcBef>
                  <a:buClr>
                    <a:srgbClr val="16754D"/>
                  </a:buClr>
                  <a:buSzTx/>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𝔼</m:t>
                          </m:r>
                        </m:e>
                        <m:sub>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sub>
                      </m:sSub>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sup</m:t>
                                  </m:r>
                                </m:e>
                                <m:li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lim>
                              </m:limLow>
                            </m:fName>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nary>
                                <m:naryPr>
                                  <m: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e>
                              </m:nary>
                            </m:e>
                          </m:func>
                        </m:e>
                      </m:d>
                    </m:oMath>
                  </m:oMathPara>
                </a14:m>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上式的取值范围是 </a:t>
                </a:r>
                <a14:m>
                  <m:oMath xmlns:m="http://schemas.openxmlformats.org/officeDocument/2006/math">
                    <m:d>
                      <m:dPr>
                        <m:begChr m:val="["/>
                        <m:endChr m:val="]"/>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0</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m:t>
                        </m:r>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1</m:t>
                        </m:r>
                      </m:e>
                    </m:d>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体现了假设空间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的表达能力</a:t>
                </a:r>
                <a:r>
                  <a:rPr lang="zh-CN" altLang="en-US" dirty="0">
                    <a:solidFill>
                      <a:prstClr val="black"/>
                    </a:solidFill>
                    <a:latin typeface="Arial" panose="020B0604020202020204" pitchFamily="34" charset="0"/>
                    <a:ea typeface="黑体" panose="02010609060101010101" pitchFamily="49" charset="-122"/>
                  </a:rPr>
                  <a:t>，</a:t>
                </a:r>
                <a:r>
                  <a:rPr lang="zh-CN" altLang="en-US" noProof="0" dirty="0">
                    <a:solidFill>
                      <a:prstClr val="black"/>
                    </a:solidFill>
                    <a:latin typeface="Arial" panose="020B0604020202020204" pitchFamily="34" charset="0"/>
                    <a:ea typeface="黑体" panose="02010609060101010101" pitchFamily="49" charset="-122"/>
                  </a:rPr>
                  <a:t>和增长函数有相同的作用。</a:t>
                </a:r>
                <a:endParaRPr lang="en-US" altLang="zh-CN" noProof="0" dirty="0">
                  <a:solidFill>
                    <a:prstClr val="black"/>
                  </a:solidFill>
                  <a:latin typeface="Arial" panose="020B0604020202020204" pitchFamily="34" charset="0"/>
                  <a:ea typeface="黑体" panose="02010609060101010101" pitchFamily="49" charset="-122"/>
                </a:endParaRPr>
              </a:p>
              <a:p>
                <a:pPr marL="342900" lvl="1" indent="-342900">
                  <a:lnSpc>
                    <a:spcPct val="100000"/>
                  </a:lnSpc>
                  <a:spcBef>
                    <a:spcPts val="0"/>
                  </a:spcBef>
                  <a:buClr>
                    <a:srgbClr val="16754D"/>
                  </a:buClr>
                  <a:buFont typeface="Arial" panose="020B0604020202020204" pitchFamily="34" charset="0"/>
                  <a:buChar char="•"/>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当取值为</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时，对任意 </a:t>
                </a:r>
                <a14:m>
                  <m:oMath xmlns:m="http://schemas.openxmlformats.org/officeDocument/2006/math">
                    <m:r>
                      <a:rPr kumimoji="0" lang="zh-CN" altLang="en-US" b="1" i="1" u="none" strike="noStrike" kern="1200" cap="none" spc="0" normalizeH="0" baseline="0" noProof="0" smtClean="0">
                        <a:ln>
                          <a:noFill/>
                        </a:ln>
                        <a:solidFill>
                          <a:prstClr val="black"/>
                        </a:solidFill>
                        <a:effectLst/>
                        <a:uLnTx/>
                        <a:uFillTx/>
                        <a:latin typeface="Cambria Math" panose="02040503050406030204" pitchFamily="18" charset="0"/>
                      </a:rPr>
                      <m:t>𝝈</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sSub>
                      <m:sSubPr>
                        <m:ctrlP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baseline="0" noProof="0" smtClean="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1</m:t>
                        </m:r>
                      </m:sub>
                    </m:s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a:ln>
                              <a:noFill/>
                            </a:ln>
                            <a:solidFill>
                              <a:prstClr val="black"/>
                            </a:solidFill>
                            <a:effectLst/>
                            <a:uLnTx/>
                            <a:uFillTx/>
                            <a:latin typeface="Cambria Math" panose="02040503050406030204" pitchFamily="18" charset="0"/>
                          </a:rPr>
                        </m:ctrlPr>
                      </m:sSubPr>
                      <m:e>
                        <m:r>
                          <a:rPr kumimoji="0" lang="zh-CN" altLang="en-US" b="0" i="1" u="none" strike="noStrike" kern="1200" cap="none" spc="0" normalizeH="0" baseline="0" noProof="0">
                            <a:ln>
                              <a:noFill/>
                            </a:ln>
                            <a:solidFill>
                              <a:prstClr val="black"/>
                            </a:solidFill>
                            <a:effectLst/>
                            <a:uLnTx/>
                            <a:uFillTx/>
                            <a:latin typeface="Cambria Math" panose="02040503050406030204" pitchFamily="18" charset="0"/>
                          </a:rPr>
                          <m:t>𝜎</m:t>
                        </m:r>
                      </m:e>
                      <m: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𝑚</m:t>
                        </m:r>
                      </m:sub>
                    </m:sSub>
                    <m:r>
                      <a:rPr kumimoji="0" lang="en-US" altLang="zh-CN" b="0" i="1" u="none" strike="noStrike" kern="1200" cap="none" spc="0" normalizeH="0" baseline="0" noProof="0" smtClean="0">
                        <a:ln>
                          <a:noFill/>
                        </a:ln>
                        <a:solidFill>
                          <a:prstClr val="black"/>
                        </a:solidFill>
                        <a:effectLst/>
                        <a:uLnTx/>
                        <a:uFillTx/>
                        <a:latin typeface="Cambria Math" panose="02040503050406030204" pitchFamily="18" charset="0"/>
                      </a:rPr>
                      <m:t>)</m:t>
                    </m:r>
                  </m:oMath>
                </a14:m>
                <a:r>
                  <a:rPr kumimoji="0" lang="en-US" altLang="zh-CN"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baseline="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prstClr val="black"/>
                        </a:solidFill>
                        <a:effectLst/>
                        <a:uLnTx/>
                        <a:uFillTx/>
                        <a:latin typeface="Cambria Math" panose="02040503050406030204" pitchFamily="18" charset="0"/>
                        <a:ea typeface="Cambria Math" panose="02040503050406030204" pitchFamily="18" charset="0"/>
                      </a:rPr>
                      <m:t>}</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存在 </a:t>
                </a:r>
                <a14:m>
                  <m:oMath xmlns:m="http://schemas.openxmlformats.org/officeDocument/2006/math">
                    <m:r>
                      <a:rPr lang="en-US" altLang="zh-CN" b="0" i="1" smtClean="0">
                        <a:solidFill>
                          <a:prstClr val="black"/>
                        </a:solidFill>
                        <a:latin typeface="Cambria Math" panose="02040503050406030204" pitchFamily="18" charset="0"/>
                        <a:ea typeface="黑体" panose="02010609060101010101" pitchFamily="49" charset="-122"/>
                      </a:rPr>
                      <m:t>h</m:t>
                    </m:r>
                    <m:r>
                      <a:rPr lang="en-US" altLang="zh-CN" b="0" i="1" smtClean="0">
                        <a:solidFill>
                          <a:prstClr val="black"/>
                        </a:solidFill>
                        <a:latin typeface="Cambria Math" panose="02040503050406030204" pitchFamily="18" charset="0"/>
                        <a:ea typeface="Cambria Math" panose="02040503050406030204" pitchFamily="18" charset="0"/>
                      </a:rPr>
                      <m:t>∈</m:t>
                    </m:r>
                    <m:r>
                      <a:rPr lang="en-US" altLang="zh-CN" b="0" i="1" smtClean="0">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使得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h</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𝑥</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𝜎</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𝑖</m:t>
                        </m:r>
                      </m:sub>
                    </m:sSub>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即 </a:t>
                </a:r>
                <a14:m>
                  <m:oMath xmlns:m="http://schemas.openxmlformats.org/officeDocument/2006/math">
                    <m:sSub>
                      <m:sSub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m:rPr>
                            <m:sty m:val="p"/>
                          </m:rPr>
                          <a:rPr kumimoji="0" lang="el-GR"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Π</m:t>
                        </m:r>
                      </m:e>
                      <m:sub>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ℋ</m:t>
                        </m:r>
                      </m:sub>
                    </m:sSub>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e>
                    </m:d>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p>
                      <m:sSup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pPr>
                      <m:e>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2</m:t>
                        </m:r>
                      </m:e>
                      <m:sup>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p>
                    </m:sSup>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a:solidFill>
                          <a:prstClr val="black"/>
                        </a:solidFill>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能打散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oMath>
                </a14:m>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lang="zh-CN" altLang="en-US" dirty="0">
                    <a:solidFill>
                      <a:prstClr val="black"/>
                    </a:solidFill>
                    <a:latin typeface="Arial" panose="020B0604020202020204" pitchFamily="34" charset="0"/>
                    <a:ea typeface="黑体" panose="02010609060101010101" pitchFamily="49" charset="-122"/>
                  </a:rPr>
                  <a:t>取值越接近</a:t>
                </a:r>
                <a:r>
                  <a:rPr lang="en-US" altLang="zh-CN" dirty="0">
                    <a:solidFill>
                      <a:prstClr val="black"/>
                    </a:solidFill>
                    <a:latin typeface="Arial" panose="020B0604020202020204" pitchFamily="34" charset="0"/>
                    <a:ea typeface="黑体" panose="02010609060101010101" pitchFamily="49" charset="-122"/>
                  </a:rPr>
                  <a:t>1</a:t>
                </a:r>
                <a:r>
                  <a:rPr lang="zh-CN" altLang="en-US" dirty="0">
                    <a:solidFill>
                      <a:prstClr val="black"/>
                    </a:solidFill>
                    <a:latin typeface="Arial" panose="020B0604020202020204" pitchFamily="34" charset="0"/>
                    <a:ea typeface="黑体" panose="02010609060101010101" pitchFamily="49" charset="-122"/>
                  </a:rPr>
                  <a:t>，假设空间的表示能力越强。</a:t>
                </a:r>
                <a:endPar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1" name="内容占位符 3">
                <a:extLst>
                  <a:ext uri="{FF2B5EF4-FFF2-40B4-BE49-F238E27FC236}">
                    <a16:creationId xmlns:a16="http://schemas.microsoft.com/office/drawing/2014/main" id="{2A52CC63-A6EF-1EDB-F15C-D40F0046A409}"/>
                  </a:ext>
                </a:extLst>
              </p:cNvPr>
              <p:cNvSpPr txBox="1">
                <a:spLocks noRot="1" noChangeAspect="1" noMove="1" noResize="1" noEditPoints="1" noAdjustHandles="1" noChangeArrowheads="1" noChangeShapeType="1" noTextEdit="1"/>
              </p:cNvSpPr>
              <p:nvPr/>
            </p:nvSpPr>
            <p:spPr>
              <a:xfrm>
                <a:off x="141474" y="3195551"/>
                <a:ext cx="8757078" cy="2880388"/>
              </a:xfrm>
              <a:prstGeom prst="rect">
                <a:avLst/>
              </a:prstGeom>
              <a:blipFill>
                <a:blip r:embed="rId3"/>
                <a:stretch>
                  <a:fillRect l="-1740" t="-3171" r="-1740" b="-211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9134413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69</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3" name="内容占位符 4">
                <a:extLst>
                  <a:ext uri="{FF2B5EF4-FFF2-40B4-BE49-F238E27FC236}">
                    <a16:creationId xmlns:a16="http://schemas.microsoft.com/office/drawing/2014/main" id="{1B365990-4D85-A34A-9505-D2733733E86A}"/>
                  </a:ext>
                </a:extLst>
              </p:cNvPr>
              <p:cNvSpPr txBox="1">
                <a:spLocks/>
              </p:cNvSpPr>
              <p:nvPr/>
            </p:nvSpPr>
            <p:spPr bwMode="auto">
              <a:xfrm>
                <a:off x="160655" y="1662837"/>
                <a:ext cx="8983345" cy="19947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lang="zh-CN" altLang="en-US" sz="2000" dirty="0">
                    <a:solidFill>
                      <a:sysClr val="windowText" lastClr="000000"/>
                    </a:solidFill>
                    <a:latin typeface="Arial" panose="020B0604020202020204" pitchFamily="34" charset="0"/>
                    <a:ea typeface="黑体" panose="02010609060101010101" pitchFamily="49" charset="-122"/>
                  </a:rPr>
                  <a:t>考虑实值函数空间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ℝ</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dirty="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i="1" u="none" strike="noStrike" kern="1200" cap="none" spc="0" normalizeH="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oMath>
                </a14:m>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函数空间 </a:t>
                </a:r>
                <a14:m>
                  <m:oMath xmlns:m="http://schemas.openxmlformats.org/officeDocument/2006/math">
                    <m: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关于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oMath>
                </a14:m>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的经验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复杂度为</a:t>
                </a:r>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0" indent="0" fontAlgn="auto">
                  <a:lnSpc>
                    <a:spcPct val="100000"/>
                  </a:lnSpc>
                  <a:spcBef>
                    <a:spcPts val="0"/>
                  </a:spcBef>
                  <a:spcAft>
                    <a:spcPts val="0"/>
                  </a:spcAft>
                  <a:buClr>
                    <a:srgbClr val="16754D"/>
                  </a:buClr>
                  <a:buNone/>
                  <a:defRPr/>
                </a:pPr>
                <a14:m>
                  <m:oMathPara xmlns:m="http://schemas.openxmlformats.org/officeDocument/2006/math">
                    <m:oMathParaPr>
                      <m:jc m:val="centerGroup"/>
                    </m:oMathParaPr>
                    <m:oMath xmlns:m="http://schemas.openxmlformats.org/officeDocument/2006/math">
                      <m:sSub>
                        <m:sSubPr>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acc>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ℱ</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func>
                            <m:func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sup</m:t>
                                  </m:r>
                                </m:e>
                                <m:li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lim>
                              </m:limLow>
                            </m:fName>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1"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e>
                          </m:func>
                        </m:e>
                      </m:d>
                    </m:oMath>
                  </m:oMathPara>
                </a14:m>
                <a:endPar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marR="0" lvl="0"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经验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Rademacher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复杂度衡量了函数空间 </a:t>
                </a:r>
                <a:r>
                  <a:rPr kumimoji="0" lang="en-US" altLang="zh-CN"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ℱ </a:t>
                </a:r>
                <a:r>
                  <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与随机噪声在集合 𝑍 上的相关性。</a:t>
                </a:r>
              </a:p>
              <a:p>
                <a:pPr marL="0" marR="0" lvl="0" indent="0" algn="l" defTabSz="914400" rtl="0" eaLnBrk="1" fontAlgn="auto" latinLnBrk="0" hangingPunct="1">
                  <a:lnSpc>
                    <a:spcPct val="90000"/>
                  </a:lnSpc>
                  <a:spcBef>
                    <a:spcPts val="1000"/>
                  </a:spcBef>
                  <a:spcAft>
                    <a:spcPts val="0"/>
                  </a:spcAft>
                  <a:buClr>
                    <a:srgbClr val="16754D"/>
                  </a:buClr>
                  <a:buSzPct val="120000"/>
                  <a:buFont typeface="Wingdings" panose="05000000000000000000" pitchFamily="2" charset="2"/>
                  <a:buNone/>
                  <a:tabLst/>
                  <a:defRPr/>
                </a:pPr>
                <a:endParaRPr kumimoji="0" lang="zh-CN" altLang="en-US" sz="20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3" name="内容占位符 4">
                <a:extLst>
                  <a:ext uri="{FF2B5EF4-FFF2-40B4-BE49-F238E27FC236}">
                    <a16:creationId xmlns:a16="http://schemas.microsoft.com/office/drawing/2014/main" id="{1B365990-4D85-A34A-9505-D2733733E86A}"/>
                  </a:ext>
                </a:extLst>
              </p:cNvPr>
              <p:cNvSpPr txBox="1">
                <a:spLocks noRot="1" noChangeAspect="1" noMove="1" noResize="1" noEditPoints="1" noAdjustHandles="1" noChangeArrowheads="1" noChangeShapeType="1" noTextEdit="1"/>
              </p:cNvSpPr>
              <p:nvPr/>
            </p:nvSpPr>
            <p:spPr bwMode="auto">
              <a:xfrm>
                <a:off x="160655" y="1662837"/>
                <a:ext cx="8983345" cy="1994764"/>
              </a:xfrm>
              <a:prstGeom prst="rect">
                <a:avLst/>
              </a:prstGeom>
              <a:blipFill>
                <a:blip r:embed="rId2"/>
                <a:stretch>
                  <a:fillRect l="-1696" t="-4587" b="-24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7" name="文本框 6">
                <a:extLst>
                  <a:ext uri="{FF2B5EF4-FFF2-40B4-BE49-F238E27FC236}">
                    <a16:creationId xmlns:a16="http://schemas.microsoft.com/office/drawing/2014/main" id="{7CFEE376-5B3A-C06D-CF8F-579B386465B1}"/>
                  </a:ext>
                </a:extLst>
              </p:cNvPr>
              <p:cNvSpPr txBox="1"/>
              <p:nvPr/>
            </p:nvSpPr>
            <p:spPr>
              <a:xfrm>
                <a:off x="160655" y="3924190"/>
                <a:ext cx="8725999" cy="1606014"/>
              </a:xfrm>
              <a:prstGeom prst="rect">
                <a:avLst/>
              </a:prstGeom>
              <a:noFill/>
            </p:spPr>
            <p:txBody>
              <a:bodyPr wrap="square" lIns="0" tIns="0" rIns="0" bIns="0">
                <a:noAutofit/>
              </a:bodyPr>
              <a:lstStyle/>
              <a:p>
                <a:pPr lvl="0"/>
                <a:r>
                  <a:rPr lang="zh-CN" altLang="en-US" sz="2000" dirty="0">
                    <a:solidFill>
                      <a:prstClr val="black"/>
                    </a:solidFill>
                    <a:latin typeface="Arial" panose="020B0604020202020204" pitchFamily="34" charset="0"/>
                    <a:ea typeface="黑体" panose="02010609060101010101" pitchFamily="49" charset="-122"/>
                  </a:rPr>
                  <a:t>函数空间 </a:t>
                </a:r>
                <a14:m>
                  <m:oMath xmlns:m="http://schemas.openxmlformats.org/officeDocument/2006/math">
                    <m:r>
                      <a:rPr lang="en-US" altLang="zh-CN" sz="2000" i="1">
                        <a:solidFill>
                          <a:prstClr val="black"/>
                        </a:solidFill>
                        <a:latin typeface="Cambria Math" panose="02040503050406030204" pitchFamily="18" charset="0"/>
                        <a:ea typeface="Cambria Math" panose="02040503050406030204" pitchFamily="18" charset="0"/>
                      </a:rPr>
                      <m:t>ℱ</m:t>
                    </m:r>
                  </m:oMath>
                </a14:m>
                <a:r>
                  <a:rPr lang="zh-CN" altLang="en-US" sz="2000" dirty="0">
                    <a:solidFill>
                      <a:prstClr val="black"/>
                    </a:solidFill>
                    <a:latin typeface="Arial" panose="020B0604020202020204" pitchFamily="34" charset="0"/>
                    <a:ea typeface="黑体" panose="02010609060101010101" pitchFamily="49" charset="-122"/>
                  </a:rPr>
                  <a:t> 关于 </a:t>
                </a:r>
                <a14:m>
                  <m:oMath xmlns:m="http://schemas.openxmlformats.org/officeDocument/2006/math">
                    <m:r>
                      <a:rPr lang="en-US" altLang="zh-CN" sz="2000" i="1">
                        <a:solidFill>
                          <a:prstClr val="black"/>
                        </a:solidFill>
                        <a:latin typeface="Cambria Math" panose="02040503050406030204" pitchFamily="18" charset="0"/>
                        <a:ea typeface="幼圆" panose="02010509060101010101" pitchFamily="49" charset="-122"/>
                      </a:rPr>
                      <m:t>𝑍</m:t>
                    </m:r>
                  </m:oMath>
                </a14:m>
                <a:r>
                  <a:rPr lang="zh-CN" altLang="en-US" sz="2000" dirty="0">
                    <a:solidFill>
                      <a:prstClr val="black"/>
                    </a:solidFill>
                    <a:latin typeface="Arial" panose="020B0604020202020204" pitchFamily="34" charset="0"/>
                    <a:ea typeface="黑体" panose="02010609060101010101" pitchFamily="49" charset="-122"/>
                  </a:rPr>
                  <a:t> 上分布</a:t>
                </a:r>
                <a:r>
                  <a:rPr lang="en-US" altLang="zh-CN" sz="2000" dirty="0">
                    <a:solidFill>
                      <a:prstClr val="black"/>
                    </a:solidFill>
                    <a:latin typeface="Arial" panose="020B0604020202020204" pitchFamily="34" charset="0"/>
                    <a:ea typeface="黑体" panose="02010609060101010101" pitchFamily="49" charset="-122"/>
                  </a:rPr>
                  <a:t> </a:t>
                </a:r>
                <a14:m>
                  <m:oMath xmlns:m="http://schemas.openxmlformats.org/officeDocument/2006/math">
                    <m:r>
                      <a:rPr lang="zh-CN" altLang="en-US" sz="2000" i="1">
                        <a:solidFill>
                          <a:prstClr val="black"/>
                        </a:solidFill>
                        <a:latin typeface="Cambria Math" panose="02040503050406030204" pitchFamily="18" charset="0"/>
                        <a:ea typeface="幼圆" panose="02010509060101010101" pitchFamily="49" charset="-122"/>
                      </a:rPr>
                      <m:t>𝒟</m:t>
                    </m:r>
                  </m:oMath>
                </a14:m>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的 </a:t>
                </a:r>
                <a:r>
                  <a:rPr lang="en-US" altLang="zh-CN" sz="2000" dirty="0">
                    <a:solidFill>
                      <a:prstClr val="black"/>
                    </a:solidFill>
                    <a:latin typeface="Arial" panose="020B0604020202020204" pitchFamily="34" charset="0"/>
                    <a:ea typeface="黑体" panose="02010609060101010101" pitchFamily="49" charset="-122"/>
                  </a:rPr>
                  <a:t>Rademacher </a:t>
                </a:r>
                <a:r>
                  <a:rPr lang="zh-CN" altLang="en-US" sz="2000" dirty="0">
                    <a:solidFill>
                      <a:prstClr val="black"/>
                    </a:solidFill>
                    <a:latin typeface="Arial" panose="020B0604020202020204" pitchFamily="34" charset="0"/>
                    <a:ea typeface="黑体" panose="02010609060101010101" pitchFamily="49" charset="-122"/>
                  </a:rPr>
                  <a:t>复杂度</a:t>
                </a:r>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对从分布 </a:t>
                </a:r>
                <a14:m>
                  <m:oMath xmlns:m="http://schemas.openxmlformats.org/officeDocument/2006/math">
                    <m:r>
                      <a:rPr lang="zh-CN" altLang="en-US" sz="2000" i="1">
                        <a:solidFill>
                          <a:prstClr val="black"/>
                        </a:solidFill>
                        <a:latin typeface="Cambria Math" panose="02040503050406030204" pitchFamily="18" charset="0"/>
                        <a:ea typeface="幼圆" panose="02010509060101010101" pitchFamily="49" charset="-122"/>
                      </a:rPr>
                      <m:t>𝒟</m:t>
                    </m:r>
                  </m:oMath>
                </a14:m>
                <a:r>
                  <a:rPr lang="zh-CN" altLang="en-US" sz="2000" dirty="0">
                    <a:solidFill>
                      <a:prstClr val="black"/>
                    </a:solidFill>
                    <a:latin typeface="Arial" panose="020B0604020202020204" pitchFamily="34" charset="0"/>
                    <a:ea typeface="黑体" panose="02010609060101010101" pitchFamily="49" charset="-122"/>
                  </a:rPr>
                  <a:t> 独立同分布采样得到的大小为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𝑚</m:t>
                    </m:r>
                  </m:oMath>
                </a14:m>
                <a:r>
                  <a:rPr lang="zh-CN" altLang="en-US" sz="2000" dirty="0">
                    <a:solidFill>
                      <a:prstClr val="black"/>
                    </a:solidFill>
                    <a:latin typeface="Arial" panose="020B0604020202020204" pitchFamily="34" charset="0"/>
                    <a:ea typeface="黑体" panose="02010609060101010101" pitchFamily="49" charset="-122"/>
                  </a:rPr>
                  <a:t> 的集合 </a:t>
                </a:r>
                <a14:m>
                  <m:oMath xmlns:m="http://schemas.openxmlformats.org/officeDocument/2006/math">
                    <m:r>
                      <a:rPr lang="en-US" altLang="zh-CN" sz="2000" i="1">
                        <a:solidFill>
                          <a:prstClr val="black"/>
                        </a:solidFill>
                        <a:latin typeface="Cambria Math" panose="02040503050406030204" pitchFamily="18" charset="0"/>
                        <a:ea typeface="幼圆" panose="02010509060101010101" pitchFamily="49" charset="-122"/>
                      </a:rPr>
                      <m:t>𝑍</m:t>
                    </m:r>
                  </m:oMath>
                </a14:m>
                <a:r>
                  <a:rPr lang="zh-CN" altLang="en-US" sz="2000" dirty="0">
                    <a:solidFill>
                      <a:prstClr val="black"/>
                    </a:solidFill>
                    <a:latin typeface="Arial" panose="020B0604020202020204" pitchFamily="34" charset="0"/>
                    <a:ea typeface="黑体" panose="02010609060101010101" pitchFamily="49" charset="-122"/>
                  </a:rPr>
                  <a:t> 求期望</a:t>
                </a:r>
                <a:r>
                  <a:rPr lang="en-US" altLang="zh-CN" sz="2000" dirty="0">
                    <a:solidFill>
                      <a:prstClr val="black"/>
                    </a:solidFill>
                    <a:latin typeface="Arial" panose="020B0604020202020204" pitchFamily="34" charset="0"/>
                    <a:ea typeface="黑体" panose="02010609060101010101" pitchFamily="49" charset="-122"/>
                  </a:rPr>
                  <a:t>.</a:t>
                </a:r>
              </a:p>
              <a:p>
                <a:pPr lvl="0"/>
                <a14:m>
                  <m:oMathPara xmlns:m="http://schemas.openxmlformats.org/officeDocument/2006/math">
                    <m:oMathParaPr>
                      <m:jc m:val="centerGroup"/>
                    </m:oMathParaPr>
                    <m:oMath xmlns:m="http://schemas.openxmlformats.org/officeDocument/2006/math">
                      <m:sSub>
                        <m:sSubPr>
                          <m:ctrlPr>
                            <a:rPr kumimoji="0" lang="en-US" altLang="zh-CN" sz="200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Cambria Math" panose="02040503050406030204" pitchFamily="18" charset="0"/>
                            </a:rPr>
                            <m:t>ℱ</m:t>
                          </m:r>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lang="zh-CN" altLang="en-US" sz="2000" i="1" dirty="0">
                              <a:solidFill>
                                <a:sysClr val="windowText" lastClr="000000"/>
                              </a:solidFill>
                              <a:latin typeface="Cambria Math" panose="02040503050406030204" pitchFamily="18" charset="0"/>
                              <a:ea typeface="Cambria Math" panose="02040503050406030204" pitchFamily="18" charset="0"/>
                            </a:rPr>
                            <m:t>𝒵</m:t>
                          </m:r>
                          <m:r>
                            <a:rPr lang="en-US" altLang="zh-CN" sz="2000" b="0" i="1" dirty="0" smtClean="0">
                              <a:solidFill>
                                <a:sysClr val="windowText" lastClr="000000"/>
                              </a:solidFill>
                              <a:latin typeface="Cambria Math" panose="02040503050406030204" pitchFamily="18" charset="0"/>
                              <a:ea typeface="Cambria Math" panose="02040503050406030204" pitchFamily="18" charset="0"/>
                            </a:rPr>
                            <m:t>:</m:t>
                          </m:r>
                          <m:d>
                            <m:dPr>
                              <m:begChr m:val="|"/>
                              <m:endChr m:val="|"/>
                              <m:ctrlPr>
                                <a:rPr lang="en-US" altLang="zh-CN" sz="2000" b="0" i="1" dirty="0" smtClean="0">
                                  <a:solidFill>
                                    <a:sysClr val="windowText" lastClr="000000"/>
                                  </a:solidFill>
                                  <a:latin typeface="Cambria Math" panose="02040503050406030204" pitchFamily="18" charset="0"/>
                                  <a:ea typeface="Cambria Math" panose="02040503050406030204" pitchFamily="18" charset="0"/>
                                </a:rPr>
                              </m:ctrlPr>
                            </m:dPr>
                            <m:e>
                              <m:r>
                                <a:rPr lang="en-US" altLang="zh-CN" sz="2000" b="0" i="1" dirty="0" smtClean="0">
                                  <a:solidFill>
                                    <a:sysClr val="windowText" lastClr="000000"/>
                                  </a:solidFill>
                                  <a:latin typeface="Cambria Math" panose="02040503050406030204" pitchFamily="18" charset="0"/>
                                  <a:ea typeface="Cambria Math" panose="02040503050406030204" pitchFamily="18" charset="0"/>
                                </a:rPr>
                                <m:t>𝑍</m:t>
                              </m:r>
                            </m:e>
                          </m:d>
                          <m:r>
                            <a:rPr lang="en-US" altLang="zh-CN" sz="2000" b="0" i="1" dirty="0" smtClean="0">
                              <a:solidFill>
                                <a:sysClr val="windowText" lastClr="000000"/>
                              </a:solidFill>
                              <a:latin typeface="Cambria Math" panose="02040503050406030204" pitchFamily="18" charset="0"/>
                              <a:ea typeface="Cambria Math" panose="02040503050406030204" pitchFamily="18" charset="0"/>
                            </a:rPr>
                            <m:t>=</m:t>
                          </m:r>
                          <m:r>
                            <a:rPr lang="en-US" altLang="zh-CN" sz="2000" b="0" i="1" dirty="0" smtClean="0">
                              <a:solidFill>
                                <a:sysClr val="windowText" lastClr="000000"/>
                              </a:solidFill>
                              <a:latin typeface="Cambria Math" panose="02040503050406030204" pitchFamily="18" charset="0"/>
                              <a:ea typeface="Cambria Math" panose="02040503050406030204" pitchFamily="18" charset="0"/>
                            </a:rPr>
                            <m:t>𝑚</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sz="2000" i="1">
                                  <a:solidFill>
                                    <a:sysClr val="windowText" lastClr="000000"/>
                                  </a:solidFill>
                                  <a:latin typeface="Cambria Math" panose="02040503050406030204" pitchFamily="18" charset="0"/>
                                  <a:ea typeface="黑体" panose="02010609060101010101" pitchFamily="49" charset="-122"/>
                                </a:rPr>
                              </m:ctrlPr>
                            </m:sSubPr>
                            <m:e>
                              <m:acc>
                                <m:accPr>
                                  <m:chr m:val="̂"/>
                                  <m:ctrlPr>
                                    <a:rPr lang="en-US" altLang="zh-CN" sz="2000" i="1">
                                      <a:solidFill>
                                        <a:sysClr val="windowText" lastClr="000000"/>
                                      </a:solidFill>
                                      <a:latin typeface="Cambria Math" panose="02040503050406030204" pitchFamily="18" charset="0"/>
                                      <a:ea typeface="黑体" panose="02010609060101010101" pitchFamily="49" charset="-122"/>
                                    </a:rPr>
                                  </m:ctrlPr>
                                </m:accPr>
                                <m:e>
                                  <m:r>
                                    <a:rPr lang="en-US" altLang="zh-CN" sz="2000" i="1">
                                      <a:solidFill>
                                        <a:sysClr val="windowText" lastClr="000000"/>
                                      </a:solidFill>
                                      <a:latin typeface="Cambria Math" panose="02040503050406030204" pitchFamily="18" charset="0"/>
                                      <a:ea typeface="黑体" panose="02010609060101010101" pitchFamily="49" charset="-122"/>
                                    </a:rPr>
                                    <m:t>𝑅</m:t>
                                  </m:r>
                                </m:e>
                              </m:acc>
                            </m:e>
                            <m:sub>
                              <m:r>
                                <a:rPr lang="en-US" altLang="zh-CN" sz="2000" i="1">
                                  <a:solidFill>
                                    <a:sysClr val="windowText" lastClr="000000"/>
                                  </a:solidFill>
                                  <a:latin typeface="Cambria Math" panose="02040503050406030204" pitchFamily="18" charset="0"/>
                                  <a:ea typeface="黑体" panose="02010609060101010101" pitchFamily="49" charset="-122"/>
                                </a:rPr>
                                <m:t>𝑍</m:t>
                              </m:r>
                            </m:sub>
                          </m:sSub>
                          <m:r>
                            <a:rPr lang="en-US" altLang="zh-CN" sz="2000" i="1">
                              <a:solidFill>
                                <a:sysClr val="windowText" lastClr="000000"/>
                              </a:solidFill>
                              <a:latin typeface="Cambria Math" panose="02040503050406030204" pitchFamily="18" charset="0"/>
                              <a:ea typeface="黑体" panose="02010609060101010101" pitchFamily="49" charset="-122"/>
                            </a:rPr>
                            <m:t>(</m:t>
                          </m:r>
                          <m:r>
                            <a:rPr lang="en-US" altLang="zh-CN" sz="2000" i="1">
                              <a:solidFill>
                                <a:sysClr val="windowText" lastClr="000000"/>
                              </a:solidFill>
                              <a:latin typeface="Cambria Math" panose="02040503050406030204" pitchFamily="18" charset="0"/>
                              <a:ea typeface="Cambria Math" panose="02040503050406030204" pitchFamily="18" charset="0"/>
                            </a:rPr>
                            <m:t>ℱ</m:t>
                          </m:r>
                          <m:r>
                            <a:rPr lang="en-US" altLang="zh-CN" sz="2000" i="1">
                              <a:solidFill>
                                <a:sysClr val="windowText" lastClr="000000"/>
                              </a:solidFill>
                              <a:latin typeface="Cambria Math" panose="02040503050406030204" pitchFamily="18" charset="0"/>
                              <a:ea typeface="黑体" panose="02010609060101010101" pitchFamily="49" charset="-122"/>
                            </a:rPr>
                            <m:t>)</m:t>
                          </m:r>
                        </m:e>
                      </m:d>
                    </m:oMath>
                  </m:oMathPara>
                </a14:m>
                <a:endParaRPr lang="en-US" altLang="zh-CN" sz="2000" dirty="0">
                  <a:solidFill>
                    <a:prstClr val="black"/>
                  </a:solidFill>
                  <a:latin typeface="Arial" panose="020B0604020202020204" pitchFamily="34" charset="0"/>
                  <a:ea typeface="黑体" panose="02010609060101010101" pitchFamily="49" charset="-122"/>
                </a:endParaRPr>
              </a:p>
              <a:p>
                <a:pPr lvl="0"/>
                <a:r>
                  <a:rPr lang="zh-CN" altLang="en-US" sz="2000" dirty="0">
                    <a:solidFill>
                      <a:prstClr val="black"/>
                    </a:solidFill>
                    <a:latin typeface="Arial" panose="020B0604020202020204" pitchFamily="34" charset="0"/>
                    <a:ea typeface="黑体" panose="02010609060101010101" pitchFamily="49" charset="-122"/>
                  </a:rPr>
                  <a:t>需要注意到，在 </a:t>
                </a:r>
                <a:r>
                  <a:rPr lang="en-US" altLang="zh-CN" sz="2000" dirty="0">
                    <a:solidFill>
                      <a:prstClr val="black"/>
                    </a:solidFill>
                    <a:latin typeface="Arial" panose="020B0604020202020204" pitchFamily="34" charset="0"/>
                    <a:ea typeface="黑体" panose="02010609060101010101" pitchFamily="49" charset="-122"/>
                  </a:rPr>
                  <a:t>Rademacher </a:t>
                </a:r>
                <a:r>
                  <a:rPr lang="zh-CN" altLang="en-US" sz="2000" dirty="0">
                    <a:solidFill>
                      <a:prstClr val="black"/>
                    </a:solidFill>
                    <a:latin typeface="Arial" panose="020B0604020202020204" pitchFamily="34" charset="0"/>
                    <a:ea typeface="黑体" panose="02010609060101010101" pitchFamily="49" charset="-122"/>
                  </a:rPr>
                  <a:t>复杂度的定义中 </a:t>
                </a:r>
                <a14:m>
                  <m:oMath xmlns:m="http://schemas.openxmlformats.org/officeDocument/2006/math">
                    <m:sSub>
                      <m:sSubPr>
                        <m:ctrlPr>
                          <a:rPr lang="en-US" altLang="zh-CN" sz="2000" i="1" smtClean="0">
                            <a:solidFill>
                              <a:prstClr val="black"/>
                            </a:solidFill>
                            <a:latin typeface="Cambria Math" panose="02040503050406030204" pitchFamily="18" charset="0"/>
                            <a:ea typeface="黑体" panose="02010609060101010101" pitchFamily="49" charset="-122"/>
                          </a:rPr>
                        </m:ctrlPr>
                      </m:sSubPr>
                      <m:e>
                        <m:r>
                          <a:rPr lang="zh-CN" altLang="en-US" sz="2000" i="1" smtClean="0">
                            <a:solidFill>
                              <a:prstClr val="black"/>
                            </a:solidFill>
                            <a:latin typeface="Cambria Math" panose="02040503050406030204" pitchFamily="18" charset="0"/>
                            <a:ea typeface="黑体" panose="02010609060101010101" pitchFamily="49" charset="-122"/>
                          </a:rPr>
                          <m:t>𝜎</m:t>
                        </m:r>
                      </m:e>
                      <m:sub>
                        <m:r>
                          <a:rPr lang="en-US" altLang="zh-CN" sz="2000" b="0" i="1" smtClean="0">
                            <a:solidFill>
                              <a:prstClr val="black"/>
                            </a:solidFill>
                            <a:latin typeface="Cambria Math" panose="02040503050406030204" pitchFamily="18" charset="0"/>
                            <a:ea typeface="黑体" panose="02010609060101010101" pitchFamily="49" charset="-122"/>
                          </a:rPr>
                          <m:t>𝑖</m:t>
                        </m:r>
                      </m:sub>
                    </m:sSub>
                  </m:oMath>
                </a14:m>
                <a:r>
                  <a:rPr lang="en-US" altLang="zh-CN" sz="2000" dirty="0">
                    <a:solidFill>
                      <a:prstClr val="black"/>
                    </a:solidFill>
                    <a:latin typeface="Arial" panose="020B0604020202020204" pitchFamily="34" charset="0"/>
                    <a:ea typeface="黑体" panose="02010609060101010101" pitchFamily="49" charset="-122"/>
                  </a:rPr>
                  <a:t> </a:t>
                </a:r>
                <a:r>
                  <a:rPr lang="zh-CN" altLang="en-US" sz="2000" dirty="0">
                    <a:solidFill>
                      <a:prstClr val="black"/>
                    </a:solidFill>
                    <a:latin typeface="Arial" panose="020B0604020202020204" pitchFamily="34" charset="0"/>
                    <a:ea typeface="黑体" panose="02010609060101010101" pitchFamily="49" charset="-122"/>
                  </a:rPr>
                  <a:t>是 </a:t>
                </a:r>
                <a14:m>
                  <m:oMath xmlns:m="http://schemas.openxmlformats.org/officeDocument/2006/math">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0" i="1" smtClean="0">
                        <a:solidFill>
                          <a:prstClr val="black"/>
                        </a:solidFill>
                        <a:latin typeface="Cambria Math" panose="02040503050406030204" pitchFamily="18" charset="0"/>
                        <a:ea typeface="黑体" panose="02010609060101010101" pitchFamily="49" charset="-122"/>
                      </a:rPr>
                      <m:t>1</m:t>
                    </m:r>
                    <m:r>
                      <a:rPr lang="en-US" altLang="zh-CN" sz="2000" b="0" i="1" smtClean="0">
                        <a:solidFill>
                          <a:prstClr val="black"/>
                        </a:solidFill>
                        <a:latin typeface="Cambria Math" panose="02040503050406030204" pitchFamily="18" charset="0"/>
                        <a:ea typeface="黑体" panose="02010609060101010101" pitchFamily="49" charset="-122"/>
                      </a:rPr>
                      <m:t>,+</m:t>
                    </m:r>
                    <m:r>
                      <a:rPr lang="en-US" altLang="zh-CN" sz="2000" b="0" i="1" smtClean="0">
                        <a:solidFill>
                          <a:prstClr val="black"/>
                        </a:solidFill>
                        <a:latin typeface="Cambria Math" panose="02040503050406030204" pitchFamily="18" charset="0"/>
                        <a:ea typeface="黑体" panose="02010609060101010101" pitchFamily="49" charset="-122"/>
                      </a:rPr>
                      <m:t>1</m:t>
                    </m:r>
                    <m:r>
                      <a:rPr lang="en-US" altLang="zh-CN" sz="2000" b="0" i="1" smtClean="0">
                        <a:solidFill>
                          <a:prstClr val="black"/>
                        </a:solidFill>
                        <a:latin typeface="Cambria Math" panose="02040503050406030204" pitchFamily="18" charset="0"/>
                        <a:ea typeface="黑体" panose="02010609060101010101" pitchFamily="49" charset="-122"/>
                      </a:rPr>
                      <m:t>}</m:t>
                    </m:r>
                  </m:oMath>
                </a14:m>
                <a:r>
                  <a:rPr lang="zh-CN" altLang="en-US" sz="2000" dirty="0">
                    <a:solidFill>
                      <a:prstClr val="black"/>
                    </a:solidFill>
                    <a:latin typeface="Arial" panose="020B0604020202020204" pitchFamily="34" charset="0"/>
                    <a:ea typeface="黑体" panose="02010609060101010101" pitchFamily="49" charset="-122"/>
                  </a:rPr>
                  <a:t> 上服从均匀分布的随机变量，如果将均匀分布改为其他分布，会得到其他一些复杂度定义。</a:t>
                </a:r>
                <a:endParaRPr lang="en-US" altLang="zh-CN" sz="2000" dirty="0">
                  <a:solidFill>
                    <a:prstClr val="black"/>
                  </a:solidFill>
                  <a:latin typeface="Arial" panose="020B0604020202020204" pitchFamily="34" charset="0"/>
                  <a:ea typeface="黑体" panose="02010609060101010101" pitchFamily="49" charset="-122"/>
                </a:endParaRPr>
              </a:p>
              <a:p>
                <a:pPr lvl="0" algn="r"/>
                <a:endParaRPr lang="en-US" altLang="zh-CN" sz="2000" dirty="0">
                  <a:solidFill>
                    <a:prstClr val="black"/>
                  </a:solidFill>
                  <a:latin typeface="Arial" panose="020B0604020202020204" pitchFamily="34" charset="0"/>
                  <a:ea typeface="黑体" panose="02010609060101010101" pitchFamily="49" charset="-122"/>
                </a:endParaRPr>
              </a:p>
              <a:p>
                <a:pPr lvl="0" algn="r"/>
                <a:endParaRPr lang="en-US" altLang="zh-CN" sz="2000" dirty="0">
                  <a:solidFill>
                    <a:prstClr val="black"/>
                  </a:solidFill>
                  <a:latin typeface="Arial" panose="020B0604020202020204" pitchFamily="34" charset="0"/>
                  <a:ea typeface="黑体" panose="02010609060101010101" pitchFamily="49" charset="-122"/>
                </a:endParaRPr>
              </a:p>
            </p:txBody>
          </p:sp>
        </mc:Choice>
        <mc:Fallback xmlns="">
          <p:sp>
            <p:nvSpPr>
              <p:cNvPr id="7" name="文本框 6">
                <a:extLst>
                  <a:ext uri="{FF2B5EF4-FFF2-40B4-BE49-F238E27FC236}">
                    <a16:creationId xmlns:a16="http://schemas.microsoft.com/office/drawing/2014/main" id="{7CFEE376-5B3A-C06D-CF8F-579B386465B1}"/>
                  </a:ext>
                </a:extLst>
              </p:cNvPr>
              <p:cNvSpPr txBox="1">
                <a:spLocks noRot="1" noChangeAspect="1" noMove="1" noResize="1" noEditPoints="1" noAdjustHandles="1" noChangeArrowheads="1" noChangeShapeType="1" noTextEdit="1"/>
              </p:cNvSpPr>
              <p:nvPr/>
            </p:nvSpPr>
            <p:spPr>
              <a:xfrm>
                <a:off x="160655" y="3924190"/>
                <a:ext cx="8725999" cy="1606014"/>
              </a:xfrm>
              <a:prstGeom prst="rect">
                <a:avLst/>
              </a:prstGeom>
              <a:blipFill>
                <a:blip r:embed="rId3"/>
                <a:stretch>
                  <a:fillRect l="-1746" t="-5703" r="-908" b="-6464"/>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内容占位符 4">
                <a:extLst>
                  <a:ext uri="{FF2B5EF4-FFF2-40B4-BE49-F238E27FC236}">
                    <a16:creationId xmlns:a16="http://schemas.microsoft.com/office/drawing/2014/main" id="{489CFAE5-E055-B3E3-2ACB-9E7217B3966B}"/>
                  </a:ext>
                </a:extLst>
              </p:cNvPr>
              <p:cNvSpPr txBox="1">
                <a:spLocks/>
              </p:cNvSpPr>
              <p:nvPr/>
            </p:nvSpPr>
            <p:spPr bwMode="auto">
              <a:xfrm>
                <a:off x="160655" y="5736498"/>
                <a:ext cx="7549762" cy="4804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noAutofit/>
              </a:bodyPr>
              <a:lstStyle>
                <a:lvl1pPr marL="342900" indent="-342900">
                  <a:defRPr>
                    <a:solidFill>
                      <a:schemeClr val="tx1"/>
                    </a:solidFill>
                    <a:latin typeface="Verdana" panose="020B0604030504040204" pitchFamily="34" charset="0"/>
                    <a:ea typeface="幼圆" panose="02010509060101010101" pitchFamily="49" charset="-122"/>
                  </a:defRPr>
                </a:lvl1pPr>
                <a:lvl2pPr marL="742950" indent="-28575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0" indent="0" defTabSz="914400" eaLnBrk="1" fontAlgn="base" latinLnBrk="0" hangingPunct="1">
                  <a:lnSpc>
                    <a:spcPct val="125000"/>
                  </a:lnSpc>
                  <a:spcBef>
                    <a:spcPts val="1000"/>
                  </a:spcBef>
                  <a:spcAft>
                    <a:spcPct val="0"/>
                  </a:spcAft>
                  <a:buClr>
                    <a:srgbClr val="16754D"/>
                  </a:buClr>
                  <a:buSzPct val="120000"/>
                  <a:tabLst/>
                  <a:defRPr/>
                </a:pPr>
                <a14:m>
                  <m:oMath xmlns:m="http://schemas.openxmlformats.org/officeDocument/2006/math">
                    <m:r>
                      <a:rPr kumimoji="0" lang="zh-CN" altLang="en-US" sz="200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基于</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复杂度可得关于函数空间 </a:t>
                </a:r>
                <a14:m>
                  <m:oMath xmlns:m="http://schemas.openxmlformats.org/officeDocument/2006/math">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ℱ</m:t>
                    </m:r>
                  </m:oMath>
                </a14:m>
                <a:r>
                  <a:rPr kumimoji="0" lang="zh-CN" altLang="en-US"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的泛化误差界</a:t>
                </a:r>
                <a:r>
                  <a:rPr kumimoji="0" lang="en-US" altLang="zh-CN" sz="200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8" name="内容占位符 4">
                <a:extLst>
                  <a:ext uri="{FF2B5EF4-FFF2-40B4-BE49-F238E27FC236}">
                    <a16:creationId xmlns:a16="http://schemas.microsoft.com/office/drawing/2014/main" id="{489CFAE5-E055-B3E3-2ACB-9E7217B3966B}"/>
                  </a:ext>
                </a:extLst>
              </p:cNvPr>
              <p:cNvSpPr txBox="1">
                <a:spLocks noRot="1" noChangeAspect="1" noMove="1" noResize="1" noEditPoints="1" noAdjustHandles="1" noChangeArrowheads="1" noChangeShapeType="1" noTextEdit="1"/>
              </p:cNvSpPr>
              <p:nvPr/>
            </p:nvSpPr>
            <p:spPr bwMode="auto">
              <a:xfrm>
                <a:off x="160655" y="5736498"/>
                <a:ext cx="7549762" cy="480449"/>
              </a:xfrm>
              <a:prstGeom prst="rect">
                <a:avLst/>
              </a:prstGeom>
              <a:blipFill>
                <a:blip r:embed="rId4"/>
                <a:stretch>
                  <a:fillRect l="-969" t="-11392" b="-5063"/>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10" name="文本框 9">
            <a:extLst>
              <a:ext uri="{FF2B5EF4-FFF2-40B4-BE49-F238E27FC236}">
                <a16:creationId xmlns:a16="http://schemas.microsoft.com/office/drawing/2014/main" id="{91BA5E97-46BD-BF90-AC1B-FA84EBC3B212}"/>
              </a:ext>
            </a:extLst>
          </p:cNvPr>
          <p:cNvSpPr txBox="1"/>
          <p:nvPr/>
        </p:nvSpPr>
        <p:spPr>
          <a:xfrm>
            <a:off x="160655" y="1113682"/>
            <a:ext cx="7003100" cy="304699"/>
          </a:xfrm>
          <a:prstGeom prst="rect">
            <a:avLst/>
          </a:prstGeom>
          <a:noFill/>
        </p:spPr>
        <p:txBody>
          <a:bodyPr wrap="square" lIns="0" tIns="0" rIns="0" bIns="0">
            <a:noAutofit/>
          </a:bodyPr>
          <a:lstStyle/>
          <a:p>
            <a:pPr marL="342900" marR="0" lvl="1" indent="-342900" algn="l" defTabSz="914400" rtl="0" eaLnBrk="1" fontAlgn="auto" latinLnBrk="0" hangingPunct="1">
              <a:lnSpc>
                <a:spcPct val="90000"/>
              </a:lnSpc>
              <a:spcBef>
                <a:spcPts val="1000"/>
              </a:spcBef>
              <a:spcAft>
                <a:spcPts val="0"/>
              </a:spcAft>
              <a:buClr>
                <a:srgbClr val="16754D"/>
              </a:buClr>
              <a:buSzPct val="120000"/>
              <a:buFont typeface="Wingdings" panose="05000000000000000000" pitchFamily="2" charset="2"/>
              <a:buChar char="Ø"/>
              <a:tabLst/>
              <a:defRPr/>
            </a:pPr>
            <a:r>
              <a:rPr kumimoji="0" lang="zh-CN" altLang="en-US"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定义</a:t>
            </a:r>
            <a:r>
              <a:rPr kumimoji="0" lang="en-US" altLang="zh-CN"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 Rademacher </a:t>
            </a:r>
            <a:r>
              <a:rPr kumimoji="0" lang="zh-CN" altLang="en-US"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复杂度 </a:t>
            </a:r>
            <a:r>
              <a:rPr kumimoji="0" lang="en-US" altLang="zh-CN" sz="2200" b="0" i="0" u="none" strike="noStrike" kern="1200" cap="none" spc="0" normalizeH="0" baseline="0" noProof="0" dirty="0">
                <a:ln>
                  <a:noFill/>
                </a:ln>
                <a:solidFill>
                  <a:srgbClr val="669900"/>
                </a:solidFill>
                <a:effectLst/>
                <a:uLnTx/>
                <a:uFillTx/>
                <a:latin typeface="Arial" panose="020B0604020202020204" pitchFamily="34" charset="0"/>
                <a:ea typeface="黑体" panose="02010609060101010101" pitchFamily="49" charset="-122"/>
                <a:cs typeface="+mn-cs"/>
              </a:rPr>
              <a:t>(Rademacher complexity)</a:t>
            </a:r>
          </a:p>
        </p:txBody>
      </p:sp>
    </p:spTree>
    <p:extLst>
      <p:ext uri="{BB962C8B-B14F-4D97-AF65-F5344CB8AC3E}">
        <p14:creationId xmlns:p14="http://schemas.microsoft.com/office/powerpoint/2010/main" val="7804246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70</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75500" y="1192607"/>
                <a:ext cx="8629650" cy="233436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1000"/>
                  </a:spcBef>
                  <a:spcAft>
                    <a:spcPct val="0"/>
                  </a:spcAft>
                  <a:buClr>
                    <a:srgbClr val="16754D"/>
                  </a:buClr>
                  <a:buSzPct val="120000"/>
                  <a:buFont typeface="Wingdings" panose="05000000000000000000" pitchFamily="2" charset="2"/>
                  <a:buNone/>
                  <a:tabLst/>
                  <a:defRPr/>
                </a:pPr>
                <a:r>
                  <a:rPr kumimoji="0" lang="zh-CN" altLang="en-US" sz="220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 </a:t>
                </a:r>
                <a:r>
                  <a:rPr lang="en-US" altLang="zh-CN" sz="2200" dirty="0">
                    <a:solidFill>
                      <a:sysClr val="windowText" lastClr="000000"/>
                    </a:solidFill>
                    <a:latin typeface="Arial" panose="020B0604020202020204" pitchFamily="34" charset="0"/>
                    <a:ea typeface="黑体" panose="02010609060101010101" pitchFamily="49" charset="-122"/>
                  </a:rPr>
                  <a:t>3.4 </a:t>
                </a:r>
                <a:r>
                  <a:rPr lang="en-US" altLang="zh-CN" dirty="0">
                    <a:solidFill>
                      <a:sysClr val="windowText" lastClr="000000"/>
                    </a:solidFill>
                    <a:latin typeface="Arial" panose="020B0604020202020204" pitchFamily="34" charset="0"/>
                    <a:ea typeface="黑体" panose="02010609060101010101" pitchFamily="49" charset="-122"/>
                  </a:rPr>
                  <a:t>[</a:t>
                </a:r>
                <a:r>
                  <a:rPr lang="en-US" altLang="zh-CN" dirty="0" err="1">
                    <a:solidFill>
                      <a:sysClr val="windowText" lastClr="000000"/>
                    </a:solidFill>
                    <a:latin typeface="Arial" panose="020B0604020202020204" pitchFamily="34" charset="0"/>
                    <a:ea typeface="黑体" panose="02010609060101010101" pitchFamily="49" charset="-122"/>
                  </a:rPr>
                  <a:t>Massart</a:t>
                </a:r>
                <a:r>
                  <a:rPr lang="en-US" altLang="zh-CN" dirty="0">
                    <a:solidFill>
                      <a:sysClr val="windowText" lastClr="000000"/>
                    </a:solidFill>
                    <a:latin typeface="Arial" panose="020B0604020202020204" pitchFamily="34" charset="0"/>
                    <a:ea typeface="黑体" panose="02010609060101010101" pitchFamily="49" charset="-122"/>
                  </a:rPr>
                  <a:t> 2000] </a:t>
                </a:r>
                <a:r>
                  <a:rPr lang="zh-CN" altLang="en-US" dirty="0">
                    <a:solidFill>
                      <a:sysClr val="windowText" lastClr="000000"/>
                    </a:solidFill>
                    <a:latin typeface="Arial" panose="020B0604020202020204" pitchFamily="34" charset="0"/>
                    <a:ea typeface="黑体" panose="02010609060101010101" pitchFamily="49" charset="-122"/>
                  </a:rPr>
                  <a:t>令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𝐴</m:t>
                    </m:r>
                    <m:r>
                      <a:rPr lang="en-US" altLang="zh-CN" b="0" i="1" smtClean="0">
                        <a:solidFill>
                          <a:sysClr val="windowText" lastClr="000000"/>
                        </a:solidFill>
                        <a:latin typeface="Cambria Math" panose="02040503050406030204" pitchFamily="18" charset="0"/>
                        <a:ea typeface="Cambria Math" panose="02040503050406030204" pitchFamily="18" charset="0"/>
                      </a:rPr>
                      <m:t>⊂</m:t>
                    </m:r>
                    <m:sSup>
                      <m:sSupPr>
                        <m:ctrlPr>
                          <a:rPr lang="en-US" altLang="zh-CN" b="0" i="1" smtClean="0">
                            <a:solidFill>
                              <a:sysClr val="windowText" lastClr="000000"/>
                            </a:solidFill>
                            <a:latin typeface="Cambria Math" panose="02040503050406030204" pitchFamily="18" charset="0"/>
                            <a:ea typeface="Cambria Math" panose="02040503050406030204" pitchFamily="18" charset="0"/>
                          </a:rPr>
                        </m:ctrlPr>
                      </m:sSupPr>
                      <m:e>
                        <m:r>
                          <a:rPr lang="en-US" altLang="zh-CN" b="0" i="1" smtClean="0">
                            <a:solidFill>
                              <a:sysClr val="windowText" lastClr="000000"/>
                            </a:solidFill>
                            <a:latin typeface="Cambria Math" panose="02040503050406030204" pitchFamily="18" charset="0"/>
                            <a:ea typeface="Cambria Math" panose="02040503050406030204" pitchFamily="18" charset="0"/>
                          </a:rPr>
                          <m:t>ℝ</m:t>
                        </m:r>
                      </m:e>
                      <m:sup>
                        <m:r>
                          <a:rPr lang="en-US" altLang="zh-CN" b="0" i="1" smtClean="0">
                            <a:solidFill>
                              <a:sysClr val="windowText" lastClr="000000"/>
                            </a:solidFill>
                            <a:latin typeface="Cambria Math" panose="02040503050406030204" pitchFamily="18" charset="0"/>
                            <a:ea typeface="Cambria Math" panose="02040503050406030204" pitchFamily="18" charset="0"/>
                          </a:rPr>
                          <m:t>𝑚</m:t>
                        </m:r>
                      </m:sup>
                    </m:sSup>
                  </m:oMath>
                </a14:m>
                <a:r>
                  <a:rPr lang="zh-CN" altLang="en-US" dirty="0">
                    <a:solidFill>
                      <a:sysClr val="windowText" lastClr="000000"/>
                    </a:solidFill>
                    <a:latin typeface="Arial" panose="020B0604020202020204" pitchFamily="34" charset="0"/>
                    <a:ea typeface="黑体" panose="02010609060101010101" pitchFamily="49" charset="-122"/>
                  </a:rPr>
                  <a:t> 为有限集合且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𝑟</m:t>
                    </m:r>
                    <m:r>
                      <a:rPr lang="en-US" altLang="zh-CN" b="0" i="1" smtClean="0">
                        <a:solidFill>
                          <a:sysClr val="windowText" lastClr="000000"/>
                        </a:solidFill>
                        <a:latin typeface="Cambria Math" panose="02040503050406030204" pitchFamily="18" charset="0"/>
                        <a:ea typeface="黑体" panose="02010609060101010101" pitchFamily="49" charset="-122"/>
                      </a:rPr>
                      <m:t>=</m:t>
                    </m:r>
                    <m:func>
                      <m:funcPr>
                        <m:ctrlPr>
                          <a:rPr lang="en-US" altLang="zh-CN" b="0" i="1" smtClean="0">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b="0" i="1" smtClean="0">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b="0" i="0" smtClean="0">
                                <a:solidFill>
                                  <a:sysClr val="windowText" lastClr="000000"/>
                                </a:solidFill>
                                <a:latin typeface="Cambria Math" panose="02040503050406030204" pitchFamily="18" charset="0"/>
                                <a:ea typeface="黑体" panose="02010609060101010101" pitchFamily="49" charset="-122"/>
                              </a:rPr>
                              <m:t>max</m:t>
                            </m:r>
                          </m:e>
                          <m:lim>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黑体" panose="02010609060101010101" pitchFamily="49" charset="-122"/>
                              </a:rPr>
                              <m:t>𝐴</m:t>
                            </m:r>
                          </m:lim>
                        </m:limLow>
                      </m:fName>
                      <m:e>
                        <m:d>
                          <m:dPr>
                            <m:begChr m:val="‖"/>
                            <m:endChr m:val="‖"/>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1" i="1" smtClean="0">
                                <a:solidFill>
                                  <a:sysClr val="windowText" lastClr="000000"/>
                                </a:solidFill>
                                <a:latin typeface="Cambria Math" panose="02040503050406030204" pitchFamily="18" charset="0"/>
                                <a:ea typeface="黑体" panose="02010609060101010101" pitchFamily="49" charset="-122"/>
                              </a:rPr>
                              <m:t>𝒙</m:t>
                            </m:r>
                          </m:e>
                        </m:d>
                      </m:e>
                    </m:func>
                  </m:oMath>
                </a14:m>
                <a:r>
                  <a:rPr lang="en-US" altLang="zh-CN" dirty="0">
                    <a:solidFill>
                      <a:sysClr val="windowText" lastClr="000000"/>
                    </a:solidFill>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有</a:t>
                </a:r>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𝔼</m:t>
                          </m:r>
                        </m:e>
                        <m:sub>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sub>
                      </m:sSub>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den>
                          </m:f>
                          <m:func>
                            <m:func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funcPr>
                            <m:fName>
                              <m:limLow>
                                <m:limLow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limLowPr>
                                <m:e>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sup</m:t>
                                  </m:r>
                                </m:e>
                                <m:lim>
                                  <m:r>
                                    <a:rPr kumimoji="0" lang="en-US" altLang="zh-CN" sz="2000"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𝒙</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𝐴</m:t>
                                  </m:r>
                                </m:lim>
                              </m:limLow>
                            </m:fName>
                            <m:e>
                              <m:nary>
                                <m:naryPr>
                                  <m: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naryPr>
                                <m:sub>
                                  <m:r>
                                    <m:rPr>
                                      <m:brk m:alnAt="23"/>
                                    </m:r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=1</m:t>
                                  </m:r>
                                </m:sub>
                                <m:sup>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sup>
                                <m:e>
                                  <m:sSub>
                                    <m:sSub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sSubPr>
                                    <m:e>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𝜎</m:t>
                                      </m:r>
                                    </m:e>
                                    <m:sub>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𝑖</m:t>
                                      </m:r>
                                    </m:sub>
                                  </m:sSub>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a:solidFill>
                                            <a:sysClr val="windowText" lastClr="000000"/>
                                          </a:solidFill>
                                          <a:latin typeface="Cambria Math" panose="02040503050406030204" pitchFamily="18" charset="0"/>
                                          <a:ea typeface="黑体" panose="02010609060101010101" pitchFamily="49" charset="-122"/>
                                        </a:rPr>
                                        <m:t>𝑥</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e>
                              </m:nary>
                            </m:e>
                          </m:func>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𝑟</m:t>
                          </m:r>
                          <m:rad>
                            <m:radPr>
                              <m:degHide m:val="on"/>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2 </m:t>
                              </m:r>
                              <m:r>
                                <m:rPr>
                                  <m:sty m:val="p"/>
                                </m:rPr>
                                <a:rPr kumimoji="0" lang="en-US" altLang="zh-CN" sz="2000" b="0" i="0"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d>
                                <m:dPr>
                                  <m:begChr m:val="|"/>
                                  <m:endChr m:val="|"/>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𝐴</m:t>
                                  </m:r>
                                </m:e>
                              </m:d>
                            </m:e>
                          </m:rad>
                        </m:num>
                        <m:den>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r>
                  <a:rPr lang="zh-CN" altLang="en-US" dirty="0">
                    <a:solidFill>
                      <a:sysClr val="windowText" lastClr="000000"/>
                    </a:solidFill>
                    <a:latin typeface="Arial" panose="020B0604020202020204" pitchFamily="34" charset="0"/>
                    <a:ea typeface="黑体" panose="02010609060101010101" pitchFamily="49" charset="-122"/>
                  </a:rPr>
                  <a:t>其中 </a:t>
                </a:r>
                <a14:m>
                  <m:oMath xmlns:m="http://schemas.openxmlformats.org/officeDocument/2006/math">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1</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𝑥</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为 </a:t>
                </a:r>
                <a:r>
                  <a:rPr lang="en-US" altLang="zh-CN" dirty="0">
                    <a:solidFill>
                      <a:sysClr val="windowText" lastClr="000000"/>
                    </a:solidFill>
                    <a:latin typeface="Arial" panose="020B0604020202020204" pitchFamily="34" charset="0"/>
                    <a:ea typeface="黑体" panose="02010609060101010101" pitchFamily="49" charset="-122"/>
                  </a:rPr>
                  <a:t>Rademacher </a:t>
                </a:r>
                <a:r>
                  <a:rPr lang="zh-CN" altLang="en-US" dirty="0">
                    <a:solidFill>
                      <a:sysClr val="windowText" lastClr="000000"/>
                    </a:solidFill>
                    <a:latin typeface="Arial" panose="020B0604020202020204" pitchFamily="34" charset="0"/>
                    <a:ea typeface="黑体" panose="02010609060101010101" pitchFamily="49" charset="-122"/>
                  </a:rPr>
                  <a:t>随机变量。</a:t>
                </a:r>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nSpc>
                    <a:spcPct val="100000"/>
                  </a:lnSpc>
                  <a:spcBef>
                    <a:spcPts val="1000"/>
                  </a:spcBef>
                  <a:buClr>
                    <a:srgbClr val="16754D"/>
                  </a:buClr>
                  <a:buSzPct val="120000"/>
                  <a:buNone/>
                </a:pPr>
                <a:r>
                  <a:rPr lang="zh-CN" altLang="en-US" dirty="0">
                    <a:solidFill>
                      <a:sysClr val="windowText" lastClr="000000"/>
                    </a:solidFill>
                    <a:latin typeface="Arial" panose="020B0604020202020204" pitchFamily="34" charset="0"/>
                    <a:ea typeface="黑体" panose="02010609060101010101" pitchFamily="49" charset="-122"/>
                  </a:rPr>
                  <a:t>证明略。</a:t>
                </a:r>
                <a:r>
                  <a:rPr lang="zh-CN" altLang="en-US" sz="1800" dirty="0">
                    <a:solidFill>
                      <a:sysClr val="windowText" lastClr="000000"/>
                    </a:solidFill>
                    <a:latin typeface="Arial" panose="020B0604020202020204" pitchFamily="34" charset="0"/>
                    <a:ea typeface="黑体" panose="02010609060101010101" pitchFamily="49" charset="-122"/>
                  </a:rPr>
                  <a:t>详见 周志华等</a:t>
                </a:r>
                <a:r>
                  <a:rPr lang="en-US" altLang="zh-CN" sz="1800" dirty="0">
                    <a:solidFill>
                      <a:sysClr val="windowText" lastClr="000000"/>
                    </a:solidFill>
                    <a:latin typeface="Arial" panose="020B0604020202020204" pitchFamily="34" charset="0"/>
                    <a:ea typeface="黑体" panose="02010609060101010101" pitchFamily="49" charset="-122"/>
                  </a:rPr>
                  <a:t>, “</a:t>
                </a:r>
                <a:r>
                  <a:rPr lang="zh-CN" altLang="en-US" sz="1800" dirty="0">
                    <a:solidFill>
                      <a:sysClr val="windowText" lastClr="000000"/>
                    </a:solidFill>
                    <a:latin typeface="Arial" panose="020B0604020202020204" pitchFamily="34" charset="0"/>
                    <a:ea typeface="黑体" panose="02010609060101010101" pitchFamily="49" charset="-122"/>
                  </a:rPr>
                  <a:t>机器学习理论导引”</a:t>
                </a:r>
                <a:r>
                  <a:rPr lang="en-US" altLang="zh-CN" sz="1800" dirty="0">
                    <a:solidFill>
                      <a:sysClr val="windowText" lastClr="000000"/>
                    </a:solidFill>
                    <a:latin typeface="Arial" panose="020B0604020202020204" pitchFamily="34" charset="0"/>
                    <a:ea typeface="黑体" panose="02010609060101010101" pitchFamily="49" charset="-122"/>
                  </a:rPr>
                  <a:t>, 2020, </a:t>
                </a:r>
                <a:r>
                  <a:rPr lang="zh-CN" altLang="en-US" sz="1800" dirty="0">
                    <a:solidFill>
                      <a:sysClr val="windowText" lastClr="000000"/>
                    </a:solidFill>
                    <a:latin typeface="Arial" panose="020B0604020202020204" pitchFamily="34" charset="0"/>
                    <a:ea typeface="黑体" panose="02010609060101010101" pitchFamily="49" charset="-122"/>
                  </a:rPr>
                  <a:t>机械工业出版社</a:t>
                </a:r>
                <a:r>
                  <a:rPr lang="en-US" altLang="zh-CN" sz="1800" dirty="0">
                    <a:solidFill>
                      <a:sysClr val="windowText" lastClr="000000"/>
                    </a:solidFill>
                    <a:latin typeface="Arial" panose="020B0604020202020204" pitchFamily="34" charset="0"/>
                    <a:ea typeface="黑体" panose="02010609060101010101" pitchFamily="49" charset="-122"/>
                  </a:rPr>
                  <a:t>. Ch 3</a:t>
                </a:r>
                <a:endParaRPr lang="en-US" altLang="zh-CN" dirty="0">
                  <a:solidFill>
                    <a:sysClr val="windowText" lastClr="000000"/>
                  </a:solidFill>
                  <a:latin typeface="Arial" panose="020B0604020202020204" pitchFamily="34"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75500" y="1192607"/>
                <a:ext cx="8629650" cy="2334364"/>
              </a:xfrm>
              <a:prstGeom prst="rect">
                <a:avLst/>
              </a:prstGeom>
              <a:blipFill>
                <a:blip r:embed="rId2"/>
                <a:stretch>
                  <a:fillRect l="-919" t="-3394" b="-391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内容占位符 4">
                <a:extLst>
                  <a:ext uri="{FF2B5EF4-FFF2-40B4-BE49-F238E27FC236}">
                    <a16:creationId xmlns:a16="http://schemas.microsoft.com/office/drawing/2014/main" id="{67CF833D-EA2A-6AD0-11A2-7EFE7B7CD86D}"/>
                  </a:ext>
                </a:extLst>
              </p:cNvPr>
              <p:cNvSpPr txBox="1">
                <a:spLocks/>
              </p:cNvSpPr>
              <p:nvPr/>
            </p:nvSpPr>
            <p:spPr bwMode="auto">
              <a:xfrm>
                <a:off x="257175" y="3611931"/>
                <a:ext cx="8629650" cy="286270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342900" indent="-34290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lvl="1" indent="0" fontAlgn="base">
                  <a:spcAft>
                    <a:spcPct val="0"/>
                  </a:spcAft>
                  <a:buClr>
                    <a:srgbClr val="16754D"/>
                  </a:buClr>
                  <a:buSzPct val="120000"/>
                  <a:defRPr/>
                </a:pPr>
                <a:r>
                  <a:rPr lang="zh-CN" altLang="en-US" sz="2200" kern="0" dirty="0">
                    <a:solidFill>
                      <a:prstClr val="black"/>
                    </a:solidFill>
                    <a:latin typeface="Arial" panose="020B0604020202020204" pitchFamily="34" charset="0"/>
                    <a:ea typeface="黑体" panose="02010609060101010101" pitchFamily="49" charset="-122"/>
                  </a:rPr>
                  <a:t>定理 </a:t>
                </a:r>
                <a:r>
                  <a:rPr lang="en-US" altLang="zh-CN" sz="2200" kern="0" dirty="0">
                    <a:solidFill>
                      <a:prstClr val="black"/>
                    </a:solidFill>
                    <a:latin typeface="Arial" panose="020B0604020202020204" pitchFamily="34" charset="0"/>
                    <a:ea typeface="黑体" panose="02010609060101010101" pitchFamily="49" charset="-122"/>
                  </a:rPr>
                  <a:t>12.7</a:t>
                </a:r>
                <a:r>
                  <a:rPr lang="zh-CN" altLang="en-US" sz="2200" kern="0" dirty="0">
                    <a:solidFill>
                      <a:prstClr val="black"/>
                    </a:solidFill>
                    <a:latin typeface="Arial" panose="020B0604020202020204" pitchFamily="34" charset="0"/>
                    <a:ea typeface="黑体" panose="02010609060101010101" pitchFamily="49" charset="-122"/>
                  </a:rPr>
                  <a:t> </a:t>
                </a:r>
                <a:r>
                  <a:rPr lang="zh-CN" altLang="en-US" sz="2000" kern="0" dirty="0">
                    <a:solidFill>
                      <a:prstClr val="black"/>
                    </a:solidFill>
                    <a:latin typeface="Arial" panose="020B0604020202020204" pitchFamily="34" charset="0"/>
                    <a:ea typeface="黑体" panose="02010609060101010101" pitchFamily="49" charset="-122"/>
                  </a:rPr>
                  <a:t>假设空间 </a:t>
                </a:r>
                <a:r>
                  <a:rPr lang="en-US" altLang="zh-CN" sz="2000" kern="0" dirty="0">
                    <a:solidFill>
                      <a:prstClr val="black"/>
                    </a:solidFill>
                    <a:latin typeface="Arial" panose="020B0604020202020204" pitchFamily="34" charset="0"/>
                    <a:ea typeface="黑体" panose="02010609060101010101" pitchFamily="49" charset="-122"/>
                  </a:rPr>
                  <a:t>ℋ </a:t>
                </a:r>
                <a:r>
                  <a:rPr lang="zh-CN" altLang="en-US" sz="2000" kern="0" dirty="0">
                    <a:solidFill>
                      <a:prstClr val="black"/>
                    </a:solidFill>
                    <a:latin typeface="Arial" panose="020B0604020202020204" pitchFamily="34" charset="0"/>
                    <a:ea typeface="黑体" panose="02010609060101010101" pitchFamily="49" charset="-122"/>
                  </a:rPr>
                  <a:t>的 </a:t>
                </a:r>
                <a:r>
                  <a:rPr lang="en-US" altLang="zh-CN" sz="2000" kern="0" dirty="0">
                    <a:solidFill>
                      <a:prstClr val="black"/>
                    </a:solidFill>
                    <a:latin typeface="Arial" panose="020B0604020202020204" pitchFamily="34" charset="0"/>
                    <a:ea typeface="黑体" panose="02010609060101010101" pitchFamily="49" charset="-122"/>
                  </a:rPr>
                  <a:t>Rademacher </a:t>
                </a:r>
                <a:r>
                  <a:rPr lang="zh-CN" altLang="en-US" sz="2000" kern="0" dirty="0">
                    <a:solidFill>
                      <a:prstClr val="black"/>
                    </a:solidFill>
                    <a:latin typeface="Arial" panose="020B0604020202020204" pitchFamily="34" charset="0"/>
                    <a:ea typeface="黑体" panose="02010609060101010101" pitchFamily="49" charset="-122"/>
                  </a:rPr>
                  <a:t>复杂度与增长函数 </a:t>
                </a:r>
                <a14:m>
                  <m:oMath xmlns:m="http://schemas.openxmlformats.org/officeDocument/2006/math">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smtClean="0">
                            <a:solidFill>
                              <a:prstClr val="black"/>
                            </a:solidFill>
                            <a:latin typeface="Cambria Math" panose="02040503050406030204" pitchFamily="18" charset="0"/>
                            <a:ea typeface="Cambria Math" panose="02040503050406030204" pitchFamily="18" charset="0"/>
                          </a:rPr>
                          <m:t>Π</m:t>
                        </m:r>
                      </m:e>
                      <m:sub>
                        <m:r>
                          <a:rPr lang="en-US" altLang="zh-CN" sz="2000" i="1" kern="0" smtClean="0">
                            <a:solidFill>
                              <a:prstClr val="black"/>
                            </a:solidFill>
                            <a:latin typeface="Cambria Math" panose="02040503050406030204" pitchFamily="18" charset="0"/>
                            <a:ea typeface="Cambria Math" panose="02040503050406030204" pitchFamily="18" charset="0"/>
                          </a:rPr>
                          <m:t>ℋ</m:t>
                        </m:r>
                      </m:sub>
                    </m:s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𝑚</m:t>
                    </m:r>
                    <m:r>
                      <a:rPr lang="en-US" altLang="zh-CN" sz="2000" b="0" i="1" kern="0" smtClean="0">
                        <a:solidFill>
                          <a:prstClr val="black"/>
                        </a:solidFill>
                        <a:latin typeface="Cambria Math" panose="02040503050406030204" pitchFamily="18" charset="0"/>
                        <a:ea typeface="黑体" panose="02010609060101010101" pitchFamily="49" charset="-122"/>
                      </a:rPr>
                      <m:t>)</m:t>
                    </m:r>
                  </m:oMath>
                </a14:m>
                <a:r>
                  <a:rPr lang="zh-CN" altLang="en-US" sz="2000" kern="0" dirty="0">
                    <a:solidFill>
                      <a:prstClr val="black"/>
                    </a:solidFill>
                    <a:latin typeface="Arial" panose="020B0604020202020204" pitchFamily="34" charset="0"/>
                    <a:ea typeface="黑体" panose="02010609060101010101" pitchFamily="49" charset="-122"/>
                  </a:rPr>
                  <a:t> 之间满足</a:t>
                </a:r>
                <a:endParaRPr lang="en-US" altLang="zh-CN" sz="2000" kern="0" dirty="0">
                  <a:solidFill>
                    <a:prstClr val="black"/>
                  </a:solidFill>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14:m>
                  <m:oMathPara xmlns:m="http://schemas.openxmlformats.org/officeDocument/2006/math">
                    <m:oMathParaPr>
                      <m:jc m:val="centerGroup"/>
                    </m:oMathParaPr>
                    <m:oMath xmlns:m="http://schemas.openxmlformats.org/officeDocument/2006/math">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ℜ</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b>
                      </m:s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m:rPr>
                          <m:nor/>
                        </m:rPr>
                        <a:rPr lang="en-US" altLang="zh-CN" sz="2000" kern="0" dirty="0">
                          <a:solidFill>
                            <a:prstClr val="black"/>
                          </a:solidFill>
                          <a:latin typeface="Arial" panose="020B0604020202020204" pitchFamily="34" charset="0"/>
                          <a:ea typeface="黑体" panose="02010609060101010101" pitchFamily="49" charset="-122"/>
                        </a:rPr>
                        <m:t>ℋ</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rad>
                        <m:radPr>
                          <m:degHide m:val="on"/>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radPr>
                        <m:deg/>
                        <m:e>
                          <m:f>
                            <m:f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Pr>
                            <m:num>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2</m:t>
                              </m:r>
                              <m:func>
                                <m:func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sz="2000" b="0" i="0"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𝑚</m:t>
                                  </m:r>
                                  <m:r>
                                    <a:rPr lang="en-US" altLang="zh-CN" sz="2000" i="1" kern="0">
                                      <a:solidFill>
                                        <a:prstClr val="black"/>
                                      </a:solidFill>
                                      <a:latin typeface="Cambria Math" panose="02040503050406030204" pitchFamily="18" charset="0"/>
                                      <a:ea typeface="黑体" panose="02010609060101010101" pitchFamily="49" charset="-122"/>
                                    </a:rPr>
                                    <m:t>)</m:t>
                                  </m:r>
                                </m:e>
                              </m:func>
                            </m:num>
                            <m:den>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𝑚</m:t>
                              </m:r>
                            </m:den>
                          </m:f>
                        </m:e>
                      </m:rad>
                    </m:oMath>
                  </m:oMathPara>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证明：由定理 </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3.4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可得</a:t>
                </a: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ℜ</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𝑚</m:t>
                        </m:r>
                      </m:sub>
                    </m:sSub>
                    <m:d>
                      <m:d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m:rPr>
                            <m:nor/>
                          </m:rPr>
                          <a:rPr lang="en-US" altLang="zh-CN" sz="2000" kern="0" dirty="0">
                            <a:solidFill>
                              <a:prstClr val="black"/>
                            </a:solidFill>
                            <a:latin typeface="Arial" panose="020B0604020202020204" pitchFamily="34" charset="0"/>
                            <a:ea typeface="黑体" panose="02010609060101010101" pitchFamily="49" charset="-122"/>
                          </a:rPr>
                          <m:t>ℋ</m:t>
                        </m:r>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𝔼</m:t>
                        </m:r>
                      </m:e>
                      <m:sub>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𝐷</m:t>
                        </m:r>
                      </m:sub>
                    </m:sSub>
                    <m:d>
                      <m:dPr>
                        <m:begChr m:val="["/>
                        <m:endChr m:val="]"/>
                        <m:ctrlP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zh-CN" altLang="en-US" sz="2000" i="1" kern="0" smtClean="0">
                                <a:solidFill>
                                  <a:prstClr val="black"/>
                                </a:solidFill>
                                <a:latin typeface="Cambria Math" panose="02040503050406030204" pitchFamily="18" charset="0"/>
                                <a:ea typeface="黑体" panose="02010609060101010101" pitchFamily="49" charset="-122"/>
                              </a:rPr>
                              <m:t>𝜎</m:t>
                            </m:r>
                          </m:sub>
                        </m:sSub>
                        <m:d>
                          <m:dPr>
                            <m:begChr m:val="["/>
                            <m:endChr m:val="]"/>
                            <m:ctrlPr>
                              <a:rPr lang="en-US" altLang="zh-CN" sz="2000" i="1" kern="0" smtClean="0">
                                <a:solidFill>
                                  <a:prstClr val="black"/>
                                </a:solidFill>
                                <a:latin typeface="Cambria Math" panose="02040503050406030204" pitchFamily="18" charset="0"/>
                                <a:ea typeface="黑体" panose="02010609060101010101" pitchFamily="49" charset="-122"/>
                              </a:rPr>
                            </m:ctrlPr>
                          </m:dPr>
                          <m:e>
                            <m:func>
                              <m:funcPr>
                                <m:ctrlPr>
                                  <a:rPr lang="en-US" altLang="zh-CN" sz="2000" i="1" kern="0" smtClean="0">
                                    <a:solidFill>
                                      <a:prstClr val="black"/>
                                    </a:solidFill>
                                    <a:latin typeface="Cambria Math" panose="02040503050406030204" pitchFamily="18" charset="0"/>
                                    <a:ea typeface="黑体" panose="02010609060101010101" pitchFamily="49" charset="-122"/>
                                  </a:rPr>
                                </m:ctrlPr>
                              </m:funcPr>
                              <m:fName>
                                <m:limLow>
                                  <m:limLowPr>
                                    <m:ctrlPr>
                                      <a:rPr lang="en-US" altLang="zh-CN" sz="2000" i="1" kern="0" smtClean="0">
                                        <a:solidFill>
                                          <a:prstClr val="black"/>
                                        </a:solidFill>
                                        <a:latin typeface="Cambria Math" panose="02040503050406030204" pitchFamily="18" charset="0"/>
                                        <a:ea typeface="黑体" panose="02010609060101010101" pitchFamily="49" charset="-122"/>
                                      </a:rPr>
                                    </m:ctrlPr>
                                  </m:limLowPr>
                                  <m:e>
                                    <m:r>
                                      <m:rPr>
                                        <m:sty m:val="p"/>
                                      </m:rPr>
                                      <a:rPr lang="en-US" altLang="zh-CN" sz="2000" b="0" i="0" kern="0" smtClean="0">
                                        <a:solidFill>
                                          <a:prstClr val="black"/>
                                        </a:solidFill>
                                        <a:latin typeface="Cambria Math" panose="02040503050406030204" pitchFamily="18" charset="0"/>
                                        <a:ea typeface="黑体" panose="02010609060101010101" pitchFamily="49" charset="-122"/>
                                      </a:rPr>
                                      <m:t>sup</m:t>
                                    </m:r>
                                  </m:e>
                                  <m:lim>
                                    <m:r>
                                      <a:rPr lang="en-US" altLang="zh-CN" sz="2000" b="0" i="1" kern="0" smtClean="0">
                                        <a:solidFill>
                                          <a:prstClr val="black"/>
                                        </a:solidFill>
                                        <a:latin typeface="Cambria Math" panose="02040503050406030204" pitchFamily="18" charset="0"/>
                                        <a:ea typeface="黑体" panose="02010609060101010101" pitchFamily="49" charset="-122"/>
                                      </a:rPr>
                                      <m:t>𝑢</m:t>
                                    </m:r>
                                    <m:r>
                                      <a:rPr lang="en-US" altLang="zh-CN" sz="2000" b="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b="0" i="1" kern="0" smtClean="0">
                                            <a:solidFill>
                                              <a:prstClr val="black"/>
                                            </a:solidFill>
                                            <a:latin typeface="Cambria Math" panose="02040503050406030204" pitchFamily="18" charset="0"/>
                                            <a:ea typeface="Cambria Math" panose="02040503050406030204" pitchFamily="18" charset="0"/>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Cambria Math" panose="02040503050406030204" pitchFamily="18" charset="0"/>
                                          </a:rPr>
                                          <m:t>|</m:t>
                                        </m:r>
                                        <m:r>
                                          <a:rPr lang="en-US" altLang="zh-CN" sz="2000" b="0" i="1" kern="0" smtClean="0">
                                            <a:solidFill>
                                              <a:prstClr val="black"/>
                                            </a:solidFill>
                                            <a:latin typeface="Cambria Math" panose="02040503050406030204" pitchFamily="18" charset="0"/>
                                            <a:ea typeface="Cambria Math" panose="02040503050406030204" pitchFamily="18" charset="0"/>
                                          </a:rPr>
                                          <m:t>𝐷</m:t>
                                        </m:r>
                                      </m:sub>
                                    </m:sSub>
                                  </m:lim>
                                </m:limLow>
                              </m:fName>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
                                      <a:rPr lang="en-US" altLang="zh-CN" sz="2000" b="0" i="1" kern="0" smtClean="0">
                                        <a:solidFill>
                                          <a:prstClr val="black"/>
                                        </a:solidFill>
                                        <a:latin typeface="Cambria Math" panose="02040503050406030204" pitchFamily="18" charset="0"/>
                                        <a:ea typeface="黑体" panose="02010609060101010101" pitchFamily="49" charset="-122"/>
                                      </a:rPr>
                                      <m:t>1</m:t>
                                    </m:r>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nary>
                                  <m:naryPr>
                                    <m:chr m:val="∑"/>
                                    <m:ctrlPr>
                                      <a:rPr lang="en-US" altLang="zh-CN" sz="2000" i="1" kern="0" smtClean="0">
                                        <a:solidFill>
                                          <a:prstClr val="black"/>
                                        </a:solidFill>
                                        <a:latin typeface="Cambria Math" panose="02040503050406030204" pitchFamily="18" charset="0"/>
                                        <a:ea typeface="黑体" panose="02010609060101010101" pitchFamily="49" charset="-122"/>
                                      </a:rPr>
                                    </m:ctrlPr>
                                  </m:naryPr>
                                  <m:sub>
                                    <m:r>
                                      <m:rPr>
                                        <m:brk m:alnAt="23"/>
                                      </m:rPr>
                                      <a:rPr lang="en-US" altLang="zh-CN" sz="2000" b="0" i="1" kern="0" smtClean="0">
                                        <a:solidFill>
                                          <a:prstClr val="black"/>
                                        </a:solidFill>
                                        <a:latin typeface="Cambria Math" panose="02040503050406030204" pitchFamily="18" charset="0"/>
                                        <a:ea typeface="黑体" panose="02010609060101010101" pitchFamily="49" charset="-122"/>
                                      </a:rPr>
                                      <m:t>𝑖</m:t>
                                    </m:r>
                                    <m:r>
                                      <a:rPr lang="en-US" altLang="zh-CN" sz="2000" b="0" i="1" kern="0" smtClean="0">
                                        <a:solidFill>
                                          <a:prstClr val="black"/>
                                        </a:solidFill>
                                        <a:latin typeface="Cambria Math" panose="02040503050406030204" pitchFamily="18" charset="0"/>
                                        <a:ea typeface="黑体" panose="02010609060101010101" pitchFamily="49" charset="-122"/>
                                      </a:rPr>
                                      <m:t>=1</m:t>
                                    </m:r>
                                  </m:sub>
                                  <m:sup>
                                    <m:r>
                                      <a:rPr lang="en-US" altLang="zh-CN" sz="2000" b="0" i="1" kern="0" smtClean="0">
                                        <a:solidFill>
                                          <a:prstClr val="black"/>
                                        </a:solidFill>
                                        <a:latin typeface="Cambria Math" panose="02040503050406030204" pitchFamily="18" charset="0"/>
                                        <a:ea typeface="黑体" panose="02010609060101010101" pitchFamily="49" charset="-122"/>
                                      </a:rPr>
                                      <m:t>𝑚</m:t>
                                    </m:r>
                                  </m:sup>
                                  <m:e>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a:rPr lang="zh-CN" altLang="en-US" sz="2000" i="1" kern="0" smtClean="0">
                                            <a:solidFill>
                                              <a:prstClr val="black"/>
                                            </a:solidFill>
                                            <a:latin typeface="Cambria Math" panose="02040503050406030204" pitchFamily="18" charset="0"/>
                                            <a:ea typeface="黑体" panose="02010609060101010101" pitchFamily="49" charset="-122"/>
                                          </a:rPr>
                                          <m:t>𝜎</m:t>
                                        </m:r>
                                      </m:e>
                                      <m:sub>
                                        <m:r>
                                          <a:rPr lang="en-US" altLang="zh-CN" sz="2000" b="0" i="1" kern="0" smtClean="0">
                                            <a:solidFill>
                                              <a:prstClr val="black"/>
                                            </a:solidFill>
                                            <a:latin typeface="Cambria Math" panose="02040503050406030204" pitchFamily="18" charset="0"/>
                                            <a:ea typeface="黑体" panose="02010609060101010101" pitchFamily="49" charset="-122"/>
                                          </a:rPr>
                                          <m:t>𝑖</m:t>
                                        </m:r>
                                      </m:sub>
                                    </m:sSub>
                                    <m:sSub>
                                      <m:sSubPr>
                                        <m:ctrlPr>
                                          <a:rPr lang="en-US" altLang="zh-CN" sz="200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黑体" panose="02010609060101010101" pitchFamily="49" charset="-122"/>
                                          </a:rPr>
                                          <m:t>𝑢</m:t>
                                        </m:r>
                                      </m:e>
                                      <m:sub>
                                        <m:r>
                                          <a:rPr lang="en-US" altLang="zh-CN" sz="2000" b="0" i="1" kern="0" smtClean="0">
                                            <a:solidFill>
                                              <a:prstClr val="black"/>
                                            </a:solidFill>
                                            <a:latin typeface="Cambria Math" panose="02040503050406030204" pitchFamily="18" charset="0"/>
                                            <a:ea typeface="黑体" panose="02010609060101010101" pitchFamily="49" charset="-122"/>
                                          </a:rPr>
                                          <m:t>𝑖</m:t>
                                        </m:r>
                                      </m:sub>
                                    </m:sSub>
                                  </m:e>
                                </m:nary>
                              </m:e>
                            </m:func>
                          </m:e>
                        </m:d>
                      </m:e>
                    </m:d>
                    <m:r>
                      <a:rPr kumimoji="0" lang="en-US" altLang="zh-CN" sz="2000" b="0" i="1" u="none" strike="noStrike" kern="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en-US" altLang="zh-CN" sz="2000" i="1" kern="0">
                            <a:solidFill>
                              <a:prstClr val="black"/>
                            </a:solidFill>
                            <a:latin typeface="Cambria Math" panose="02040503050406030204" pitchFamily="18" charset="0"/>
                            <a:ea typeface="黑体" panose="02010609060101010101" pitchFamily="49" charset="-122"/>
                          </a:rPr>
                          <m:t>𝐷</m:t>
                        </m:r>
                      </m:sub>
                    </m:sSub>
                    <m:d>
                      <m:dPr>
                        <m:begChr m:val="["/>
                        <m:endChr m:val="]"/>
                        <m:ctrlPr>
                          <a:rPr lang="en-US" altLang="zh-CN" sz="2000" i="1" kern="0" smtClean="0">
                            <a:solidFill>
                              <a:prstClr val="black"/>
                            </a:solidFill>
                            <a:latin typeface="Cambria Math" panose="02040503050406030204" pitchFamily="18" charset="0"/>
                            <a:ea typeface="黑体" panose="02010609060101010101" pitchFamily="49" charset="-122"/>
                          </a:rPr>
                        </m:ctrlPr>
                      </m:dPr>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r>
                                  <a:rPr lang="en-US" altLang="zh-CN" sz="2000" b="0" i="1" kern="0" smtClean="0">
                                    <a:solidFill>
                                      <a:prstClr val="black"/>
                                    </a:solidFill>
                                    <a:latin typeface="Cambria Math" panose="02040503050406030204" pitchFamily="18" charset="0"/>
                                    <a:ea typeface="黑体" panose="02010609060101010101" pitchFamily="49" charset="-122"/>
                                  </a:rPr>
                                  <m:t>𝑚</m:t>
                                </m:r>
                              </m:e>
                            </m:rad>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r>
                                  <a:rPr lang="en-US" altLang="zh-CN" sz="2000" b="0" i="1" kern="0" smtClean="0">
                                    <a:solidFill>
                                      <a:prstClr val="black"/>
                                    </a:solidFill>
                                    <a:latin typeface="Cambria Math" panose="02040503050406030204" pitchFamily="18" charset="0"/>
                                    <a:ea typeface="黑体" panose="02010609060101010101" pitchFamily="49" charset="-122"/>
                                  </a:rPr>
                                  <m:t>2</m:t>
                                </m:r>
                                <m:func>
                                  <m:funcPr>
                                    <m:ctrlPr>
                                      <a:rPr lang="en-US" altLang="zh-CN" sz="2000" b="0" i="1" kern="0" smtClean="0">
                                        <a:solidFill>
                                          <a:prstClr val="black"/>
                                        </a:solidFill>
                                        <a:latin typeface="Cambria Math" panose="02040503050406030204" pitchFamily="18" charset="0"/>
                                        <a:ea typeface="黑体" panose="02010609060101010101" pitchFamily="49" charset="-122"/>
                                      </a:rPr>
                                    </m:ctrlPr>
                                  </m:funcPr>
                                  <m:fName>
                                    <m:r>
                                      <m:rPr>
                                        <m:sty m:val="p"/>
                                      </m:rPr>
                                      <a:rPr lang="en-US" altLang="zh-CN" sz="2000" b="0" i="0" kern="0" smtClean="0">
                                        <a:solidFill>
                                          <a:prstClr val="black"/>
                                        </a:solidFill>
                                        <a:latin typeface="Cambria Math" panose="02040503050406030204" pitchFamily="18" charset="0"/>
                                        <a:ea typeface="黑体" panose="02010609060101010101" pitchFamily="49" charset="-122"/>
                                      </a:rPr>
                                      <m:t>ln</m:t>
                                    </m:r>
                                  </m:fName>
                                  <m:e>
                                    <m:d>
                                      <m:dPr>
                                        <m:begChr m:val="|"/>
                                        <m:endChr m:val="|"/>
                                        <m:ctrlPr>
                                          <a:rPr lang="en-US" altLang="zh-CN" sz="2000" b="0" i="1" kern="0" smtClean="0">
                                            <a:solidFill>
                                              <a:prstClr val="black"/>
                                            </a:solidFill>
                                            <a:latin typeface="Cambria Math" panose="02040503050406030204" pitchFamily="18" charset="0"/>
                                            <a:ea typeface="黑体" panose="02010609060101010101" pitchFamily="49" charset="-122"/>
                                          </a:rPr>
                                        </m:ctrlPr>
                                      </m:dPr>
                                      <m:e>
                                        <m:sSub>
                                          <m:sSubPr>
                                            <m:ctrlPr>
                                              <a:rPr lang="en-US" altLang="zh-CN" sz="2000" b="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𝐷</m:t>
                                            </m:r>
                                          </m:sub>
                                        </m:sSub>
                                      </m:e>
                                    </m:d>
                                  </m:e>
                                </m:func>
                              </m:e>
                            </m:rad>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e>
                    </m:d>
                  </m:oMath>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fontAlgn="base">
                  <a:spcAft>
                    <a:spcPct val="0"/>
                  </a:spcAft>
                  <a:buClr>
                    <a:srgbClr val="16754D"/>
                  </a:buClr>
                  <a:buSzPct val="120000"/>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又因为 </a:t>
                </a:r>
                <a14:m>
                  <m:oMath xmlns:m="http://schemas.openxmlformats.org/officeDocument/2006/math">
                    <m:sSub>
                      <m:sSubPr>
                        <m:ctrlPr>
                          <a:rPr lang="en-US" altLang="zh-CN" sz="2000" b="0" i="1" kern="0" smtClean="0">
                            <a:solidFill>
                              <a:prstClr val="black"/>
                            </a:solidFill>
                            <a:latin typeface="Cambria Math" panose="02040503050406030204" pitchFamily="18" charset="0"/>
                            <a:ea typeface="黑体" panose="02010609060101010101" pitchFamily="49" charset="-122"/>
                          </a:rPr>
                        </m:ctrlPr>
                      </m:sSubPr>
                      <m:e>
                        <m:r>
                          <a:rPr lang="en-US" altLang="zh-CN" sz="2000" b="0" i="1" kern="0" smtClean="0">
                            <a:solidFill>
                              <a:prstClr val="black"/>
                            </a:solidFill>
                            <a:latin typeface="Cambria Math" panose="02040503050406030204" pitchFamily="18" charset="0"/>
                            <a:ea typeface="Cambria Math" panose="02040503050406030204" pitchFamily="18" charset="0"/>
                          </a:rPr>
                          <m:t>ℋ</m:t>
                        </m:r>
                      </m:e>
                      <m:sub>
                        <m:r>
                          <a:rPr lang="en-US" altLang="zh-CN" sz="2000" b="0" i="1" kern="0" smtClean="0">
                            <a:solidFill>
                              <a:prstClr val="black"/>
                            </a:solidFill>
                            <a:latin typeface="Cambria Math" panose="02040503050406030204" pitchFamily="18" charset="0"/>
                            <a:ea typeface="黑体" panose="02010609060101010101" pitchFamily="49" charset="-122"/>
                          </a:rPr>
                          <m:t>|</m:t>
                        </m:r>
                        <m:r>
                          <a:rPr lang="en-US" altLang="zh-CN" sz="2000" b="0" i="1" kern="0" smtClean="0">
                            <a:solidFill>
                              <a:prstClr val="black"/>
                            </a:solidFill>
                            <a:latin typeface="Cambria Math" panose="02040503050406030204" pitchFamily="18" charset="0"/>
                            <a:ea typeface="黑体" panose="02010609060101010101" pitchFamily="49" charset="-122"/>
                          </a:rPr>
                          <m:t>𝐷</m:t>
                        </m:r>
                      </m:sub>
                    </m:sSub>
                    <m:r>
                      <a:rPr lang="en-US" altLang="zh-CN" sz="2000" b="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r>
                      <a:rPr lang="en-US" altLang="zh-CN" sz="2000" i="1" kern="0">
                        <a:solidFill>
                          <a:prstClr val="black"/>
                        </a:solidFill>
                        <a:latin typeface="Cambria Math" panose="02040503050406030204" pitchFamily="18" charset="0"/>
                        <a:ea typeface="黑体" panose="02010609060101010101" pitchFamily="49" charset="-122"/>
                      </a:rPr>
                      <m:t>(</m:t>
                    </m:r>
                    <m:r>
                      <a:rPr lang="en-US" altLang="zh-CN" sz="2000" i="1" kern="0">
                        <a:solidFill>
                          <a:prstClr val="black"/>
                        </a:solidFill>
                        <a:latin typeface="Cambria Math" panose="02040503050406030204" pitchFamily="18" charset="0"/>
                        <a:ea typeface="黑体" panose="02010609060101010101" pitchFamily="49" charset="-122"/>
                      </a:rPr>
                      <m:t>𝑚</m:t>
                    </m:r>
                    <m:r>
                      <a:rPr lang="en-US" altLang="zh-CN" sz="2000" i="1" kern="0">
                        <a:solidFill>
                          <a:prstClr val="black"/>
                        </a:solidFill>
                        <a:latin typeface="Cambria Math" panose="02040503050406030204" pitchFamily="18" charset="0"/>
                        <a:ea typeface="黑体" panose="02010609060101010101" pitchFamily="49" charset="-122"/>
                      </a:rPr>
                      <m:t>)</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有 </a:t>
                </a:r>
                <a14:m>
                  <m:oMath xmlns:m="http://schemas.openxmlformats.org/officeDocument/2006/math">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en-US" altLang="zh-CN" sz="2000" i="1" kern="0">
                            <a:solidFill>
                              <a:prstClr val="black"/>
                            </a:solidFill>
                            <a:latin typeface="Cambria Math" panose="02040503050406030204" pitchFamily="18" charset="0"/>
                            <a:ea typeface="Cambria Math" panose="02040503050406030204" pitchFamily="18" charset="0"/>
                          </a:rPr>
                          <m:t>ℜ</m:t>
                        </m:r>
                      </m:e>
                      <m:sub>
                        <m:r>
                          <a:rPr lang="en-US" altLang="zh-CN" sz="2000" i="1" kern="0">
                            <a:solidFill>
                              <a:prstClr val="black"/>
                            </a:solidFill>
                            <a:latin typeface="Cambria Math" panose="02040503050406030204" pitchFamily="18" charset="0"/>
                            <a:ea typeface="黑体" panose="02010609060101010101" pitchFamily="49" charset="-122"/>
                          </a:rPr>
                          <m:t>𝑚</m:t>
                        </m:r>
                      </m:sub>
                    </m:sSub>
                    <m:d>
                      <m:dPr>
                        <m:ctrlPr>
                          <a:rPr lang="en-US" altLang="zh-CN" sz="2000" i="1" kern="0">
                            <a:solidFill>
                              <a:prstClr val="black"/>
                            </a:solidFill>
                            <a:latin typeface="Cambria Math" panose="02040503050406030204" pitchFamily="18" charset="0"/>
                            <a:ea typeface="黑体" panose="02010609060101010101" pitchFamily="49" charset="-122"/>
                          </a:rPr>
                        </m:ctrlPr>
                      </m:dPr>
                      <m:e>
                        <m:r>
                          <m:rPr>
                            <m:nor/>
                          </m:rPr>
                          <a:rPr lang="en-US" altLang="zh-CN" sz="2000" kern="0" dirty="0">
                            <a:solidFill>
                              <a:prstClr val="black"/>
                            </a:solidFill>
                            <a:latin typeface="Arial" panose="020B0604020202020204" pitchFamily="34" charset="0"/>
                            <a:ea typeface="黑体" panose="02010609060101010101" pitchFamily="49" charset="-122"/>
                          </a:rPr>
                          <m:t>ℋ</m:t>
                        </m:r>
                      </m:e>
                    </m:d>
                    <m:r>
                      <a:rPr lang="en-US" altLang="zh-CN" sz="2000" i="1" kern="0" smtClean="0">
                        <a:solidFill>
                          <a:prstClr val="black"/>
                        </a:solidFill>
                        <a:latin typeface="Cambria Math" panose="02040503050406030204" pitchFamily="18" charset="0"/>
                        <a:ea typeface="Cambria Math" panose="02040503050406030204" pitchFamily="18" charset="0"/>
                      </a:rPr>
                      <m:t>≤</m:t>
                    </m:r>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a:rPr lang="zh-CN" altLang="en-US" sz="2000" i="1" kern="0">
                            <a:solidFill>
                              <a:prstClr val="black"/>
                            </a:solidFill>
                            <a:latin typeface="Cambria Math" panose="02040503050406030204" pitchFamily="18" charset="0"/>
                            <a:ea typeface="黑体" panose="02010609060101010101" pitchFamily="49" charset="-122"/>
                          </a:rPr>
                          <m:t>𝔼</m:t>
                        </m:r>
                      </m:e>
                      <m:sub>
                        <m:r>
                          <a:rPr lang="en-US" altLang="zh-CN" sz="2000" i="1" kern="0">
                            <a:solidFill>
                              <a:prstClr val="black"/>
                            </a:solidFill>
                            <a:latin typeface="Cambria Math" panose="02040503050406030204" pitchFamily="18" charset="0"/>
                            <a:ea typeface="黑体" panose="02010609060101010101" pitchFamily="49" charset="-122"/>
                          </a:rPr>
                          <m:t>𝐷</m:t>
                        </m:r>
                      </m:sub>
                    </m:sSub>
                    <m:d>
                      <m:dPr>
                        <m:begChr m:val="["/>
                        <m:endChr m:val="]"/>
                        <m:ctrlPr>
                          <a:rPr lang="en-US" altLang="zh-CN" sz="2000" i="1" kern="0">
                            <a:solidFill>
                              <a:prstClr val="black"/>
                            </a:solidFill>
                            <a:latin typeface="Cambria Math" panose="02040503050406030204" pitchFamily="18" charset="0"/>
                            <a:ea typeface="黑体" panose="02010609060101010101" pitchFamily="49" charset="-122"/>
                          </a:rPr>
                        </m:ctrlPr>
                      </m:dPr>
                      <m:e>
                        <m:f>
                          <m:fPr>
                            <m:ctrlPr>
                              <a:rPr lang="en-US" altLang="zh-CN" sz="2000" i="1" kern="0">
                                <a:solidFill>
                                  <a:prstClr val="black"/>
                                </a:solidFill>
                                <a:latin typeface="Cambria Math" panose="02040503050406030204" pitchFamily="18" charset="0"/>
                                <a:ea typeface="黑体" panose="02010609060101010101" pitchFamily="49" charset="-122"/>
                              </a:rPr>
                            </m:ctrlPr>
                          </m:fPr>
                          <m:num>
                            <m:rad>
                              <m:radPr>
                                <m:degHide m:val="on"/>
                                <m:ctrlPr>
                                  <a:rPr lang="en-US" altLang="zh-CN" sz="2000" i="1" kern="0">
                                    <a:solidFill>
                                      <a:prstClr val="black"/>
                                    </a:solidFill>
                                    <a:latin typeface="Cambria Math" panose="02040503050406030204" pitchFamily="18" charset="0"/>
                                    <a:ea typeface="黑体" panose="02010609060101010101" pitchFamily="49" charset="-122"/>
                                  </a:rPr>
                                </m:ctrlPr>
                              </m:radPr>
                              <m:deg/>
                              <m:e>
                                <m:r>
                                  <a:rPr lang="en-US" altLang="zh-CN" sz="2000" i="1" kern="0">
                                    <a:solidFill>
                                      <a:prstClr val="black"/>
                                    </a:solidFill>
                                    <a:latin typeface="Cambria Math" panose="02040503050406030204" pitchFamily="18" charset="0"/>
                                    <a:ea typeface="黑体" panose="02010609060101010101" pitchFamily="49" charset="-122"/>
                                  </a:rPr>
                                  <m:t>𝑚</m:t>
                                </m:r>
                              </m:e>
                            </m:rad>
                            <m:rad>
                              <m:radPr>
                                <m:degHide m:val="on"/>
                                <m:ctrlPr>
                                  <a:rPr lang="en-US" altLang="zh-CN" sz="2000" i="1" kern="0">
                                    <a:solidFill>
                                      <a:prstClr val="black"/>
                                    </a:solidFill>
                                    <a:latin typeface="Cambria Math" panose="02040503050406030204" pitchFamily="18" charset="0"/>
                                    <a:ea typeface="黑体" panose="02010609060101010101" pitchFamily="49" charset="-122"/>
                                  </a:rPr>
                                </m:ctrlPr>
                              </m:radPr>
                              <m:deg/>
                              <m:e>
                                <m:r>
                                  <a:rPr lang="en-US" altLang="zh-CN" sz="2000" i="1" kern="0">
                                    <a:solidFill>
                                      <a:prstClr val="black"/>
                                    </a:solidFill>
                                    <a:latin typeface="Cambria Math" panose="02040503050406030204" pitchFamily="18" charset="0"/>
                                    <a:ea typeface="黑体" panose="02010609060101010101" pitchFamily="49" charset="-122"/>
                                  </a:rPr>
                                  <m:t>2</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黑体" panose="02010609060101010101" pitchFamily="49" charset="-122"/>
                                          </a:rPr>
                                          <m:t>𝑚</m:t>
                                        </m:r>
                                      </m:e>
                                    </m:d>
                                  </m:e>
                                </m:func>
                              </m:e>
                            </m:rad>
                          </m:num>
                          <m:den>
                            <m:r>
                              <a:rPr lang="en-US" altLang="zh-CN" sz="2000" i="1" kern="0">
                                <a:solidFill>
                                  <a:prstClr val="black"/>
                                </a:solidFill>
                                <a:latin typeface="Cambria Math" panose="02040503050406030204" pitchFamily="18" charset="0"/>
                                <a:ea typeface="黑体" panose="02010609060101010101" pitchFamily="49" charset="-122"/>
                              </a:rPr>
                              <m:t>𝑚</m:t>
                            </m:r>
                          </m:den>
                        </m:f>
                      </m:e>
                    </m:d>
                    <m:r>
                      <a:rPr lang="en-US" altLang="zh-CN" sz="2000" b="0" i="1" kern="0" smtClean="0">
                        <a:solidFill>
                          <a:prstClr val="black"/>
                        </a:solidFill>
                        <a:latin typeface="Cambria Math" panose="02040503050406030204" pitchFamily="18" charset="0"/>
                        <a:ea typeface="黑体" panose="02010609060101010101" pitchFamily="49" charset="-122"/>
                      </a:rPr>
                      <m:t>=</m:t>
                    </m:r>
                    <m:rad>
                      <m:radPr>
                        <m:degHide m:val="on"/>
                        <m:ctrlPr>
                          <a:rPr lang="en-US" altLang="zh-CN" sz="2000" i="1" kern="0" smtClean="0">
                            <a:solidFill>
                              <a:prstClr val="black"/>
                            </a:solidFill>
                            <a:latin typeface="Cambria Math" panose="02040503050406030204" pitchFamily="18" charset="0"/>
                            <a:ea typeface="黑体" panose="02010609060101010101" pitchFamily="49" charset="-122"/>
                          </a:rPr>
                        </m:ctrlPr>
                      </m:radPr>
                      <m:deg/>
                      <m:e>
                        <m:f>
                          <m:fPr>
                            <m:ctrlPr>
                              <a:rPr lang="en-US" altLang="zh-CN" sz="2000" i="1" kern="0" smtClean="0">
                                <a:solidFill>
                                  <a:prstClr val="black"/>
                                </a:solidFill>
                                <a:latin typeface="Cambria Math" panose="02040503050406030204" pitchFamily="18" charset="0"/>
                                <a:ea typeface="黑体" panose="02010609060101010101" pitchFamily="49" charset="-122"/>
                              </a:rPr>
                            </m:ctrlPr>
                          </m:fPr>
                          <m:num>
                            <m:r>
                              <a:rPr lang="en-US" altLang="zh-CN" sz="2000" i="1" kern="0">
                                <a:solidFill>
                                  <a:prstClr val="black"/>
                                </a:solidFill>
                                <a:latin typeface="Cambria Math" panose="02040503050406030204" pitchFamily="18" charset="0"/>
                                <a:ea typeface="黑体" panose="02010609060101010101" pitchFamily="49" charset="-122"/>
                              </a:rPr>
                              <m:t>2</m:t>
                            </m:r>
                            <m:func>
                              <m:funcPr>
                                <m:ctrlPr>
                                  <a:rPr lang="en-US" altLang="zh-CN" sz="2000" i="1" kern="0">
                                    <a:solidFill>
                                      <a:prstClr val="black"/>
                                    </a:solidFill>
                                    <a:latin typeface="Cambria Math" panose="02040503050406030204" pitchFamily="18" charset="0"/>
                                    <a:ea typeface="Cambria Math" panose="02040503050406030204" pitchFamily="18" charset="0"/>
                                  </a:rPr>
                                </m:ctrlPr>
                              </m:funcPr>
                              <m:fName>
                                <m:r>
                                  <m:rPr>
                                    <m:sty m:val="p"/>
                                  </m:rPr>
                                  <a:rPr lang="en-US" altLang="zh-CN" sz="2000" kern="0">
                                    <a:solidFill>
                                      <a:prstClr val="black"/>
                                    </a:solidFill>
                                    <a:latin typeface="Cambria Math" panose="02040503050406030204" pitchFamily="18" charset="0"/>
                                    <a:ea typeface="Cambria Math" panose="02040503050406030204" pitchFamily="18" charset="0"/>
                                  </a:rPr>
                                  <m:t>ln</m:t>
                                </m:r>
                              </m:fName>
                              <m:e>
                                <m:sSub>
                                  <m:sSubPr>
                                    <m:ctrlPr>
                                      <a:rPr lang="en-US" altLang="zh-CN" sz="2000" i="1" kern="0">
                                        <a:solidFill>
                                          <a:prstClr val="black"/>
                                        </a:solidFill>
                                        <a:latin typeface="Cambria Math" panose="02040503050406030204" pitchFamily="18" charset="0"/>
                                        <a:ea typeface="黑体" panose="02010609060101010101" pitchFamily="49" charset="-122"/>
                                      </a:rPr>
                                    </m:ctrlPr>
                                  </m:sSubPr>
                                  <m:e>
                                    <m:r>
                                      <m:rPr>
                                        <m:sty m:val="p"/>
                                      </m:rPr>
                                      <a:rPr lang="el-GR" altLang="zh-CN" sz="2000" i="1" kern="0">
                                        <a:solidFill>
                                          <a:prstClr val="black"/>
                                        </a:solidFill>
                                        <a:latin typeface="Cambria Math" panose="02040503050406030204" pitchFamily="18" charset="0"/>
                                        <a:ea typeface="Cambria Math" panose="02040503050406030204" pitchFamily="18" charset="0"/>
                                      </a:rPr>
                                      <m:t>Π</m:t>
                                    </m:r>
                                  </m:e>
                                  <m:sub>
                                    <m:r>
                                      <a:rPr lang="en-US" altLang="zh-CN" sz="2000" i="1" kern="0">
                                        <a:solidFill>
                                          <a:prstClr val="black"/>
                                        </a:solidFill>
                                        <a:latin typeface="Cambria Math" panose="02040503050406030204" pitchFamily="18" charset="0"/>
                                        <a:ea typeface="Cambria Math" panose="02040503050406030204" pitchFamily="18" charset="0"/>
                                      </a:rPr>
                                      <m:t>ℋ</m:t>
                                    </m:r>
                                  </m:sub>
                                </m:sSub>
                                <m:d>
                                  <m:dPr>
                                    <m:ctrlPr>
                                      <a:rPr lang="en-US" altLang="zh-CN" sz="2000" i="1" kern="0">
                                        <a:solidFill>
                                          <a:prstClr val="black"/>
                                        </a:solidFill>
                                        <a:latin typeface="Cambria Math" panose="02040503050406030204" pitchFamily="18" charset="0"/>
                                        <a:ea typeface="Cambria Math" panose="02040503050406030204" pitchFamily="18" charset="0"/>
                                      </a:rPr>
                                    </m:ctrlPr>
                                  </m:dPr>
                                  <m:e>
                                    <m:r>
                                      <a:rPr lang="en-US" altLang="zh-CN" sz="2000" i="1" kern="0">
                                        <a:solidFill>
                                          <a:prstClr val="black"/>
                                        </a:solidFill>
                                        <a:latin typeface="Cambria Math" panose="02040503050406030204" pitchFamily="18" charset="0"/>
                                        <a:ea typeface="黑体" panose="02010609060101010101" pitchFamily="49" charset="-122"/>
                                      </a:rPr>
                                      <m:t>𝑚</m:t>
                                    </m:r>
                                  </m:e>
                                </m:d>
                              </m:e>
                            </m:func>
                          </m:num>
                          <m:den>
                            <m:r>
                              <a:rPr lang="en-US" altLang="zh-CN" sz="2000" b="0" i="1" kern="0" smtClean="0">
                                <a:solidFill>
                                  <a:prstClr val="black"/>
                                </a:solidFill>
                                <a:latin typeface="Cambria Math" panose="02040503050406030204" pitchFamily="18" charset="0"/>
                                <a:ea typeface="黑体" panose="02010609060101010101" pitchFamily="49" charset="-122"/>
                              </a:rPr>
                              <m:t>𝑚</m:t>
                            </m:r>
                          </m:den>
                        </m:f>
                      </m:e>
                    </m:rad>
                  </m:oMath>
                </a14:m>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lvl="1" indent="0" algn="r" fontAlgn="base">
                  <a:spcAft>
                    <a:spcPct val="0"/>
                  </a:spcAft>
                  <a:buClr>
                    <a:srgbClr val="16754D"/>
                  </a:buClr>
                  <a:buSzPct val="120000"/>
                  <a:defRPr/>
                </a:pPr>
                <a:endPar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p:txBody>
          </p:sp>
        </mc:Choice>
        <mc:Fallback xmlns="">
          <p:sp>
            <p:nvSpPr>
              <p:cNvPr id="17" name="内容占位符 4">
                <a:extLst>
                  <a:ext uri="{FF2B5EF4-FFF2-40B4-BE49-F238E27FC236}">
                    <a16:creationId xmlns:a16="http://schemas.microsoft.com/office/drawing/2014/main" id="{67CF833D-EA2A-6AD0-11A2-7EFE7B7CD86D}"/>
                  </a:ext>
                </a:extLst>
              </p:cNvPr>
              <p:cNvSpPr txBox="1">
                <a:spLocks noRot="1" noChangeAspect="1" noMove="1" noResize="1" noEditPoints="1" noAdjustHandles="1" noChangeArrowheads="1" noChangeShapeType="1" noTextEdit="1"/>
              </p:cNvSpPr>
              <p:nvPr/>
            </p:nvSpPr>
            <p:spPr bwMode="auto">
              <a:xfrm>
                <a:off x="257175" y="3611931"/>
                <a:ext cx="8629650" cy="2862703"/>
              </a:xfrm>
              <a:prstGeom prst="rect">
                <a:avLst/>
              </a:prstGeom>
              <a:blipFill>
                <a:blip r:embed="rId3"/>
                <a:stretch>
                  <a:fillRect l="-1977" t="-3838" r="-141" b="-2345"/>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364572"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en-US" altLang="zh-CN" sz="2000" dirty="0">
                <a:solidFill>
                  <a:srgbClr val="16754D"/>
                </a:solidFill>
                <a:latin typeface="Arial" panose="020B0604020202020204" pitchFamily="34" charset="0"/>
                <a:ea typeface="黑体" panose="02010609060101010101" pitchFamily="49" charset="-122"/>
              </a:rPr>
              <a:t>Rademacher </a:t>
            </a:r>
            <a:r>
              <a:rPr lang="zh-CN" altLang="en-US" sz="2000" dirty="0">
                <a:solidFill>
                  <a:srgbClr val="16754D"/>
                </a:solidFill>
                <a:latin typeface="Arial" panose="020B0604020202020204" pitchFamily="34" charset="0"/>
                <a:ea typeface="黑体" panose="02010609060101010101" pitchFamily="49" charset="-122"/>
              </a:rPr>
              <a:t>复杂度与增长函数之间的关系</a:t>
            </a:r>
            <a:endParaRPr lang="en-US" altLang="zh-CN" sz="2000" dirty="0">
              <a:solidFill>
                <a:srgbClr val="16754D"/>
              </a:solidFill>
              <a:latin typeface="Arial" panose="020B0604020202020204" pitchFamily="34" charset="0"/>
              <a:ea typeface="黑体" panose="02010609060101010101" pitchFamily="49" charset="-122"/>
            </a:endParaRPr>
          </a:p>
        </p:txBody>
      </p:sp>
    </p:spTree>
    <p:extLst>
      <p:ext uri="{BB962C8B-B14F-4D97-AF65-F5344CB8AC3E}">
        <p14:creationId xmlns:p14="http://schemas.microsoft.com/office/powerpoint/2010/main" val="564279227"/>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71</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80975" y="1432627"/>
                <a:ext cx="8629650" cy="286675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90000"/>
                  </a:lnSpc>
                  <a:spcBef>
                    <a:spcPts val="1000"/>
                  </a:spcBef>
                  <a:spcAft>
                    <a:spcPct val="0"/>
                  </a:spcAft>
                  <a:buClr>
                    <a:srgbClr val="16754D"/>
                  </a:buClr>
                  <a:buSzPct val="120000"/>
                  <a:buFont typeface="Wingdings" panose="05000000000000000000" pitchFamily="2" charset="2"/>
                  <a:buNone/>
                  <a:tabLst/>
                  <a:defRPr/>
                </a:pPr>
                <a:r>
                  <a:rPr kumimoji="0" lang="zh-CN" altLang="en-US"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a:t>
                </a:r>
                <a:r>
                  <a:rPr kumimoji="0" lang="en-US" altLang="zh-CN"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12.5</a:t>
                </a:r>
                <a:r>
                  <a:rPr lang="en-US" altLang="zh-CN" sz="2200" dirty="0">
                    <a:solidFill>
                      <a:sysClr val="windowText" lastClr="000000"/>
                    </a:solidFill>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对实值函数空间 </a:t>
                </a:r>
                <a14:m>
                  <m:oMath xmlns:m="http://schemas.openxmlformats.org/officeDocument/2006/math">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0</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i="1">
                        <a:solidFill>
                          <a:sysClr val="windowText" lastClr="000000"/>
                        </a:solidFill>
                        <a:latin typeface="Cambria Math" panose="02040503050406030204" pitchFamily="18" charset="0"/>
                        <a:ea typeface="黑体" panose="02010609060101010101" pitchFamily="49" charset="-122"/>
                      </a:rPr>
                      <m:t>𝑍</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𝒛</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𝒛</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a:solidFill>
                              <a:sysClr val="windowText" lastClr="000000"/>
                            </a:solidFill>
                            <a:latin typeface="Cambria Math" panose="02040503050406030204" pitchFamily="18" charset="0"/>
                            <a:ea typeface="黑体" panose="02010609060101010101" pitchFamily="49" charset="-122"/>
                          </a:rPr>
                          <m:t>𝒛</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a:solidFill>
                          <a:sysClr val="windowText" lastClr="000000"/>
                        </a:solidFill>
                        <a:latin typeface="Cambria Math" panose="02040503050406030204" pitchFamily="18" charset="0"/>
                        <a:ea typeface="Cambria Math" panose="02040503050406030204" pitchFamily="18" charset="0"/>
                      </a:rPr>
                      <m:t>𝒵</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l" defTabSz="914400" rtl="0" eaLnBrk="1" fontAlgn="base" latinLnBrk="0" hangingPunct="1">
                  <a:lnSpc>
                    <a:spcPct val="90000"/>
                  </a:lnSpc>
                  <a:spcBef>
                    <a:spcPts val="1000"/>
                  </a:spcBef>
                  <a:spcAft>
                    <a:spcPct val="0"/>
                  </a:spcAft>
                  <a:buClr>
                    <a:srgbClr val="16754D"/>
                  </a:buClr>
                  <a:buSzPct val="120000"/>
                  <a:buFont typeface="Wingdings" panose="05000000000000000000" pitchFamily="2" charset="2"/>
                  <a:buNone/>
                  <a:tabLst/>
                  <a:defRPr/>
                </a:pPr>
                <a14:m>
                  <m:oMathPara xmlns:m="http://schemas.openxmlformats.org/officeDocument/2006/math">
                    <m:oMathParaPr>
                      <m:jc m:val="centerGroup"/>
                    </m:oMathParaPr>
                    <m:oMath xmlns:m="http://schemas.openxmlformats.org/officeDocument/2006/math">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sup>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nary>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Sub>
                        <m:sSub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ℜ</m:t>
                          </m:r>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b>
                      </m:sSub>
                      <m:d>
                        <m:d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d>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ad>
                        <m:radPr>
                          <m:degHide m:val="on"/>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f>
                            <m:f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func>
                                <m:func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fName>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func>
                            </m:num>
                            <m:den>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e>
                      </m:rad>
                    </m:oMath>
                  </m:oMathPara>
                </a14:m>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auto" latinLnBrk="0" hangingPunct="1">
                  <a:lnSpc>
                    <a:spcPct val="100000"/>
                  </a:lnSpc>
                  <a:spcBef>
                    <a:spcPts val="1000"/>
                  </a:spcBef>
                  <a:spcAft>
                    <a:spcPts val="0"/>
                  </a:spcAft>
                  <a:buClr>
                    <a:srgbClr val="16754D"/>
                  </a:buClr>
                  <a:buSzPct val="120000"/>
                  <a:buFontTx/>
                  <a:buNone/>
                  <a:tabLst/>
                  <a:defRPr/>
                </a:pPr>
                <a14:m>
                  <m:oMathPara xmlns:m="http://schemas.openxmlformats.org/officeDocument/2006/math">
                    <m:oMathParaPr>
                      <m:jc m:val="centerGroup"/>
                    </m:oMathParaPr>
                    <m:oMath xmlns:m="http://schemas.openxmlformats.org/officeDocument/2006/math">
                      <m:r>
                        <a:rPr kumimoji="0" lang="zh-CN" altLang="en-US"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d>
                        <m:d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1"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𝒛</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d>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f>
                        <m:fPr>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num>
                        <m:den>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nary>
                        <m:nary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naryPr>
                        <m:sub>
                          <m:r>
                            <m:rPr>
                              <m:brk m:alnAt="23"/>
                            </m:r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𝑖</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sub>
                        <m:sup>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sup>
                        <m:e>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𝑓</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b="1"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𝒛</m:t>
                              </m:r>
                            </m:e>
                            <m:sub>
                              <m:r>
                                <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nary>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rPr>
                        <m:t>2</m:t>
                      </m:r>
                      <m:sSub>
                        <m:sSub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Cambria Math" panose="02040503050406030204" pitchFamily="18" charset="0"/>
                                </a:rPr>
                                <m:t>ℜ</m:t>
                              </m:r>
                            </m:e>
                          </m:acc>
                        </m:e>
                        <m:sub>
                          <m:r>
                            <a:rPr kumimoji="0" lang="en-US" altLang="zh-CN"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𝑍</m:t>
                          </m:r>
                        </m:sub>
                      </m:sSub>
                      <m:d>
                        <m:dPr>
                          <m:ctrlPr>
                            <a:rPr kumimoji="0" lang="en-US" altLang="zh-CN" b="0" i="1" u="none" strike="noStrike" kern="1200" cap="none" spc="0" normalizeH="0" baseline="0" noProof="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d>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3</m:t>
                      </m:r>
                      <m:rad>
                        <m:radPr>
                          <m:degHide m:val="on"/>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radPr>
                        <m:deg/>
                        <m:e>
                          <m:f>
                            <m:f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Pr>
                            <m:num>
                              <m:func>
                                <m:funcPr>
                                  <m:ctrlP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funcPr>
                                <m:fName>
                                  <m:r>
                                    <m:rPr>
                                      <m:sty m:val="p"/>
                                    </m:rPr>
                                    <a:rPr kumimoji="0" lang="en-US" altLang="zh-CN"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ln</m:t>
                                  </m:r>
                                </m:fName>
                                <m:e>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e>
                              </m:func>
                            </m:num>
                            <m:den>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2</m:t>
                              </m:r>
                              <m:r>
                                <a:rPr kumimoji="0" lang="en-US" altLang="zh-CN"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rPr>
                                <m:t>𝑚</m:t>
                              </m:r>
                            </m:den>
                          </m:f>
                        </m:e>
                      </m:rad>
                    </m:oMath>
                  </m:oMathPara>
                </a14:m>
                <a:endParaRPr kumimoji="0" lang="en-US" altLang="zh-CN" b="0" i="1" u="none" strike="noStrike" kern="1200" cap="none" spc="0" normalizeH="0" baseline="0" noProof="0" dirty="0">
                  <a:ln>
                    <a:noFill/>
                  </a:ln>
                  <a:solidFill>
                    <a:sysClr val="windowText" lastClr="000000"/>
                  </a:solidFill>
                  <a:effectLst/>
                  <a:uLnTx/>
                  <a:uFillTx/>
                  <a:latin typeface="Cambria Math" panose="02040503050406030204" pitchFamily="18"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80975" y="1432627"/>
                <a:ext cx="8629650" cy="2866757"/>
              </a:xfrm>
              <a:prstGeom prst="rect">
                <a:avLst/>
              </a:prstGeom>
              <a:blipFill>
                <a:blip r:embed="rId2"/>
                <a:stretch>
                  <a:fillRect l="-1979" t="-4681" r="-1201"/>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7" name="内容占位符 4">
                <a:extLst>
                  <a:ext uri="{FF2B5EF4-FFF2-40B4-BE49-F238E27FC236}">
                    <a16:creationId xmlns:a16="http://schemas.microsoft.com/office/drawing/2014/main" id="{67CF833D-EA2A-6AD0-11A2-7EFE7B7CD86D}"/>
                  </a:ext>
                </a:extLst>
              </p:cNvPr>
              <p:cNvSpPr txBox="1">
                <a:spLocks/>
              </p:cNvSpPr>
              <p:nvPr/>
            </p:nvSpPr>
            <p:spPr bwMode="auto">
              <a:xfrm>
                <a:off x="257175" y="5452296"/>
                <a:ext cx="8629650" cy="77329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lIns="0" tIns="0" rIns="0" bIns="0"/>
              <a:lstStyle>
                <a:lvl1pPr marL="342900" indent="-342900">
                  <a:defRPr>
                    <a:solidFill>
                      <a:schemeClr val="tx1"/>
                    </a:solidFill>
                    <a:latin typeface="Verdana" panose="020B0604030504040204" pitchFamily="34" charset="0"/>
                    <a:ea typeface="幼圆" panose="02010509060101010101" pitchFamily="49" charset="-122"/>
                  </a:defRPr>
                </a:lvl1pPr>
                <a:lvl2pPr marL="342900" indent="-342900">
                  <a:defRPr>
                    <a:solidFill>
                      <a:schemeClr val="tx1"/>
                    </a:solidFill>
                    <a:latin typeface="Verdana" panose="020B0604030504040204" pitchFamily="34" charset="0"/>
                    <a:ea typeface="幼圆" panose="02010509060101010101" pitchFamily="49" charset="-122"/>
                  </a:defRPr>
                </a:lvl2pPr>
                <a:lvl3pPr marL="1143000" indent="-228600">
                  <a:defRPr>
                    <a:solidFill>
                      <a:schemeClr val="tx1"/>
                    </a:solidFill>
                    <a:latin typeface="Verdana" panose="020B0604030504040204" pitchFamily="34" charset="0"/>
                    <a:ea typeface="幼圆" panose="02010509060101010101" pitchFamily="49" charset="-122"/>
                  </a:defRPr>
                </a:lvl3pPr>
                <a:lvl4pPr marL="1600200" indent="-228600">
                  <a:defRPr>
                    <a:solidFill>
                      <a:schemeClr val="tx1"/>
                    </a:solidFill>
                    <a:latin typeface="Verdana" panose="020B0604030504040204" pitchFamily="34" charset="0"/>
                    <a:ea typeface="幼圆" panose="02010509060101010101" pitchFamily="49" charset="-122"/>
                  </a:defRPr>
                </a:lvl4pPr>
                <a:lvl5pPr marL="2057400" indent="-228600">
                  <a:defRPr>
                    <a:solidFill>
                      <a:schemeClr val="tx1"/>
                    </a:solidFill>
                    <a:latin typeface="Verdana" panose="020B0604030504040204" pitchFamily="34" charset="0"/>
                    <a:ea typeface="幼圆" panose="02010509060101010101" pitchFamily="49" charset="-122"/>
                  </a:defRPr>
                </a:lvl5pPr>
                <a:lvl6pPr marL="25146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6pPr>
                <a:lvl7pPr marL="29718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7pPr>
                <a:lvl8pPr marL="34290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8pPr>
                <a:lvl9pPr marL="3886200" indent="-228600" fontAlgn="base">
                  <a:spcBef>
                    <a:spcPct val="0"/>
                  </a:spcBef>
                  <a:spcAft>
                    <a:spcPct val="0"/>
                  </a:spcAft>
                  <a:defRPr>
                    <a:solidFill>
                      <a:schemeClr val="tx1"/>
                    </a:solidFill>
                    <a:latin typeface="Verdana" panose="020B0604030504040204" pitchFamily="34" charset="0"/>
                    <a:ea typeface="幼圆" panose="02010509060101010101" pitchFamily="49" charset="-122"/>
                  </a:defRPr>
                </a:lvl9pPr>
              </a:lstStyle>
              <a:p>
                <a:pPr marL="0" marR="0" lvl="1" indent="0" defTabSz="914400" eaLnBrk="1" fontAlgn="base" latinLnBrk="0" hangingPunct="1">
                  <a:lnSpc>
                    <a:spcPct val="120000"/>
                  </a:lnSpc>
                  <a:spcAft>
                    <a:spcPct val="0"/>
                  </a:spcAft>
                  <a:buClr>
                    <a:srgbClr val="16754D"/>
                  </a:buClr>
                  <a:buSzPct val="120000"/>
                  <a:tabLst/>
                  <a:defRPr/>
                </a:pPr>
                <a:r>
                  <a:rPr lang="zh-CN" altLang="en-US" sz="2000" kern="0" dirty="0">
                    <a:solidFill>
                      <a:prstClr val="black"/>
                    </a:solidFill>
                    <a:latin typeface="Arial" panose="020B0604020202020204" pitchFamily="34" charset="0"/>
                    <a:ea typeface="黑体" panose="02010609060101010101" pitchFamily="49" charset="-122"/>
                  </a:rPr>
                  <a:t>证明略。</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详见 周志华等</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机器学习理论导引”</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2020, </a:t>
                </a:r>
                <a:r>
                  <a:rPr kumimoji="0" lang="zh-CN" altLang="en-US"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机械工业出版社</a:t>
                </a:r>
                <a:r>
                  <a:rPr kumimoji="0" lang="en-US" altLang="zh-CN" sz="1800" b="0" i="0" u="none" strike="noStrike" kern="1200" cap="none" spc="0" normalizeH="0" baseline="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Ch 4</a:t>
                </a:r>
                <a:endPar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endParaRPr>
              </a:p>
              <a:p>
                <a:pPr marL="0" marR="0" lvl="1" indent="0" defTabSz="914400" eaLnBrk="1" fontAlgn="base" latinLnBrk="0" hangingPunct="1">
                  <a:lnSpc>
                    <a:spcPct val="120000"/>
                  </a:lnSpc>
                  <a:spcAft>
                    <a:spcPct val="0"/>
                  </a:spcAft>
                  <a:buClr>
                    <a:srgbClr val="16754D"/>
                  </a:buClr>
                  <a:buSzPct val="120000"/>
                  <a:tabLst/>
                  <a:defRPr/>
                </a:pP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12.5</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的适用范围是实值函数空间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0</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m:t>
                    </m:r>
                    <m:r>
                      <a:rPr kumimoji="0" lang="zh-CN" altLang="en-US"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oMath>
                </a14:m>
                <a:r>
                  <a:rPr kumimoji="0" lang="en-US" altLang="zh-CN"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sz="2000" b="0" i="0" u="none" strike="noStrike" kern="0" cap="none" spc="0" normalizeH="0" noProof="0" dirty="0">
                    <a:ln>
                      <a:noFill/>
                    </a:ln>
                    <a:solidFill>
                      <a:prstClr val="black"/>
                    </a:solidFill>
                    <a:effectLst/>
                    <a:uLnTx/>
                    <a:uFillTx/>
                    <a:latin typeface="Arial" panose="020B0604020202020204" pitchFamily="34" charset="0"/>
                    <a:ea typeface="黑体" panose="02010609060101010101" pitchFamily="49" charset="-122"/>
                  </a:rPr>
                  <a:t>一般用于回归问题。</a:t>
                </a:r>
              </a:p>
            </p:txBody>
          </p:sp>
        </mc:Choice>
        <mc:Fallback xmlns="">
          <p:sp>
            <p:nvSpPr>
              <p:cNvPr id="17" name="内容占位符 4">
                <a:extLst>
                  <a:ext uri="{FF2B5EF4-FFF2-40B4-BE49-F238E27FC236}">
                    <a16:creationId xmlns:a16="http://schemas.microsoft.com/office/drawing/2014/main" id="{67CF833D-EA2A-6AD0-11A2-7EFE7B7CD86D}"/>
                  </a:ext>
                </a:extLst>
              </p:cNvPr>
              <p:cNvSpPr txBox="1">
                <a:spLocks noRot="1" noChangeAspect="1" noMove="1" noResize="1" noEditPoints="1" noAdjustHandles="1" noChangeArrowheads="1" noChangeShapeType="1" noTextEdit="1"/>
              </p:cNvSpPr>
              <p:nvPr/>
            </p:nvSpPr>
            <p:spPr bwMode="auto">
              <a:xfrm>
                <a:off x="257175" y="5452296"/>
                <a:ext cx="8629650" cy="773290"/>
              </a:xfrm>
              <a:prstGeom prst="rect">
                <a:avLst/>
              </a:prstGeom>
              <a:blipFill>
                <a:blip r:embed="rId3"/>
                <a:stretch>
                  <a:fillRect l="-1766" t="-8661" b="-1102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134603"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基于</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r>
              <a:rPr lang="zh-CN" altLang="en-US" sz="2000" dirty="0">
                <a:solidFill>
                  <a:srgbClr val="16754D"/>
                </a:solidFill>
                <a:latin typeface="Arial" panose="020B0604020202020204" pitchFamily="34" charset="0"/>
                <a:ea typeface="黑体" panose="02010609060101010101" pitchFamily="49" charset="-122"/>
              </a:rPr>
              <a:t>的泛化误差上界</a:t>
            </a:r>
            <a:endPar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p:spTree>
    <p:extLst>
      <p:ext uri="{BB962C8B-B14F-4D97-AF65-F5344CB8AC3E}">
        <p14:creationId xmlns:p14="http://schemas.microsoft.com/office/powerpoint/2010/main" val="2628574630"/>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72</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5" name="内容占位符 4">
                <a:extLst>
                  <a:ext uri="{FF2B5EF4-FFF2-40B4-BE49-F238E27FC236}">
                    <a16:creationId xmlns:a16="http://schemas.microsoft.com/office/drawing/2014/main" id="{8E6B68A5-6C94-E5B3-1305-F9715F96D4B3}"/>
                  </a:ext>
                </a:extLst>
              </p:cNvPr>
              <p:cNvSpPr txBox="1">
                <a:spLocks/>
              </p:cNvSpPr>
              <p:nvPr/>
            </p:nvSpPr>
            <p:spPr bwMode="auto">
              <a:xfrm>
                <a:off x="164548" y="1181112"/>
                <a:ext cx="8961941" cy="277059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base" latinLnBrk="0" hangingPunct="1">
                  <a:lnSpc>
                    <a:spcPct val="100000"/>
                  </a:lnSpc>
                  <a:spcBef>
                    <a:spcPts val="0"/>
                  </a:spcBef>
                  <a:spcAft>
                    <a:spcPct val="0"/>
                  </a:spcAft>
                  <a:buClr>
                    <a:srgbClr val="16754D"/>
                  </a:buClr>
                  <a:buSzPct val="120000"/>
                  <a:buFont typeface="Wingdings" panose="05000000000000000000" pitchFamily="2" charset="2"/>
                  <a:buNone/>
                  <a:tabLst/>
                  <a:defRPr/>
                </a:pPr>
                <a:r>
                  <a:rPr kumimoji="0" lang="zh-CN" altLang="en-US"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定理</a:t>
                </a:r>
                <a:r>
                  <a:rPr kumimoji="0" lang="en-US" altLang="zh-CN" sz="2200" b="1"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12.6</a:t>
                </a:r>
                <a:r>
                  <a:rPr lang="en-US" altLang="zh-CN" sz="2200" dirty="0">
                    <a:solidFill>
                      <a:sysClr val="windowText" lastClr="000000"/>
                    </a:solidFill>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a:t>
                </a:r>
                <a:r>
                  <a:rPr lang="zh-CN" altLang="en-US" dirty="0">
                    <a:solidFill>
                      <a:sysClr val="windowText" lastClr="000000"/>
                    </a:solidFill>
                    <a:latin typeface="Arial" panose="020B0604020202020204" pitchFamily="34" charset="0"/>
                    <a:ea typeface="黑体" panose="02010609060101010101" pitchFamily="49" charset="-122"/>
                  </a:rPr>
                  <a:t>假设</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smtClean="0">
                            <a:solidFill>
                              <a:sysClr val="windowText" lastClr="000000"/>
                            </a:solidFill>
                            <a:latin typeface="Cambria Math" panose="02040503050406030204" pitchFamily="18" charset="0"/>
                            <a:ea typeface="黑体" panose="02010609060101010101" pitchFamily="49" charset="-122"/>
                          </a:rPr>
                          <m:t>𝒙</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smtClean="0">
                        <a:solidFill>
                          <a:sysClr val="windowText" lastClr="000000"/>
                        </a:solidFill>
                        <a:latin typeface="Cambria Math" panose="02040503050406030204" pitchFamily="18" charset="0"/>
                        <a:ea typeface="Cambria Math" panose="02040503050406030204" pitchFamily="18" charset="0"/>
                      </a:rPr>
                      <m:t>𝒳</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&lt;1</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gn="ctr">
                  <a:lnSpc>
                    <a:spcPct val="100000"/>
                  </a:lnSpc>
                  <a:spcBef>
                    <a:spcPts val="0"/>
                  </a:spcBef>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smtClean="0">
                              <a:solidFill>
                                <a:sysClr val="windowText" lastClr="000000"/>
                              </a:solidFill>
                              <a:latin typeface="Cambria Math" panose="02040503050406030204" pitchFamily="18" charset="0"/>
                              <a:ea typeface="Cambria Math" panose="02040503050406030204" pitchFamily="18" charset="0"/>
                            </a:rPr>
                            <m:t>ℜ</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m:oMathPara>
                </a14:m>
                <a:endParaRPr lang="en-US" altLang="zh-CN" dirty="0">
                  <a:solidFill>
                    <a:sysClr val="windowText" lastClr="000000"/>
                  </a:solidFill>
                  <a:latin typeface="Arial" panose="020B0604020202020204" pitchFamily="34" charset="0"/>
                  <a:ea typeface="黑体" panose="02010609060101010101" pitchFamily="49" charset="-122"/>
                </a:endParaRPr>
              </a:p>
              <a:p>
                <a:pPr marL="0" lvl="1" indent="0" algn="ctr">
                  <a:lnSpc>
                    <a:spcPct val="100000"/>
                  </a:lnSpc>
                  <a:spcBef>
                    <a:spcPts val="0"/>
                  </a:spcBef>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smtClean="0">
                                  <a:solidFill>
                                    <a:sysClr val="windowText" lastClr="000000"/>
                                  </a:solidFill>
                                  <a:latin typeface="Cambria Math" panose="02040503050406030204" pitchFamily="18" charset="0"/>
                                  <a:ea typeface="Cambria Math" panose="02040503050406030204" pitchFamily="18" charset="0"/>
                                </a:rPr>
                                <m:t>ℜ</m:t>
                              </m:r>
                            </m:e>
                          </m:acc>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+3</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5" name="内容占位符 4">
                <a:extLst>
                  <a:ext uri="{FF2B5EF4-FFF2-40B4-BE49-F238E27FC236}">
                    <a16:creationId xmlns:a16="http://schemas.microsoft.com/office/drawing/2014/main" id="{8E6B68A5-6C94-E5B3-1305-F9715F96D4B3}"/>
                  </a:ext>
                </a:extLst>
              </p:cNvPr>
              <p:cNvSpPr txBox="1">
                <a:spLocks noRot="1" noChangeAspect="1" noMove="1" noResize="1" noEditPoints="1" noAdjustHandles="1" noChangeArrowheads="1" noChangeShapeType="1" noTextEdit="1"/>
              </p:cNvSpPr>
              <p:nvPr/>
            </p:nvSpPr>
            <p:spPr bwMode="auto">
              <a:xfrm>
                <a:off x="164548" y="1181112"/>
                <a:ext cx="8961941" cy="2770597"/>
              </a:xfrm>
              <a:prstGeom prst="rect">
                <a:avLst/>
              </a:prstGeom>
              <a:blipFill>
                <a:blip r:embed="rId2"/>
                <a:stretch>
                  <a:fillRect l="-1905" t="-3744" r="-204"/>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0" name="文本框 19">
            <a:extLst>
              <a:ext uri="{FF2B5EF4-FFF2-40B4-BE49-F238E27FC236}">
                <a16:creationId xmlns:a16="http://schemas.microsoft.com/office/drawing/2014/main" id="{F1D9A930-B790-78AC-4F0A-D1ECE76A49A9}"/>
              </a:ext>
            </a:extLst>
          </p:cNvPr>
          <p:cNvSpPr txBox="1"/>
          <p:nvPr/>
        </p:nvSpPr>
        <p:spPr>
          <a:xfrm>
            <a:off x="105402" y="855014"/>
            <a:ext cx="5134603" cy="304699"/>
          </a:xfrm>
          <a:prstGeom prst="rect">
            <a:avLst/>
          </a:prstGeom>
          <a:noFill/>
        </p:spPr>
        <p:txBody>
          <a:bodyPr wrap="square" lIns="0" tIns="0" rIns="0" bIns="0">
            <a:noAutofit/>
          </a:bodyPr>
          <a:lstStyle/>
          <a:p>
            <a:pPr marL="342900" marR="0" lvl="1" indent="-342900" algn="l" defTabSz="914400" rtl="0" eaLnBrk="1" fontAlgn="auto" latinLnBrk="0" hangingPunct="1">
              <a:spcAft>
                <a:spcPts val="0"/>
              </a:spcAft>
              <a:buClr>
                <a:srgbClr val="16754D"/>
              </a:buClr>
              <a:buSzPct val="120000"/>
              <a:buFont typeface="Wingdings" panose="05000000000000000000" pitchFamily="2" charset="2"/>
              <a:buChar char="Ø"/>
              <a:tabLst/>
              <a:defRPr/>
            </a:pPr>
            <a:r>
              <a:rPr lang="zh-CN" altLang="en-US" sz="2000" dirty="0">
                <a:solidFill>
                  <a:srgbClr val="16754D"/>
                </a:solidFill>
                <a:latin typeface="Arial" panose="020B0604020202020204" pitchFamily="34" charset="0"/>
                <a:ea typeface="黑体" panose="02010609060101010101" pitchFamily="49" charset="-122"/>
              </a:rPr>
              <a:t>基于</a:t>
            </a:r>
            <a:r>
              <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a:t>
            </a:r>
            <a:r>
              <a:rPr lang="zh-CN" altLang="en-US" sz="2000" dirty="0">
                <a:solidFill>
                  <a:srgbClr val="16754D"/>
                </a:solidFill>
                <a:latin typeface="Arial" panose="020B0604020202020204" pitchFamily="34" charset="0"/>
                <a:ea typeface="黑体" panose="02010609060101010101" pitchFamily="49" charset="-122"/>
              </a:rPr>
              <a:t>的泛化误差上界</a:t>
            </a:r>
            <a:endParaRPr kumimoji="0" lang="en-US" altLang="zh-CN" sz="2000"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endParaRPr>
          </a:p>
        </p:txBody>
      </p:sp>
      <mc:AlternateContent xmlns:mc="http://schemas.openxmlformats.org/markup-compatibility/2006" xmlns:a14="http://schemas.microsoft.com/office/drawing/2010/main">
        <mc:Choice Requires="a14">
          <p:sp>
            <p:nvSpPr>
              <p:cNvPr id="7" name="内容占位符 4">
                <a:extLst>
                  <a:ext uri="{FF2B5EF4-FFF2-40B4-BE49-F238E27FC236}">
                    <a16:creationId xmlns:a16="http://schemas.microsoft.com/office/drawing/2014/main" id="{D7D3FF59-5FBF-9853-2249-F109AE14F224}"/>
                  </a:ext>
                </a:extLst>
              </p:cNvPr>
              <p:cNvSpPr txBox="1">
                <a:spLocks/>
              </p:cNvSpPr>
              <p:nvPr/>
            </p:nvSpPr>
            <p:spPr bwMode="auto">
              <a:xfrm>
                <a:off x="105402" y="3951710"/>
                <a:ext cx="8961942" cy="244341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lvl="1" indent="0">
                  <a:lnSpc>
                    <a:spcPct val="100000"/>
                  </a:lnSpc>
                  <a:spcBef>
                    <a:spcPts val="0"/>
                  </a:spcBef>
                  <a:buClr>
                    <a:srgbClr val="16754D"/>
                  </a:buClr>
                  <a:buSzPct val="120000"/>
                  <a:buNone/>
                  <a:defRPr/>
                </a:pPr>
                <a:r>
                  <a:rPr lang="zh-CN" altLang="en-US" dirty="0">
                    <a:solidFill>
                      <a:sysClr val="windowText" lastClr="000000"/>
                    </a:solidFill>
                    <a:latin typeface="Arial" panose="020B0604020202020204" pitchFamily="34" charset="0"/>
                    <a:ea typeface="黑体" panose="02010609060101010101" pitchFamily="49" charset="-122"/>
                  </a:rPr>
                  <a:t>证明</a:t>
                </a:r>
                <a:r>
                  <a:rPr lang="en-US" altLang="zh-CN" dirty="0">
                    <a:solidFill>
                      <a:sysClr val="windowText" lastClr="000000"/>
                    </a:solidFill>
                    <a:latin typeface="Arial" panose="020B0604020202020204" pitchFamily="34" charset="0"/>
                    <a:ea typeface="黑体" panose="02010609060101010101" pitchFamily="49" charset="-122"/>
                  </a:rPr>
                  <a:t>:</a:t>
                </a:r>
              </a:p>
              <a:p>
                <a:pPr marL="0" lvl="1" indent="0">
                  <a:lnSpc>
                    <a:spcPct val="100000"/>
                  </a:lnSpc>
                  <a:spcBef>
                    <a:spcPts val="0"/>
                  </a:spcBef>
                  <a:buClr>
                    <a:srgbClr val="16754D"/>
                  </a:buClr>
                  <a:buSzPct val="120000"/>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令 </a:t>
                </a:r>
                <a14:m>
                  <m:oMath xmlns:m="http://schemas.openxmlformats.org/officeDocument/2006/math">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𝒳</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{−1,+1}</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lang="en-US" altLang="zh-CN" i="1">
                        <a:solidFill>
                          <a:sysClr val="windowText" lastClr="000000"/>
                        </a:solidFill>
                        <a:latin typeface="Cambria Math" panose="02040503050406030204" pitchFamily="18" charset="0"/>
                        <a:ea typeface="Cambria Math" panose="02040503050406030204" pitchFamily="18" charset="0"/>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中的假设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h</m:t>
                    </m:r>
                  </m:oMath>
                </a14:m>
                <a:r>
                  <a:rPr lang="zh-CN" altLang="en-US" dirty="0">
                    <a:solidFill>
                      <a:sysClr val="windowText" lastClr="000000"/>
                    </a:solidFill>
                    <a:latin typeface="Arial" panose="020B0604020202020204" pitchFamily="34" charset="0"/>
                    <a:ea typeface="黑体" panose="02010609060101010101" pitchFamily="49" charset="-122"/>
                  </a:rPr>
                  <a:t> 可以变形为 </a:t>
                </a:r>
                <a14:m>
                  <m:oMath xmlns:m="http://schemas.openxmlformats.org/officeDocument/2006/math">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𝑓</m:t>
                        </m:r>
                      </m:e>
                      <m:sub>
                        <m:r>
                          <a:rPr lang="en-US" altLang="zh-CN" b="0" i="1" smtClean="0">
                            <a:solidFill>
                              <a:sysClr val="windowText" lastClr="000000"/>
                            </a:solidFill>
                            <a:latin typeface="Cambria Math" panose="02040503050406030204" pitchFamily="18" charset="0"/>
                            <a:ea typeface="黑体" panose="02010609060101010101" pitchFamily="49" charset="-122"/>
                          </a:rPr>
                          <m:t>h</m:t>
                        </m:r>
                      </m:sub>
                    </m:sSub>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𝑧</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𝑓</m:t>
                        </m:r>
                      </m:e>
                      <m:sub>
                        <m:r>
                          <a:rPr lang="en-US" altLang="zh-CN" i="1">
                            <a:solidFill>
                              <a:sysClr val="windowText" lastClr="000000"/>
                            </a:solidFill>
                            <a:latin typeface="Cambria Math" panose="02040503050406030204" pitchFamily="18" charset="0"/>
                            <a:ea typeface="黑体" panose="02010609060101010101" pitchFamily="49" charset="-122"/>
                          </a:rPr>
                          <m:t>h</m:t>
                        </m:r>
                      </m:sub>
                    </m:sSub>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𝑦</m:t>
                        </m:r>
                      </m:e>
                    </m:d>
                    <m:r>
                      <a:rPr lang="en-US" altLang="zh-CN" b="0" i="1" smtClean="0">
                        <a:solidFill>
                          <a:sysClr val="windowText" lastClr="000000"/>
                        </a:solidFill>
                        <a:latin typeface="Cambria Math" panose="02040503050406030204" pitchFamily="18" charset="0"/>
                        <a:ea typeface="黑体" panose="02010609060101010101" pitchFamily="49" charset="-122"/>
                      </a:rPr>
                      <m:t>=</m:t>
                    </m:r>
                    <m:r>
                      <a:rPr lang="zh-CN" altLang="en-US" b="0" i="1" smtClean="0">
                        <a:solidFill>
                          <a:sysClr val="windowText" lastClr="000000"/>
                        </a:solidFill>
                        <a:latin typeface="Cambria Math" panose="02040503050406030204" pitchFamily="18" charset="0"/>
                        <a:ea typeface="黑体" panose="02010609060101010101" pitchFamily="49" charset="-122"/>
                      </a:rPr>
                      <m:t>𝕀</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1" i="1" smtClean="0">
                        <a:solidFill>
                          <a:sysClr val="windowText" lastClr="000000"/>
                        </a:solidFill>
                        <a:latin typeface="Cambria Math" panose="02040503050406030204" pitchFamily="18" charset="0"/>
                        <a:ea typeface="黑体" panose="02010609060101010101" pitchFamily="49" charset="-122"/>
                      </a:rPr>
                      <m:t>𝒙</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Cambria Math" panose="02040503050406030204" pitchFamily="18" charset="0"/>
                      </a:rPr>
                      <m:t>≠</m:t>
                    </m:r>
                    <m:r>
                      <a:rPr lang="en-US" altLang="zh-CN" b="0" i="1" smtClean="0">
                        <a:solidFill>
                          <a:sysClr val="windowText" lastClr="000000"/>
                        </a:solidFill>
                        <a:latin typeface="Cambria Math" panose="02040503050406030204" pitchFamily="18" charset="0"/>
                        <a:ea typeface="Cambria Math" panose="02040503050406030204" pitchFamily="18" charset="0"/>
                      </a:rPr>
                      <m:t>𝑦</m:t>
                    </m:r>
                    <m:r>
                      <a:rPr lang="en-US" altLang="zh-CN" b="0" i="1" smtClean="0">
                        <a:solidFill>
                          <a:sysClr val="windowText" lastClr="000000"/>
                        </a:solidFill>
                        <a:latin typeface="Cambria Math" panose="02040503050406030204" pitchFamily="18" charset="0"/>
                        <a:ea typeface="黑体" panose="02010609060101010101" pitchFamily="49" charset="-122"/>
                      </a:rPr>
                      <m:t>)</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a:p>
                <a:pPr marL="0" lvl="1" indent="0">
                  <a:lnSpc>
                    <a:spcPct val="100000"/>
                  </a:lnSpc>
                  <a:spcBef>
                    <a:spcPts val="0"/>
                  </a:spcBef>
                  <a:buClr>
                    <a:srgbClr val="16754D"/>
                  </a:buClr>
                  <a:buSzPct val="120000"/>
                  <a:buNone/>
                  <a:defRPr/>
                </a:pPr>
                <a:r>
                  <a:rPr kumimoji="0" lang="en-US" altLang="zh-CN" sz="2000" b="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acc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𝑅</m:t>
                            </m:r>
                          </m:e>
                        </m:acc>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𝑍</m:t>
                        </m:r>
                      </m:sub>
                    </m:sSub>
                    <m:d>
                      <m:d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sSub>
                          <m:sSubPr>
                            <m:ctrlPr>
                              <a:rPr lang="en-US" altLang="zh-CN" i="1" dirty="0" smtClean="0">
                                <a:solidFill>
                                  <a:sysClr val="windowText" lastClr="000000"/>
                                </a:solidFill>
                                <a:latin typeface="Cambria Math" panose="02040503050406030204" pitchFamily="18" charset="0"/>
                                <a:ea typeface="黑体" panose="02010609060101010101" pitchFamily="49" charset="-122"/>
                              </a:rPr>
                            </m:ctrlPr>
                          </m:sSubPr>
                          <m:e>
                            <m:r>
                              <a:rPr lang="en-US" altLang="zh-CN" i="1" dirty="0" smtClean="0">
                                <a:solidFill>
                                  <a:sysClr val="windowText" lastClr="000000"/>
                                </a:solidFill>
                                <a:latin typeface="Cambria Math" panose="02040503050406030204" pitchFamily="18" charset="0"/>
                                <a:ea typeface="Cambria Math" panose="02040503050406030204" pitchFamily="18" charset="0"/>
                              </a:rPr>
                              <m:t>ℱ</m:t>
                            </m:r>
                          </m:e>
                          <m:sub>
                            <m:r>
                              <a:rPr lang="en-US" altLang="zh-CN" i="1" dirty="0" smtClean="0">
                                <a:solidFill>
                                  <a:sysClr val="windowText" lastClr="000000"/>
                                </a:solidFill>
                                <a:latin typeface="Cambria Math" panose="02040503050406030204" pitchFamily="18" charset="0"/>
                                <a:ea typeface="Cambria Math" panose="02040503050406030204" pitchFamily="18" charset="0"/>
                              </a:rPr>
                              <m:t>ℋ</m:t>
                            </m:r>
                          </m:sub>
                        </m:sSub>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𝔼</m:t>
                        </m:r>
                      </m:e>
                      <m:sub>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sub>
                    </m:sSub>
                    <m:d>
                      <m:dPr>
                        <m:begChr m:val="["/>
                        <m:end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func>
                          <m:func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uncPr>
                          <m:fName>
                            <m:limLow>
                              <m:limLow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limLowPr>
                              <m:e>
                                <m:r>
                                  <m:rPr>
                                    <m:sty m:val="p"/>
                                  </m:rP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sup</m:t>
                                </m:r>
                              </m:e>
                              <m:lim>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ℱ</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sub>
                                </m:sSub>
                              </m:lim>
                            </m:limLow>
                          </m:fName>
                          <m:e>
                            <m:f>
                              <m:f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fPr>
                              <m:num>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num>
                              <m:den>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den>
                            </m:f>
                            <m:nary>
                              <m:naryPr>
                                <m:chr m:val="∑"/>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naryPr>
                              <m:sub>
                                <m:r>
                                  <m:rPr>
                                    <m:brk m:alnAt="23"/>
                                  </m:r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sub>
                              <m:sup>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sup>
                              <m:e>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𝜎</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𝑖</m:t>
                                    </m:r>
                                  </m:sub>
                                </m:sSub>
                                <m:sSub>
                                  <m:sSubPr>
                                    <m:ctrlP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𝑓</m:t>
                                    </m:r>
                                  </m:e>
                                  <m: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𝑦</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e>
                            </m:nary>
                          </m:e>
                        </m:func>
                      </m:e>
                    </m:d>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zh-CN" altLang="en-US" i="1">
                                    <a:solidFill>
                                      <a:sysClr val="windowText" lastClr="000000"/>
                                    </a:solidFill>
                                    <a:latin typeface="Cambria Math" panose="02040503050406030204" pitchFamily="18" charset="0"/>
                                    <a:ea typeface="黑体" panose="02010609060101010101" pitchFamily="49" charset="-122"/>
                                  </a:rPr>
                                  <m:t>𝕀</m:t>
                                </m:r>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b="0" i="1" smtClean="0">
                                    <a:solidFill>
                                      <a:sysClr val="windowText" lastClr="000000"/>
                                    </a:solidFill>
                                    <a:latin typeface="Cambria Math" panose="02040503050406030204" pitchFamily="18" charset="0"/>
                                    <a:ea typeface="黑体" panose="02010609060101010101" pitchFamily="49" charset="-122"/>
                                  </a:rPr>
                                  <m:t>h</m:t>
                                </m:r>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e>
                                </m:d>
                                <m:r>
                                  <a:rPr lang="en-US" altLang="zh-CN" b="0" i="1" smtClean="0">
                                    <a:solidFill>
                                      <a:sysClr val="windowText" lastClr="000000"/>
                                    </a:solidFill>
                                    <a:latin typeface="Cambria Math" panose="02040503050406030204" pitchFamily="18" charset="0"/>
                                    <a:ea typeface="Cambria Math" panose="02040503050406030204" pitchFamily="18" charset="0"/>
                                  </a:rPr>
                                  <m:t>≠</m:t>
                                </m:r>
                                <m:sSub>
                                  <m:sSubPr>
                                    <m:ctrlPr>
                                      <a:rPr lang="en-US" altLang="zh-CN" b="0" i="1" smtClean="0">
                                        <a:solidFill>
                                          <a:sysClr val="windowText" lastClr="000000"/>
                                        </a:solidFill>
                                        <a:latin typeface="Cambria Math" panose="02040503050406030204" pitchFamily="18" charset="0"/>
                                        <a:ea typeface="Cambria Math" panose="02040503050406030204" pitchFamily="18" charset="0"/>
                                      </a:rPr>
                                    </m:ctrlPr>
                                  </m:sSubPr>
                                  <m:e>
                                    <m:r>
                                      <a:rPr lang="en-US" altLang="zh-CN" b="0" i="1" smtClean="0">
                                        <a:solidFill>
                                          <a:sysClr val="windowText" lastClr="000000"/>
                                        </a:solidFill>
                                        <a:latin typeface="Cambria Math" panose="02040503050406030204" pitchFamily="18" charset="0"/>
                                        <a:ea typeface="Cambria Math" panose="02040503050406030204" pitchFamily="18" charset="0"/>
                                      </a:rPr>
                                      <m:t>𝑦</m:t>
                                    </m:r>
                                  </m:e>
                                  <m:sub>
                                    <m:r>
                                      <a:rPr lang="en-US" altLang="zh-CN" b="0" i="1" smtClean="0">
                                        <a:solidFill>
                                          <a:sysClr val="windowText" lastClr="000000"/>
                                        </a:solidFill>
                                        <a:latin typeface="Cambria Math" panose="02040503050406030204" pitchFamily="18" charset="0"/>
                                        <a:ea typeface="Cambria Math" panose="02040503050406030204" pitchFamily="18" charset="0"/>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 </m:t>
                                </m:r>
                              </m:e>
                            </m:nary>
                          </m:e>
                        </m:func>
                      </m:e>
                    </m:d>
                  </m:oMath>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buClr>
                    <a:srgbClr val="16754D"/>
                  </a:buClr>
                  <a:buSzPct val="120000"/>
                  <a:buNone/>
                  <a:defRPr/>
                </a:pPr>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r>
                      <a:rPr lang="en-US" altLang="zh-CN" b="0" i="0"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smtClean="0">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f>
                                  <m:fPr>
                                    <m:ctrlPr>
                                      <a:rPr lang="en-US" altLang="zh-CN" i="1" smtClean="0">
                                        <a:solidFill>
                                          <a:sysClr val="windowText" lastClr="000000"/>
                                        </a:solidFill>
                                        <a:latin typeface="Cambria Math" panose="02040503050406030204" pitchFamily="18" charset="0"/>
                                        <a:ea typeface="黑体" panose="02010609060101010101" pitchFamily="49" charset="-122"/>
                                      </a:rPr>
                                    </m:ctrlPr>
                                  </m:fPr>
                                  <m:num>
                                    <m:r>
                                      <a:rPr lang="en-US" altLang="zh-CN" b="0" i="1" smtClean="0">
                                        <a:solidFill>
                                          <a:sysClr val="windowText" lastClr="000000"/>
                                        </a:solidFill>
                                        <a:latin typeface="Cambria Math" panose="02040503050406030204" pitchFamily="18" charset="0"/>
                                        <a:ea typeface="黑体" panose="02010609060101010101" pitchFamily="49" charset="-122"/>
                                      </a:rPr>
                                      <m:t>1−</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𝑦</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num>
                                  <m:den>
                                    <m:r>
                                      <a:rPr lang="en-US" altLang="zh-CN" b="0" i="1" smtClean="0">
                                        <a:solidFill>
                                          <a:sysClr val="windowText" lastClr="000000"/>
                                        </a:solidFill>
                                        <a:latin typeface="Cambria Math" panose="02040503050406030204" pitchFamily="18" charset="0"/>
                                        <a:ea typeface="黑体" panose="02010609060101010101" pitchFamily="49" charset="-122"/>
                                      </a:rPr>
                                      <m:t>2</m:t>
                                    </m:r>
                                  </m:den>
                                </m:f>
                              </m:e>
                            </m:nary>
                          </m:e>
                        </m:func>
                      </m:e>
                    </m:d>
                    <m:r>
                      <a:rPr lang="en-US" altLang="zh-CN" b="0" i="1" smtClean="0">
                        <a:solidFill>
                          <a:sysClr val="windowText" lastClr="000000"/>
                        </a:solidFill>
                        <a:latin typeface="Cambria Math" panose="02040503050406030204" pitchFamily="18" charset="0"/>
                        <a:ea typeface="黑体" panose="02010609060101010101" pitchFamily="49" charset="-122"/>
                      </a:rPr>
                      <m:t>=</m:t>
                    </m:r>
                    <m:f>
                      <m:fPr>
                        <m:ctrlPr>
                          <a:rPr lang="en-US" altLang="zh-CN" b="0" i="1" smtClean="0">
                            <a:solidFill>
                              <a:sysClr val="windowText" lastClr="000000"/>
                            </a:solidFill>
                            <a:latin typeface="Cambria Math" panose="02040503050406030204" pitchFamily="18" charset="0"/>
                            <a:ea typeface="黑体" panose="02010609060101010101" pitchFamily="49" charset="-122"/>
                          </a:rPr>
                        </m:ctrlPr>
                      </m:fPr>
                      <m:num>
                        <m:r>
                          <a:rPr lang="en-US" altLang="zh-CN" b="0" i="1" smtClean="0">
                            <a:solidFill>
                              <a:sysClr val="windowText" lastClr="000000"/>
                            </a:solidFill>
                            <a:latin typeface="Cambria Math" panose="02040503050406030204" pitchFamily="18" charset="0"/>
                            <a:ea typeface="黑体" panose="02010609060101010101" pitchFamily="49" charset="-122"/>
                          </a:rPr>
                          <m:t>1</m:t>
                        </m:r>
                      </m:num>
                      <m:den>
                        <m:r>
                          <a:rPr lang="en-US" altLang="zh-CN" b="0" i="1" smtClean="0">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𝔼</m:t>
                        </m:r>
                      </m:e>
                      <m:sub>
                        <m:r>
                          <a:rPr lang="zh-CN" altLang="en-US" i="1">
                            <a:solidFill>
                              <a:sysClr val="windowText" lastClr="000000"/>
                            </a:solidFill>
                            <a:latin typeface="Cambria Math" panose="02040503050406030204" pitchFamily="18" charset="0"/>
                            <a:ea typeface="黑体" panose="02010609060101010101" pitchFamily="49" charset="-122"/>
                          </a:rPr>
                          <m:t>𝜎</m:t>
                        </m:r>
                      </m:sub>
                    </m:sSub>
                    <m:d>
                      <m:dPr>
                        <m:begChr m:val="["/>
                        <m:endChr m:val="]"/>
                        <m:ctrlPr>
                          <a:rPr lang="en-US" altLang="zh-CN" i="1">
                            <a:solidFill>
                              <a:sysClr val="windowText" lastClr="000000"/>
                            </a:solidFill>
                            <a:latin typeface="Cambria Math" panose="02040503050406030204" pitchFamily="18" charset="0"/>
                            <a:ea typeface="黑体" panose="02010609060101010101" pitchFamily="49" charset="-122"/>
                          </a:rPr>
                        </m:ctrlPr>
                      </m:dPr>
                      <m:e>
                        <m:func>
                          <m:funcPr>
                            <m:ctrlPr>
                              <a:rPr lang="en-US" altLang="zh-CN" i="1">
                                <a:solidFill>
                                  <a:sysClr val="windowText" lastClr="000000"/>
                                </a:solidFill>
                                <a:latin typeface="Cambria Math" panose="02040503050406030204" pitchFamily="18" charset="0"/>
                                <a:ea typeface="黑体" panose="02010609060101010101" pitchFamily="49" charset="-122"/>
                              </a:rPr>
                            </m:ctrlPr>
                          </m:funcPr>
                          <m:fName>
                            <m:limLow>
                              <m:limLowPr>
                                <m:ctrlPr>
                                  <a:rPr lang="en-US" altLang="zh-CN" i="1">
                                    <a:solidFill>
                                      <a:sysClr val="windowText" lastClr="000000"/>
                                    </a:solidFill>
                                    <a:latin typeface="Cambria Math" panose="02040503050406030204" pitchFamily="18" charset="0"/>
                                    <a:ea typeface="黑体" panose="02010609060101010101" pitchFamily="49" charset="-122"/>
                                  </a:rPr>
                                </m:ctrlPr>
                              </m:limLowPr>
                              <m:e>
                                <m:r>
                                  <m:rPr>
                                    <m:sty m:val="p"/>
                                  </m:rPr>
                                  <a:rPr lang="en-US" altLang="zh-CN">
                                    <a:solidFill>
                                      <a:sysClr val="windowText" lastClr="000000"/>
                                    </a:solidFill>
                                    <a:latin typeface="Cambria Math" panose="02040503050406030204" pitchFamily="18" charset="0"/>
                                    <a:ea typeface="黑体" panose="02010609060101010101" pitchFamily="49" charset="-122"/>
                                  </a:rPr>
                                  <m:t>sup</m:t>
                                </m:r>
                              </m:e>
                              <m:lim>
                                <m:r>
                                  <a:rPr lang="en-US" altLang="zh-CN" i="1">
                                    <a:solidFill>
                                      <a:sysClr val="windowText" lastClr="000000"/>
                                    </a:solidFill>
                                    <a:latin typeface="Cambria Math" panose="02040503050406030204" pitchFamily="18" charset="0"/>
                                    <a:ea typeface="黑体" panose="02010609060101010101" pitchFamily="49" charset="-122"/>
                                  </a:rPr>
                                  <m:t>h</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Cambria Math" panose="02040503050406030204" pitchFamily="18" charset="0"/>
                                  </a:rPr>
                                  <m:t>ℋ</m:t>
                                </m:r>
                              </m:lim>
                            </m:limLow>
                          </m:fName>
                          <m:e>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𝑚</m:t>
                                </m:r>
                              </m:den>
                            </m:f>
                            <m:nary>
                              <m:naryPr>
                                <m:chr m:val="∑"/>
                                <m:ctrlPr>
                                  <a:rPr lang="en-US" altLang="zh-CN" i="1">
                                    <a:solidFill>
                                      <a:sysClr val="windowText" lastClr="000000"/>
                                    </a:solidFill>
                                    <a:latin typeface="Cambria Math" panose="02040503050406030204" pitchFamily="18" charset="0"/>
                                    <a:ea typeface="黑体" panose="02010609060101010101" pitchFamily="49" charset="-122"/>
                                  </a:rPr>
                                </m:ctrlPr>
                              </m:naryPr>
                              <m:sub>
                                <m:r>
                                  <m:rPr>
                                    <m:brk m:alnAt="23"/>
                                  </m:rPr>
                                  <a:rPr lang="en-US" altLang="zh-CN" i="1">
                                    <a:solidFill>
                                      <a:sysClr val="windowText" lastClr="000000"/>
                                    </a:solidFill>
                                    <a:latin typeface="Cambria Math" panose="02040503050406030204" pitchFamily="18" charset="0"/>
                                    <a:ea typeface="黑体" panose="02010609060101010101" pitchFamily="49" charset="-122"/>
                                  </a:rPr>
                                  <m:t>𝑖</m:t>
                                </m:r>
                                <m:r>
                                  <a:rPr lang="en-US" altLang="zh-CN" i="1">
                                    <a:solidFill>
                                      <a:sysClr val="windowText" lastClr="000000"/>
                                    </a:solidFill>
                                    <a:latin typeface="Cambria Math" panose="02040503050406030204" pitchFamily="18" charset="0"/>
                                    <a:ea typeface="黑体" panose="02010609060101010101" pitchFamily="49" charset="-122"/>
                                  </a:rPr>
                                  <m:t>=1</m:t>
                                </m:r>
                              </m:sub>
                              <m:sup>
                                <m:r>
                                  <a:rPr lang="en-US" altLang="zh-CN" i="1">
                                    <a:solidFill>
                                      <a:sysClr val="windowText" lastClr="000000"/>
                                    </a:solidFill>
                                    <a:latin typeface="Cambria Math" panose="02040503050406030204" pitchFamily="18" charset="0"/>
                                    <a:ea typeface="黑体" panose="02010609060101010101" pitchFamily="49" charset="-122"/>
                                  </a:rPr>
                                  <m:t>𝑚</m:t>
                                </m:r>
                              </m:sup>
                              <m:e>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zh-CN" altLang="en-US" i="1">
                                        <a:solidFill>
                                          <a:sysClr val="windowText" lastClr="000000"/>
                                        </a:solidFill>
                                        <a:latin typeface="Cambria Math" panose="02040503050406030204" pitchFamily="18" charset="0"/>
                                        <a:ea typeface="黑体" panose="02010609060101010101" pitchFamily="49" charset="-122"/>
                                      </a:rPr>
                                      <m:t>𝜎</m:t>
                                    </m:r>
                                  </m:e>
                                  <m:sub>
                                    <m:r>
                                      <a:rPr lang="en-US" altLang="zh-CN" i="1">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h</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b="0" i="1" smtClean="0">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𝑖</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smtClean="0">
                                    <a:solidFill>
                                      <a:sysClr val="windowText" lastClr="000000"/>
                                    </a:solidFill>
                                    <a:latin typeface="Cambria Math" panose="02040503050406030204" pitchFamily="18" charset="0"/>
                                    <a:ea typeface="黑体" panose="02010609060101010101" pitchFamily="49" charset="-122"/>
                                  </a:rPr>
                                  <m:t> </m:t>
                                </m:r>
                              </m:e>
                            </m:nary>
                          </m:e>
                        </m:func>
                      </m:e>
                    </m:d>
                    <m:r>
                      <a:rPr lang="en-US" altLang="zh-CN" b="0" i="1" smtClean="0">
                        <a:solidFill>
                          <a:sysClr val="windowText" lastClr="000000"/>
                        </a:solidFill>
                        <a:latin typeface="Cambria Math" panose="02040503050406030204" pitchFamily="18" charset="0"/>
                        <a:ea typeface="黑体" panose="02010609060101010101" pitchFamily="49" charset="-122"/>
                      </a:rPr>
                      <m:t>=</m:t>
                    </m:r>
                    <m:f>
                      <m:fPr>
                        <m:ctrlPr>
                          <a:rPr lang="en-US" altLang="zh-CN" i="1">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𝑅</m:t>
                            </m:r>
                          </m:e>
                        </m:acc>
                      </m:e>
                      <m:sub>
                        <m:r>
                          <a:rPr lang="en-US" altLang="zh-CN" b="0" i="1" smtClean="0">
                            <a:solidFill>
                              <a:sysClr val="windowText" lastClr="000000"/>
                            </a:solidFill>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oMath>
                </a14:m>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a:p>
                <a:pPr marL="0" lvl="1" indent="0">
                  <a:lnSpc>
                    <a:spcPct val="100000"/>
                  </a:lnSpc>
                  <a:spcBef>
                    <a:spcPts val="0"/>
                  </a:spcBef>
                  <a:buClr>
                    <a:srgbClr val="16754D"/>
                  </a:buClr>
                  <a:buSzPct val="120000"/>
                  <a:buNone/>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同时对两边取期望得 </a:t>
                </a:r>
                <a14:m>
                  <m:oMath xmlns:m="http://schemas.openxmlformats.org/officeDocument/2006/math">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sSub>
                          <m:sSubPr>
                            <m:ctrlPr>
                              <a:rPr lang="en-US" altLang="zh-CN" i="1" dirty="0" smtClean="0">
                                <a:solidFill>
                                  <a:sysClr val="windowText" lastClr="000000"/>
                                </a:solidFill>
                                <a:latin typeface="Cambria Math" panose="02040503050406030204" pitchFamily="18" charset="0"/>
                                <a:ea typeface="Cambria Math" panose="02040503050406030204" pitchFamily="18" charset="0"/>
                              </a:rPr>
                            </m:ctrlPr>
                          </m:sSubPr>
                          <m:e>
                            <m:r>
                              <a:rPr lang="en-US" altLang="zh-CN" i="1" dirty="0" smtClean="0">
                                <a:solidFill>
                                  <a:sysClr val="windowText" lastClr="000000"/>
                                </a:solidFill>
                                <a:latin typeface="Cambria Math" panose="02040503050406030204" pitchFamily="18" charset="0"/>
                                <a:ea typeface="Cambria Math" panose="02040503050406030204" pitchFamily="18" charset="0"/>
                              </a:rPr>
                              <m:t>ℱ</m:t>
                            </m:r>
                          </m:e>
                          <m:sub>
                            <m:r>
                              <a:rPr lang="en-US" altLang="zh-CN" i="1" dirty="0">
                                <a:solidFill>
                                  <a:sysClr val="windowText" lastClr="000000"/>
                                </a:solidFill>
                                <a:latin typeface="Cambria Math" panose="02040503050406030204" pitchFamily="18" charset="0"/>
                                <a:ea typeface="Cambria Math" panose="02040503050406030204" pitchFamily="18" charset="0"/>
                              </a:rPr>
                              <m:t>ℋ</m:t>
                            </m:r>
                          </m:sub>
                        </m:sSub>
                      </m:e>
                    </m:d>
                    <m:r>
                      <a:rPr lang="en-US" altLang="zh-CN" b="0" i="0" smtClean="0">
                        <a:solidFill>
                          <a:sysClr val="windowText" lastClr="000000"/>
                        </a:solidFill>
                        <a:latin typeface="Cambria Math" panose="02040503050406030204" pitchFamily="18" charset="0"/>
                        <a:ea typeface="黑体" panose="02010609060101010101" pitchFamily="49" charset="-122"/>
                      </a:rPr>
                      <m:t>=</m:t>
                    </m:r>
                    <m:f>
                      <m:fPr>
                        <m:ctrlPr>
                          <a:rPr lang="en-US" altLang="zh-CN" i="1" smtClean="0">
                            <a:solidFill>
                              <a:sysClr val="windowText" lastClr="000000"/>
                            </a:solidFill>
                            <a:latin typeface="Cambria Math" panose="02040503050406030204" pitchFamily="18" charset="0"/>
                            <a:ea typeface="黑体" panose="02010609060101010101" pitchFamily="49" charset="-122"/>
                          </a:rPr>
                        </m:ctrlPr>
                      </m:fPr>
                      <m:num>
                        <m:r>
                          <a:rPr lang="en-US" altLang="zh-CN" i="1">
                            <a:solidFill>
                              <a:sysClr val="windowText" lastClr="000000"/>
                            </a:solidFill>
                            <a:latin typeface="Cambria Math" panose="02040503050406030204" pitchFamily="18" charset="0"/>
                            <a:ea typeface="黑体" panose="02010609060101010101" pitchFamily="49" charset="-122"/>
                          </a:rPr>
                          <m:t>1</m:t>
                        </m:r>
                      </m:num>
                      <m:den>
                        <m:r>
                          <a:rPr lang="en-US" altLang="zh-CN" i="1">
                            <a:solidFill>
                              <a:sysClr val="windowText" lastClr="000000"/>
                            </a:solidFill>
                            <a:latin typeface="Cambria Math" panose="02040503050406030204" pitchFamily="18" charset="0"/>
                            <a:ea typeface="黑体" panose="02010609060101010101" pitchFamily="49" charset="-122"/>
                          </a:rPr>
                          <m:t>2</m:t>
                        </m:r>
                      </m:den>
                    </m:f>
                    <m:sSub>
                      <m:sSubPr>
                        <m:ctrlPr>
                          <a:rPr lang="en-US" altLang="zh-CN" i="1" smtClean="0">
                            <a:solidFill>
                              <a:sysClr val="windowText" lastClr="000000"/>
                            </a:solidFill>
                            <a:latin typeface="Cambria Math" panose="02040503050406030204" pitchFamily="18" charset="0"/>
                            <a:ea typeface="黑体" panose="02010609060101010101" pitchFamily="49" charset="-122"/>
                          </a:rPr>
                        </m:ctrlPr>
                      </m:sSubPr>
                      <m:e>
                        <m:r>
                          <a:rPr lang="en-US" altLang="zh-CN" b="0" i="1" smtClean="0">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由定理</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12.5</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得证。</a:t>
                </a:r>
                <a:endPar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7" name="内容占位符 4">
                <a:extLst>
                  <a:ext uri="{FF2B5EF4-FFF2-40B4-BE49-F238E27FC236}">
                    <a16:creationId xmlns:a16="http://schemas.microsoft.com/office/drawing/2014/main" id="{D7D3FF59-5FBF-9853-2249-F109AE14F224}"/>
                  </a:ext>
                </a:extLst>
              </p:cNvPr>
              <p:cNvSpPr txBox="1">
                <a:spLocks noRot="1" noChangeAspect="1" noMove="1" noResize="1" noEditPoints="1" noAdjustHandles="1" noChangeArrowheads="1" noChangeShapeType="1" noTextEdit="1"/>
              </p:cNvSpPr>
              <p:nvPr/>
            </p:nvSpPr>
            <p:spPr bwMode="auto">
              <a:xfrm>
                <a:off x="105402" y="3951710"/>
                <a:ext cx="8961942" cy="2443410"/>
              </a:xfrm>
              <a:prstGeom prst="rect">
                <a:avLst/>
              </a:prstGeom>
              <a:blipFill>
                <a:blip r:embed="rId3"/>
                <a:stretch>
                  <a:fillRect l="-1701" t="-3741" r="-340" b="-174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Tree>
    <p:extLst>
      <p:ext uri="{BB962C8B-B14F-4D97-AF65-F5344CB8AC3E}">
        <p14:creationId xmlns:p14="http://schemas.microsoft.com/office/powerpoint/2010/main" val="3094242986"/>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73</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mc:AlternateContent xmlns:mc="http://schemas.openxmlformats.org/markup-compatibility/2006" xmlns:a14="http://schemas.microsoft.com/office/drawing/2010/main">
        <mc:Choice Requires="a14">
          <p:sp>
            <p:nvSpPr>
              <p:cNvPr id="6" name="内容占位符 4">
                <a:extLst>
                  <a:ext uri="{FF2B5EF4-FFF2-40B4-BE49-F238E27FC236}">
                    <a16:creationId xmlns:a16="http://schemas.microsoft.com/office/drawing/2014/main" id="{E92AC51D-8348-D0BA-B7F6-75F0C092B379}"/>
                  </a:ext>
                </a:extLst>
              </p:cNvPr>
              <p:cNvSpPr txBox="1">
                <a:spLocks/>
              </p:cNvSpPr>
              <p:nvPr/>
            </p:nvSpPr>
            <p:spPr>
              <a:xfrm>
                <a:off x="129247" y="4211293"/>
                <a:ext cx="8986652" cy="1365370"/>
              </a:xfrm>
              <a:prstGeom prst="rect">
                <a:avLst/>
              </a:prstGeom>
            </p:spPr>
            <p:txBody>
              <a:bodyPr lIns="0" tIns="0" rIns="0" bIns="0">
                <a:noAutofit/>
              </a:bodyPr>
              <a:lstStyle>
                <a:lvl1pPr marL="228600" indent="-360000" algn="l" defTabSz="914400" rtl="0" eaLnBrk="1" latinLnBrk="0" hangingPunct="1">
                  <a:lnSpc>
                    <a:spcPct val="90000"/>
                  </a:lnSpc>
                  <a:spcBef>
                    <a:spcPts val="1000"/>
                  </a:spcBef>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60000" algn="l" defTabSz="914400" rtl="0" eaLnBrk="1" latinLnBrk="0" hangingPunct="1">
                  <a:lnSpc>
                    <a:spcPct val="90000"/>
                  </a:lnSpc>
                  <a:spcBef>
                    <a:spcPts val="500"/>
                  </a:spcBef>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defTabSz="914400" rtl="0" eaLnBrk="1" latinLnBrk="0" hangingPunct="1">
                  <a:lnSpc>
                    <a:spcPct val="90000"/>
                  </a:lnSpc>
                  <a:spcBef>
                    <a:spcPts val="500"/>
                  </a:spcBef>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defTabSz="914400" rtl="0" eaLnBrk="1" latinLnBrk="0" hangingPunct="1">
                  <a:lnSpc>
                    <a:spcPct val="90000"/>
                  </a:lnSpc>
                  <a:spcBef>
                    <a:spcPts val="500"/>
                  </a:spcBef>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324000" marR="0" lvl="1" indent="-324000" algn="l" defTabSz="914400" rtl="0" eaLnBrk="1" fontAlgn="auto" latinLnBrk="0" hangingPunct="1">
                  <a:lnSpc>
                    <a:spcPct val="100000"/>
                  </a:lnSpc>
                  <a:spcBef>
                    <a:spcPts val="600"/>
                  </a:spcBef>
                  <a:spcAft>
                    <a:spcPts val="0"/>
                  </a:spcAft>
                  <a:buClr>
                    <a:srgbClr val="16754D"/>
                  </a:buClr>
                  <a:buSzPct val="120000"/>
                  <a:buFont typeface="Arial" panose="020B0604020202020204" pitchFamily="34" charset="0"/>
                  <a:buChar char="•"/>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12.3(</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维的泛化误差界</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与分布无关、数据独立的</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324000" marR="0" lvl="1" indent="-324000" algn="l" defTabSz="914400" rtl="0" eaLnBrk="1" fontAlgn="auto" latinLnBrk="0" hangingPunct="1">
                  <a:lnSpc>
                    <a:spcPct val="100000"/>
                  </a:lnSpc>
                  <a:spcBef>
                    <a:spcPts val="600"/>
                  </a:spcBef>
                  <a:spcAft>
                    <a:spcPts val="0"/>
                  </a:spcAft>
                  <a:buClr>
                    <a:srgbClr val="16754D"/>
                  </a:buClr>
                  <a:buSzPct val="120000"/>
                  <a:buFont typeface="Arial" panose="020B0604020202020204" pitchFamily="34" charset="0"/>
                  <a:buChar char="•"/>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定理</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12.6(</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复杂度的泛化误差界</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与分布 </a:t>
                </a:r>
                <a14:m>
                  <m:oMath xmlns:m="http://schemas.openxmlformats.org/officeDocument/2006/math">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rPr>
                      <m:t>𝒟</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或样本 </a:t>
                </a:r>
                <a14:m>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rPr>
                      <m:t>𝐷</m:t>
                    </m:r>
                  </m:oMath>
                </a14:m>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有关</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a:p>
                <a:pPr marL="0" marR="0" lvl="1" indent="0" algn="l" defTabSz="914400" rtl="0" eaLnBrk="1" fontAlgn="auto" latinLnBrk="0" hangingPunct="1">
                  <a:lnSpc>
                    <a:spcPct val="100000"/>
                  </a:lnSpc>
                  <a:spcBef>
                    <a:spcPts val="60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基于 </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Rademacher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复杂度的泛化误差上界依赖于具体学习问题的数据分布</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类似于为该问题“量身定制”的</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因此它通常比基于</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VC</a:t>
                </a:r>
                <a:r>
                  <a:rPr kumimoji="0" lang="zh-CN" altLang="en-US"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维的泛化误差上界要更紧一些</a:t>
                </a:r>
                <a:r>
                  <a:rPr kumimoji="0" lang="en-US" altLang="zh-CN" b="0" i="0" u="none" strike="noStrike" kern="1200" cap="none" spc="0" normalizeH="0" noProof="0" dirty="0">
                    <a:ln>
                      <a:noFill/>
                    </a:ln>
                    <a:solidFill>
                      <a:prstClr val="black"/>
                    </a:solidFill>
                    <a:effectLst/>
                    <a:uLnTx/>
                    <a:uFillTx/>
                    <a:latin typeface="Arial" panose="020B0604020202020204" pitchFamily="34" charset="0"/>
                    <a:ea typeface="黑体" panose="02010609060101010101" pitchFamily="49" charset="-122"/>
                  </a:rPr>
                  <a:t>.</a:t>
                </a:r>
              </a:p>
            </p:txBody>
          </p:sp>
        </mc:Choice>
        <mc:Fallback xmlns="">
          <p:sp>
            <p:nvSpPr>
              <p:cNvPr id="6" name="内容占位符 4">
                <a:extLst>
                  <a:ext uri="{FF2B5EF4-FFF2-40B4-BE49-F238E27FC236}">
                    <a16:creationId xmlns:a16="http://schemas.microsoft.com/office/drawing/2014/main" id="{E92AC51D-8348-D0BA-B7F6-75F0C092B379}"/>
                  </a:ext>
                </a:extLst>
              </p:cNvPr>
              <p:cNvSpPr txBox="1">
                <a:spLocks noRot="1" noChangeAspect="1" noMove="1" noResize="1" noEditPoints="1" noAdjustHandles="1" noChangeArrowheads="1" noChangeShapeType="1" noTextEdit="1"/>
              </p:cNvSpPr>
              <p:nvPr/>
            </p:nvSpPr>
            <p:spPr>
              <a:xfrm>
                <a:off x="129247" y="4211293"/>
                <a:ext cx="8986652" cy="1365370"/>
              </a:xfrm>
              <a:prstGeom prst="rect">
                <a:avLst/>
              </a:prstGeom>
              <a:blipFill>
                <a:blip r:embed="rId2"/>
                <a:stretch>
                  <a:fillRect l="-1900" t="-8482" r="-1493" b="-12054"/>
                </a:stretch>
              </a:blipFill>
            </p:spPr>
            <p:txBody>
              <a:bodyPr/>
              <a:lstStyle/>
              <a:p>
                <a:r>
                  <a:rPr lang="zh-CN" altLang="en-US">
                    <a:noFill/>
                  </a:rPr>
                  <a:t> </a:t>
                </a:r>
              </a:p>
            </p:txBody>
          </p:sp>
        </mc:Fallback>
      </mc:AlternateContent>
      <p:cxnSp>
        <p:nvCxnSpPr>
          <p:cNvPr id="8" name="直接箭头连接符 7">
            <a:extLst>
              <a:ext uri="{FF2B5EF4-FFF2-40B4-BE49-F238E27FC236}">
                <a16:creationId xmlns:a16="http://schemas.microsoft.com/office/drawing/2014/main" id="{5AE08A0C-6F0F-49AF-5970-28FEE6B75272}"/>
              </a:ext>
            </a:extLst>
          </p:cNvPr>
          <p:cNvCxnSpPr>
            <a:cxnSpLocks/>
          </p:cNvCxnSpPr>
          <p:nvPr/>
        </p:nvCxnSpPr>
        <p:spPr>
          <a:xfrm flipV="1">
            <a:off x="6767655" y="3463109"/>
            <a:ext cx="90025" cy="1114366"/>
          </a:xfrm>
          <a:prstGeom prst="straightConnector1">
            <a:avLst/>
          </a:prstGeom>
          <a:noFill/>
          <a:ln w="38100" cap="flat" cmpd="sng" algn="ctr">
            <a:solidFill>
              <a:srgbClr val="C00000"/>
            </a:solidFill>
            <a:prstDash val="solid"/>
            <a:miter lim="800000"/>
            <a:tailEnd type="triangle"/>
          </a:ln>
          <a:effectLst/>
        </p:spPr>
      </p:cxnSp>
      <p:cxnSp>
        <p:nvCxnSpPr>
          <p:cNvPr id="9" name="直接箭头连接符 8">
            <a:extLst>
              <a:ext uri="{FF2B5EF4-FFF2-40B4-BE49-F238E27FC236}">
                <a16:creationId xmlns:a16="http://schemas.microsoft.com/office/drawing/2014/main" id="{33469D84-6EC3-7179-209D-DA3369BCFBA0}"/>
              </a:ext>
            </a:extLst>
          </p:cNvPr>
          <p:cNvCxnSpPr>
            <a:cxnSpLocks/>
          </p:cNvCxnSpPr>
          <p:nvPr/>
        </p:nvCxnSpPr>
        <p:spPr>
          <a:xfrm flipH="1" flipV="1">
            <a:off x="7156174" y="4100601"/>
            <a:ext cx="640866" cy="504249"/>
          </a:xfrm>
          <a:prstGeom prst="straightConnector1">
            <a:avLst/>
          </a:prstGeom>
          <a:noFill/>
          <a:ln w="38100" cap="flat" cmpd="sng" algn="ctr">
            <a:solidFill>
              <a:srgbClr val="C00000"/>
            </a:solidFill>
            <a:prstDash val="solid"/>
            <a:miter lim="800000"/>
            <a:tailEnd type="triangle"/>
          </a:ln>
          <a:effectLst/>
        </p:spPr>
      </p:cxnSp>
      <mc:AlternateContent xmlns:mc="http://schemas.openxmlformats.org/markup-compatibility/2006" xmlns:a14="http://schemas.microsoft.com/office/drawing/2010/main">
        <mc:Choice Requires="a14">
          <p:sp>
            <p:nvSpPr>
              <p:cNvPr id="12" name="文本框 11">
                <a:extLst>
                  <a:ext uri="{FF2B5EF4-FFF2-40B4-BE49-F238E27FC236}">
                    <a16:creationId xmlns:a16="http://schemas.microsoft.com/office/drawing/2014/main" id="{45C5B04D-554D-EC4D-BE41-063B7C554325}"/>
                  </a:ext>
                </a:extLst>
              </p:cNvPr>
              <p:cNvSpPr txBox="1"/>
              <p:nvPr/>
            </p:nvSpPr>
            <p:spPr>
              <a:xfrm>
                <a:off x="129247" y="5627688"/>
                <a:ext cx="8751931" cy="977122"/>
              </a:xfrm>
              <a:prstGeom prst="rect">
                <a:avLst/>
              </a:prstGeom>
              <a:noFill/>
            </p:spPr>
            <p:txBody>
              <a:bodyPr wrap="square" lIns="0" tIns="0" rIns="0" bIns="0">
                <a:spAutoFit/>
              </a:bodyPr>
              <a:lstStyle/>
              <a:p>
                <a:r>
                  <a:rPr lang="zh-CN" altLang="en-US" sz="2000" dirty="0">
                    <a:latin typeface="Arial" panose="020B0604020202020204" pitchFamily="34" charset="0"/>
                    <a:ea typeface="黑体" panose="02010609060101010101" pitchFamily="49" charset="-122"/>
                  </a:rPr>
                  <a:t>从 </a:t>
                </a:r>
                <a:r>
                  <a:rPr lang="en-US" altLang="zh-CN" sz="2000" dirty="0">
                    <a:latin typeface="Arial" panose="020B0604020202020204" pitchFamily="34" charset="0"/>
                    <a:ea typeface="黑体" panose="02010609060101010101" pitchFamily="49" charset="-122"/>
                  </a:rPr>
                  <a:t>Rademacher </a:t>
                </a:r>
                <a:r>
                  <a:rPr lang="zh-CN" altLang="en-US" sz="2000" dirty="0">
                    <a:latin typeface="Arial" panose="020B0604020202020204" pitchFamily="34" charset="0"/>
                    <a:ea typeface="黑体" panose="02010609060101010101" pitchFamily="49" charset="-122"/>
                  </a:rPr>
                  <a:t>复杂度和增长函数能推导出基于</a:t>
                </a:r>
                <a:r>
                  <a:rPr lang="en-US" altLang="zh-CN" sz="2000" dirty="0">
                    <a:latin typeface="Arial" panose="020B0604020202020204" pitchFamily="34" charset="0"/>
                    <a:ea typeface="黑体" panose="02010609060101010101" pitchFamily="49" charset="-122"/>
                  </a:rPr>
                  <a:t>VC</a:t>
                </a:r>
                <a:r>
                  <a:rPr lang="zh-CN" altLang="en-US" sz="2000" dirty="0">
                    <a:latin typeface="Arial" panose="020B0604020202020204" pitchFamily="34" charset="0"/>
                    <a:ea typeface="黑体" panose="02010609060101010101" pitchFamily="49" charset="-122"/>
                  </a:rPr>
                  <a:t>维的泛化误差上界</a:t>
                </a:r>
                <a:r>
                  <a:rPr lang="en-US" altLang="zh-CN" sz="2000" dirty="0">
                    <a:latin typeface="Arial" panose="020B0604020202020204" pitchFamily="34" charset="0"/>
                    <a:ea typeface="黑体" panose="02010609060101010101" pitchFamily="49" charset="-122"/>
                  </a:rPr>
                  <a:t>: </a:t>
                </a:r>
              </a:p>
              <a:p>
                <a:r>
                  <a:rPr lang="zh-CN" altLang="en-US" sz="2000" dirty="0">
                    <a:latin typeface="Arial" panose="020B0604020202020204" pitchFamily="34" charset="0"/>
                    <a:ea typeface="黑体" panose="02010609060101010101" pitchFamily="49" charset="-122"/>
                  </a:rPr>
                  <a:t>由定理</a:t>
                </a:r>
                <a:r>
                  <a:rPr lang="en-US" altLang="zh-CN" sz="2000" dirty="0">
                    <a:latin typeface="Arial" panose="020B0604020202020204" pitchFamily="34" charset="0"/>
                    <a:ea typeface="黑体" panose="02010609060101010101" pitchFamily="49" charset="-122"/>
                  </a:rPr>
                  <a:t>12.6,</a:t>
                </a:r>
                <a:r>
                  <a:rPr lang="zh-CN" altLang="en-US" sz="2000" dirty="0">
                    <a:latin typeface="Arial" panose="020B0604020202020204" pitchFamily="34" charset="0"/>
                    <a:ea typeface="黑体" panose="02010609060101010101" pitchFamily="49" charset="-122"/>
                  </a:rPr>
                  <a:t> 定理</a:t>
                </a:r>
                <a:r>
                  <a:rPr lang="en-US" altLang="zh-CN" sz="2000" dirty="0">
                    <a:latin typeface="Arial" panose="020B0604020202020204" pitchFamily="34" charset="0"/>
                    <a:ea typeface="黑体" panose="02010609060101010101" pitchFamily="49" charset="-122"/>
                  </a:rPr>
                  <a:t>12.7,</a:t>
                </a:r>
                <a:r>
                  <a:rPr lang="zh-CN" altLang="en-US" sz="2000" dirty="0">
                    <a:latin typeface="Arial" panose="020B0604020202020204" pitchFamily="34" charset="0"/>
                    <a:ea typeface="黑体" panose="02010609060101010101" pitchFamily="49" charset="-122"/>
                  </a:rPr>
                  <a:t> 推论</a:t>
                </a:r>
                <a:r>
                  <a:rPr lang="en-US" altLang="zh-CN" sz="2000" dirty="0">
                    <a:latin typeface="Arial" panose="020B0604020202020204" pitchFamily="34" charset="0"/>
                    <a:ea typeface="黑体" panose="02010609060101010101" pitchFamily="49" charset="-122"/>
                  </a:rPr>
                  <a:t>12.2 </a:t>
                </a:r>
                <a:r>
                  <a:rPr lang="zh-CN" altLang="en-US" sz="2000" dirty="0">
                    <a:latin typeface="Arial" panose="020B0604020202020204" pitchFamily="34" charset="0"/>
                    <a:ea typeface="黑体" panose="02010609060101010101" pitchFamily="49" charset="-122"/>
                  </a:rPr>
                  <a:t>可得</a:t>
                </a:r>
                <a:r>
                  <a:rPr lang="en-US" altLang="zh-CN" sz="2000" dirty="0">
                    <a:latin typeface="Arial" panose="020B0604020202020204" pitchFamily="34" charset="0"/>
                    <a:ea typeface="黑体" panose="02010609060101010101" pitchFamily="49" charset="-122"/>
                  </a:rPr>
                  <a:t>:</a:t>
                </a:r>
                <a:r>
                  <a:rPr kumimoji="0" lang="en-US" altLang="zh-CN" sz="2000" b="0" i="0" u="none" strike="noStrike" kern="1200" cap="none" spc="0" normalizeH="0" baseline="0" noProof="0" dirty="0">
                    <a:ln>
                      <a:noFill/>
                    </a:ln>
                    <a:solidFill>
                      <a:sysClr val="windowText" lastClr="000000"/>
                    </a:solidFill>
                    <a:effectLst/>
                    <a:uLnTx/>
                    <a:uFillTx/>
                    <a:latin typeface="Times New Roman"/>
                    <a:ea typeface="黑体" panose="02010609060101010101" pitchFamily="49" charset="-122"/>
                    <a:cs typeface="+mn-cs"/>
                  </a:rPr>
                  <a:t> </a:t>
                </a:r>
                <a14:m>
                  <m:oMath xmlns:m="http://schemas.openxmlformats.org/officeDocument/2006/math">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𝐸</m:t>
                    </m:r>
                    <m:d>
                      <m:dPr>
                        <m:ctrlP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ctrlPr>
                      </m:dPr>
                      <m:e>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m:t>
                    </m:r>
                    <m:acc>
                      <m:accPr>
                        <m:chr m:val="̂"/>
                        <m:ctrlPr>
                          <a:rPr lang="en-US" altLang="zh-CN" sz="2000" i="1">
                            <a:solidFill>
                              <a:sysClr val="windowText" lastClr="000000"/>
                            </a:solidFill>
                            <a:latin typeface="Cambria Math" panose="02040503050406030204" pitchFamily="18" charset="0"/>
                            <a:ea typeface="黑体" panose="02010609060101010101" pitchFamily="49" charset="-122"/>
                          </a:rPr>
                        </m:ctrlPr>
                      </m:accPr>
                      <m:e>
                        <m:r>
                          <a:rPr lang="en-US" altLang="zh-CN" sz="2000" i="1">
                            <a:solidFill>
                              <a:sysClr val="windowText" lastClr="000000"/>
                            </a:solidFill>
                            <a:latin typeface="Cambria Math" panose="02040503050406030204" pitchFamily="18" charset="0"/>
                            <a:ea typeface="黑体" panose="02010609060101010101" pitchFamily="49" charset="-122"/>
                          </a:rPr>
                          <m:t>𝐸</m:t>
                        </m:r>
                      </m:e>
                    </m:acc>
                    <m:d>
                      <m:dPr>
                        <m:ctrlPr>
                          <a:rPr lang="en-US" altLang="zh-CN" sz="2000" i="1">
                            <a:solidFill>
                              <a:sysClr val="windowText" lastClr="000000"/>
                            </a:solidFill>
                            <a:latin typeface="Cambria Math" panose="02040503050406030204" pitchFamily="18" charset="0"/>
                            <a:ea typeface="黑体" panose="02010609060101010101" pitchFamily="49" charset="-122"/>
                          </a:rPr>
                        </m:ctrlPr>
                      </m:dPr>
                      <m:e>
                        <m:r>
                          <a:rPr lang="en-US" altLang="zh-CN" sz="2000" i="1">
                            <a:solidFill>
                              <a:sysClr val="windowText" lastClr="000000"/>
                            </a:solidFill>
                            <a:latin typeface="Cambria Math" panose="02040503050406030204" pitchFamily="18" charset="0"/>
                            <a:ea typeface="黑体" panose="02010609060101010101" pitchFamily="49" charset="-122"/>
                          </a:rPr>
                          <m:t>h</m:t>
                        </m:r>
                      </m:e>
                    </m:d>
                    <m:r>
                      <a:rPr kumimoji="0" lang="en-US" altLang="zh-CN" sz="2000" b="0" i="1" u="none" strike="noStrike" kern="1200" cap="none" spc="0" normalizeH="0" baseline="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ad>
                      <m:radPr>
                        <m:degHide m:val="on"/>
                        <m:ctrlPr>
                          <a:rPr lang="en-US" altLang="zh-CN" sz="2000" i="1" dirty="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sz="2000" i="1" dirty="0">
                                <a:solidFill>
                                  <a:sysClr val="windowText" lastClr="000000"/>
                                </a:solidFill>
                                <a:latin typeface="Cambria Math" panose="02040503050406030204" pitchFamily="18" charset="0"/>
                                <a:ea typeface="Cambria Math" panose="02040503050406030204" pitchFamily="18" charset="0"/>
                              </a:rPr>
                            </m:ctrlPr>
                          </m:fPr>
                          <m:num>
                            <m:r>
                              <a:rPr lang="en-US" altLang="zh-CN" sz="2000" b="0" i="1" dirty="0" smtClean="0">
                                <a:solidFill>
                                  <a:sysClr val="windowText" lastClr="000000"/>
                                </a:solidFill>
                                <a:latin typeface="Cambria Math" panose="02040503050406030204" pitchFamily="18" charset="0"/>
                                <a:ea typeface="Cambria Math" panose="02040503050406030204" pitchFamily="18" charset="0"/>
                              </a:rPr>
                              <m:t>2</m:t>
                            </m:r>
                            <m:r>
                              <a:rPr lang="en-US" altLang="zh-CN" sz="2000" i="1">
                                <a:solidFill>
                                  <a:prstClr val="black"/>
                                </a:solidFill>
                                <a:latin typeface="Cambria Math" panose="02040503050406030204" pitchFamily="18" charset="0"/>
                                <a:ea typeface="黑体" panose="02010609060101010101" pitchFamily="49" charset="-122"/>
                              </a:rPr>
                              <m:t>𝑑</m:t>
                            </m:r>
                            <m:r>
                              <a:rPr lang="en-US" altLang="zh-CN" sz="2000">
                                <a:solidFill>
                                  <a:prstClr val="black"/>
                                </a:solidFill>
                                <a:latin typeface="Cambria Math" panose="02040503050406030204" pitchFamily="18" charset="0"/>
                                <a:ea typeface="黑体" panose="02010609060101010101" pitchFamily="49" charset="-122"/>
                              </a:rPr>
                              <m:t> </m:t>
                            </m:r>
                            <m:r>
                              <m:rPr>
                                <m:sty m:val="p"/>
                              </m:rPr>
                              <a:rPr lang="en-US" altLang="zh-CN" sz="2000">
                                <a:solidFill>
                                  <a:prstClr val="black"/>
                                </a:solidFill>
                                <a:latin typeface="Cambria Math" panose="02040503050406030204" pitchFamily="18" charset="0"/>
                                <a:ea typeface="黑体" panose="02010609060101010101" pitchFamily="49" charset="-122"/>
                              </a:rPr>
                              <m:t>ln</m:t>
                            </m:r>
                            <m:f>
                              <m:fPr>
                                <m:ctrlPr>
                                  <a:rPr lang="en-US" altLang="zh-CN" sz="2000" i="1">
                                    <a:solidFill>
                                      <a:prstClr val="black"/>
                                    </a:solidFill>
                                    <a:latin typeface="Cambria Math" panose="02040503050406030204" pitchFamily="18" charset="0"/>
                                    <a:ea typeface="黑体" panose="02010609060101010101" pitchFamily="49" charset="-122"/>
                                  </a:rPr>
                                </m:ctrlPr>
                              </m:fPr>
                              <m:num>
                                <m:r>
                                  <a:rPr lang="en-US" altLang="zh-CN" sz="2000" i="1">
                                    <a:solidFill>
                                      <a:prstClr val="black"/>
                                    </a:solidFill>
                                    <a:latin typeface="Cambria Math" panose="02040503050406030204" pitchFamily="18" charset="0"/>
                                    <a:ea typeface="黑体" panose="02010609060101010101" pitchFamily="49" charset="-122"/>
                                  </a:rPr>
                                  <m:t>𝑒𝑚</m:t>
                                </m:r>
                              </m:num>
                              <m:den>
                                <m:r>
                                  <a:rPr lang="en-US" altLang="zh-CN" sz="2000" i="1">
                                    <a:solidFill>
                                      <a:prstClr val="black"/>
                                    </a:solidFill>
                                    <a:latin typeface="Cambria Math" panose="02040503050406030204" pitchFamily="18" charset="0"/>
                                    <a:ea typeface="黑体" panose="02010609060101010101" pitchFamily="49" charset="-122"/>
                                  </a:rPr>
                                  <m:t>𝑑</m:t>
                                </m:r>
                              </m:den>
                            </m:f>
                          </m:num>
                          <m:den>
                            <m:r>
                              <a:rPr lang="en-US" altLang="zh-CN" sz="2000" i="1" dirty="0">
                                <a:solidFill>
                                  <a:sysClr val="windowText" lastClr="000000"/>
                                </a:solidFill>
                                <a:latin typeface="Cambria Math" panose="02040503050406030204" pitchFamily="18" charset="0"/>
                                <a:ea typeface="Cambria Math" panose="02040503050406030204" pitchFamily="18" charset="0"/>
                              </a:rPr>
                              <m:t>𝑚</m:t>
                            </m:r>
                          </m:den>
                        </m:f>
                      </m:e>
                    </m:rad>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ad>
                      <m:radPr>
                        <m:degHide m:val="on"/>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radPr>
                      <m:deg/>
                      <m:e>
                        <m:f>
                          <m:fPr>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fPr>
                          <m:num>
                            <m:func>
                              <m:funcPr>
                                <m:ctrlP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ctrlPr>
                              </m:funcPr>
                              <m:fName>
                                <m:r>
                                  <m:rPr>
                                    <m:sty m:val="p"/>
                                  </m:rPr>
                                  <a:rPr kumimoji="0" lang="en-US" altLang="zh-CN" sz="2000" b="0" i="0"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ln</m:t>
                                </m:r>
                              </m:fName>
                              <m:e>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f>
                                  <m:fPr>
                                    <m:ctrlPr>
                                      <a:rPr lang="en-US" altLang="zh-CN" sz="2000" i="1">
                                        <a:solidFill>
                                          <a:prstClr val="black"/>
                                        </a:solidFill>
                                        <a:latin typeface="Cambria Math" panose="02040503050406030204" pitchFamily="18" charset="0"/>
                                        <a:ea typeface="黑体" panose="02010609060101010101" pitchFamily="49" charset="-122"/>
                                      </a:rPr>
                                    </m:ctrlPr>
                                  </m:fPr>
                                  <m:num>
                                    <m:r>
                                      <a:rPr lang="en-US" altLang="zh-CN" sz="2000" b="0" i="1" smtClean="0">
                                        <a:solidFill>
                                          <a:prstClr val="black"/>
                                        </a:solidFill>
                                        <a:latin typeface="Cambria Math" panose="02040503050406030204" pitchFamily="18" charset="0"/>
                                        <a:ea typeface="黑体" panose="02010609060101010101" pitchFamily="49" charset="-122"/>
                                      </a:rPr>
                                      <m:t>1</m:t>
                                    </m:r>
                                  </m:num>
                                  <m:den>
                                    <m:r>
                                      <a:rPr lang="zh-CN" altLang="en-US" sz="2000" i="1">
                                        <a:solidFill>
                                          <a:prstClr val="black"/>
                                        </a:solidFill>
                                        <a:latin typeface="Cambria Math" panose="02040503050406030204" pitchFamily="18" charset="0"/>
                                        <a:ea typeface="黑体" panose="02010609060101010101" pitchFamily="49" charset="-122"/>
                                      </a:rPr>
                                      <m:t>𝛿</m:t>
                                    </m:r>
                                  </m:den>
                                </m:f>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e>
                            </m:func>
                          </m:num>
                          <m:den>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2</m:t>
                            </m:r>
                            <m:r>
                              <a:rPr kumimoji="0" lang="en-US" altLang="zh-CN" sz="2000" b="0" i="1" u="none" strike="noStrike" kern="1200" cap="none" spc="0" normalizeH="0" baseline="0" noProof="0" dirty="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𝑚</m:t>
                            </m:r>
                          </m:den>
                        </m:f>
                      </m:e>
                    </m:rad>
                  </m:oMath>
                </a14:m>
                <a:endParaRPr lang="en-US" altLang="zh-CN" sz="2000" dirty="0">
                  <a:latin typeface="Arial" panose="020B0604020202020204" pitchFamily="34" charset="0"/>
                  <a:ea typeface="黑体" panose="02010609060101010101" pitchFamily="49" charset="-122"/>
                </a:endParaRPr>
              </a:p>
            </p:txBody>
          </p:sp>
        </mc:Choice>
        <mc:Fallback xmlns="">
          <p:sp>
            <p:nvSpPr>
              <p:cNvPr id="12" name="文本框 11">
                <a:extLst>
                  <a:ext uri="{FF2B5EF4-FFF2-40B4-BE49-F238E27FC236}">
                    <a16:creationId xmlns:a16="http://schemas.microsoft.com/office/drawing/2014/main" id="{45C5B04D-554D-EC4D-BE41-063B7C554325}"/>
                  </a:ext>
                </a:extLst>
              </p:cNvPr>
              <p:cNvSpPr txBox="1">
                <a:spLocks noRot="1" noChangeAspect="1" noMove="1" noResize="1" noEditPoints="1" noAdjustHandles="1" noChangeArrowheads="1" noChangeShapeType="1" noTextEdit="1"/>
              </p:cNvSpPr>
              <p:nvPr/>
            </p:nvSpPr>
            <p:spPr>
              <a:xfrm>
                <a:off x="129247" y="5627688"/>
                <a:ext cx="8751931" cy="977122"/>
              </a:xfrm>
              <a:prstGeom prst="rect">
                <a:avLst/>
              </a:prstGeom>
              <a:blipFill>
                <a:blip r:embed="rId3"/>
                <a:stretch>
                  <a:fillRect l="-1741" t="-9375" b="-3750"/>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13" name="内容占位符 4">
                <a:extLst>
                  <a:ext uri="{FF2B5EF4-FFF2-40B4-BE49-F238E27FC236}">
                    <a16:creationId xmlns:a16="http://schemas.microsoft.com/office/drawing/2014/main" id="{3D26C2BE-6C0A-D226-7534-5512FA184EBE}"/>
                  </a:ext>
                </a:extLst>
              </p:cNvPr>
              <p:cNvSpPr txBox="1">
                <a:spLocks/>
              </p:cNvSpPr>
              <p:nvPr/>
            </p:nvSpPr>
            <p:spPr bwMode="auto">
              <a:xfrm>
                <a:off x="4918170" y="850321"/>
                <a:ext cx="4197729" cy="3371249"/>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None/>
                  <a:tabLst/>
                  <a:defRPr/>
                </a:pP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定理</a:t>
                </a:r>
                <a:r>
                  <a:rPr kumimoji="0" lang="en-US" altLang="zh-CN"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12.6 </a:t>
                </a: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基于</a:t>
                </a:r>
                <a:r>
                  <a:rPr kumimoji="0" lang="en-US" altLang="zh-CN"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 Rademacher </a:t>
                </a:r>
                <a:r>
                  <a:rPr kumimoji="0" lang="zh-CN" altLang="en-US" b="0" i="0" u="none" strike="noStrike" kern="1200" cap="none" spc="0" normalizeH="0" baseline="0" noProof="0" dirty="0">
                    <a:ln>
                      <a:noFill/>
                    </a:ln>
                    <a:solidFill>
                      <a:srgbClr val="16754D"/>
                    </a:solidFill>
                    <a:effectLst/>
                    <a:uLnTx/>
                    <a:uFillTx/>
                    <a:latin typeface="Arial" panose="020B0604020202020204" pitchFamily="34" charset="0"/>
                    <a:ea typeface="黑体" panose="02010609060101010101" pitchFamily="49" charset="-122"/>
                    <a:cs typeface="+mn-cs"/>
                  </a:rPr>
                  <a:t>复杂度的泛化误差上界</a:t>
                </a:r>
                <a:endParaRPr lang="en-US" altLang="zh-CN" b="1" dirty="0">
                  <a:solidFill>
                    <a:sysClr val="windowText" lastClr="000000"/>
                  </a:solidFill>
                  <a:latin typeface="Arial" panose="020B0604020202020204" pitchFamily="34" charset="0"/>
                  <a:ea typeface="黑体" panose="02010609060101010101" pitchFamily="49" charset="-122"/>
                </a:endParaRPr>
              </a:p>
              <a:p>
                <a:pPr marL="0" marR="0" lvl="1" indent="0" algn="l"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对</a:t>
                </a:r>
                <a:r>
                  <a:rPr lang="zh-CN" altLang="en-US" dirty="0">
                    <a:solidFill>
                      <a:sysClr val="windowText" lastClr="000000"/>
                    </a:solidFill>
                    <a:latin typeface="Arial" panose="020B0604020202020204" pitchFamily="34" charset="0"/>
                    <a:ea typeface="黑体" panose="02010609060101010101" pitchFamily="49" charset="-122"/>
                  </a:rPr>
                  <a:t>假设</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空间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𝒵</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↦{−1,+1}</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根据分布 </a:t>
                </a:r>
                <a14:m>
                  <m:oMath xmlns:m="http://schemas.openxmlformats.org/officeDocument/2006/math">
                    <m:r>
                      <a:rPr lang="zh-CN" altLang="en-US" i="1">
                        <a:solidFill>
                          <a:prstClr val="black"/>
                        </a:solidFill>
                        <a:latin typeface="Cambria Math" panose="02040503050406030204" pitchFamily="18" charset="0"/>
                      </a:rPr>
                      <m:t>𝒟</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从 </a:t>
                </a:r>
                <a14:m>
                  <m:oMath xmlns:m="http://schemas.openxmlformats.org/officeDocument/2006/math">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𝒵</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中独立同分布采样得到</a:t>
                </a:r>
                <a:r>
                  <a:rPr lang="zh-CN" altLang="en-US" dirty="0">
                    <a:solidFill>
                      <a:sysClr val="windowText" lastClr="000000"/>
                    </a:solidFill>
                    <a:latin typeface="Arial" panose="020B0604020202020204" pitchFamily="34" charset="0"/>
                    <a:ea typeface="黑体" panose="02010609060101010101" pitchFamily="49" charset="-122"/>
                  </a:rPr>
                  <a:t>大小为</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𝑚</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lang="zh-CN" altLang="en-US" dirty="0">
                    <a:solidFill>
                      <a:sysClr val="windowText" lastClr="000000"/>
                    </a:solidFill>
                    <a:latin typeface="Arial" panose="020B0604020202020204" pitchFamily="34" charset="0"/>
                    <a:ea typeface="黑体" panose="02010609060101010101" pitchFamily="49" charset="-122"/>
                  </a:rPr>
                  <a:t>的示例集 </a:t>
                </a:r>
                <a14:m>
                  <m:oMath xmlns:m="http://schemas.openxmlformats.org/officeDocument/2006/math">
                    <m:r>
                      <a:rPr lang="en-US" altLang="zh-CN" b="0" i="1" smtClean="0">
                        <a:solidFill>
                          <a:sysClr val="windowText" lastClr="000000"/>
                        </a:solidFill>
                        <a:latin typeface="Cambria Math" panose="02040503050406030204" pitchFamily="18" charset="0"/>
                        <a:ea typeface="黑体" panose="02010609060101010101" pitchFamily="49" charset="-122"/>
                      </a:rPr>
                      <m:t>𝐷</m:t>
                    </m:r>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1</m:t>
                        </m:r>
                      </m:sub>
                    </m:sSub>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a:solidFill>
                              <a:sysClr val="windowText" lastClr="000000"/>
                            </a:solidFill>
                            <a:latin typeface="Cambria Math" panose="02040503050406030204" pitchFamily="18" charset="0"/>
                            <a:ea typeface="黑体" panose="02010609060101010101" pitchFamily="49" charset="-122"/>
                          </a:rPr>
                          <m:t>𝒙</m:t>
                        </m:r>
                      </m:e>
                      <m:sub>
                        <m:r>
                          <a:rPr lang="en-US" altLang="zh-CN" b="0" i="1" smtClean="0">
                            <a:solidFill>
                              <a:sysClr val="windowText" lastClr="000000"/>
                            </a:solidFill>
                            <a:latin typeface="Cambria Math" panose="02040503050406030204" pitchFamily="18" charset="0"/>
                            <a:ea typeface="黑体" panose="02010609060101010101" pitchFamily="49" charset="-122"/>
                          </a:rPr>
                          <m:t>2</m:t>
                        </m:r>
                      </m:sub>
                    </m:sSub>
                    <m:r>
                      <a:rPr lang="en-US" altLang="zh-CN" b="0" i="1" smtClean="0">
                        <a:solidFill>
                          <a:sysClr val="windowText" lastClr="000000"/>
                        </a:solidFill>
                        <a:latin typeface="Cambria Math" panose="02040503050406030204" pitchFamily="18" charset="0"/>
                        <a:ea typeface="黑体" panose="02010609060101010101" pitchFamily="49" charset="-122"/>
                      </a:rPr>
                      <m:t>,</m:t>
                    </m:r>
                    <m:r>
                      <a:rPr lang="en-US" altLang="zh-CN" i="1">
                        <a:solidFill>
                          <a:sysClr val="windowText" lastClr="000000"/>
                        </a:solidFill>
                        <a:latin typeface="Cambria Math" panose="02040503050406030204" pitchFamily="18" charset="0"/>
                        <a:ea typeface="Cambria Math" panose="02040503050406030204" pitchFamily="18" charset="0"/>
                      </a:rPr>
                      <m:t>⋯</m:t>
                    </m:r>
                    <m:r>
                      <a:rPr lang="en-US" altLang="zh-CN" i="1">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b="1" i="1" smtClean="0">
                            <a:solidFill>
                              <a:sysClr val="windowText" lastClr="000000"/>
                            </a:solidFill>
                            <a:latin typeface="Cambria Math" panose="02040503050406030204" pitchFamily="18" charset="0"/>
                            <a:ea typeface="黑体" panose="02010609060101010101" pitchFamily="49" charset="-122"/>
                          </a:rPr>
                          <m:t>𝒙</m:t>
                        </m:r>
                      </m:e>
                      <m:sub>
                        <m:r>
                          <a:rPr lang="en-US" altLang="zh-CN" i="1">
                            <a:solidFill>
                              <a:sysClr val="windowText" lastClr="000000"/>
                            </a:solidFill>
                            <a:latin typeface="Cambria Math" panose="02040503050406030204" pitchFamily="18" charset="0"/>
                            <a:ea typeface="黑体" panose="02010609060101010101" pitchFamily="49" charset="-122"/>
                          </a:rPr>
                          <m:t>𝑚</m:t>
                        </m:r>
                      </m:sub>
                    </m:sSub>
                    <m:r>
                      <a:rPr lang="en-US" altLang="zh-CN" i="1">
                        <a:solidFill>
                          <a:sysClr val="windowText" lastClr="000000"/>
                        </a:solidFill>
                        <a:latin typeface="Cambria Math" panose="02040503050406030204" pitchFamily="18" charset="0"/>
                        <a:ea typeface="黑体" panose="02010609060101010101" pitchFamily="49" charset="-122"/>
                      </a:rPr>
                      <m:t>}</m:t>
                    </m:r>
                  </m:oMath>
                </a14:m>
                <a:r>
                  <a:rPr lang="en-US" altLang="zh-CN" dirty="0">
                    <a:solidFill>
                      <a:sysClr val="windowText" lastClr="000000"/>
                    </a:solidFill>
                    <a:latin typeface="Arial" panose="020B0604020202020204" pitchFamily="34" charset="0"/>
                    <a:ea typeface="黑体" panose="02010609060101010101" pitchFamily="49" charset="-122"/>
                  </a:rPr>
                  <a:t>, </a:t>
                </a:r>
                <a14:m>
                  <m:oMath xmlns:m="http://schemas.openxmlformats.org/officeDocument/2006/math">
                    <m:sSub>
                      <m:sSubPr>
                        <m:ctrlPr>
                          <a:rPr lang="en-US" altLang="zh-CN" i="1" dirty="0">
                            <a:solidFill>
                              <a:sysClr val="windowText" lastClr="000000"/>
                            </a:solidFill>
                            <a:latin typeface="Cambria Math" panose="02040503050406030204" pitchFamily="18" charset="0"/>
                            <a:ea typeface="黑体" panose="02010609060101010101" pitchFamily="49" charset="-122"/>
                          </a:rPr>
                        </m:ctrlPr>
                      </m:sSubPr>
                      <m:e>
                        <m:r>
                          <a:rPr lang="en-US" altLang="zh-CN" b="1" i="1" dirty="0" smtClean="0">
                            <a:solidFill>
                              <a:sysClr val="windowText" lastClr="000000"/>
                            </a:solidFill>
                            <a:latin typeface="Cambria Math" panose="02040503050406030204" pitchFamily="18" charset="0"/>
                            <a:ea typeface="黑体" panose="02010609060101010101" pitchFamily="49" charset="-122"/>
                          </a:rPr>
                          <m:t>𝒙</m:t>
                        </m:r>
                      </m:e>
                      <m:sub>
                        <m:r>
                          <a:rPr lang="en-US" altLang="zh-CN" i="1" dirty="0">
                            <a:solidFill>
                              <a:sysClr val="windowText" lastClr="000000"/>
                            </a:solidFill>
                            <a:latin typeface="Cambria Math" panose="02040503050406030204" pitchFamily="18" charset="0"/>
                            <a:ea typeface="黑体" panose="02010609060101010101" pitchFamily="49" charset="-122"/>
                          </a:rPr>
                          <m:t>𝑖</m:t>
                        </m:r>
                      </m:sub>
                    </m:sSub>
                    <m:r>
                      <a:rPr lang="en-US" altLang="zh-CN" i="1" dirty="0">
                        <a:solidFill>
                          <a:sysClr val="windowText" lastClr="000000"/>
                        </a:solidFill>
                        <a:latin typeface="Cambria Math" panose="02040503050406030204" pitchFamily="18" charset="0"/>
                        <a:ea typeface="Cambria Math" panose="02040503050406030204" pitchFamily="18" charset="0"/>
                      </a:rPr>
                      <m:t>∈</m:t>
                    </m:r>
                    <m:r>
                      <a:rPr lang="zh-CN" altLang="en-US" i="1" dirty="0" smtClean="0">
                        <a:solidFill>
                          <a:sysClr val="windowText" lastClr="000000"/>
                        </a:solidFill>
                        <a:latin typeface="Cambria Math" panose="02040503050406030204" pitchFamily="18" charset="0"/>
                        <a:ea typeface="Cambria Math" panose="02040503050406030204" pitchFamily="18" charset="0"/>
                      </a:rPr>
                      <m:t>𝒳</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0</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𝛿</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&lt;1</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对任意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ℋ</m:t>
                    </m:r>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a:t>
                </a:r>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以至少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1−</m:t>
                    </m:r>
                    <m:r>
                      <a:rPr kumimoji="0" lang="zh-CN" altLang="en-US"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𝛿</m:t>
                    </m:r>
                  </m:oMath>
                </a14:m>
                <a:r>
                  <a:rPr kumimoji="0" lang="zh-CN" altLang="en-US"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 的概率有</a:t>
                </a:r>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en-US" altLang="zh-CN"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b="0" i="1" smtClean="0">
                            <a:solidFill>
                              <a:sysClr val="windowText" lastClr="000000"/>
                            </a:solidFill>
                            <a:latin typeface="Cambria Math" panose="02040503050406030204" pitchFamily="18" charset="0"/>
                            <a:ea typeface="黑体" panose="02010609060101010101" pitchFamily="49" charset="-122"/>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lang="en-US" altLang="zh-CN" i="1">
                            <a:solidFill>
                              <a:sysClr val="windowText" lastClr="000000"/>
                            </a:solidFill>
                            <a:latin typeface="Cambria Math" panose="02040503050406030204" pitchFamily="18" charset="0"/>
                            <a:ea typeface="黑体" panose="02010609060101010101" pitchFamily="49" charset="-122"/>
                          </a:rPr>
                        </m:ctrlPr>
                      </m:sSubPr>
                      <m:e>
                        <m:r>
                          <a:rPr lang="en-US" altLang="zh-CN" i="1">
                            <a:solidFill>
                              <a:sysClr val="windowText" lastClr="000000"/>
                            </a:solidFill>
                            <a:latin typeface="Cambria Math" panose="02040503050406030204" pitchFamily="18" charset="0"/>
                            <a:ea typeface="黑体" panose="02010609060101010101" pitchFamily="49" charset="-122"/>
                          </a:rPr>
                          <m:t>𝑅</m:t>
                        </m:r>
                      </m:e>
                      <m:sub>
                        <m:r>
                          <a:rPr lang="en-US" altLang="zh-CN" b="0" i="1" smtClean="0">
                            <a:solidFill>
                              <a:sysClr val="windowText" lastClr="000000"/>
                            </a:solidFill>
                            <a:latin typeface="Cambria Math" panose="02040503050406030204" pitchFamily="18" charset="0"/>
                            <a:ea typeface="黑体" panose="02010609060101010101" pitchFamily="49" charset="-122"/>
                          </a:rPr>
                          <m:t>𝑚</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endParaRPr lang="en-US" altLang="zh-CN" noProof="0" dirty="0">
                  <a:solidFill>
                    <a:sysClr val="windowText" lastClr="000000"/>
                  </a:solidFill>
                  <a:latin typeface="Arial" panose="020B0604020202020204" pitchFamily="34" charset="0"/>
                  <a:ea typeface="黑体" panose="02010609060101010101" pitchFamily="49" charset="-122"/>
                </a:endParaRPr>
              </a:p>
              <a:p>
                <a:pPr marL="0" marR="0" lvl="1" indent="0" algn="ctr" defTabSz="914400" rtl="0" eaLnBrk="1" fontAlgn="base"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en-US" altLang="zh-CN" b="0" u="none" strike="noStrike" kern="1200" cap="none" spc="0" normalizeH="0" noProof="0" dirty="0">
                    <a:ln>
                      <a:noFill/>
                    </a:ln>
                    <a:solidFill>
                      <a:sysClr val="windowText" lastClr="000000"/>
                    </a:solidFill>
                    <a:effectLst/>
                    <a:uLnTx/>
                    <a:uFillTx/>
                    <a:ea typeface="黑体" panose="02010609060101010101" pitchFamily="49" charset="-122"/>
                  </a:rPr>
                  <a:t>  </a:t>
                </a:r>
                <a14:m>
                  <m:oMath xmlns:m="http://schemas.openxmlformats.org/officeDocument/2006/math">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𝐸</m:t>
                    </m:r>
                    <m:d>
                      <m:d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d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h</m:t>
                        </m:r>
                      </m:e>
                    </m:d>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m:t>
                    </m:r>
                    <m:acc>
                      <m:accPr>
                        <m:chr m:val="̂"/>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ctrlPr>
                      </m:accPr>
                      <m:e>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rPr>
                          <m:t>𝐸</m:t>
                        </m:r>
                      </m:e>
                    </m:acc>
                    <m:d>
                      <m:dPr>
                        <m:ctrlPr>
                          <a:rPr lang="en-US" altLang="zh-CN" b="0" i="1" smtClean="0">
                            <a:solidFill>
                              <a:sysClr val="windowText" lastClr="000000"/>
                            </a:solidFill>
                            <a:latin typeface="Cambria Math" panose="02040503050406030204" pitchFamily="18" charset="0"/>
                            <a:ea typeface="黑体" panose="02010609060101010101" pitchFamily="49" charset="-122"/>
                          </a:rPr>
                        </m:ctrlPr>
                      </m:dPr>
                      <m:e>
                        <m:r>
                          <a:rPr lang="en-US" altLang="zh-CN" b="0" i="1" smtClean="0">
                            <a:solidFill>
                              <a:sysClr val="windowText" lastClr="000000"/>
                            </a:solidFill>
                            <a:latin typeface="Cambria Math" panose="02040503050406030204" pitchFamily="18" charset="0"/>
                            <a:ea typeface="黑体" panose="02010609060101010101" pitchFamily="49" charset="-122"/>
                          </a:rPr>
                          <m:t>h</m:t>
                        </m:r>
                      </m:e>
                    </m:d>
                    <m:r>
                      <a:rPr lang="en-US" altLang="zh-CN" b="0" i="1" smtClean="0">
                        <a:solidFill>
                          <a:sysClr val="windowText" lastClr="000000"/>
                        </a:solidFill>
                        <a:latin typeface="Cambria Math" panose="02040503050406030204" pitchFamily="18" charset="0"/>
                        <a:ea typeface="黑体" panose="02010609060101010101" pitchFamily="49" charset="-122"/>
                      </a:rPr>
                      <m:t>+</m:t>
                    </m:r>
                    <m:sSub>
                      <m:sSubPr>
                        <m:ctrlP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ctrlPr>
                      </m:sSubPr>
                      <m:e>
                        <m:acc>
                          <m:accPr>
                            <m:chr m:val="̂"/>
                            <m:ctrlPr>
                              <a:rPr lang="en-US" altLang="zh-CN" i="1">
                                <a:solidFill>
                                  <a:sysClr val="windowText" lastClr="000000"/>
                                </a:solidFill>
                                <a:latin typeface="Cambria Math" panose="02040503050406030204" pitchFamily="18" charset="0"/>
                                <a:ea typeface="黑体" panose="02010609060101010101" pitchFamily="49" charset="-122"/>
                              </a:rPr>
                            </m:ctrlPr>
                          </m:accPr>
                          <m:e>
                            <m:r>
                              <a:rPr lang="en-US" altLang="zh-CN" i="1">
                                <a:solidFill>
                                  <a:sysClr val="windowText" lastClr="000000"/>
                                </a:solidFill>
                                <a:latin typeface="Cambria Math" panose="02040503050406030204" pitchFamily="18" charset="0"/>
                                <a:ea typeface="黑体" panose="02010609060101010101" pitchFamily="49" charset="-122"/>
                              </a:rPr>
                              <m:t>𝑅</m:t>
                            </m:r>
                          </m:e>
                        </m:acc>
                      </m:e>
                      <m:sub>
                        <m:r>
                          <a:rPr kumimoji="0" lang="en-US" altLang="zh-CN"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rPr>
                          <m:t>𝐷</m:t>
                        </m:r>
                      </m:sub>
                    </m:sSub>
                    <m:d>
                      <m:dPr>
                        <m:ctrlPr>
                          <a:rPr lang="en-US" altLang="zh-CN" i="1">
                            <a:solidFill>
                              <a:sysClr val="windowText" lastClr="000000"/>
                            </a:solidFill>
                            <a:latin typeface="Cambria Math" panose="02040503050406030204" pitchFamily="18" charset="0"/>
                            <a:ea typeface="黑体" panose="02010609060101010101" pitchFamily="49" charset="-122"/>
                          </a:rPr>
                        </m:ctrlPr>
                      </m:dPr>
                      <m:e>
                        <m:r>
                          <a:rPr lang="en-US" altLang="zh-CN" i="1" dirty="0">
                            <a:solidFill>
                              <a:sysClr val="windowText" lastClr="000000"/>
                            </a:solidFill>
                            <a:latin typeface="Cambria Math" panose="02040503050406030204" pitchFamily="18" charset="0"/>
                            <a:ea typeface="Cambria Math" panose="02040503050406030204" pitchFamily="18" charset="0"/>
                          </a:rPr>
                          <m:t>ℋ</m:t>
                        </m:r>
                      </m:e>
                    </m:d>
                    <m:r>
                      <a:rPr lang="en-US" altLang="zh-CN" b="0" i="1" dirty="0" smtClean="0">
                        <a:solidFill>
                          <a:sysClr val="windowText" lastClr="000000"/>
                        </a:solidFill>
                        <a:latin typeface="Cambria Math" panose="02040503050406030204" pitchFamily="18" charset="0"/>
                        <a:ea typeface="Cambria Math" panose="02040503050406030204" pitchFamily="18" charset="0"/>
                      </a:rPr>
                      <m:t>+3</m:t>
                    </m:r>
                    <m:rad>
                      <m:radPr>
                        <m:degHide m:val="on"/>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radPr>
                      <m:deg/>
                      <m:e>
                        <m:f>
                          <m:f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Pr>
                          <m:num>
                            <m:func>
                              <m:funcPr>
                                <m:ctrlPr>
                                  <a:rPr lang="en-US" altLang="zh-CN" b="0" i="1" dirty="0" smtClean="0">
                                    <a:solidFill>
                                      <a:sysClr val="windowText" lastClr="000000"/>
                                    </a:solidFill>
                                    <a:latin typeface="Cambria Math" panose="02040503050406030204" pitchFamily="18" charset="0"/>
                                    <a:ea typeface="Cambria Math" panose="02040503050406030204" pitchFamily="18" charset="0"/>
                                  </a:rPr>
                                </m:ctrlPr>
                              </m:funcPr>
                              <m:fName>
                                <m:r>
                                  <m:rPr>
                                    <m:sty m:val="p"/>
                                  </m:rPr>
                                  <a:rPr lang="en-US" altLang="zh-CN" b="0" i="0" dirty="0" smtClean="0">
                                    <a:solidFill>
                                      <a:sysClr val="windowText" lastClr="000000"/>
                                    </a:solidFill>
                                    <a:latin typeface="Cambria Math" panose="02040503050406030204" pitchFamily="18" charset="0"/>
                                    <a:ea typeface="Cambria Math" panose="02040503050406030204" pitchFamily="18" charset="0"/>
                                  </a:rPr>
                                  <m:t>ln</m:t>
                                </m:r>
                              </m:fName>
                              <m:e>
                                <m:r>
                                  <a:rPr lang="en-US" altLang="zh-CN" b="0" i="1" dirty="0" smtClean="0">
                                    <a:solidFill>
                                      <a:sysClr val="windowText" lastClr="000000"/>
                                    </a:solidFill>
                                    <a:latin typeface="Cambria Math" panose="02040503050406030204" pitchFamily="18" charset="0"/>
                                    <a:ea typeface="Cambria Math" panose="02040503050406030204" pitchFamily="18" charset="0"/>
                                  </a:rPr>
                                  <m:t>(1/</m:t>
                                </m:r>
                                <m:r>
                                  <a:rPr lang="zh-CN" altLang="en-US" b="0" i="1" dirty="0" smtClean="0">
                                    <a:solidFill>
                                      <a:sysClr val="windowText" lastClr="000000"/>
                                    </a:solidFill>
                                    <a:latin typeface="Cambria Math" panose="02040503050406030204" pitchFamily="18" charset="0"/>
                                    <a:ea typeface="Cambria Math" panose="02040503050406030204" pitchFamily="18" charset="0"/>
                                  </a:rPr>
                                  <m:t>𝛿</m:t>
                                </m:r>
                                <m:r>
                                  <a:rPr lang="en-US" altLang="zh-CN" b="0" i="1" dirty="0" smtClean="0">
                                    <a:solidFill>
                                      <a:sysClr val="windowText" lastClr="000000"/>
                                    </a:solidFill>
                                    <a:latin typeface="Cambria Math" panose="02040503050406030204" pitchFamily="18" charset="0"/>
                                    <a:ea typeface="Cambria Math" panose="02040503050406030204" pitchFamily="18" charset="0"/>
                                  </a:rPr>
                                  <m:t>)</m:t>
                                </m:r>
                              </m:e>
                            </m:func>
                          </m:num>
                          <m:den>
                            <m:r>
                              <a:rPr lang="en-US" altLang="zh-CN" b="0" i="1" dirty="0" smtClean="0">
                                <a:solidFill>
                                  <a:sysClr val="windowText" lastClr="000000"/>
                                </a:solidFill>
                                <a:latin typeface="Cambria Math" panose="02040503050406030204" pitchFamily="18" charset="0"/>
                                <a:ea typeface="Cambria Math" panose="02040503050406030204" pitchFamily="18" charset="0"/>
                              </a:rPr>
                              <m:t>2</m:t>
                            </m:r>
                            <m:r>
                              <a:rPr lang="en-US" altLang="zh-CN" b="0" i="1" dirty="0" smtClean="0">
                                <a:solidFill>
                                  <a:sysClr val="windowText" lastClr="000000"/>
                                </a:solidFill>
                                <a:latin typeface="Cambria Math" panose="02040503050406030204" pitchFamily="18" charset="0"/>
                                <a:ea typeface="Cambria Math" panose="02040503050406030204" pitchFamily="18" charset="0"/>
                              </a:rPr>
                              <m:t>𝑚</m:t>
                            </m:r>
                          </m:den>
                        </m:f>
                      </m:e>
                    </m:rad>
                  </m:oMath>
                </a14:m>
                <a:r>
                  <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rPr>
                  <a:t>,</a:t>
                </a:r>
              </a:p>
            </p:txBody>
          </p:sp>
        </mc:Choice>
        <mc:Fallback xmlns="">
          <p:sp>
            <p:nvSpPr>
              <p:cNvPr id="13" name="内容占位符 4">
                <a:extLst>
                  <a:ext uri="{FF2B5EF4-FFF2-40B4-BE49-F238E27FC236}">
                    <a16:creationId xmlns:a16="http://schemas.microsoft.com/office/drawing/2014/main" id="{3D26C2BE-6C0A-D226-7534-5512FA184EBE}"/>
                  </a:ext>
                </a:extLst>
              </p:cNvPr>
              <p:cNvSpPr txBox="1">
                <a:spLocks noRot="1" noChangeAspect="1" noMove="1" noResize="1" noEditPoints="1" noAdjustHandles="1" noChangeArrowheads="1" noChangeShapeType="1" noTextEdit="1"/>
              </p:cNvSpPr>
              <p:nvPr/>
            </p:nvSpPr>
            <p:spPr bwMode="auto">
              <a:xfrm>
                <a:off x="4918170" y="850321"/>
                <a:ext cx="4197729" cy="3371249"/>
              </a:xfrm>
              <a:prstGeom prst="rect">
                <a:avLst/>
              </a:prstGeom>
              <a:blipFill>
                <a:blip r:embed="rId4"/>
                <a:stretch>
                  <a:fillRect l="-3779" t="-2708" r="-3779" b="-722"/>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21" name="矩形 20">
            <a:extLst>
              <a:ext uri="{FF2B5EF4-FFF2-40B4-BE49-F238E27FC236}">
                <a16:creationId xmlns:a16="http://schemas.microsoft.com/office/drawing/2014/main" id="{BE7F8CB2-1998-5B3D-92B0-0633F3970004}"/>
              </a:ext>
            </a:extLst>
          </p:cNvPr>
          <p:cNvSpPr/>
          <p:nvPr/>
        </p:nvSpPr>
        <p:spPr>
          <a:xfrm>
            <a:off x="7748278" y="4614888"/>
            <a:ext cx="252000" cy="25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2" name="矩形 21">
            <a:extLst>
              <a:ext uri="{FF2B5EF4-FFF2-40B4-BE49-F238E27FC236}">
                <a16:creationId xmlns:a16="http://schemas.microsoft.com/office/drawing/2014/main" id="{A6DF1333-01D9-B649-74D2-2FB6BC0C29C1}"/>
              </a:ext>
            </a:extLst>
          </p:cNvPr>
          <p:cNvSpPr/>
          <p:nvPr/>
        </p:nvSpPr>
        <p:spPr>
          <a:xfrm>
            <a:off x="6645953" y="4618479"/>
            <a:ext cx="252000" cy="252000"/>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mc:AlternateContent xmlns:mc="http://schemas.openxmlformats.org/markup-compatibility/2006" xmlns:a14="http://schemas.microsoft.com/office/drawing/2010/main">
        <mc:Choice Requires="a14">
          <p:sp>
            <p:nvSpPr>
              <p:cNvPr id="23" name="内容占位符 4">
                <a:extLst>
                  <a:ext uri="{FF2B5EF4-FFF2-40B4-BE49-F238E27FC236}">
                    <a16:creationId xmlns:a16="http://schemas.microsoft.com/office/drawing/2014/main" id="{0151A893-BE42-28AE-2A8D-6498F761B605}"/>
                  </a:ext>
                </a:extLst>
              </p:cNvPr>
              <p:cNvSpPr txBox="1">
                <a:spLocks/>
              </p:cNvSpPr>
              <p:nvPr/>
            </p:nvSpPr>
            <p:spPr bwMode="auto">
              <a:xfrm>
                <a:off x="84529" y="850321"/>
                <a:ext cx="4607919" cy="222140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58775" algn="l" rtl="0" fontAlgn="base">
                  <a:lnSpc>
                    <a:spcPct val="90000"/>
                  </a:lnSpc>
                  <a:spcBef>
                    <a:spcPts val="1000"/>
                  </a:spcBef>
                  <a:spcAft>
                    <a:spcPct val="0"/>
                  </a:spcAft>
                  <a:buClr>
                    <a:schemeClr val="accent1"/>
                  </a:buClr>
                  <a:buSzPct val="120000"/>
                  <a:buFont typeface="Wingdings" panose="05000000000000000000" pitchFamily="2" charset="2"/>
                  <a:buChar char="p"/>
                  <a:defRPr sz="2200" kern="1200" baseline="0">
                    <a:solidFill>
                      <a:schemeClr val="tx1"/>
                    </a:solidFill>
                    <a:latin typeface="Verdana" panose="020B0604030504040204" pitchFamily="34" charset="0"/>
                    <a:ea typeface="幼圆" panose="02010509060101010101" pitchFamily="49" charset="-122"/>
                    <a:cs typeface="+mn-cs"/>
                  </a:defRPr>
                </a:lvl1pPr>
                <a:lvl2pPr marL="685800" indent="-358775"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58775" algn="l" rtl="0" fontAlgn="base">
                  <a:lnSpc>
                    <a:spcPct val="90000"/>
                  </a:lnSpc>
                  <a:spcBef>
                    <a:spcPts val="500"/>
                  </a:spcBef>
                  <a:spcAft>
                    <a:spcPct val="0"/>
                  </a:spcAft>
                  <a:buClr>
                    <a:schemeClr val="accent1"/>
                  </a:buClr>
                  <a:buFont typeface="Wingdings" panose="05000000000000000000" pitchFamily="2" charset="2"/>
                  <a:buChar char="l"/>
                  <a:defRPr kern="1200" baseline="0">
                    <a:solidFill>
                      <a:schemeClr val="tx1"/>
                    </a:solidFill>
                    <a:latin typeface="Verdana" panose="020B0604030504040204" pitchFamily="34" charset="0"/>
                    <a:ea typeface="幼圆" panose="02010509060101010101" pitchFamily="49" charset="-122"/>
                    <a:cs typeface="+mn-cs"/>
                  </a:defRPr>
                </a:lvl3pPr>
                <a:lvl4pPr marL="16002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58775"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lang="zh-CN" altLang="en-US" dirty="0">
                    <a:solidFill>
                      <a:srgbClr val="16754D"/>
                    </a:solidFill>
                    <a:latin typeface="Arial" panose="020B0604020202020204" pitchFamily="34" charset="0"/>
                    <a:ea typeface="黑体" panose="02010609060101010101" pitchFamily="49" charset="-122"/>
                  </a:rPr>
                  <a:t>定理 </a:t>
                </a:r>
                <a:r>
                  <a:rPr lang="en-US" altLang="zh-CN" dirty="0">
                    <a:solidFill>
                      <a:srgbClr val="16754D"/>
                    </a:solidFill>
                    <a:latin typeface="Arial" panose="020B0604020202020204" pitchFamily="34" charset="0"/>
                    <a:ea typeface="黑体" panose="02010609060101010101" pitchFamily="49" charset="-122"/>
                  </a:rPr>
                  <a:t>12.3 </a:t>
                </a:r>
                <a:r>
                  <a:rPr lang="zh-CN" altLang="en-US" dirty="0">
                    <a:solidFill>
                      <a:srgbClr val="16754D"/>
                    </a:solidFill>
                    <a:latin typeface="Arial" panose="020B0604020202020204" pitchFamily="34" charset="0"/>
                    <a:ea typeface="黑体" panose="02010609060101010101" pitchFamily="49" charset="-122"/>
                  </a:rPr>
                  <a:t>基于</a:t>
                </a:r>
                <a:r>
                  <a:rPr lang="en-US" altLang="zh-CN" dirty="0">
                    <a:solidFill>
                      <a:srgbClr val="16754D"/>
                    </a:solidFill>
                    <a:latin typeface="Arial" panose="020B0604020202020204" pitchFamily="34" charset="0"/>
                    <a:ea typeface="黑体" panose="02010609060101010101" pitchFamily="49" charset="-122"/>
                  </a:rPr>
                  <a:t>VC</a:t>
                </a:r>
                <a:r>
                  <a:rPr lang="zh-CN" altLang="en-US" dirty="0">
                    <a:solidFill>
                      <a:srgbClr val="16754D"/>
                    </a:solidFill>
                    <a:latin typeface="Arial" panose="020B0604020202020204" pitchFamily="34" charset="0"/>
                    <a:ea typeface="黑体" panose="02010609060101010101" pitchFamily="49" charset="-122"/>
                  </a:rPr>
                  <a:t>维的泛化误差上界</a:t>
                </a:r>
                <a:endParaRPr kumimoji="0" lang="en-US" altLang="zh-CN" sz="20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endParaRPr>
              </a:p>
              <a:p>
                <a:pPr marL="0" marR="0" lvl="1" indent="0" algn="l" defTabSz="914400" rtl="0" eaLnBrk="1" fontAlgn="auto" latinLnBrk="0" hangingPunct="1">
                  <a:lnSpc>
                    <a:spcPct val="100000"/>
                  </a:lnSpc>
                  <a:spcBef>
                    <a:spcPts val="0"/>
                  </a:spcBef>
                  <a:spcAft>
                    <a:spcPts val="0"/>
                  </a:spcAft>
                  <a:buClr>
                    <a:srgbClr val="16754D"/>
                  </a:buClr>
                  <a:buSzPct val="120000"/>
                  <a:buFont typeface="Wingdings" panose="05000000000000000000" pitchFamily="2" charset="2"/>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若假设空间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的</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维为</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则对任意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𝑚</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&gt;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𝑑</m:t>
                    </m:r>
                  </m:oMath>
                </a14:m>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14:m>
                  <m:oMath xmlns:m="http://schemas.openxmlformats.org/officeDocument/2006/math">
                    <m:r>
                      <a:rPr kumimoji="0" lang="en-US" altLang="zh-CN" sz="2000" b="0" i="0"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0&lt;</m:t>
                    </m:r>
                    <m:r>
                      <a:rPr kumimoji="0" lang="zh-CN" altLang="en-US"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𝛿</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&lt;1</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和 </a:t>
                </a:r>
                <a14:m>
                  <m:oMath xmlns:m="http://schemas.openxmlformats.org/officeDocument/2006/math">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黑体" panose="02010609060101010101" pitchFamily="49" charset="-122"/>
                        <a:cs typeface="+mn-cs"/>
                      </a:rPr>
                      <m:t>h</m:t>
                    </m:r>
                    <m:r>
                      <a:rPr kumimoji="0" lang="en-US" altLang="zh-CN" sz="2000" b="0" i="1" u="none" strike="noStrike" kern="1200" cap="none" spc="0" normalizeH="0" noProof="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m:t>
                    </m:r>
                    <m:r>
                      <a:rPr kumimoji="0" lang="en-US" altLang="zh-CN" sz="2000" b="0" i="1" u="none" strike="noStrike" kern="1200" cap="none" spc="0" normalizeH="0" noProof="0" smtClean="0">
                        <a:ln>
                          <a:noFill/>
                        </a:ln>
                        <a:solidFill>
                          <a:sysClr val="windowText" lastClr="000000"/>
                        </a:solidFill>
                        <a:effectLst/>
                        <a:uLnTx/>
                        <a:uFillTx/>
                        <a:latin typeface="Cambria Math" panose="02040503050406030204" pitchFamily="18" charset="0"/>
                        <a:ea typeface="Cambria Math" panose="02040503050406030204" pitchFamily="18" charset="0"/>
                        <a:cs typeface="+mn-cs"/>
                      </a:rPr>
                      <m:t>ℋ</m:t>
                    </m:r>
                  </m:oMath>
                </a14:m>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有</a:t>
                </a:r>
                <a:r>
                  <a:rPr lang="en-US" altLang="zh-CN" noProof="0" dirty="0">
                    <a:solidFill>
                      <a:sysClr val="windowText" lastClr="000000"/>
                    </a:solidFill>
                    <a:latin typeface="Arial" panose="020B0604020202020204" pitchFamily="34" charset="0"/>
                    <a:ea typeface="黑体" panose="02010609060101010101" pitchFamily="49" charset="-122"/>
                  </a:rPr>
                  <a:t>:</a:t>
                </a: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t>𝑃</m:t>
                      </m:r>
                      <m:d>
                        <m:dPr>
                          <m:ctrlP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𝐸</m:t>
                          </m:r>
                          <m:d>
                            <m:dPr>
                              <m:ctrlPr>
                                <a:rPr lang="en-US" altLang="zh-CN" i="1">
                                  <a:solidFill>
                                    <a:prstClr val="black"/>
                                  </a:solidFill>
                                  <a:latin typeface="Cambria Math" panose="02040503050406030204" pitchFamily="18" charset="0"/>
                                  <a:ea typeface="黑体" panose="02010609060101010101" pitchFamily="49" charset="-122"/>
                                </a:rPr>
                              </m:ctrlPr>
                            </m:dPr>
                            <m:e>
                              <m:r>
                                <a:rPr lang="en-US" altLang="zh-CN" i="1">
                                  <a:solidFill>
                                    <a:prstClr val="black"/>
                                  </a:solidFill>
                                  <a:latin typeface="Cambria Math" panose="02040503050406030204" pitchFamily="18" charset="0"/>
                                  <a:ea typeface="黑体" panose="02010609060101010101" pitchFamily="49" charset="-122"/>
                                </a:rPr>
                                <m:t>h</m:t>
                              </m:r>
                            </m:e>
                          </m:d>
                          <m:r>
                            <a:rPr lang="en-US" altLang="zh-CN" i="1">
                              <a:solidFill>
                                <a:prstClr val="black"/>
                              </a:solidFill>
                              <a:latin typeface="Cambria Math" panose="02040503050406030204" pitchFamily="18" charset="0"/>
                              <a:ea typeface="黑体" panose="02010609060101010101" pitchFamily="49" charset="-122"/>
                            </a:rPr>
                            <m:t>−</m:t>
                          </m:r>
                          <m:acc>
                            <m:accPr>
                              <m:chr m:val="̂"/>
                              <m:ctrlPr>
                                <a:rPr lang="en-US" altLang="zh-CN" i="1">
                                  <a:solidFill>
                                    <a:prstClr val="black"/>
                                  </a:solidFill>
                                  <a:latin typeface="Cambria Math" panose="02040503050406030204" pitchFamily="18" charset="0"/>
                                  <a:ea typeface="黑体" panose="02010609060101010101" pitchFamily="49" charset="-122"/>
                                </a:rPr>
                              </m:ctrlPr>
                            </m:accPr>
                            <m:e>
                              <m:r>
                                <a:rPr lang="en-US" altLang="zh-CN" i="1">
                                  <a:solidFill>
                                    <a:prstClr val="black"/>
                                  </a:solidFill>
                                  <a:latin typeface="Cambria Math" panose="02040503050406030204" pitchFamily="18" charset="0"/>
                                  <a:ea typeface="黑体" panose="02010609060101010101" pitchFamily="49" charset="-122"/>
                                </a:rPr>
                                <m:t>𝐸</m:t>
                              </m:r>
                            </m:e>
                          </m:acc>
                          <m:r>
                            <a:rPr lang="en-US" altLang="zh-CN" i="1">
                              <a:solidFill>
                                <a:prstClr val="black"/>
                              </a:solidFill>
                              <a:latin typeface="Cambria Math" panose="02040503050406030204" pitchFamily="18" charset="0"/>
                              <a:ea typeface="黑体" panose="02010609060101010101" pitchFamily="49" charset="-122"/>
                            </a:rPr>
                            <m:t>(</m:t>
                          </m:r>
                          <m:r>
                            <a:rPr lang="en-US" altLang="zh-CN" i="1">
                              <a:solidFill>
                                <a:prstClr val="black"/>
                              </a:solidFill>
                              <a:latin typeface="Cambria Math" panose="02040503050406030204" pitchFamily="18" charset="0"/>
                              <a:ea typeface="黑体" panose="02010609060101010101" pitchFamily="49" charset="-122"/>
                            </a:rPr>
                            <m:t>h</m:t>
                          </m:r>
                          <m:r>
                            <a:rPr lang="en-US" altLang="zh-CN" i="1">
                              <a:solidFill>
                                <a:prstClr val="black"/>
                              </a:solidFill>
                              <a:latin typeface="Cambria Math" panose="02040503050406030204" pitchFamily="18" charset="0"/>
                              <a:ea typeface="黑体" panose="02010609060101010101" pitchFamily="49" charset="-122"/>
                            </a:rPr>
                            <m:t>)≤</m:t>
                          </m:r>
                          <m:rad>
                            <m:radPr>
                              <m:degHide m:val="on"/>
                              <m:ctrlPr>
                                <a:rPr lang="en-US" altLang="zh-CN" i="1">
                                  <a:solidFill>
                                    <a:prstClr val="black"/>
                                  </a:solidFill>
                                  <a:latin typeface="Cambria Math" panose="02040503050406030204" pitchFamily="18" charset="0"/>
                                  <a:ea typeface="黑体" panose="02010609060101010101" pitchFamily="49" charset="-122"/>
                                </a:rPr>
                              </m:ctrlPr>
                            </m:radPr>
                            <m:deg/>
                            <m:e>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8</m:t>
                                  </m:r>
                                  <m:r>
                                    <a:rPr lang="en-US" altLang="zh-CN" i="1">
                                      <a:solidFill>
                                        <a:prstClr val="black"/>
                                      </a:solidFill>
                                      <a:latin typeface="Cambria Math" panose="02040503050406030204" pitchFamily="18" charset="0"/>
                                      <a:ea typeface="黑体" panose="02010609060101010101" pitchFamily="49" charset="-122"/>
                                    </a:rPr>
                                    <m:t>𝑑</m:t>
                                  </m:r>
                                  <m:r>
                                    <a:rPr lang="en-US" altLang="zh-CN">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2</m:t>
                                      </m:r>
                                      <m:r>
                                        <a:rPr lang="en-US" altLang="zh-CN" i="1">
                                          <a:solidFill>
                                            <a:prstClr val="black"/>
                                          </a:solidFill>
                                          <a:latin typeface="Cambria Math" panose="02040503050406030204" pitchFamily="18" charset="0"/>
                                          <a:ea typeface="黑体" panose="02010609060101010101" pitchFamily="49" charset="-122"/>
                                        </a:rPr>
                                        <m:t>𝑒𝑚</m:t>
                                      </m:r>
                                    </m:num>
                                    <m:den>
                                      <m:r>
                                        <a:rPr lang="en-US" altLang="zh-CN" i="1">
                                          <a:solidFill>
                                            <a:prstClr val="black"/>
                                          </a:solidFill>
                                          <a:latin typeface="Cambria Math" panose="02040503050406030204" pitchFamily="18" charset="0"/>
                                          <a:ea typeface="黑体" panose="02010609060101010101" pitchFamily="49" charset="-122"/>
                                        </a:rPr>
                                        <m:t>𝑑</m:t>
                                      </m:r>
                                    </m:den>
                                  </m:f>
                                  <m:r>
                                    <a:rPr lang="en-US" altLang="zh-CN" i="1">
                                      <a:solidFill>
                                        <a:prstClr val="black"/>
                                      </a:solidFill>
                                      <a:latin typeface="Cambria Math" panose="02040503050406030204" pitchFamily="18" charset="0"/>
                                      <a:ea typeface="黑体" panose="02010609060101010101" pitchFamily="49" charset="-122"/>
                                    </a:rPr>
                                    <m:t>+8</m:t>
                                  </m:r>
                                  <m:r>
                                    <a:rPr lang="en-US" altLang="zh-CN">
                                      <a:solidFill>
                                        <a:prstClr val="black"/>
                                      </a:solidFill>
                                      <a:latin typeface="Cambria Math" panose="02040503050406030204" pitchFamily="18" charset="0"/>
                                      <a:ea typeface="黑体" panose="02010609060101010101" pitchFamily="49" charset="-122"/>
                                    </a:rPr>
                                    <m:t> </m:t>
                                  </m:r>
                                  <m:r>
                                    <m:rPr>
                                      <m:sty m:val="p"/>
                                    </m:rPr>
                                    <a:rPr lang="en-US" altLang="zh-CN">
                                      <a:solidFill>
                                        <a:prstClr val="black"/>
                                      </a:solidFill>
                                      <a:latin typeface="Cambria Math" panose="02040503050406030204" pitchFamily="18" charset="0"/>
                                      <a:ea typeface="黑体" panose="02010609060101010101" pitchFamily="49" charset="-122"/>
                                    </a:rPr>
                                    <m:t>ln</m:t>
                                  </m:r>
                                  <m:f>
                                    <m:fPr>
                                      <m:ctrlPr>
                                        <a:rPr lang="en-US" altLang="zh-CN" i="1">
                                          <a:solidFill>
                                            <a:prstClr val="black"/>
                                          </a:solidFill>
                                          <a:latin typeface="Cambria Math" panose="02040503050406030204" pitchFamily="18" charset="0"/>
                                          <a:ea typeface="黑体" panose="02010609060101010101" pitchFamily="49" charset="-122"/>
                                        </a:rPr>
                                      </m:ctrlPr>
                                    </m:fPr>
                                    <m:num>
                                      <m:r>
                                        <a:rPr lang="en-US" altLang="zh-CN" i="1">
                                          <a:solidFill>
                                            <a:prstClr val="black"/>
                                          </a:solidFill>
                                          <a:latin typeface="Cambria Math" panose="02040503050406030204" pitchFamily="18" charset="0"/>
                                          <a:ea typeface="黑体" panose="02010609060101010101" pitchFamily="49" charset="-122"/>
                                        </a:rPr>
                                        <m:t>4</m:t>
                                      </m:r>
                                    </m:num>
                                    <m:den>
                                      <m:r>
                                        <a:rPr lang="zh-CN" altLang="en-US" i="1">
                                          <a:solidFill>
                                            <a:prstClr val="black"/>
                                          </a:solidFill>
                                          <a:latin typeface="Cambria Math" panose="02040503050406030204" pitchFamily="18" charset="0"/>
                                          <a:ea typeface="黑体" panose="02010609060101010101" pitchFamily="49" charset="-122"/>
                                        </a:rPr>
                                        <m:t>𝛿</m:t>
                                      </m:r>
                                    </m:den>
                                  </m:f>
                                </m:num>
                                <m:den>
                                  <m:r>
                                    <a:rPr lang="en-US" altLang="zh-CN" i="1">
                                      <a:solidFill>
                                        <a:prstClr val="black"/>
                                      </a:solidFill>
                                      <a:latin typeface="Cambria Math" panose="02040503050406030204" pitchFamily="18" charset="0"/>
                                      <a:ea typeface="黑体" panose="02010609060101010101" pitchFamily="49" charset="-122"/>
                                    </a:rPr>
                                    <m:t>𝑚</m:t>
                                  </m:r>
                                </m:den>
                              </m:f>
                            </m:e>
                          </m:rad>
                        </m:e>
                      </m:d>
                    </m:oMath>
                  </m:oMathPara>
                </a14:m>
                <a:endParaRPr lang="en-US" altLang="zh-CN" i="1" dirty="0">
                  <a:solidFill>
                    <a:prstClr val="black"/>
                  </a:solidFill>
                  <a:latin typeface="Cambria Math" panose="02040503050406030204" pitchFamily="18" charset="0"/>
                  <a:ea typeface="黑体" panose="02010609060101010101" pitchFamily="49" charset="-122"/>
                </a:endParaRPr>
              </a:p>
              <a:p>
                <a:pPr marL="0" lvl="1" indent="0" fontAlgn="auto">
                  <a:lnSpc>
                    <a:spcPct val="100000"/>
                  </a:lnSpc>
                  <a:spcBef>
                    <a:spcPts val="0"/>
                  </a:spcBef>
                  <a:spcAft>
                    <a:spcPts val="0"/>
                  </a:spcAft>
                  <a:buClr>
                    <a:srgbClr val="16754D"/>
                  </a:buClr>
                  <a:buSzPct val="120000"/>
                  <a:buNone/>
                  <a:defRPr/>
                </a:pPr>
                <a14:m>
                  <m:oMathPara xmlns:m="http://schemas.openxmlformats.org/officeDocument/2006/math">
                    <m:oMathParaPr>
                      <m:jc m:val="centerGroup"/>
                    </m:oMathParaPr>
                    <m:oMath xmlns:m="http://schemas.openxmlformats.org/officeDocument/2006/math">
                      <m:r>
                        <a:rPr kumimoji="0" lang="en-US" altLang="zh-CN"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≥1−</m:t>
                      </m:r>
                      <m:r>
                        <a:rPr kumimoji="0" lang="zh-CN" altLang="en-US" b="0" i="1" u="none" strike="noStrike" kern="1200" cap="none" spc="0" normalizeH="0" noProof="0" smtClean="0">
                          <a:ln>
                            <a:noFill/>
                          </a:ln>
                          <a:solidFill>
                            <a:prstClr val="black"/>
                          </a:solidFill>
                          <a:effectLst/>
                          <a:uLnTx/>
                          <a:uFillTx/>
                          <a:latin typeface="Cambria Math" panose="02040503050406030204" pitchFamily="18" charset="0"/>
                          <a:ea typeface="Cambria Math" panose="02040503050406030204" pitchFamily="18" charset="0"/>
                        </a:rPr>
                        <m:t>𝛿</m:t>
                      </m:r>
                    </m:oMath>
                  </m:oMathPara>
                </a14:m>
                <a:endParaRPr kumimoji="0" lang="en-US" altLang="zh-CN"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endParaRPr>
              </a:p>
            </p:txBody>
          </p:sp>
        </mc:Choice>
        <mc:Fallback xmlns="">
          <p:sp>
            <p:nvSpPr>
              <p:cNvPr id="23" name="内容占位符 4">
                <a:extLst>
                  <a:ext uri="{FF2B5EF4-FFF2-40B4-BE49-F238E27FC236}">
                    <a16:creationId xmlns:a16="http://schemas.microsoft.com/office/drawing/2014/main" id="{0151A893-BE42-28AE-2A8D-6498F761B605}"/>
                  </a:ext>
                </a:extLst>
              </p:cNvPr>
              <p:cNvSpPr txBox="1">
                <a:spLocks noRot="1" noChangeAspect="1" noMove="1" noResize="1" noEditPoints="1" noAdjustHandles="1" noChangeArrowheads="1" noChangeShapeType="1" noTextEdit="1"/>
              </p:cNvSpPr>
              <p:nvPr/>
            </p:nvSpPr>
            <p:spPr bwMode="auto">
              <a:xfrm>
                <a:off x="84529" y="850321"/>
                <a:ext cx="4607919" cy="2221406"/>
              </a:xfrm>
              <a:prstGeom prst="rect">
                <a:avLst/>
              </a:prstGeom>
              <a:blipFill>
                <a:blip r:embed="rId5"/>
                <a:stretch>
                  <a:fillRect l="-3439" t="-4110" b="-1096"/>
                </a:stretch>
              </a:blip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r>
                  <a:rPr lang="zh-CN" altLang="en-US">
                    <a:noFill/>
                  </a:rPr>
                  <a:t> </a:t>
                </a:r>
              </a:p>
            </p:txBody>
          </p:sp>
        </mc:Fallback>
      </mc:AlternateContent>
      <p:sp>
        <p:nvSpPr>
          <p:cNvPr id="3" name="矩形 2">
            <a:extLst>
              <a:ext uri="{FF2B5EF4-FFF2-40B4-BE49-F238E27FC236}">
                <a16:creationId xmlns:a16="http://schemas.microsoft.com/office/drawing/2014/main" id="{D8A98054-67A2-94B9-8C53-E6D06D63EB86}"/>
              </a:ext>
            </a:extLst>
          </p:cNvPr>
          <p:cNvSpPr/>
          <p:nvPr/>
        </p:nvSpPr>
        <p:spPr>
          <a:xfrm>
            <a:off x="6857680" y="3170914"/>
            <a:ext cx="798290" cy="29219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0781059A-6716-822D-77D0-EF5F8FBA82AE}"/>
              </a:ext>
            </a:extLst>
          </p:cNvPr>
          <p:cNvSpPr/>
          <p:nvPr/>
        </p:nvSpPr>
        <p:spPr>
          <a:xfrm>
            <a:off x="6857680" y="3794305"/>
            <a:ext cx="798290" cy="292195"/>
          </a:xfrm>
          <a:prstGeom prst="rect">
            <a:avLst/>
          </a:prstGeom>
          <a:noFill/>
          <a:ln>
            <a:solidFill>
              <a:srgbClr val="C0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729475114"/>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A6FA84B-D276-CD1D-B5D9-4F21D52254BB}"/>
              </a:ext>
            </a:extLst>
          </p:cNvPr>
          <p:cNvSpPr>
            <a:spLocks noGrp="1"/>
          </p:cNvSpPr>
          <p:nvPr>
            <p:ph type="title"/>
          </p:nvPr>
        </p:nvSpPr>
        <p:spPr/>
        <p:txBody>
          <a:bodyPr/>
          <a:lstStyle/>
          <a:p>
            <a:r>
              <a:rPr lang="zh-CN" altLang="en-US" dirty="0"/>
              <a:t>计算学习理论</a:t>
            </a:r>
          </a:p>
        </p:txBody>
      </p:sp>
      <p:sp>
        <p:nvSpPr>
          <p:cNvPr id="4" name="灯片编号占位符 3">
            <a:extLst>
              <a:ext uri="{FF2B5EF4-FFF2-40B4-BE49-F238E27FC236}">
                <a16:creationId xmlns:a16="http://schemas.microsoft.com/office/drawing/2014/main" id="{99A30A11-5023-0C1F-2AF5-99E2F37F9B6F}"/>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5AD84F5B-1672-4D3F-9FEC-5DF89A7B7912}" type="slidenum">
              <a:rPr kumimoji="0" lang="zh-CN" altLang="en-US" sz="1200" b="1" i="0" u="none" strike="noStrike" kern="1200" cap="none" spc="0" normalizeH="0" baseline="0" noProof="0" smtClean="0">
                <a:ln>
                  <a:noFill/>
                </a:ln>
                <a:solidFill>
                  <a:srgbClr val="002060"/>
                </a:solidFill>
                <a:effectLst/>
                <a:uLnTx/>
                <a:uFillTx/>
                <a:latin typeface="Times New Roman"/>
                <a:ea typeface="黑体"/>
                <a:cs typeface="+mn-cs"/>
              </a:rPr>
              <a:pPr marL="0" marR="0" lvl="0" indent="0" algn="r" defTabSz="914400" rtl="0" eaLnBrk="1" fontAlgn="auto" latinLnBrk="0" hangingPunct="1">
                <a:lnSpc>
                  <a:spcPct val="100000"/>
                </a:lnSpc>
                <a:spcBef>
                  <a:spcPts val="0"/>
                </a:spcBef>
                <a:spcAft>
                  <a:spcPts val="0"/>
                </a:spcAft>
                <a:buClrTx/>
                <a:buSzTx/>
                <a:buFontTx/>
                <a:buNone/>
                <a:tabLst/>
                <a:defRPr/>
              </a:pPr>
              <a:t>74</a:t>
            </a:fld>
            <a:endParaRPr kumimoji="0" lang="zh-CN" altLang="en-US" sz="1200" b="1" i="0" u="none" strike="noStrike" kern="1200" cap="none" spc="0" normalizeH="0" baseline="0" noProof="0">
              <a:ln>
                <a:noFill/>
              </a:ln>
              <a:solidFill>
                <a:srgbClr val="002060"/>
              </a:solidFill>
              <a:effectLst/>
              <a:uLnTx/>
              <a:uFillTx/>
              <a:latin typeface="Times New Roman"/>
              <a:ea typeface="黑体"/>
              <a:cs typeface="+mn-cs"/>
            </a:endParaRPr>
          </a:p>
        </p:txBody>
      </p:sp>
      <p:sp>
        <p:nvSpPr>
          <p:cNvPr id="3" name="内容占位符 4">
            <a:extLst>
              <a:ext uri="{FF2B5EF4-FFF2-40B4-BE49-F238E27FC236}">
                <a16:creationId xmlns:a16="http://schemas.microsoft.com/office/drawing/2014/main" id="{95B0B70C-CBB0-5756-DF9C-DB4BF7D8A78D}"/>
              </a:ext>
            </a:extLst>
          </p:cNvPr>
          <p:cNvSpPr txBox="1">
            <a:spLocks/>
          </p:cNvSpPr>
          <p:nvPr/>
        </p:nvSpPr>
        <p:spPr bwMode="auto">
          <a:xfrm>
            <a:off x="260350" y="1158875"/>
            <a:ext cx="8616950" cy="395100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6800" rIns="91440" bIns="45720" numCol="1" rtlCol="0" anchor="t" anchorCtr="0" compatLnSpc="1">
            <a:prstTxWarp prst="textNoShape">
              <a:avLst/>
            </a:prstTxWarp>
            <a:normAutofit lnSpcReduction="10000"/>
          </a:bodyPr>
          <a:lstStyle>
            <a:lvl1pPr marL="228600" indent="-360000" algn="l" rtl="0" fontAlgn="base">
              <a:lnSpc>
                <a:spcPct val="90000"/>
              </a:lnSpc>
              <a:spcBef>
                <a:spcPts val="1000"/>
              </a:spcBef>
              <a:spcAft>
                <a:spcPct val="0"/>
              </a:spcAft>
              <a:buClr>
                <a:schemeClr val="accent1"/>
              </a:buClr>
              <a:buSzPct val="100000"/>
              <a:buFont typeface="Wingdings" panose="05000000000000000000" pitchFamily="2" charset="2"/>
              <a:buChar char="p"/>
              <a:defRPr lang="zh-CN" altLang="en-US" sz="2200" kern="1200" dirty="0" smtClean="0">
                <a:solidFill>
                  <a:schemeClr val="tx1"/>
                </a:solidFill>
                <a:latin typeface="Verdana" panose="020B0604030504040204" pitchFamily="34" charset="0"/>
                <a:ea typeface="幼圆" panose="02010509060101010101" pitchFamily="49" charset="-122"/>
                <a:cs typeface="+mn-cs"/>
              </a:defRPr>
            </a:lvl1pPr>
            <a:lvl2pPr marL="685800" indent="-360000" algn="l" rtl="0" fontAlgn="base">
              <a:lnSpc>
                <a:spcPct val="90000"/>
              </a:lnSpc>
              <a:spcBef>
                <a:spcPts val="500"/>
              </a:spcBef>
              <a:spcAft>
                <a:spcPct val="0"/>
              </a:spcAft>
              <a:buClr>
                <a:schemeClr val="accent1"/>
              </a:buClr>
              <a:buFont typeface="Wingdings" panose="05000000000000000000" pitchFamily="2" charset="2"/>
              <a:buChar char="l"/>
              <a:defRPr sz="2000" kern="1200" baseline="0">
                <a:solidFill>
                  <a:schemeClr val="tx1"/>
                </a:solidFill>
                <a:latin typeface="Verdana" panose="020B0604030504040204" pitchFamily="34" charset="0"/>
                <a:ea typeface="幼圆" panose="02010509060101010101" pitchFamily="49" charset="-122"/>
                <a:cs typeface="+mn-cs"/>
              </a:defRPr>
            </a:lvl2pPr>
            <a:lvl3pPr marL="1143000" indent="-360000" algn="l" rtl="0" fontAlgn="base">
              <a:lnSpc>
                <a:spcPct val="90000"/>
              </a:lnSpc>
              <a:spcBef>
                <a:spcPts val="500"/>
              </a:spcBef>
              <a:spcAft>
                <a:spcPct val="0"/>
              </a:spcAft>
              <a:buClr>
                <a:schemeClr val="accent1"/>
              </a:buClr>
              <a:buFont typeface="Wingdings" panose="05000000000000000000" pitchFamily="2" charset="2"/>
              <a:buChar char="l"/>
              <a:defRPr sz="1800" kern="1200" baseline="0">
                <a:solidFill>
                  <a:schemeClr val="tx1"/>
                </a:solidFill>
                <a:latin typeface="Verdana" panose="020B0604030504040204" pitchFamily="34" charset="0"/>
                <a:ea typeface="幼圆" panose="02010509060101010101" pitchFamily="49" charset="-122"/>
                <a:cs typeface="+mn-cs"/>
              </a:defRPr>
            </a:lvl3pPr>
            <a:lvl4pPr marL="16002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4pPr>
            <a:lvl5pPr marL="2057400" indent="-360000" algn="l" rtl="0" fontAlgn="base">
              <a:lnSpc>
                <a:spcPct val="90000"/>
              </a:lnSpc>
              <a:spcBef>
                <a:spcPts val="500"/>
              </a:spcBef>
              <a:spcAft>
                <a:spcPct val="0"/>
              </a:spcAft>
              <a:buClr>
                <a:schemeClr val="accent1"/>
              </a:buClr>
              <a:buFont typeface="Wingdings" panose="05000000000000000000" pitchFamily="2" charset="2"/>
              <a:buChar char="l"/>
              <a:defRPr sz="1600" kern="1200" baseline="0">
                <a:solidFill>
                  <a:schemeClr val="tx1"/>
                </a:solidFill>
                <a:latin typeface="Verdana" panose="020B0604030504040204" pitchFamily="34" charset="0"/>
                <a:ea typeface="幼圆" panose="02010509060101010101" pitchFamily="49" charset="-122"/>
                <a:cs typeface="+mn-cs"/>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800" kern="1200">
                <a:solidFill>
                  <a:schemeClr val="tx1"/>
                </a:solidFill>
                <a:latin typeface="+mn-lt"/>
                <a:ea typeface="+mn-ea"/>
                <a:cs typeface="+mn-cs"/>
              </a:defRPr>
            </a:lvl6pPr>
            <a:lvl7pPr marL="27432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7pPr>
            <a:lvl8pPr marL="32004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无论基于</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VC</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维和</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Rademacher</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复杂度来分析泛化性能</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得到的结果均与具体的学习算法无关</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这使得人们能够脱离具体的学习算法来考虑学习问题本身的性质。</a:t>
            </a:r>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endPar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但另一方面</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为了获得与算法有关的分析结果</a:t>
            </a:r>
            <a:r>
              <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 </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则需另辟蹊径。</a:t>
            </a:r>
            <a:endParaRPr kumimoji="0" lang="en-US" altLang="zh-CN"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0" marR="0" lvl="0" indent="0" algn="l" defTabSz="914400" rtl="0" eaLnBrk="1" fontAlgn="auto" latinLnBrk="0" hangingPunct="1">
              <a:lnSpc>
                <a:spcPct val="150000"/>
              </a:lnSpc>
              <a:spcBef>
                <a:spcPts val="0"/>
              </a:spcBef>
              <a:spcAft>
                <a:spcPts val="0"/>
              </a:spcAft>
              <a:buClr>
                <a:srgbClr val="16754D"/>
              </a:buClr>
              <a:buSzPct val="100000"/>
              <a:buNone/>
              <a:tabLst/>
              <a:defRPr/>
            </a:pPr>
            <a:endPar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endParaRPr>
          </a:p>
          <a:p>
            <a:pPr marL="342900" marR="0" lvl="0" indent="-342900" algn="l" defTabSz="914400" rtl="0" eaLnBrk="1" fontAlgn="auto" latinLnBrk="0" hangingPunct="1">
              <a:lnSpc>
                <a:spcPct val="150000"/>
              </a:lnSpc>
              <a:spcBef>
                <a:spcPts val="0"/>
              </a:spcBef>
              <a:spcAft>
                <a:spcPts val="0"/>
              </a:spcAft>
              <a:buClr>
                <a:srgbClr val="16754D"/>
              </a:buClr>
              <a:buSzPct val="100000"/>
              <a:buFont typeface="Wingdings" panose="05000000000000000000" pitchFamily="2" charset="2"/>
              <a:buChar char="u"/>
              <a:tabLst/>
              <a:defRPr/>
            </a:pP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稳定性</a:t>
            </a:r>
            <a:r>
              <a:rPr kumimoji="0" lang="en-US" altLang="zh-CN"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(stability)</a:t>
            </a:r>
            <a:r>
              <a:rPr kumimoji="0" lang="zh-CN" altLang="en-US" sz="2200" b="0" i="0" u="none" strike="noStrike" kern="1200" cap="none" spc="0" normalizeH="0" noProof="0" dirty="0">
                <a:ln>
                  <a:noFill/>
                </a:ln>
                <a:solidFill>
                  <a:srgbClr val="16754D"/>
                </a:solidFill>
                <a:effectLst/>
                <a:uLnTx/>
                <a:uFillTx/>
                <a:latin typeface="Arial" panose="020B0604020202020204" pitchFamily="34" charset="0"/>
                <a:ea typeface="黑体" panose="02010609060101010101" pitchFamily="49" charset="-122"/>
                <a:cs typeface="+mn-cs"/>
              </a:rPr>
              <a:t>分析</a:t>
            </a:r>
            <a:r>
              <a:rPr kumimoji="0" lang="zh-CN" altLang="en-US" sz="22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是这方面值得关注的一个方向</a:t>
            </a:r>
            <a:r>
              <a:rPr kumimoji="0" lang="zh-CN" altLang="en-US" sz="24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a:p>
            <a:pPr marL="457200" marR="0" lvl="1" indent="0" algn="l" defTabSz="914400" rtl="0" eaLnBrk="1" fontAlgn="auto" latinLnBrk="0" hangingPunct="1">
              <a:lnSpc>
                <a:spcPct val="150000"/>
              </a:lnSpc>
              <a:spcBef>
                <a:spcPts val="0"/>
              </a:spcBef>
              <a:spcAft>
                <a:spcPts val="0"/>
              </a:spcAft>
              <a:buClr>
                <a:srgbClr val="16754D"/>
              </a:buClr>
              <a:buSzTx/>
              <a:buNone/>
              <a:tabLst/>
              <a:defRPr/>
            </a:pP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考察算法在输入</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训练集</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r>
              <a:rPr kumimoji="0" lang="zh-CN" altLang="en-US"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发生变化时，输出是否发生较大的变化</a:t>
            </a:r>
            <a:r>
              <a:rPr kumimoji="0" lang="en-US" altLang="zh-CN" sz="2000" b="0" i="0" u="none" strike="noStrike" kern="1200" cap="none" spc="0" normalizeH="0" noProof="0" dirty="0">
                <a:ln>
                  <a:noFill/>
                </a:ln>
                <a:solidFill>
                  <a:sysClr val="windowText" lastClr="000000"/>
                </a:solidFill>
                <a:effectLst/>
                <a:uLnTx/>
                <a:uFillTx/>
                <a:latin typeface="Arial" panose="020B0604020202020204" pitchFamily="34" charset="0"/>
                <a:ea typeface="黑体" panose="02010609060101010101" pitchFamily="49" charset="-122"/>
                <a:cs typeface="+mn-cs"/>
              </a:rPr>
              <a:t>.</a:t>
            </a:r>
          </a:p>
        </p:txBody>
      </p:sp>
    </p:spTree>
    <p:extLst>
      <p:ext uri="{BB962C8B-B14F-4D97-AF65-F5344CB8AC3E}">
        <p14:creationId xmlns:p14="http://schemas.microsoft.com/office/powerpoint/2010/main" val="4011457098"/>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99E9B624-D244-5ACD-8566-EC34BAC343EE}"/>
              </a:ext>
            </a:extLst>
          </p:cNvPr>
          <p:cNvSpPr/>
          <p:nvPr/>
        </p:nvSpPr>
        <p:spPr>
          <a:xfrm>
            <a:off x="201168" y="5120640"/>
            <a:ext cx="8778240" cy="1691640"/>
          </a:xfrm>
          <a:prstGeom prst="rect">
            <a:avLst/>
          </a:prstGeom>
        </p:spPr>
        <p:txBody>
          <a:bodyPr wrap="square" lIns="0" tIns="0" rIns="0" bIns="0">
            <a:noAutofit/>
          </a:bodyPr>
          <a:lstStyle/>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[1] Zhi-Hua Zhou, Machine Learning, 2016, Tsinghua University Press. Ch. 6</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[2] Hang Li, Statistical Learning Methods (2nd ed.), 2019, Tsinghua University Press. Ch. 7</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[3] Fei Wu, Introduction to Artificial Intelligence: Models and Algorithms, 2020, Higher Education Press.</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[4] Zhi-Hua Zhou et al., An Introduction to Machine Learning Theory, 2020, China Machine Press. Chs. 1.3, 1.4</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505700"/>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2. Computational Learning Theory</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rPr>
              <a:t>1. Basic Concepts of Machine Learning</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7.</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Expectation maximization*</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3763292"/>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6. Principal Component Analysis*</a:t>
            </a:r>
          </a:p>
        </p:txBody>
      </p:sp>
      <p:sp>
        <p:nvSpPr>
          <p:cNvPr id="5" name="矩形 4">
            <a:extLst>
              <a:ext uri="{FF2B5EF4-FFF2-40B4-BE49-F238E27FC236}">
                <a16:creationId xmlns:a16="http://schemas.microsoft.com/office/drawing/2014/main" id="{1046BB5A-5EB1-F371-BC36-1A22B89389A7}"/>
              </a:ext>
            </a:extLst>
          </p:cNvPr>
          <p:cNvSpPr>
            <a:spLocks noChangeArrowheads="1"/>
          </p:cNvSpPr>
          <p:nvPr/>
        </p:nvSpPr>
        <p:spPr bwMode="auto">
          <a:xfrm>
            <a:off x="233846" y="31988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5.</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Ada Boost*</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6" name="矩形 5">
            <a:extLst>
              <a:ext uri="{FF2B5EF4-FFF2-40B4-BE49-F238E27FC236}">
                <a16:creationId xmlns:a16="http://schemas.microsoft.com/office/drawing/2014/main" id="{4F14B11F-7E55-EABF-D1F7-A6AB2321FCE6}"/>
              </a:ext>
            </a:extLst>
          </p:cNvPr>
          <p:cNvSpPr>
            <a:spLocks noChangeArrowheads="1"/>
          </p:cNvSpPr>
          <p:nvPr/>
        </p:nvSpPr>
        <p:spPr bwMode="auto">
          <a:xfrm>
            <a:off x="233846" y="2634496"/>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4.</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Support vector machine</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13" name="矩形 12">
            <a:extLst>
              <a:ext uri="{FF2B5EF4-FFF2-40B4-BE49-F238E27FC236}">
                <a16:creationId xmlns:a16="http://schemas.microsoft.com/office/drawing/2014/main" id="{AA251C9F-92D5-32AC-6652-95BE0DCBD7F4}"/>
              </a:ext>
            </a:extLst>
          </p:cNvPr>
          <p:cNvSpPr>
            <a:spLocks noChangeArrowheads="1"/>
          </p:cNvSpPr>
          <p:nvPr/>
        </p:nvSpPr>
        <p:spPr bwMode="auto">
          <a:xfrm>
            <a:off x="233846" y="2070098"/>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3. Generative Methods</a:t>
            </a:r>
          </a:p>
        </p:txBody>
      </p:sp>
      <p:sp>
        <p:nvSpPr>
          <p:cNvPr id="14" name="矩形 13">
            <a:extLst>
              <a:ext uri="{FF2B5EF4-FFF2-40B4-BE49-F238E27FC236}">
                <a16:creationId xmlns:a16="http://schemas.microsoft.com/office/drawing/2014/main" id="{02CC530D-2AD5-8DF2-5146-5DCE9F0C333B}"/>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5" name="矩形 14">
            <a:extLst>
              <a:ext uri="{FF2B5EF4-FFF2-40B4-BE49-F238E27FC236}">
                <a16:creationId xmlns:a16="http://schemas.microsoft.com/office/drawing/2014/main" id="{F3857C14-9E64-F61E-A319-CBB243A3EECF}"/>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00B0F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00B0F0"/>
              </a:solidFill>
              <a:ea typeface="Arial" panose="02010609060101010101" pitchFamily="49" charset="-122"/>
              <a:sym typeface="Calibri" panose="020F0502020204030204" pitchFamily="34" charset="0"/>
              <a:latin typeface="Arial"/>
              <a:cs typeface="Arial"/>
            </a:endParaRPr>
          </a:p>
        </p:txBody>
      </p:sp>
      <p:sp>
        <p:nvSpPr>
          <p:cNvPr id="16" name="矩形 15">
            <a:extLst>
              <a:ext uri="{FF2B5EF4-FFF2-40B4-BE49-F238E27FC236}">
                <a16:creationId xmlns:a16="http://schemas.microsoft.com/office/drawing/2014/main" id="{CB2DED5B-18F2-0C6A-6570-E000CE561E57}"/>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5. Generative Methods*</a:t>
            </a:r>
          </a:p>
        </p:txBody>
      </p:sp>
    </p:spTree>
    <p:extLst>
      <p:ext uri="{BB962C8B-B14F-4D97-AF65-F5344CB8AC3E}">
        <p14:creationId xmlns:p14="http://schemas.microsoft.com/office/powerpoint/2010/main" val="168982668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 name="图片 15">
            <a:extLst>
              <a:ext uri="{FF2B5EF4-FFF2-40B4-BE49-F238E27FC236}">
                <a16:creationId xmlns:a16="http://schemas.microsoft.com/office/drawing/2014/main" id="{5AFB13A9-0F35-4192-8BA8-90BCD612B1DF}"/>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r="7337"/>
          <a:stretch/>
        </p:blipFill>
        <p:spPr bwMode="auto">
          <a:xfrm>
            <a:off x="71794" y="1650340"/>
            <a:ext cx="3713340" cy="3132000"/>
          </a:xfrm>
          <a:prstGeom prst="rect">
            <a:avLst/>
          </a:prstGeom>
          <a:noFill/>
          <a:ln>
            <a:noFill/>
          </a:ln>
        </p:spPr>
      </p:pic>
      <p:sp>
        <p:nvSpPr>
          <p:cNvPr id="13" name="矩形 12">
            <a:extLst>
              <a:ext uri="{FF2B5EF4-FFF2-40B4-BE49-F238E27FC236}">
                <a16:creationId xmlns:a16="http://schemas.microsoft.com/office/drawing/2014/main" id="{ED1C8797-AB13-4811-AB4B-1D469B0FAAF0}"/>
              </a:ext>
            </a:extLst>
          </p:cNvPr>
          <p:cNvSpPr/>
          <p:nvPr/>
        </p:nvSpPr>
        <p:spPr>
          <a:xfrm>
            <a:off x="195592" y="4951498"/>
            <a:ext cx="3465744" cy="1188720"/>
          </a:xfrm>
          <a:prstGeom prst="rect">
            <a:avLst/>
          </a:prstGeom>
        </p:spPr>
        <p:txBody>
          <a:bodyPr wrap="square" lIns="0" tIns="0" rIns="0" bIns="0">
            <a:noAutofit/>
          </a:bodyPr>
          <a:lstStyle/>
          <a:p>
            <a:pPr marL="0" marR="0" lvl="0" defTabSz="914400" rtl="0" eaLnBrk="1" fontAlgn="auto" latinLnBrk="0" hangingPunct="1">
              <a:lnSpc>
                <a:spcPct val="100000"/>
              </a:lnSpc>
              <a:spcBef>
                <a:spcPts val="600"/>
              </a:spcBef>
              <a:buClrTx/>
              <a:buSzTx/>
              <a:buFontTx/>
              <a:buNone/>
              <a:tabLst/>
              <a:defRPr sz="1600" lang="en-US">
                <a:latin typeface="Arial"/>
                <a:ea typeface="Arial"/>
                <a:cs typeface="Arial"/>
              </a:defRPr>
            </a:pPr>
            <a:r>
              <a:rPr kumimoji="0" lang="en-US" altLang="zh-CN" i="0" u="none" strike="noStrike" kern="1200" cap="none" spc="0" normalizeH="0" noProof="0" dirty="0" sz="160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Fig. 4.11. Empirical risk, expected risk, VC confidence, VC dimension, overfitting and underfitting</a:t>
            </a:r>
          </a:p>
        </p:txBody>
      </p:sp>
      <p:sp xmlns:a14="http://schemas.microsoft.com/office/drawing/2010/main">
        <p:nvSpPr>
          <p:cNvPr id="2" name="矩形 1">
            <a:extLst>
              <a:ext uri="{FF2B5EF4-FFF2-40B4-BE49-F238E27FC236}">
                <a16:creationId xmlns:a16="http://schemas.microsoft.com/office/drawing/2014/main" id="{D051F31B-7FC0-4EB6-A69F-3D8F62FF42A5}"/>
              </a:ext>
            </a:extLst>
          </p:cNvPr>
          <p:cNvSpPr/>
          <p:nvPr/>
        </p:nvSpPr>
        <p:spPr>
          <a:xfrm>
            <a:off x="3821411" y="1137998"/>
            <a:ext cx="5126997" cy="5283113"/>
          </a:xfrm>
          <a:prstGeom prst="rect">
            <a:avLst/>
          </a:prstGeom>
        </p:spPr>
        <p:txBody>
          <a:bodyPr wrap="square" lIns="0" tIns="0" rIns="0" bIns="0">
            <a:noAutofit/>
          </a:bodyPr>
          <a:lstStyle/>
          <a:p>
            <a:pPr marL="0" marR="0" lvl="0" algn="just"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Structural risk minimization. VC theory distinguishes expected (true) risk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from empirical risk </a:t>
            </a:r>
            <a14:m>
              <m:oMath xmlns:m="http://schemas.openxmlformats.org/officeDocument/2006/math">
                <m:sSub>
                  <m:sSubPr>
                    <m:ctrlP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e>
                  <m:sub>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𝑒𝑚𝑝</m:t>
                    </m:r>
                  </m:sub>
                </m:sSub>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Their difference, the confidence risk, depends on sample size and model complexity. Fitting a complex model to a small sample often causes overfitting. Add a penalty or regularization term to empirical risk </a:t>
            </a:r>
            <a14:m>
              <m:oMath xmlns:m="http://schemas.openxmlformats.org/officeDocument/2006/math">
                <m:sSub>
                  <m:sSubPr>
                    <m:ctrlP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ℜ</m:t>
                    </m:r>
                  </m:e>
                  <m:sub>
                    <m:r>
                      <a:rPr kumimoji="0" lang="en-US" altLang="zh-CN" sz="1600" b="0" i="1" u="none" strike="noStrike" kern="1200" cap="none" spc="0" normalizeH="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𝑒𝑚𝑝</m:t>
                    </m:r>
                  </m:sub>
                </m:sSub>
              </m:oMath>
            </a14:m>
            <a:r>
              <a:rPr kumimoji="0" lang="en-US" altLang="zh-CN" sz="160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 to account for both risks: this is structural risk minimization. It can improve small-sample performance. Maintaining low empirical risk while reducing the model's VC dimension helps control expected risk over the population. For a fixed training set, a larger classification margin corresponds to a smaller VC dimension of the associated class of separating hyperplanes.</a:t>
            </a:r>
          </a:p>
        </p:txBody>
      </p:sp>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文本框 2">
            <a:extLst>
              <a:ext uri="{FF2B5EF4-FFF2-40B4-BE49-F238E27FC236}">
                <a16:creationId xmlns:a16="http://schemas.microsoft.com/office/drawing/2014/main" id="{F5D5FA0D-3F8D-965D-5677-9DE42084895D}"/>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Structural Risk Minimization</a:t>
            </a:r>
          </a:p>
        </p:txBody>
      </p:sp>
      <p:sp>
        <p:nvSpPr>
          <p:cNvPr id="17" name="Rectangle 16"/>
          <p:cNvSpPr/>
          <p:nvPr/>
        </p:nvSpPr>
        <p:spPr>
          <a:xfrm>
            <a:off x="452411" y="1700371"/>
            <a:ext cx="974751" cy="20012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2411" y="1700371"/>
            <a:ext cx="1280160" cy="36576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Underfitting</a:t>
            </a:r>
          </a:p>
        </p:txBody>
      </p:sp>
      <p:sp>
        <p:nvSpPr>
          <p:cNvPr id="19" name="Rectangle 18"/>
          <p:cNvSpPr/>
          <p:nvPr/>
        </p:nvSpPr>
        <p:spPr>
          <a:xfrm>
            <a:off x="2016655" y="1685362"/>
            <a:ext cx="1067585" cy="21513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016655" y="1685362"/>
            <a:ext cx="1188720" cy="36576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Overfitting</a:t>
            </a:r>
          </a:p>
        </p:txBody>
      </p:sp>
      <p:sp>
        <p:nvSpPr>
          <p:cNvPr id="21" name="Rectangle 20"/>
          <p:cNvSpPr/>
          <p:nvPr/>
        </p:nvSpPr>
        <p:spPr>
          <a:xfrm>
            <a:off x="1116170" y="2425835"/>
            <a:ext cx="1206835" cy="22514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116170" y="2425835"/>
            <a:ext cx="1206835" cy="225143"/>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Expected risk</a:t>
            </a:r>
          </a:p>
        </p:txBody>
      </p:sp>
      <p:sp>
        <p:nvSpPr>
          <p:cNvPr id="23" name="Rectangle 22"/>
          <p:cNvSpPr/>
          <p:nvPr/>
        </p:nvSpPr>
        <p:spPr>
          <a:xfrm>
            <a:off x="2791815" y="2941164"/>
            <a:ext cx="974751" cy="320204"/>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91815" y="2941164"/>
            <a:ext cx="974751" cy="320204"/>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Empirical risk</a:t>
            </a:r>
          </a:p>
        </p:txBody>
      </p:sp>
      <p:sp>
        <p:nvSpPr>
          <p:cNvPr id="25" name="Rectangle 24"/>
          <p:cNvSpPr/>
          <p:nvPr/>
        </p:nvSpPr>
        <p:spPr>
          <a:xfrm>
            <a:off x="2917140" y="2120640"/>
            <a:ext cx="858709" cy="34021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43200" y="2120640"/>
            <a:ext cx="1024128" cy="640080"/>
          </a:xfrm>
          <a:prstGeom prst="rect">
            <a:avLst/>
          </a:prstGeom>
          <a:solidFill>
            <a:srgbClr val="FFFFFF"/>
          </a:solidFill>
        </p:spPr>
        <p:txBody>
          <a:bodyPr wrap="square" lIns="18288" rIns="18288" tIns="0" bIns="0">
            <a:spAutoFit/>
          </a:bodyPr>
          <a:lstStyle/>
          <a:p>
            <a:pPr>
              <a:spcBef>
                <a:spcPts val="0"/>
              </a:spcBef>
              <a:spcAft>
                <a:spcPts val="0"/>
              </a:spcAft>
            </a:pPr>
            <a:r>
              <a:rPr sz="1600">
                <a:latin typeface="Arial"/>
                <a:ea typeface="Arial"/>
                <a:cs typeface="Arial"/>
              </a:rPr>
              <a:t>VC</a:t>
            </a:r>
          </a:p>
          <a:p>
            <a:r>
              <a:rPr sz="1600">
                <a:latin typeface="Arial"/>
                <a:ea typeface="Arial"/>
                <a:cs typeface="Arial"/>
              </a:rPr>
              <a:t>confidence</a:t>
            </a:r>
          </a:p>
        </p:txBody>
      </p:sp>
      <p:sp>
        <p:nvSpPr>
          <p:cNvPr id="27" name="Rectangle 26"/>
          <p:cNvSpPr/>
          <p:nvPr/>
        </p:nvSpPr>
        <p:spPr>
          <a:xfrm>
            <a:off x="2564373" y="3621598"/>
            <a:ext cx="1183627" cy="32520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2564373" y="3621598"/>
            <a:ext cx="1183627" cy="325207"/>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VC dimension</a:t>
            </a:r>
          </a:p>
        </p:txBody>
      </p:sp>
    </p:spTree>
    <p:extLst>
      <p:ext uri="{BB962C8B-B14F-4D97-AF65-F5344CB8AC3E}">
        <p14:creationId xmlns:p14="http://schemas.microsoft.com/office/powerpoint/2010/main" val="950415647"/>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a:extLst>
              <a:ext uri="{FF2B5EF4-FFF2-40B4-BE49-F238E27FC236}">
                <a16:creationId xmlns:a16="http://schemas.microsoft.com/office/drawing/2014/main" id="{19912DA4-D8EF-4F60-AC43-69880D0EE7AB}"/>
              </a:ext>
            </a:extLst>
          </p:cNvPr>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401931" y="1315556"/>
            <a:ext cx="4431374" cy="3124851"/>
          </a:xfrm>
          <a:prstGeom prst="rect">
            <a:avLst/>
          </a:prstGeom>
          <a:noFill/>
          <a:ln>
            <a:noFill/>
          </a:ln>
        </p:spPr>
      </p:pic>
      <p:sp xmlns:a14="http://schemas.microsoft.com/office/drawing/2010/main">
        <p:nvSpPr>
          <p:cNvPr id="7" name="文本框 6">
            <a:extLst>
              <a:ext uri="{FF2B5EF4-FFF2-40B4-BE49-F238E27FC236}">
                <a16:creationId xmlns:a16="http://schemas.microsoft.com/office/drawing/2014/main" id="{FDD1E947-761E-46EE-B5C8-8B1ED5FE329C}"/>
              </a:ext>
            </a:extLst>
          </p:cNvPr>
          <p:cNvSpPr txBox="1"/>
          <p:nvPr/>
        </p:nvSpPr>
        <p:spPr>
          <a:xfrm>
            <a:off x="402002" y="5152726"/>
            <a:ext cx="8502423" cy="1021177"/>
          </a:xfrm>
          <a:prstGeom prst="rect">
            <a:avLst/>
          </a:prstGeom>
          <a:noFill/>
        </p:spPr>
        <p:txBody>
          <a:bodyPr wrap="square">
            <a:noAutofit/>
          </a:bodyPr>
          <a:lstStyle/>
          <a:p>
            <a:pPr marL="0" marR="0" lvl="0" indent="0" defTabSz="914400" rtl="0" eaLnBrk="1" fontAlgn="auto" latinLnBrk="0" hangingPunct="1">
              <a:lnSpc>
                <a:spcPct val="100000"/>
              </a:lnSpc>
              <a:spcBef>
                <a:spcPts val="1000"/>
              </a:spcBef>
              <a:spcAft>
                <a:spcPts val="300"/>
              </a:spcAft>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Find an optimal hyperplane with equation </a:t>
            </a:r>
            <a14:m>
              <m:oMath xmlns:m="http://schemas.openxmlformats.org/officeDocument/2006/math">
                <m:sSup>
                  <m:sSup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𝑻</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0</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Here,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𝑤</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is its normal vector, which determines its orientation; </a:t>
            </a:r>
            <a14:m>
              <m:oMath xmlns:m="http://schemas.openxmlformats.org/officeDocument/2006/math">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b</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is a scalar bias that determines its offset from the origin.</a:t>
            </a:r>
          </a:p>
        </p:txBody>
      </p:sp>
      <p:pic>
        <p:nvPicPr>
          <p:cNvPr id="4" name="图片 3">
            <a:extLst>
              <a:ext uri="{FF2B5EF4-FFF2-40B4-BE49-F238E27FC236}">
                <a16:creationId xmlns:a16="http://schemas.microsoft.com/office/drawing/2014/main" id="{0383E2E9-72F4-9A52-5805-265579D7EC54}"/>
              </a:ext>
            </a:extLst>
          </p:cNvPr>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155442" y="1534439"/>
            <a:ext cx="3278821" cy="2961848"/>
          </a:xfrm>
          <a:prstGeom prst="rect">
            <a:avLst/>
          </a:prstGeom>
          <a:noFill/>
          <a:ln>
            <a:noFill/>
          </a:ln>
        </p:spPr>
      </p:pic>
      <p:sp>
        <p:nvSpPr>
          <p:cNvPr id="8" name="标题 7">
            <a:extLst>
              <a:ext uri="{FF2B5EF4-FFF2-40B4-BE49-F238E27FC236}">
                <a16:creationId xmlns:a16="http://schemas.microsoft.com/office/drawing/2014/main" id="{3509C725-A47C-9F4A-A3D3-61237980C11F}"/>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文本框 2">
            <a:extLst>
              <a:ext uri="{FF2B5EF4-FFF2-40B4-BE49-F238E27FC236}">
                <a16:creationId xmlns:a16="http://schemas.microsoft.com/office/drawing/2014/main" id="{E61937C4-D5AB-CDD5-F385-8EA56F3DAFEA}"/>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9" name="Rectangle 8"/>
          <p:cNvSpPr/>
          <p:nvPr/>
        </p:nvSpPr>
        <p:spPr>
          <a:xfrm>
            <a:off x="4646083" y="1336988"/>
            <a:ext cx="488305" cy="1457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773256" y="1521307"/>
            <a:ext cx="712112" cy="17145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7657302" y="1679907"/>
            <a:ext cx="467959" cy="15431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434484" y="3163033"/>
            <a:ext cx="476098" cy="16717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7282934" y="1919951"/>
            <a:ext cx="455751" cy="171459"/>
          </a:xfrm>
          <a:prstGeom prst="rect">
            <a:avLst/>
          </a:prstGeom>
          <a:solidFill>
            <a:srgbClr val="F9D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6108" y="3154460"/>
            <a:ext cx="447613" cy="171459"/>
          </a:xfrm>
          <a:prstGeom prst="rect">
            <a:avLst/>
          </a:prstGeom>
          <a:solidFill>
            <a:srgbClr val="E6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90558" y="1315556"/>
            <a:ext cx="146304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Hyperplane</a:t>
            </a:r>
          </a:p>
        </p:txBody>
      </p:sp>
      <p:sp>
        <p:nvSpPr>
          <p:cNvPr id="16" name="TextBox 15"/>
          <p:cNvSpPr txBox="1"/>
          <p:nvPr/>
        </p:nvSpPr>
        <p:spPr>
          <a:xfrm>
            <a:off x="5731343" y="1534295"/>
            <a:ext cx="18288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Max. margin = 1</a:t>
            </a:r>
          </a:p>
        </p:txBody>
      </p:sp>
      <p:sp>
        <p:nvSpPr>
          <p:cNvPr id="17" name="TextBox 16"/>
          <p:cNvSpPr txBox="1"/>
          <p:nvPr/>
        </p:nvSpPr>
        <p:spPr>
          <a:xfrm>
            <a:off x="7636834" y="1753035"/>
            <a:ext cx="109728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Positive</a:t>
            </a:r>
          </a:p>
          <a:p>
            <a:pPr>
              <a:spcBef>
                <a:spcPts val="0"/>
              </a:spcBef>
              <a:spcAft>
                <a:spcPts val="0"/>
              </a:spcAft>
            </a:pPr>
            <a:r>
              <a:rPr sz="1600">
                <a:solidFill>
                  <a:srgbClr val="000000"/>
                </a:solidFill>
                <a:latin typeface="Arial"/>
                <a:ea typeface="Arial"/>
                <a:cs typeface="Arial"/>
              </a:rPr>
              <a:t>class</a:t>
            </a:r>
          </a:p>
        </p:txBody>
      </p:sp>
      <p:sp>
        <p:nvSpPr>
          <p:cNvPr id="18" name="TextBox 17"/>
          <p:cNvSpPr txBox="1"/>
          <p:nvPr/>
        </p:nvSpPr>
        <p:spPr>
          <a:xfrm>
            <a:off x="4401931" y="2846732"/>
            <a:ext cx="114300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Negative</a:t>
            </a:r>
          </a:p>
          <a:p>
            <a:pPr>
              <a:spcBef>
                <a:spcPts val="0"/>
              </a:spcBef>
              <a:spcAft>
                <a:spcPts val="0"/>
              </a:spcAft>
            </a:pPr>
            <a:r>
              <a:rPr sz="1600">
                <a:solidFill>
                  <a:srgbClr val="000000"/>
                </a:solidFill>
                <a:latin typeface="Arial"/>
                <a:ea typeface="Arial"/>
                <a:cs typeface="Arial"/>
              </a:rPr>
              <a:t>class</a:t>
            </a:r>
          </a:p>
        </p:txBody>
      </p:sp>
      <p:sp>
        <p:nvSpPr>
          <p:cNvPr id="19" name="TextBox 18"/>
          <p:cNvSpPr txBox="1"/>
          <p:nvPr/>
        </p:nvSpPr>
        <p:spPr>
          <a:xfrm>
            <a:off x="7238010" y="2096768"/>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0" name="TextBox 19"/>
          <p:cNvSpPr txBox="1"/>
          <p:nvPr/>
        </p:nvSpPr>
        <p:spPr>
          <a:xfrm>
            <a:off x="5997225" y="3252963"/>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1" name="Rectangle 20"/>
          <p:cNvSpPr/>
          <p:nvPr/>
        </p:nvSpPr>
        <p:spPr>
          <a:xfrm>
            <a:off x="1526812" y="1551031"/>
            <a:ext cx="997360" cy="16592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526812" y="1551031"/>
            <a:ext cx="21031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Suboptimal hyperplane</a:t>
            </a:r>
          </a:p>
        </p:txBody>
      </p:sp>
      <p:sp>
        <p:nvSpPr>
          <p:cNvPr id="23" name="Rectangle 22"/>
          <p:cNvSpPr/>
          <p:nvPr/>
        </p:nvSpPr>
        <p:spPr>
          <a:xfrm>
            <a:off x="521140" y="1911929"/>
            <a:ext cx="581793" cy="157633"/>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21140" y="1911929"/>
            <a:ext cx="21031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Optimal hyperplane</a:t>
            </a:r>
          </a:p>
        </p:txBody>
      </p:sp>
      <p:sp>
        <p:nvSpPr>
          <p:cNvPr id="25" name="Rectangle 24"/>
          <p:cNvSpPr/>
          <p:nvPr/>
        </p:nvSpPr>
        <p:spPr>
          <a:xfrm>
            <a:off x="2719488" y="3691527"/>
            <a:ext cx="465434" cy="16592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719488" y="3691527"/>
            <a:ext cx="123444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Large margin</a:t>
            </a:r>
          </a:p>
        </p:txBody>
      </p:sp>
      <p:sp>
        <p:nvSpPr>
          <p:cNvPr id="27" name="Rectangle 26"/>
          <p:cNvSpPr/>
          <p:nvPr/>
        </p:nvSpPr>
        <p:spPr>
          <a:xfrm>
            <a:off x="1717972" y="3961163"/>
            <a:ext cx="473745" cy="17422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717972" y="3961163"/>
            <a:ext cx="123444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Small margin</a:t>
            </a:r>
          </a:p>
        </p:txBody>
      </p:sp>
    </p:spTree>
    <p:extLst>
      <p:ext uri="{BB962C8B-B14F-4D97-AF65-F5344CB8AC3E}">
        <p14:creationId xmlns:p14="http://schemas.microsoft.com/office/powerpoint/2010/main" val="23909208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 name="组合 9">
            <a:extLst>
              <a:ext uri="{FF2B5EF4-FFF2-40B4-BE49-F238E27FC236}">
                <a16:creationId xmlns:a16="http://schemas.microsoft.com/office/drawing/2014/main" id="{4605F610-3823-442F-B428-10E9EFF61BA5}"/>
              </a:ext>
            </a:extLst>
          </p:cNvPr>
          <p:cNvGrpSpPr/>
          <p:nvPr/>
        </p:nvGrpSpPr>
        <p:grpSpPr>
          <a:xfrm>
            <a:off x="1099410" y="1331170"/>
            <a:ext cx="5588215" cy="1255690"/>
            <a:chOff x="4105140" y="2356821"/>
            <a:chExt cx="5588215" cy="1255690"/>
          </a:xfrm>
        </p:grpSpPr>
        <p:sp>
          <p:nvSpPr>
            <p:cNvPr id="4" name="矩形: 圆角 3">
              <a:extLst>
                <a:ext uri="{FF2B5EF4-FFF2-40B4-BE49-F238E27FC236}">
                  <a16:creationId xmlns:a16="http://schemas.microsoft.com/office/drawing/2014/main" id="{B2463D91-02F3-441A-A0B7-C09DC95EE03A}"/>
                </a:ext>
              </a:extLst>
            </p:cNvPr>
            <p:cNvSpPr/>
            <p:nvPr/>
          </p:nvSpPr>
          <p:spPr>
            <a:xfrm>
              <a:off x="4105140" y="2356821"/>
              <a:ext cx="5588215" cy="1255690"/>
            </a:xfrm>
            <a:prstGeom prst="roundRect">
              <a:avLst/>
            </a:prstGeom>
            <a:gradFill flip="none" rotWithShape="1">
              <a:gsLst>
                <a:gs pos="0">
                  <a:schemeClr val="accent1">
                    <a:lumMod val="5000"/>
                    <a:lumOff val="95000"/>
                  </a:schemeClr>
                </a:gs>
                <a:gs pos="78000">
                  <a:srgbClr val="DBFDAA"/>
                </a:gs>
                <a:gs pos="90000">
                  <a:srgbClr val="FFFF99"/>
                </a:gs>
                <a:gs pos="100000">
                  <a:srgbClr val="FFFF00"/>
                </a:gs>
              </a:gsLst>
              <a:path path="shape">
                <a:fillToRect l="50000" t="50000" r="50000" b="50000"/>
              </a:path>
              <a:tileRect/>
            </a:gradFill>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120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9" name="文本框 8">
              <a:extLst>
                <a:ext uri="{FF2B5EF4-FFF2-40B4-BE49-F238E27FC236}">
                  <a16:creationId xmlns:a16="http://schemas.microsoft.com/office/drawing/2014/main" id="{BAEFBC38-688D-4DB3-8BF2-FD31D4A417F3}"/>
                </a:ext>
              </a:extLst>
            </p:cNvPr>
            <p:cNvSpPr txBox="1"/>
            <p:nvPr/>
          </p:nvSpPr>
          <p:spPr>
            <a:xfrm>
              <a:off x="4250027" y="2475937"/>
              <a:ext cx="5209647" cy="1009444"/>
            </a:xfrm>
            <a:prstGeom prst="rect">
              <a:avLst/>
            </a:prstGeom>
            <a:noFill/>
          </p:spPr>
          <p:txBody>
            <a:bodyPr wrap="square" lIns="0" tIns="0" rIns="0" bIns="0">
              <a:noAutofit/>
            </a:bodyPr>
            <a:lstStyle/>
            <a:p>
              <a:pPr marL="0" marR="0" lvl="0" indent="0" algn="just" defTabSz="914400" rtl="0" eaLnBrk="1" fontAlgn="auto" latinLnBrk="0" hangingPunct="1">
                <a:lnSpc>
                  <a:spcPct val="100000"/>
                </a:lnSpc>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distance from any sample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to the hyperplane is:</a:t>
              </a:r>
            </a:p>
            <a:p>
              <a:pPr marL="0" marR="0" lvl="0" indent="0" algn="just" defTabSz="914400" rtl="0" eaLnBrk="1" fontAlgn="auto" latinLnBrk="0" hangingPunct="1">
                <a:lnSpc>
                  <a:spcPct val="100000"/>
                </a:lnSpc>
                <a:spcBef>
                  <a:spcPts val="1000"/>
                </a:spcBef>
                <a:spcAft>
                  <a:spcPts val="300"/>
                </a:spcAft>
                <a:buClrTx/>
                <a:buSzTx/>
                <a:buFontTx/>
                <a:buNone/>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𝑟</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𝑥</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t>
              </a: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14:m>
                <m:oMath xmlns:m="http://schemas.openxmlformats.org/officeDocument/2006/math">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ad>
                    <m:radPr>
                      <m:degHide m:val="on"/>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radPr>
                    <m:deg/>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rad>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grpSp>
      <p:sp xmlns:a14="http://schemas.microsoft.com/office/drawing/2010/main">
        <p:nvSpPr>
          <p:cNvPr id="12" name="文本框 11">
            <a:extLst>
              <a:ext uri="{FF2B5EF4-FFF2-40B4-BE49-F238E27FC236}">
                <a16:creationId xmlns:a16="http://schemas.microsoft.com/office/drawing/2014/main" id="{39A9AD3F-CDC3-4C58-AE45-FF5D7064D87E}"/>
              </a:ext>
            </a:extLst>
          </p:cNvPr>
          <p:cNvSpPr txBox="1"/>
          <p:nvPr/>
        </p:nvSpPr>
        <p:spPr>
          <a:xfrm>
            <a:off x="4481633" y="2819580"/>
            <a:ext cx="4511642" cy="2442272"/>
          </a:xfrm>
          <a:prstGeom prst="rect">
            <a:avLst/>
          </a:prstGeom>
          <a:noFill/>
        </p:spPr>
        <p:txBody>
          <a:bodyPr wrap="square" lIns="0" tIns="0" rIns="0" bIns="0">
            <a:noAutofit/>
          </a:bodyPr>
          <a:lstStyle/>
          <a:p>
            <a:pPr marL="0" marR="0" lvl="0" indent="0" algn="just" defTabSz="914400" rtl="0" eaLnBrk="1" fontAlgn="auto" latinLnBrk="0" hangingPunct="1">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Scaling the normal vector </a:t>
            </a:r>
            <a14:m>
              <m:oMath xmlns:m="http://schemas.openxmlformats.org/officeDocument/2006/math">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preserves its direction, so the hyperplane representation is not unique. Impose the following normalization on </a:t>
            </a:r>
            <a14:m>
              <m:oMath xmlns:m="http://schemas.openxmlformats.org/officeDocument/2006/math">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and </a:t>
            </a:r>
            <a14:m>
              <m:oMath xmlns:m="http://schemas.openxmlformats.org/officeDocument/2006/math">
                <m:r>
                  <a:rPr lang="en-US" altLang="zh-CN" sz="1600" i="1" dirty="0">
                    <a:solidFill>
                      <a:srgbClr val="000000"/>
                    </a:solidFill>
                    <a:latin typeface="Arial" panose="02040503050406030204" pitchFamily="18" charset="0"/>
                    <a:ea typeface="Arial" panose="02010609060101010101" pitchFamily="49" charset="-122"/>
                    <a:cs typeface="Arial" panose="02020603050405020304" pitchFamily="18" charset="0"/>
                  </a:rPr>
                  <m:t>𝑏</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p>
          <a:p>
            <a:pPr lvl="0" indent="304800" algn="just"/>
            <a14:m>
              <m:oMathPara xmlns:m="http://schemas.openxmlformats.org/officeDocument/2006/math">
                <m:oMathParaPr>
                  <m:jc m:val="centerGroup"/>
                </m:oMathParaPr>
                <m:oMath>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d>
                        <m:dPr>
                          <m:begChr m:val="|"/>
                          <m:endChr m:val="|"/>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𝒘</m:t>
                              </m:r>
                            </m:e>
                            <m:sup>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𝒙</m:t>
                              </m:r>
                            </m:e>
                            <m: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𝑖</m:t>
                              </m:r>
                            </m:sub>
                          </m:s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𝑏</m:t>
                          </m:r>
                        </m:e>
                      </m:d>
                    </m:e>
                    <m:sub>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funcPr>
                        <m:fName>
                          <m:limLow>
                            <m:limLow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limLowPr>
                            <m:e>
                              <m:r>
                                <m:rPr>
                                  <m:sty m:val="p"/>
                                </m:rPr>
                                <a:rPr kumimoji="0" lang="en-US" altLang="zh-CN" sz="1600" b="0" i="0"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argmin</m:t>
                              </m:r>
                            </m:e>
                            <m:lim>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lim>
                          </m:limLow>
                        </m:fName>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𝑟</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 </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0" algn="just" defTabSz="914400" rtl="0" eaLnBrk="1" fontAlgn="auto" latinLnBrk="0" hangingPunct="1">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nearest positive and negative samples give hyperplane-function values with absolute value 1.</a:t>
            </a:r>
          </a:p>
          <a:p>
            <a:pPr lvl="0" algn="just">
              <a:defRPr sz="1600" lang="en-US">
                <a:latin typeface="Arial"/>
                <a:ea typeface="Arial"/>
                <a:cs typeface="Arial"/>
              </a:defRPr>
            </a:pPr>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Define the functional margin: </a:t>
            </a:r>
            <a14:m>
              <m:oMath xmlns:m="http://schemas.openxmlformats.org/officeDocument/2006/math">
                <m:sSub>
                  <m:sSubPr>
                    <m:ctrlP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bPr>
                  <m:e>
                    <m:acc>
                      <m:accPr>
                        <m:chr m:val="̂"/>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acc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𝑟</m:t>
                        </m:r>
                      </m:e>
                    </m:acc>
                  </m:e>
                  <m: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0" smtClean="0">
                    <a:solidFill>
                      <a:srgbClr val="000000"/>
                    </a:solidFill>
                    <a:latin typeface="Arial" panose="02040503050406030204" pitchFamily="18" charset="0"/>
                    <a:ea typeface="Arial" panose="02040503050406030204" pitchFamily="18" charset="0"/>
                    <a:cs typeface="Arial" panose="02020603050405020304" pitchFamily="18" charset="0"/>
                  </a:rPr>
                  <m:t>=</m:t>
                </m:r>
                <m:sSub>
                  <m:sSubPr>
                    <m:ctrlP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𝒘</m:t>
                    </m:r>
                  </m:e>
                  <m:sup>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10600040101010101" pitchFamily="2" charset="-122"/>
                        <a:cs typeface="Arial" panose="02020603050405020304" pitchFamily="18" charset="0"/>
                      </a:rPr>
                      <m:t>𝒙</m:t>
                    </m:r>
                  </m:e>
                  <m: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𝑖</m:t>
                    </m:r>
                  </m:sub>
                </m:sSub>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𝑏</m:t>
                </m:r>
                <m:r>
                  <a:rPr lang="en-US" altLang="zh-CN" sz="1600" b="0" i="1" smtClean="0">
                    <a:solidFill>
                      <a:srgbClr val="000000"/>
                    </a:solidFill>
                    <a:latin typeface="Arial" panose="02040503050406030204" pitchFamily="18" charset="0"/>
                    <a:ea typeface="Arial" panose="02010600040101010101" pitchFamily="2" charset="-122"/>
                    <a:cs typeface="Arial" panose="02020603050405020304" pitchFamily="18" charset="0"/>
                  </a:rPr>
                  <m:t>)</m:t>
                </m:r>
              </m:oMath>
            </a14:m>
          </a:p>
        </p:txBody>
      </p:sp>
      <p:pic>
        <p:nvPicPr>
          <p:cNvPr id="2" name="图片 1">
            <a:extLst>
              <a:ext uri="{FF2B5EF4-FFF2-40B4-BE49-F238E27FC236}">
                <a16:creationId xmlns:a16="http://schemas.microsoft.com/office/drawing/2014/main" id="{D910F50F-ACF6-07B1-CE41-2FD755C6CE4A}"/>
              </a:ext>
            </a:extLst>
          </p:cNvPr>
          <p:cNvPicPr/>
          <p:nvPr/>
        </p:nvPicPr>
        <p:blipFill rotWithShape="1">
          <a:blip r:embed="rId5" cstate="print">
            <a:extLst>
              <a:ext uri="{28A0092B-C50C-407E-A947-70E740481C1C}">
                <a14:useLocalDpi xmlns:a14="http://schemas.microsoft.com/office/drawing/2010/main" val="0"/>
              </a:ext>
            </a:extLst>
          </a:blip>
          <a:srcRect l="1004" r="2589"/>
          <a:stretch/>
        </p:blipFill>
        <p:spPr bwMode="auto">
          <a:xfrm>
            <a:off x="0" y="2638376"/>
            <a:ext cx="4381150" cy="3345498"/>
          </a:xfrm>
          <a:prstGeom prst="rect">
            <a:avLst/>
          </a:prstGeom>
          <a:noFill/>
          <a:ln>
            <a:noFill/>
          </a:ln>
        </p:spPr>
      </p:pic>
      <p:sp>
        <p:nvSpPr>
          <p:cNvPr id="5" name="文本框 4">
            <a:extLst>
              <a:ext uri="{FF2B5EF4-FFF2-40B4-BE49-F238E27FC236}">
                <a16:creationId xmlns:a16="http://schemas.microsoft.com/office/drawing/2014/main" id="{094922C5-7685-C3AC-AC80-A524148D7563}"/>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7" name="标题 6">
            <a:extLst>
              <a:ext uri="{FF2B5EF4-FFF2-40B4-BE49-F238E27FC236}">
                <a16:creationId xmlns:a16="http://schemas.microsoft.com/office/drawing/2014/main" id="{5A5348A9-446D-764D-C3D9-ADB66C9C8236}"/>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6" name="文本框 5">
            <a:extLst>
              <a:ext uri="{FF2B5EF4-FFF2-40B4-BE49-F238E27FC236}">
                <a16:creationId xmlns:a16="http://schemas.microsoft.com/office/drawing/2014/main" id="{6C17C696-94A8-7189-8BCC-28236F7845D9}"/>
              </a:ext>
            </a:extLst>
          </p:cNvPr>
          <p:cNvSpPr txBox="1"/>
          <p:nvPr/>
        </p:nvSpPr>
        <p:spPr>
          <a:xfrm>
            <a:off x="6492240" y="1862674"/>
            <a:ext cx="2468880" cy="365760"/>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Geometric margin</a:t>
            </a:r>
          </a:p>
        </p:txBody>
      </p:sp>
      <p:sp xmlns:a14="http://schemas.microsoft.com/office/drawing/2010/main">
        <p:nvSpPr>
          <p:cNvPr id="11" name="文本框 10">
            <a:extLst>
              <a:ext uri="{FF2B5EF4-FFF2-40B4-BE49-F238E27FC236}">
                <a16:creationId xmlns:a16="http://schemas.microsoft.com/office/drawing/2014/main" id="{BE4870AA-4637-B3EC-066E-F9AFA972C05C}"/>
              </a:ext>
            </a:extLst>
          </p:cNvPr>
          <p:cNvSpPr txBox="1"/>
          <p:nvPr/>
        </p:nvSpPr>
        <p:spPr>
          <a:xfrm>
            <a:off x="599132" y="6142062"/>
            <a:ext cx="5801667" cy="307777"/>
          </a:xfrm>
          <a:prstGeom prst="rect">
            <a:avLst/>
          </a:prstGeom>
          <a:noFill/>
        </p:spPr>
        <p:txBody>
          <a:bodyPr wrap="square" lIns="0" tIns="0" rIns="0" bIns="0">
            <a:noAutofit/>
          </a:bodyPr>
          <a:lstStyle/>
          <a:p>
            <a:pPr marL="0" marR="0" lvl="0" indent="0" algn="just" defTabSz="914400" rtl="0" eaLnBrk="1" fontAlgn="auto" latinLnBrk="0" hangingPunct="1">
              <a:lnSpc>
                <a:spcPct val="100000"/>
              </a:lnSpc>
              <a:spcAft>
                <a:spcPts val="0"/>
              </a:spcAft>
              <a:buClrTx/>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hyperplane constraint becomes: </a:t>
            </a:r>
            <a14:m>
              <m:oMath xmlns:m="http://schemas.openxmlformats.org/officeDocument/2006/math">
                <m:sSub>
                  <m:sSubPr>
                    <m:ctrlP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p>
                  <m:sSupPr>
                    <m:ctrlP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1"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𝒊</m:t>
                    </m:r>
                  </m:sub>
                </m:sSub>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baseline="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oMath>
            </a14:m>
            <a:r>
              <a:rPr kumimoji="0" lang="en-US" altLang="zh-CN" sz="1600" b="0" i="0" u="none" strike="noStrike" kern="1200" cap="none" spc="0" normalizeH="0" baseline="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p:nvSpPr>
          <p:cNvPr id="13" name="Rectangle 12"/>
          <p:cNvSpPr/>
          <p:nvPr/>
        </p:nvSpPr>
        <p:spPr>
          <a:xfrm>
            <a:off x="241385" y="2661321"/>
            <a:ext cx="482771" cy="156031"/>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1355782" y="2858655"/>
            <a:ext cx="704041" cy="18356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218475" y="3028454"/>
            <a:ext cx="462655" cy="165209"/>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2184" y="4616304"/>
            <a:ext cx="470702" cy="178977"/>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2848350" y="3285447"/>
            <a:ext cx="450586" cy="183566"/>
          </a:xfrm>
          <a:prstGeom prst="rect">
            <a:avLst/>
          </a:prstGeom>
          <a:solidFill>
            <a:srgbClr val="F9DD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1754069" y="4607125"/>
            <a:ext cx="442540" cy="183566"/>
          </a:xfrm>
          <a:prstGeom prst="rect">
            <a:avLst/>
          </a:prstGeom>
          <a:solidFill>
            <a:srgbClr val="E6ED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7623" y="2638376"/>
            <a:ext cx="146304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Hyperplane</a:t>
            </a:r>
          </a:p>
        </p:txBody>
      </p:sp>
      <p:sp>
        <p:nvSpPr>
          <p:cNvPr id="20" name="TextBox 19"/>
          <p:cNvSpPr txBox="1"/>
          <p:nvPr/>
        </p:nvSpPr>
        <p:spPr>
          <a:xfrm>
            <a:off x="1314345" y="2872560"/>
            <a:ext cx="18288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Max. margin = 1</a:t>
            </a:r>
          </a:p>
        </p:txBody>
      </p:sp>
      <p:sp>
        <p:nvSpPr>
          <p:cNvPr id="21" name="TextBox 20"/>
          <p:cNvSpPr txBox="1"/>
          <p:nvPr/>
        </p:nvSpPr>
        <p:spPr>
          <a:xfrm>
            <a:off x="3198239" y="3106745"/>
            <a:ext cx="109728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Positive</a:t>
            </a:r>
          </a:p>
          <a:p>
            <a:pPr>
              <a:spcBef>
                <a:spcPts val="0"/>
              </a:spcBef>
              <a:spcAft>
                <a:spcPts val="0"/>
              </a:spcAft>
            </a:pPr>
            <a:r>
              <a:rPr sz="1600">
                <a:solidFill>
                  <a:srgbClr val="000000"/>
                </a:solidFill>
                <a:latin typeface="Arial"/>
                <a:ea typeface="Arial"/>
                <a:cs typeface="Arial"/>
              </a:rPr>
              <a:t>class</a:t>
            </a:r>
          </a:p>
        </p:txBody>
      </p:sp>
      <p:sp>
        <p:nvSpPr>
          <p:cNvPr id="22" name="TextBox 21"/>
          <p:cNvSpPr txBox="1"/>
          <p:nvPr/>
        </p:nvSpPr>
        <p:spPr>
          <a:xfrm>
            <a:off x="0" y="4277670"/>
            <a:ext cx="114300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Negative</a:t>
            </a:r>
          </a:p>
          <a:p>
            <a:pPr>
              <a:spcBef>
                <a:spcPts val="0"/>
              </a:spcBef>
              <a:spcAft>
                <a:spcPts val="0"/>
              </a:spcAft>
            </a:pPr>
            <a:r>
              <a:rPr sz="1600">
                <a:solidFill>
                  <a:srgbClr val="000000"/>
                </a:solidFill>
                <a:latin typeface="Arial"/>
                <a:ea typeface="Arial"/>
                <a:cs typeface="Arial"/>
              </a:rPr>
              <a:t>class</a:t>
            </a:r>
          </a:p>
        </p:txBody>
      </p:sp>
      <p:sp>
        <p:nvSpPr>
          <p:cNvPr id="23" name="TextBox 22"/>
          <p:cNvSpPr txBox="1"/>
          <p:nvPr/>
        </p:nvSpPr>
        <p:spPr>
          <a:xfrm>
            <a:off x="2803936" y="3474750"/>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
        <p:nvSpPr>
          <p:cNvPr id="24" name="TextBox 23"/>
          <p:cNvSpPr txBox="1"/>
          <p:nvPr/>
        </p:nvSpPr>
        <p:spPr>
          <a:xfrm>
            <a:off x="1577214" y="4712584"/>
            <a:ext cx="1188720" cy="6400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Support</a:t>
            </a:r>
          </a:p>
          <a:p>
            <a:pPr>
              <a:spcBef>
                <a:spcPts val="0"/>
              </a:spcBef>
              <a:spcAft>
                <a:spcPts val="0"/>
              </a:spcAft>
            </a:pPr>
            <a:r>
              <a:rPr sz="1600">
                <a:solidFill>
                  <a:srgbClr val="000000"/>
                </a:solidFill>
                <a:latin typeface="Arial"/>
                <a:ea typeface="Arial"/>
                <a:cs typeface="Arial"/>
              </a:rPr>
              <a:t>vectors</a:t>
            </a:r>
          </a:p>
        </p:txBody>
      </p:sp>
    </p:spTree>
    <p:extLst>
      <p:ext uri="{BB962C8B-B14F-4D97-AF65-F5344CB8AC3E}">
        <p14:creationId xmlns:p14="http://schemas.microsoft.com/office/powerpoint/2010/main" val="2067535538"/>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a14="http://schemas.microsoft.com/office/drawing/2010/main">
        <p:nvSpPr>
          <p:cNvPr id="11" name="文本框 10">
            <a:extLst>
              <a:ext uri="{FF2B5EF4-FFF2-40B4-BE49-F238E27FC236}">
                <a16:creationId xmlns:a16="http://schemas.microsoft.com/office/drawing/2014/main" id="{64A23DEE-F4E6-49EF-87F1-F40AA933D98A}"/>
              </a:ext>
            </a:extLst>
          </p:cNvPr>
          <p:cNvSpPr txBox="1"/>
          <p:nvPr/>
        </p:nvSpPr>
        <p:spPr>
          <a:xfrm>
            <a:off x="309093" y="1212680"/>
            <a:ext cx="8834907" cy="3372655"/>
          </a:xfrm>
          <a:prstGeom prst="rect">
            <a:avLst/>
          </a:prstGeom>
          <a:noFill/>
        </p:spPr>
        <p:txBody>
          <a:bodyPr wrap="square" lIns="0" tIns="0" rIns="0" bIns="0">
            <a:noAutofit/>
          </a:bodyPr>
          <a:lstStyle/>
          <a:p>
            <a:pPr marL="0" marR="0" lvl="0" indent="0"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The distance between the nearest samples of the two classes, measured across the separating hyperplane, is:</a:t>
            </a:r>
          </a:p>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e>
                  </m:d>
                </m:oMath>
              </m:oMathPara>
            </a14:m>
            <a:endParaRPr kumimoji="0" lang="en-US" altLang="zh-CN" sz="1600" b="0" i="1"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𝒌</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0" indent="304800" algn="ctr"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𝑘</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𝑚𝑖𝑛</m:t>
                          </m:r>
                        </m:e>
                        <m:sub>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e>
                          </m:d>
                        </m:sub>
                      </m:sSub>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sSub>
                            <m:sSubPr>
                              <m:ctrlP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𝒙</m:t>
                              </m:r>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𝑚</m:t>
                              </m:r>
                            </m:sub>
                          </m:s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m:oMathPara>
            </a14:m>
            <a:endPar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0040101010101" pitchFamily="2" charset="-122"/>
              <a:cs typeface="Arial" panose="02020603050405020304" pitchFamily="18" charset="0"/>
            </a:endParaRPr>
          </a:p>
          <a:p>
            <a:pPr marL="0" marR="0" lvl="0" indent="304800" algn="ctr"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Thus: </a:t>
            </a: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𝑑</m:t>
                </m:r>
                <m:d>
                  <m:d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e>
                </m:d>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num>
                  <m:den>
                    <m:sSub>
                      <m:sSub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d>
                              <m:dPr>
                                <m:begChr m:val="|"/>
                                <m:endChr m:val="|"/>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d>
                      </m:e>
                      <m:sub>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b>
                    </m:sSub>
                  </m:den>
                </m:f>
              </m:oMath>
            </a14:m>
          </a:p>
        </p:txBody>
      </p:sp>
      <p:sp>
        <p:nvSpPr>
          <p:cNvPr id="15" name="对话气泡: 椭圆形 14">
            <a:extLst>
              <a:ext uri="{FF2B5EF4-FFF2-40B4-BE49-F238E27FC236}">
                <a16:creationId xmlns:a16="http://schemas.microsoft.com/office/drawing/2014/main" id="{40BFBB74-65AE-463C-B9D8-260F5873A333}"/>
              </a:ext>
            </a:extLst>
          </p:cNvPr>
          <p:cNvSpPr/>
          <p:nvPr/>
        </p:nvSpPr>
        <p:spPr>
          <a:xfrm>
            <a:off x="6642477" y="5369946"/>
            <a:ext cx="2080591" cy="735496"/>
          </a:xfrm>
          <a:prstGeom prst="wedgeEllipseCallout">
            <a:avLst>
              <a:gd name="adj1" fmla="val -48617"/>
              <a:gd name="adj2" fmla="val 45352"/>
            </a:avLst>
          </a:prstGeom>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noAutofit/>
          </a:bodyPr>
          <a:lstStyle/>
          <a:p>
            <a:pPr marL="0" marR="0" lvl="0" indent="0" algn="ctr"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white"/>
                </a:solidFill>
                <a:effectLst/>
                <a:uLnTx/>
                <a:uFillTx/>
                <a:latin typeface="Arial" panose="020B0604020202020204" pitchFamily="34" charset="0"/>
                <a:ea typeface="Arial" panose="02010609060101010101" pitchFamily="49" charset="-122"/>
                <a:cs typeface="Arial"/>
              </a:rPr>
              <a:t>Convex quadratic programming</a:t>
            </a:r>
          </a:p>
        </p:txBody>
      </p:sp>
      <p:sp xmlns:a14="http://schemas.microsoft.com/office/drawing/2010/main">
        <p:nvSpPr>
          <p:cNvPr id="17" name="文本框 16">
            <a:extLst>
              <a:ext uri="{FF2B5EF4-FFF2-40B4-BE49-F238E27FC236}">
                <a16:creationId xmlns:a16="http://schemas.microsoft.com/office/drawing/2014/main" id="{025411D3-D73C-489F-B127-32E5EF0754DB}"/>
              </a:ext>
            </a:extLst>
          </p:cNvPr>
          <p:cNvSpPr txBox="1"/>
          <p:nvPr/>
        </p:nvSpPr>
        <p:spPr>
          <a:xfrm>
            <a:off x="1684839" y="5369946"/>
            <a:ext cx="4572000" cy="1205069"/>
          </a:xfrm>
          <a:prstGeom prst="rect">
            <a:avLst/>
          </a:prstGeom>
          <a:noFill/>
        </p:spPr>
        <p:txBody>
          <a:bodyPr wrap="square" lIns="0" tIns="0" rIns="0" bIns="0">
            <a:noAutofit/>
          </a:bodyPr>
          <a:lstStyle/>
          <a:p>
            <a:pPr marL="0" marR="0" lvl="0" indent="0" algn="l"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p>
                          </m:sSup>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e>
                  </m:func>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func>
                    <m:func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20000"/>
              </a:lnSpc>
              <a:spcBef>
                <a:spcPts val="600"/>
              </a:spcBef>
              <a:buClrTx/>
              <a:buSzTx/>
              <a:buFontTx/>
              <a:buNone/>
              <a:tabLst/>
              <a:defRPr sz="1600" lang="en-US">
                <a:latin typeface="Arial"/>
                <a:ea typeface="Arial"/>
                <a:cs typeface="Arial"/>
              </a:defRPr>
            </a:pPr>
            <a14:m>
              <m:oMathPara xmlns:m="http://schemas.openxmlformats.org/officeDocument/2006/math">
                <m:oMathParaPr>
                  <m:jc m:val="centerGroup"/>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𝑦</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𝑖</m:t>
                      </m:r>
                    </m:sub>
                  </m:sSub>
                  <m:d>
                    <m:d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dPr>
                    <m:e>
                      <m:sSup>
                        <m:sSup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pPr>
                        <m:e>
                          <m:r>
                            <a:rPr kumimoji="0" lang="en-US" altLang="zh-CN" sz="1600" b="1" i="1" u="none" strike="noStrike" kern="1200" cap="none" spc="0" normalizeH="0" noProof="0" smtClean="0">
                              <a:ln>
                                <a:noFill/>
                              </a:ln>
                              <a:solidFill>
                                <a:prstClr val="black"/>
                              </a:solidFill>
                              <a:effectLst/>
                              <a:uLnTx/>
                              <a:uFillTx/>
                              <a:latin typeface="Arial" panose="02040503050406030204" pitchFamily="18" charset="0"/>
                              <a:ea typeface="Arial"/>
                              <a:cs typeface="Arial"/>
                            </a:rPr>
                            <m:t>𝒘</m:t>
                          </m:r>
                        </m:e>
                        <m:sup>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𝑇</m:t>
                          </m:r>
                        </m:sup>
                      </m:sSup>
                      <m:sSub>
                        <m:sSubPr>
                          <m:ctrlP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𝑖</m:t>
                          </m:r>
                        </m:sub>
                      </m:s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𝑏</m:t>
                      </m:r>
                    </m:e>
                  </m:d>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=1,2,⋯,</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40503050406030204" pitchFamily="18" charset="0"/>
                      <a:cs typeface="Arial"/>
                    </a:rPr>
                    <m:t>𝑛</m:t>
                  </m:r>
                </m:oMath>
              </m:oMathPara>
            </a14:m>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4" name="文本框 3">
            <a:extLst>
              <a:ext uri="{FF2B5EF4-FFF2-40B4-BE49-F238E27FC236}">
                <a16:creationId xmlns:a16="http://schemas.microsoft.com/office/drawing/2014/main" id="{886932E8-A34E-6D4A-B57C-260580D2BF02}"/>
              </a:ext>
            </a:extLst>
          </p:cNvPr>
          <p:cNvSpPr txBox="1"/>
          <p:nvPr/>
        </p:nvSpPr>
        <p:spPr>
          <a:xfrm>
            <a:off x="258904" y="4662060"/>
            <a:ext cx="8785247" cy="701987"/>
          </a:xfrm>
          <a:prstGeom prst="rect">
            <a:avLst/>
          </a:prstGeom>
          <a:noFill/>
        </p:spPr>
        <p:txBody>
          <a:bodyPr wrap="square" lIns="0" tIns="0" rIns="0" bIns="0">
            <a:noAutofit/>
          </a:bodyPr>
          <a:lstStyle/>
          <a:p>
            <a:pPr marL="0" marR="0" lvl="0" algn="just" defTabSz="914400" rtl="0" eaLnBrk="1" fontAlgn="auto" latinLnBrk="0" hangingPunct="1">
              <a:lnSpc>
                <a:spcPct val="120000"/>
              </a:lnSpc>
              <a:spcBef>
                <a:spcPts val="600"/>
              </a:spcBef>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An SVM maximizes the classification margin: find </a:t>
            </a:r>
            <a14:m>
              <m:oMath xmlns:m="http://schemas.openxmlformats.org/officeDocument/2006/math">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𝒘</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and </a:t>
            </a:r>
            <a14:m>
              <m:oMath xmlns:m="http://schemas.openxmlformats.org/officeDocument/2006/math">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9060101010101" pitchFamily="49" charset="-122"/>
                    <a:cs typeface="Arial" panose="02020603050405020304" pitchFamily="18" charset="0"/>
                  </a:rPr>
                  <m:t>𝑏</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satisfying the constraints and maximizing </a:t>
            </a:r>
            <a14:m>
              <m:oMath xmlns:m="http://schemas.openxmlformats.org/officeDocument/2006/math">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𝛾</m:t>
                </m:r>
              </m:oMath>
            </a14:m>
            <a:r>
              <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 Equivalently:</a:t>
            </a:r>
          </a:p>
        </p:txBody>
      </p:sp>
      <p:sp>
        <p:nvSpPr>
          <p:cNvPr id="2" name="文本框 1">
            <a:extLst>
              <a:ext uri="{FF2B5EF4-FFF2-40B4-BE49-F238E27FC236}">
                <a16:creationId xmlns:a16="http://schemas.microsoft.com/office/drawing/2014/main" id="{E7188DE8-7E09-7A5E-2390-43C065984604}"/>
              </a:ext>
            </a:extLst>
          </p:cNvPr>
          <p:cNvSpPr txBox="1"/>
          <p:nvPr/>
        </p:nvSpPr>
        <p:spPr>
          <a:xfrm>
            <a:off x="53621" y="854030"/>
            <a:ext cx="3362241"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Linearly Separable SVM</a:t>
            </a:r>
          </a:p>
        </p:txBody>
      </p:sp>
      <p:sp>
        <p:nvSpPr>
          <p:cNvPr id="6" name="标题 5">
            <a:extLst>
              <a:ext uri="{FF2B5EF4-FFF2-40B4-BE49-F238E27FC236}">
                <a16:creationId xmlns:a16="http://schemas.microsoft.com/office/drawing/2014/main" id="{30985B38-C5C1-50D6-FD6A-057E75A56C59}"/>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Tree>
    <p:extLst>
      <p:ext uri="{BB962C8B-B14F-4D97-AF65-F5344CB8AC3E}">
        <p14:creationId xmlns:p14="http://schemas.microsoft.com/office/powerpoint/2010/main" val="128772450"/>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3ADDC-2E9E-2E6C-35C4-5BE752574187}"/>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pic>
        <p:nvPicPr>
          <p:cNvPr id="5" name="图片 4">
            <a:extLst>
              <a:ext uri="{FF2B5EF4-FFF2-40B4-BE49-F238E27FC236}">
                <a16:creationId xmlns:a16="http://schemas.microsoft.com/office/drawing/2014/main" id="{5549041E-74CC-8266-46BA-7731456BD372}"/>
              </a:ext>
            </a:extLst>
          </p:cNvPr>
          <p:cNvPicPr>
            <a:picLocks noChangeAspect="1"/>
          </p:cNvPicPr>
          <p:nvPr/>
        </p:nvPicPr>
        <p:blipFill rotWithShape="1">
          <a:blip r:embed="rId2"/>
          <a:srcRect l="3831" t="2913" r="2404" b="3372"/>
          <a:stretch/>
        </p:blipFill>
        <p:spPr>
          <a:xfrm>
            <a:off x="157413" y="3819044"/>
            <a:ext cx="4322620" cy="3008169"/>
          </a:xfrm>
          <a:prstGeom prst="rect">
            <a:avLst/>
          </a:prstGeom>
        </p:spPr>
      </p:pic>
      <p:sp>
        <p:nvSpPr>
          <p:cNvPr id="6" name="文本框 5">
            <a:extLst>
              <a:ext uri="{FF2B5EF4-FFF2-40B4-BE49-F238E27FC236}">
                <a16:creationId xmlns:a16="http://schemas.microsoft.com/office/drawing/2014/main" id="{9B4BBB17-2946-0385-32F7-F6300315BE8E}"/>
              </a:ext>
            </a:extLst>
          </p:cNvPr>
          <p:cNvSpPr txBox="1"/>
          <p:nvPr/>
        </p:nvSpPr>
        <p:spPr>
          <a:xfrm>
            <a:off x="138187" y="907625"/>
            <a:ext cx="8657718" cy="923330"/>
          </a:xfrm>
          <a:prstGeom prst="rect">
            <a:avLst/>
          </a:prstGeom>
          <a:noFill/>
        </p:spPr>
        <p:txBody>
          <a:bodyPr wrap="square" lIns="0" tIns="0" rIns="0" bIns="0">
            <a:noAutofit/>
          </a:bodyPr>
          <a:lstStyle/>
          <a:p>
            <a:pPr marL="0" marR="0" lvl="0" algn="just" defTabSz="914400" rtl="0" eaLnBrk="1" fontAlgn="auto" latinLnBrk="0" hangingPunct="1">
              <a:lnSpc>
                <a:spcPct val="100000"/>
              </a:lnSpc>
              <a:spcBef>
                <a:spcPts val="600"/>
              </a:spcBef>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000000"/>
                </a:solidFill>
                <a:effectLst/>
                <a:uLnTx/>
                <a:uFillTx/>
                <a:latin typeface="Arial" panose="020B0604020202020204" pitchFamily="34" charset="0"/>
                <a:ea typeface="Arial" panose="02010609060101010101" pitchFamily="49" charset="-122"/>
                <a:cs typeface="Arial" panose="02020603050405020304" pitchFamily="18" charset="0"/>
              </a:rPr>
              <a:t>So far, the training data were assumed linearly separable: a hyperplane completely separates the classes. This is the hard-margin setting. In contrast, a soft margin allows some training samples to be misclassified.</a:t>
            </a:r>
          </a:p>
        </p:txBody>
      </p:sp>
      <p:cxnSp>
        <p:nvCxnSpPr>
          <p:cNvPr id="7" name="直接连接符 6">
            <a:extLst>
              <a:ext uri="{FF2B5EF4-FFF2-40B4-BE49-F238E27FC236}">
                <a16:creationId xmlns:a16="http://schemas.microsoft.com/office/drawing/2014/main" id="{601AB154-6F97-8855-7061-AF900734A0C2}"/>
              </a:ext>
            </a:extLst>
          </p:cNvPr>
          <p:cNvCxnSpPr/>
          <p:nvPr/>
        </p:nvCxnSpPr>
        <p:spPr>
          <a:xfrm>
            <a:off x="363046" y="1947662"/>
            <a:ext cx="8208000" cy="0"/>
          </a:xfrm>
          <a:prstGeom prst="line">
            <a:avLst/>
          </a:prstGeom>
          <a:ln w="50800">
            <a:solidFill>
              <a:srgbClr val="7030A0"/>
            </a:solidFill>
          </a:ln>
        </p:spPr>
        <p:style>
          <a:lnRef idx="1">
            <a:schemeClr val="accent1"/>
          </a:lnRef>
          <a:fillRef idx="0">
            <a:schemeClr val="accent1"/>
          </a:fillRef>
          <a:effectRef idx="0">
            <a:schemeClr val="accent1"/>
          </a:effectRef>
          <a:fontRef idx="minor">
            <a:schemeClr val="tx1"/>
          </a:fontRef>
        </p:style>
      </p:cxnSp>
      <p:sp>
        <p:nvSpPr>
          <p:cNvPr id="8" name="圆角矩形 10">
            <a:extLst>
              <a:ext uri="{FF2B5EF4-FFF2-40B4-BE49-F238E27FC236}">
                <a16:creationId xmlns:a16="http://schemas.microsoft.com/office/drawing/2014/main" id="{805BA6F2-25D8-F995-D4CD-23ACA22689B4}"/>
              </a:ext>
            </a:extLst>
          </p:cNvPr>
          <p:cNvSpPr/>
          <p:nvPr/>
        </p:nvSpPr>
        <p:spPr bwMode="auto">
          <a:xfrm>
            <a:off x="1571335" y="3731213"/>
            <a:ext cx="2117698" cy="504873"/>
          </a:xfrm>
          <a:prstGeom prst="roundRect">
            <a:avLst/>
          </a:prstGeom>
          <a:gradFill rotWithShape="1">
            <a:gsLst>
              <a:gs pos="0">
                <a:srgbClr val="FFFFFF">
                  <a:tint val="50000"/>
                  <a:satMod val="300000"/>
                </a:srgbClr>
              </a:gs>
              <a:gs pos="35000">
                <a:srgbClr val="FFFFFF">
                  <a:tint val="37000"/>
                  <a:satMod val="300000"/>
                </a:srgbClr>
              </a:gs>
              <a:gs pos="100000">
                <a:srgbClr val="FFFFFF">
                  <a:tint val="15000"/>
                  <a:satMod val="350000"/>
                </a:srgbClr>
              </a:gs>
            </a:gsLst>
            <a:lin ang="16200000" scaled="1"/>
          </a:gradFill>
          <a:ln w="9525" cap="flat" cmpd="sng" algn="ctr">
            <a:solidFill>
              <a:srgbClr val="FFFFFF">
                <a:shade val="95000"/>
                <a:satMod val="105000"/>
              </a:srgbClr>
            </a:solidFill>
            <a:prstDash val="solid"/>
            <a:headEnd type="none" w="med" len="med"/>
            <a:tailEnd type="none" w="med" len="med"/>
          </a:ln>
          <a:effectLst>
            <a:outerShdw blurRad="40000" dist="20000" dir="5400000" rotWithShape="0">
              <a:srgbClr val="000000">
                <a:alpha val="38000"/>
              </a:srgbClr>
            </a:outerShdw>
          </a:effectLst>
        </p:spPr>
        <p:txBody>
          <a:bodyPr wrap="none" lIns="0" tIns="0" rIns="0" bIns="0" anchor="ctr">
            <a:noAutofit/>
          </a:bodyPr>
          <a:lstStyle/>
          <a:p>
            <a:pPr marL="0" marR="0" lvl="0" indent="0" algn="ctr" defTabSz="914400" rtl="0" eaLnBrk="1" fontAlgn="base" latinLnBrk="0" hangingPunct="1">
              <a:lnSpc>
                <a:spcPct val="100000"/>
              </a:lnSpc>
              <a:spcBef>
                <a:spcPct val="0"/>
              </a:spcBef>
              <a:spcAft>
                <a:spcPct val="0"/>
              </a:spcAft>
              <a:buClrTx/>
              <a:buSzTx/>
              <a:buFontTx/>
              <a:buNone/>
              <a:tabLst/>
              <a:defRPr sz="1600" lang="en-US">
                <a:latin typeface="Arial"/>
                <a:ea typeface="Arial"/>
                <a:cs typeface="Arial"/>
              </a:defRPr>
            </a:pPr>
            <a:r>
              <a:rPr kumimoji="0" lang="en-US" altLang="en-US" sz="1600" i="0" u="none" strike="noStrike" kern="0" cap="none" spc="0" normalizeH="0" noProof="0" dirty="0">
                <a:ln>
                  <a:noFill/>
                </a:ln>
                <a:solidFill>
                  <a:srgbClr val="0070C0"/>
                </a:solidFill>
                <a:effectLst/>
                <a:uLnTx/>
                <a:uFillTx/>
                <a:latin typeface="Arial" panose="020B0604020202020204" pitchFamily="34" charset="0"/>
                <a:ea typeface="Arial" panose="02010609060101010101" pitchFamily="49" charset="-122"/>
                <a:cs typeface="Arial" panose="02020603050405020304" pitchFamily="18" charset="0"/>
              </a:rPr>
              <a:t>Difficult to solve directly</a:t>
            </a:r>
          </a:p>
        </p:txBody>
      </p:sp>
      <p:pic>
        <p:nvPicPr>
          <p:cNvPr id="9" name="图片 8">
            <a:extLst>
              <a:ext uri="{FF2B5EF4-FFF2-40B4-BE49-F238E27FC236}">
                <a16:creationId xmlns:a16="http://schemas.microsoft.com/office/drawing/2014/main" id="{F674DB3C-F16D-3090-FF42-6745F3487CAE}"/>
              </a:ext>
            </a:extLst>
          </p:cNvPr>
          <p:cNvPicPr>
            <a:picLocks noChangeAspect="1"/>
          </p:cNvPicPr>
          <p:nvPr/>
        </p:nvPicPr>
        <p:blipFill>
          <a:blip r:embed="rId3"/>
          <a:stretch>
            <a:fillRect/>
          </a:stretch>
        </p:blipFill>
        <p:spPr>
          <a:xfrm>
            <a:off x="5015730" y="3731213"/>
            <a:ext cx="3638031" cy="3096000"/>
          </a:xfrm>
          <a:prstGeom prst="rect">
            <a:avLst/>
          </a:prstGeom>
        </p:spPr>
      </p:pic>
      <p:sp xmlns:a14="http://schemas.microsoft.com/office/drawing/2010/main">
        <p:nvSpPr>
          <p:cNvPr id="10" name="文本框 9">
            <a:extLst>
              <a:ext uri="{FF2B5EF4-FFF2-40B4-BE49-F238E27FC236}">
                <a16:creationId xmlns:a16="http://schemas.microsoft.com/office/drawing/2014/main" id="{B01D4143-490C-07A5-4D05-C63EAF5CE362}"/>
              </a:ext>
            </a:extLst>
          </p:cNvPr>
          <p:cNvSpPr txBox="1"/>
          <p:nvPr/>
        </p:nvSpPr>
        <p:spPr>
          <a:xfrm>
            <a:off x="4996404" y="2066495"/>
            <a:ext cx="3421265" cy="1495474"/>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Para xmlns:m="http://schemas.openxmlformats.org/officeDocument/2006/math">
                <m:oMathParaPr>
                  <m:jc m:val="left"/>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sSup>
                        <m:sSupPr>
                          <m:ctrlPr>
                            <a:rPr lang="en-US" altLang="zh-CN" sz="1600" i="1">
                              <a:solidFill>
                                <a:prstClr val="black"/>
                              </a:solidFill>
                              <a:latin typeface="Arial" panose="02040503050406030204" pitchFamily="18" charset="0"/>
                              <a:ea typeface="Arial"/>
                              <a:cs typeface="Arial"/>
                            </a:rPr>
                          </m:ctrlPr>
                        </m:sSupPr>
                        <m:e>
                          <m:r>
                            <a:rPr lang="en-US" altLang="zh-CN" sz="1600" b="1" i="1">
                              <a:solidFill>
                                <a:prstClr val="black"/>
                              </a:solidFill>
                              <a:latin typeface="Arial" panose="02040503050406030204" pitchFamily="18" charset="0"/>
                              <a:ea typeface="Arial"/>
                              <a:cs typeface="Arial"/>
                            </a:rPr>
                            <m:t>𝒘</m:t>
                          </m:r>
                        </m:e>
                        <m:sup>
                          <m:r>
                            <a:rPr lang="en-US" altLang="zh-CN" sz="1600" i="1">
                              <a:solidFill>
                                <a:prstClr val="black"/>
                              </a:solidFill>
                              <a:latin typeface="Arial" panose="02040503050406030204" pitchFamily="18" charset="0"/>
                              <a:ea typeface="Arial"/>
                              <a:cs typeface="Arial"/>
                            </a:rPr>
                            <m:t>𝑇</m:t>
                          </m:r>
                        </m:sup>
                      </m:sSup>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oMath>
              </m:oMathPara>
            </a14:m>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i="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𝑛</m:t>
                </m:r>
              </m:oMath>
            </a14:m>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11" name="文本框 10">
            <a:extLst>
              <a:ext uri="{FF2B5EF4-FFF2-40B4-BE49-F238E27FC236}">
                <a16:creationId xmlns:a16="http://schemas.microsoft.com/office/drawing/2014/main" id="{129CBB6E-E02B-8979-778D-C255A826E574}"/>
              </a:ext>
            </a:extLst>
          </p:cNvPr>
          <p:cNvSpPr txBox="1"/>
          <p:nvPr/>
        </p:nvSpPr>
        <p:spPr>
          <a:xfrm>
            <a:off x="7315200" y="2332877"/>
            <a:ext cx="1783080" cy="365760"/>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0" cap="none" spc="0" normalizeH="0" baseline="0" noProof="0" dirty="0">
                <a:ln>
                  <a:noFill/>
                </a:ln>
                <a:solidFill>
                  <a:srgbClr val="006FC0"/>
                </a:solidFill>
                <a:effectLst/>
                <a:uLnTx/>
                <a:uFillTx/>
                <a:latin typeface="Arial" panose="020B0604020202020204" pitchFamily="34" charset="0"/>
                <a:ea typeface="Arial" panose="02010609060101010101" pitchFamily="49" charset="-122"/>
                <a:cs typeface="Arial"/>
              </a:rPr>
              <a:t>Slack variables</a:t>
            </a:r>
          </a:p>
        </p:txBody>
      </p:sp>
      <p:sp xmlns:a14="http://schemas.microsoft.com/office/drawing/2010/main">
        <p:nvSpPr>
          <p:cNvPr id="12" name="文本框 11">
            <a:extLst>
              <a:ext uri="{FF2B5EF4-FFF2-40B4-BE49-F238E27FC236}">
                <a16:creationId xmlns:a16="http://schemas.microsoft.com/office/drawing/2014/main" id="{903B8B4A-44DC-BA2E-53DC-F1F0E70354F7}"/>
              </a:ext>
            </a:extLst>
          </p:cNvPr>
          <p:cNvSpPr txBox="1"/>
          <p:nvPr/>
        </p:nvSpPr>
        <p:spPr>
          <a:xfrm>
            <a:off x="82308" y="2009787"/>
            <a:ext cx="4840122" cy="1535100"/>
          </a:xfrm>
          <a:prstGeom prst="rect">
            <a:avLst/>
          </a:prstGeom>
          <a:noFill/>
        </p:spPr>
        <p:txBody>
          <a:bodyPr wrap="square" lIns="0" tIns="0" rIns="0" bIns="0">
            <a:noAutofit/>
          </a:bodyPr>
          <a:lstStyle/>
          <a:p>
            <a:pPr lvl="0"/>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r>
                        <a:rPr lang="en-US" altLang="en-US" sz="1600" i="1">
                          <a:solidFill>
                            <a:srgbClr val="000000"/>
                          </a:solidFill>
                          <a:latin typeface="Arial" panose="02040503050406030204" pitchFamily="18" charset="0"/>
                          <a:ea typeface="Arial" panose="02040503050406030204" pitchFamily="18" charset="0"/>
                          <a:cs typeface="Arial" panose="02020603050405020304" pitchFamily="18" charset="0"/>
                        </a:rPr>
                        <m:t>𝕀</m:t>
                      </m:r>
                      <m:d>
                        <m:d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m:rPr>
                              <m:sty m:val="p"/>
                            </m:rP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sign</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d>
                    </m:e>
                  </m:nary>
                </m:oMath>
              </m:oMathPara>
            </a14:m>
            <a:endParaRPr kumimoji="0" lang="en-US" altLang="zh-CN" sz="1600" b="0" i="0" u="none" strike="noStrike" kern="1200" cap="none" spc="0" normalizeH="0" noProof="0" dirty="0">
              <a:ln>
                <a:noFill/>
              </a:ln>
              <a:solidFill>
                <a:srgbClr val="000000"/>
              </a:solidFill>
              <a:effectLst/>
              <a:uLnTx/>
              <a:uFillTx/>
              <a:latin typeface="Arial" panose="020B0604020202020204" pitchFamily="34" charset="0"/>
              <a:ea typeface="Arial" panose="02040503050406030204" pitchFamily="18" charset="0"/>
              <a:cs typeface="Arial" panose="02020603050405020304" pitchFamily="18" charset="0"/>
            </a:endParaRPr>
          </a:p>
          <a:p>
            <a:pPr lvl="0"/>
            <a14:m>
              <m:oMathPara xmlns:m="http://schemas.openxmlformats.org/officeDocument/2006/math">
                <m:oMathParaPr>
                  <m:jc m:val="left"/>
                </m:oMathParaPr>
                <m:oMath>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s</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t</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   </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𝑦</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𝑇</m:t>
                          </m:r>
                        </m:sup>
                      </m:sSup>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𝑏</m:t>
                      </m:r>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𝑓𝑜𝑟</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𝑐𝑜𝑟𝑟𝑒𝑐𝑡</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𝑖</m:t>
                      </m:r>
                    </m:sub>
                  </m:sSub>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kumimoji="0" lang="en-US" altLang="zh-CN" sz="1600" b="0" u="none" strike="noStrike" kern="1200" cap="none" spc="0" normalizeH="0" baseline="0" noProof="0" dirty="0">
                <a:ln>
                  <a:noFill/>
                </a:ln>
                <a:solidFill>
                  <a:prstClr val="black"/>
                </a:solidFill>
                <a:effectLst/>
                <a:uLnTx/>
                <a:uFillTx/>
                <a:cs typeface="Arial"/>
                <a:latin typeface="Arial"/>
                <a:ea typeface="Arial"/>
              </a:rPr>
              <a:t>       </a:t>
            </a:r>
            <a:r>
              <a:rPr kumimoji="0" lang="en-US" altLang="zh-CN" sz="1600" b="0" u="none" strike="noStrike" kern="1200" cap="none" spc="0" normalizeH="0" noProof="0" dirty="0">
                <a:ln>
                  <a:noFill/>
                </a:ln>
                <a:solidFill>
                  <a:prstClr val="black"/>
                </a:solidFill>
                <a:effectLst/>
                <a:uLnTx/>
                <a:uFillTx/>
                <a:cs typeface="Arial"/>
                <a:latin typeface="Arial"/>
                <a:ea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𝑦</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𝑇</m:t>
                        </m:r>
                      </m:sup>
                    </m:sSup>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𝑖</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𝑏</m:t>
                    </m:r>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𝑓𝑜𝑟</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𝑖𝑛</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𝑐𝑜𝑟𝑟𝑒𝑐𝑡</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 </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ctrlPr>
                  </m:sSub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𝑖</m:t>
                    </m:r>
                  </m:sub>
                </m:sSub>
              </m:oMath>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13" name="Rectangle 12"/>
          <p:cNvSpPr/>
          <p:nvPr/>
        </p:nvSpPr>
        <p:spPr>
          <a:xfrm>
            <a:off x="5015730" y="6548573"/>
            <a:ext cx="3638031" cy="27864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15730" y="6548573"/>
            <a:ext cx="3638031" cy="278640"/>
          </a:xfrm>
          <a:prstGeom prst="rect">
            <a:avLst/>
          </a:prstGeom>
          <a:solidFill>
            <a:srgbClr val="FFFFFF"/>
          </a:solid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Fig. 7.5. Soft-margin support vectors</a:t>
            </a:r>
          </a:p>
        </p:txBody>
      </p:sp>
    </p:spTree>
    <p:extLst>
      <p:ext uri="{BB962C8B-B14F-4D97-AF65-F5344CB8AC3E}">
        <p14:creationId xmlns:p14="http://schemas.microsoft.com/office/powerpoint/2010/main" val="563996896"/>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03E3ADDC-2E9E-2E6C-35C4-5BE752574187}"/>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3" name="object 18">
            <a:extLst>
              <a:ext uri="{FF2B5EF4-FFF2-40B4-BE49-F238E27FC236}">
                <a16:creationId xmlns:a16="http://schemas.microsoft.com/office/drawing/2014/main" id="{00BA7536-70A0-0E20-1AF2-B8240A313C4F}"/>
              </a:ext>
            </a:extLst>
          </p:cNvPr>
          <p:cNvSpPr txBox="1"/>
          <p:nvPr/>
        </p:nvSpPr>
        <p:spPr>
          <a:xfrm>
            <a:off x="107305" y="2127622"/>
            <a:ext cx="8980815" cy="962956"/>
          </a:xfrm>
          <a:prstGeom prst="rect">
            <a:avLst/>
          </a:prstGeom>
        </p:spPr>
        <p:txBody>
          <a:bodyPr vert="horz" wrap="square" lIns="0" tIns="0" rIns="0" bIns="0" rtlCol="0">
            <a:noAutofit/>
          </a:bodyPr>
          <a:lstStyle/>
          <a:p>
            <a:pPr lvl="0">
              <a:tabLst>
                <a:tab pos="1637030" algn="l"/>
                <a:tab pos="3773804" algn="l"/>
              </a:tabLst>
              <a:defRPr sz="1600" lang="en-US">
                <a:latin typeface="Arial"/>
                <a:ea typeface="Arial"/>
                <a:cs typeface="Arial"/>
              </a:defRPr>
            </a:pPr>
            <a:r>
              <a:rPr kumimoji="0" lang="en-US" altLang="en-US" sz="1600" b="0" i="0" u="none" strike="noStrike" kern="1200" cap="none" spc="12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Let </a:t>
            </a:r>
            <a14:m>
              <m:oMath xmlns:m="http://schemas.openxmlformats.org/officeDocument/2006/math">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cs typeface="Arial" panose="02020603050405020304" pitchFamily="18" charset="0"/>
                        <a:ea typeface="Arial"/>
                      </a:rPr>
                      <m:t>𝜉</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i="1">
                    <a:solidFill>
                      <a:prstClr val="black"/>
                    </a:solidFill>
                    <a:latin typeface="Arial" panose="02040503050406030204" pitchFamily="18" charset="0"/>
                    <a:cs typeface="Arial" panose="02020603050405020304" pitchFamily="18" charset="0"/>
                    <a:ea typeface="Arial"/>
                  </a:rPr>
                  <m:t>=</m:t>
                </m:r>
                <m:r>
                  <a:rPr lang="en-US" altLang="zh-CN" sz="1600" i="1">
                    <a:solidFill>
                      <a:prstClr val="black"/>
                    </a:solidFill>
                    <a:latin typeface="Arial" panose="02040503050406030204" pitchFamily="18" charset="0"/>
                    <a:cs typeface="Arial" panose="02020603050405020304" pitchFamily="18" charset="0"/>
                    <a:ea typeface="Arial"/>
                  </a:rPr>
                  <m:t>𝑚𝑎𝑥</m:t>
                </m:r>
                <m:d>
                  <m:dPr>
                    <m:ctrlPr>
                      <a:rPr lang="en-US" altLang="zh-CN" sz="1600" i="1">
                        <a:solidFill>
                          <a:prstClr val="black"/>
                        </a:solidFill>
                        <a:latin typeface="Arial" panose="02040503050406030204" pitchFamily="18" charset="0"/>
                        <a:cs typeface="Arial" panose="02020603050405020304" pitchFamily="18" charset="0"/>
                        <a:ea typeface="Arial"/>
                      </a:rPr>
                    </m:ctrlPr>
                  </m:dPr>
                  <m:e>
                    <m:r>
                      <a:rPr lang="en-US" altLang="zh-CN" sz="1600" i="1">
                        <a:solidFill>
                          <a:prstClr val="black"/>
                        </a:solidFill>
                        <a:latin typeface="Arial" panose="02040503050406030204" pitchFamily="18" charset="0"/>
                        <a:cs typeface="Arial" panose="02020603050405020304" pitchFamily="18" charset="0"/>
                        <a:ea typeface="Arial"/>
                      </a:rPr>
                      <m:t>0,1−</m:t>
                    </m:r>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cs typeface="Arial" panose="02020603050405020304" pitchFamily="18" charset="0"/>
                            <a:ea typeface="Arial"/>
                          </a:rPr>
                          <m:t>𝑦</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b="0" i="1" smtClean="0">
                        <a:solidFill>
                          <a:prstClr val="black"/>
                        </a:solidFill>
                        <a:latin typeface="Arial" panose="02040503050406030204" pitchFamily="18" charset="0"/>
                        <a:cs typeface="Arial" panose="02020603050405020304" pitchFamily="18" charset="0"/>
                        <a:ea typeface="Arial"/>
                      </a:rPr>
                      <m:t>(</m:t>
                    </m:r>
                    <m:sSup>
                      <m:sSupPr>
                        <m:ctrlPr>
                          <a:rPr lang="en-US" altLang="en-US" sz="1600" i="1" kern="0">
                            <a:solidFill>
                              <a:prstClr val="black"/>
                            </a:solidFill>
                            <a:latin typeface="Arial" panose="02040503050406030204" pitchFamily="18" charset="0"/>
                            <a:ea typeface="Arial" panose="02040503050406030204" pitchFamily="18" charset="0"/>
                            <a:cs typeface="Arial"/>
                          </a:rPr>
                        </m:ctrlPr>
                      </m:sSupPr>
                      <m:e>
                        <m:r>
                          <a:rPr lang="en-US" altLang="en-US" sz="1600" b="1" i="1">
                            <a:solidFill>
                              <a:prstClr val="black"/>
                            </a:solidFill>
                            <a:latin typeface="Arial" panose="02040503050406030204" pitchFamily="18" charset="0"/>
                            <a:cs typeface="Arial" panose="02020603050405020304" pitchFamily="18" charset="0"/>
                            <a:ea typeface="Arial"/>
                          </a:rPr>
                          <m:t>𝒘</m:t>
                        </m:r>
                      </m:e>
                      <m:sup>
                        <m:r>
                          <m:rPr>
                            <m:sty m:val="p"/>
                          </m:rPr>
                          <a:rPr lang="en-US" altLang="zh-CN" sz="1600">
                            <a:solidFill>
                              <a:prstClr val="black"/>
                            </a:solidFill>
                            <a:latin typeface="Arial" panose="02040503050406030204" pitchFamily="18" charset="0"/>
                            <a:cs typeface="Arial" panose="02020603050405020304" pitchFamily="18" charset="0"/>
                            <a:ea typeface="Arial"/>
                          </a:rPr>
                          <m:t>T</m:t>
                        </m:r>
                      </m:sup>
                    </m:sSup>
                    <m:sSub>
                      <m:sSubPr>
                        <m:ctrlPr>
                          <a:rPr lang="en-US" altLang="en-US" sz="1600" i="1" kern="0">
                            <a:solidFill>
                              <a:prstClr val="black"/>
                            </a:solidFill>
                            <a:latin typeface="Arial" panose="02040503050406030204" pitchFamily="18" charset="0"/>
                            <a:ea typeface="Arial" panose="02040503050406030204" pitchFamily="18" charset="0"/>
                            <a:cs typeface="Arial"/>
                          </a:rPr>
                        </m:ctrlPr>
                      </m:sSubPr>
                      <m:e>
                        <m:r>
                          <a:rPr lang="en-US" altLang="en-US" sz="1600" b="1" i="1">
                            <a:solidFill>
                              <a:prstClr val="black"/>
                            </a:solidFill>
                            <a:latin typeface="Arial" panose="02040503050406030204" pitchFamily="18" charset="0"/>
                            <a:cs typeface="Arial" panose="02020603050405020304" pitchFamily="18" charset="0"/>
                            <a:ea typeface="Arial"/>
                          </a:rPr>
                          <m:t>𝒙</m:t>
                        </m:r>
                      </m:e>
                      <m:sub>
                        <m:r>
                          <a:rPr lang="en-US" altLang="en-US" sz="1600" i="1">
                            <a:solidFill>
                              <a:prstClr val="black"/>
                            </a:solidFill>
                            <a:latin typeface="Arial" panose="02040503050406030204" pitchFamily="18" charset="0"/>
                            <a:cs typeface="Arial" panose="02020603050405020304" pitchFamily="18" charset="0"/>
                            <a:ea typeface="Arial"/>
                          </a:rPr>
                          <m:t>𝑖</m:t>
                        </m:r>
                      </m:sub>
                    </m:sSub>
                    <m:r>
                      <a:rPr lang="en-US" altLang="zh-CN" sz="1600" i="1">
                        <a:solidFill>
                          <a:prstClr val="black"/>
                        </a:solidFill>
                        <a:latin typeface="Arial" panose="02040503050406030204" pitchFamily="18" charset="0"/>
                        <a:cs typeface="Arial" panose="02020603050405020304" pitchFamily="18" charset="0"/>
                        <a:ea typeface="Arial"/>
                      </a:rPr>
                      <m:t>+</m:t>
                    </m:r>
                    <m:r>
                      <a:rPr lang="en-US" altLang="en-US" sz="1600" i="1">
                        <a:solidFill>
                          <a:prstClr val="black"/>
                        </a:solidFill>
                        <a:latin typeface="Arial" panose="02040503050406030204" pitchFamily="18" charset="0"/>
                        <a:cs typeface="Arial" panose="02020603050405020304" pitchFamily="18" charset="0"/>
                        <a:ea typeface="Arial"/>
                      </a:rPr>
                      <m:t>𝑏</m:t>
                    </m:r>
                    <m:r>
                      <a:rPr lang="en-US" altLang="zh-CN" sz="1600" b="0" i="1" smtClean="0">
                        <a:solidFill>
                          <a:prstClr val="black"/>
                        </a:solidFill>
                        <a:latin typeface="Arial" panose="02040503050406030204" pitchFamily="18" charset="0"/>
                        <a:cs typeface="Arial" panose="02020603050405020304" pitchFamily="18" charset="0"/>
                        <a:ea typeface="Arial"/>
                      </a:rPr>
                      <m:t>)</m:t>
                    </m:r>
                    <m:r>
                      <a:rPr lang="en-US" altLang="en-US" sz="1600" i="1" kern="0" smtClean="0">
                        <a:solidFill>
                          <a:prstClr val="black"/>
                        </a:solidFill>
                        <a:latin typeface="Arial" panose="02040503050406030204" pitchFamily="18" charset="0"/>
                        <a:ea typeface="Arial" panose="02040503050406030204" pitchFamily="18" charset="0"/>
                        <a:cs typeface="Arial"/>
                      </a:rPr>
                      <m:t> </m:t>
                    </m:r>
                  </m:e>
                </m:d>
              </m:oMath>
            </a14:m>
            <a:r>
              <a:rPr kumimoji="0" lang="en-US" altLang="en-US" sz="1600" b="0" i="0" u="none" strike="noStrike" kern="1200" cap="none" spc="12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where ξᵢ is the slack variable for sample i and ξᵢ ≥ 0. Each sample has one slack variable to represent its classification loss. The expression above becomes:</a:t>
            </a:r>
          </a:p>
        </p:txBody>
      </p:sp>
      <p:sp xmlns:a14="http://schemas.microsoft.com/office/drawing/2010/main">
        <p:nvSpPr>
          <p:cNvPr id="13" name="文本框 12">
            <a:extLst>
              <a:ext uri="{FF2B5EF4-FFF2-40B4-BE49-F238E27FC236}">
                <a16:creationId xmlns:a16="http://schemas.microsoft.com/office/drawing/2014/main" id="{532CB369-B661-759E-85BA-A42E3CB199CC}"/>
              </a:ext>
            </a:extLst>
          </p:cNvPr>
          <p:cNvSpPr txBox="1"/>
          <p:nvPr/>
        </p:nvSpPr>
        <p:spPr>
          <a:xfrm>
            <a:off x="342419" y="6072890"/>
            <a:ext cx="5973188" cy="457626"/>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Equivalent optimization problem: </a:t>
            </a:r>
            <a14:m>
              <m:oMath xmlns:m="http://schemas.openxmlformats.org/officeDocument/2006/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𝑁</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d>
                              <m:dPr>
                                <m:begChr m:val="["/>
                                <m:end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dPr>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bPr>
                                  <m:e>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𝑦</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𝒙</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e>
                            </m:d>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sub>
                        </m:sSub>
                      </m:e>
                    </m:nary>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sSup>
                      <m:sSup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sSupPr>
                      <m:e>
                        <m:d>
                          <m:dPr>
                            <m:begChr m:val="‖"/>
                            <m:end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ctrlPr>
                          </m:dPr>
                          <m:e>
                            <m:r>
                              <a:rPr kumimoji="0" lang="en-US" altLang="zh-CN" sz="1600" b="1"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d>
                      </m:e>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sup>
                    </m:sSup>
                  </m:e>
                </m:func>
              </m:oMath>
            </a14:m>
          </a:p>
        </p:txBody>
      </p:sp>
      <p:sp xmlns:a14="http://schemas.microsoft.com/office/drawing/2010/main">
        <p:nvSpPr>
          <p:cNvPr id="15" name="文本框 14">
            <a:extLst>
              <a:ext uri="{FF2B5EF4-FFF2-40B4-BE49-F238E27FC236}">
                <a16:creationId xmlns:a16="http://schemas.microsoft.com/office/drawing/2014/main" id="{5891B64F-D645-2BB9-1EFA-553E81BFC279}"/>
              </a:ext>
            </a:extLst>
          </p:cNvPr>
          <p:cNvSpPr txBox="1"/>
          <p:nvPr/>
        </p:nvSpPr>
        <p:spPr>
          <a:xfrm>
            <a:off x="206540" y="3241980"/>
            <a:ext cx="5039360" cy="1148071"/>
          </a:xfrm>
          <a:prstGeom prst="rect">
            <a:avLst/>
          </a:prstGeom>
          <a:noFill/>
        </p:spPr>
        <p:txBody>
          <a:bodyPr wrap="square" lIns="0" tIns="0" rIns="0" bIns="0">
            <a:noAutofit/>
          </a:bodyPr>
          <a:lstStyle/>
          <a:p>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Objective with a hinge-loss term:</a:t>
            </a:r>
          </a:p>
          <a:p>
            <a:pPr/>
            <a14:m>
              <m:oMathPara xmlns:m="http://schemas.openxmlformats.org/officeDocument/2006/math">
                <m:oMathParaPr>
                  <m:jc m:val="left"/>
                </m:oMathParaPr>
                <m:oMath>
                  <m:func>
                    <m:func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funcPr>
                    <m:fName>
                      <m:limLow>
                        <m:limLow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limLowPr>
                        <m:e>
                          <m:r>
                            <m:rPr>
                              <m:sty m:val="p"/>
                            </m:rP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min</m:t>
                          </m:r>
                        </m:e>
                        <m:lim>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lim>
                      </m:limLow>
                    </m:fName>
                    <m:e>
                      <m:f>
                        <m:f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fPr>
                        <m:num>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num>
                        <m:den>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2</m:t>
                          </m:r>
                        </m:den>
                      </m:f>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𝑐</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func>
                  <m:nary>
                    <m:naryPr>
                      <m:chr m:val="∑"/>
                      <m:limLoc m:val="undOv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naryPr>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sub>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𝑛</m:t>
                      </m:r>
                    </m:sup>
                    <m:e>
                      <m:r>
                        <m:rPr>
                          <m:sty m:val="p"/>
                        </m:rP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max</m:t>
                      </m:r>
                      <m:r>
                        <a:rPr lang="en-US" altLang="zh-CN" sz="160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(0,1−</m:t>
                      </m:r>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e>
                  </m:nary>
                </m:oMath>
              </m:oMathPara>
            </a14:m>
            <a:endParaRPr lang="en-US" altLang="zh-CN" sz="1600" dirty="0">
              <a:solidFill>
                <a:prstClr val="black"/>
              </a:solidFill>
              <a:latin typeface="Arial" panose="020B0604020202020204" pitchFamily="34" charset="0"/>
              <a:ea typeface="Arial" panose="02010609060101010101" pitchFamily="49" charset="-122"/>
              <a:cs typeface="Arial" panose="02020603050405020304" pitchFamily="18" charset="0"/>
            </a:endParaRPr>
          </a:p>
        </p:txBody>
      </p:sp>
      <p:sp>
        <p:nvSpPr>
          <p:cNvPr id="16" name="矩形 15">
            <a:extLst>
              <a:ext uri="{FF2B5EF4-FFF2-40B4-BE49-F238E27FC236}">
                <a16:creationId xmlns:a16="http://schemas.microsoft.com/office/drawing/2014/main" id="{42CA2CF8-A7E7-56BC-9AEB-156582A7EDBF}"/>
              </a:ext>
            </a:extLst>
          </p:cNvPr>
          <p:cNvSpPr/>
          <p:nvPr/>
        </p:nvSpPr>
        <p:spPr>
          <a:xfrm>
            <a:off x="134553" y="3218856"/>
            <a:ext cx="5127834" cy="2107965"/>
          </a:xfrm>
          <a:prstGeom prst="rect">
            <a:avLst/>
          </a:prstGeom>
          <a:noFill/>
          <a:ln w="50800" cap="flat" cmpd="sng" algn="ctr">
            <a:solidFill>
              <a:srgbClr val="0070C0"/>
            </a:solidFill>
            <a:prstDash val="solid"/>
          </a:ln>
          <a:effectLst/>
        </p:spPr>
        <p:txBody>
          <a:bodyPr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17" name="文本框 16">
            <a:extLst>
              <a:ext uri="{FF2B5EF4-FFF2-40B4-BE49-F238E27FC236}">
                <a16:creationId xmlns:a16="http://schemas.microsoft.com/office/drawing/2014/main" id="{A6F75930-D79A-5D69-B908-3BB97A5EB8C8}"/>
              </a:ext>
            </a:extLst>
          </p:cNvPr>
          <p:cNvSpPr txBox="1"/>
          <p:nvPr/>
        </p:nvSpPr>
        <p:spPr>
          <a:xfrm>
            <a:off x="206540" y="4522888"/>
            <a:ext cx="3529347" cy="655179"/>
          </a:xfrm>
          <a:prstGeom prst="rect">
            <a:avLst/>
          </a:prstGeom>
          <a:noFill/>
        </p:spPr>
        <p:txBody>
          <a:bodyPr wrap="square" lIns="0" tIns="0" rIns="0" bIns="0">
            <a:noAutofit/>
          </a:bodyPr>
          <a:lstStyle/>
          <a:p>
            <a:r>
              <a:rPr lang="en-US" altLang="en-US" sz="1600" dirty="0">
                <a:solidFill>
                  <a:srgbClr val="000000"/>
                </a:solidFill>
                <a:latin typeface="Arial" panose="020B0604020202020204" pitchFamily="34" charset="0"/>
                <a:ea typeface="Arial" panose="02010609060101010101" pitchFamily="49" charset="-122"/>
                <a:cs typeface="Arial" panose="02020603050405020304" pitchFamily="18" charset="0"/>
              </a:rPr>
              <a:t>Hinge loss for correctly classified data:</a:t>
            </a:r>
          </a:p>
          <a:p>
            <a:pPr/>
            <a14:m>
              <m:oMathPara xmlns:m="http://schemas.openxmlformats.org/officeDocument/2006/math">
                <m:oMathParaPr>
                  <m:jc m:val="left"/>
                </m:oMathParaPr>
                <m:oMath>
                  <m:func>
                    <m:funcPr>
                      <m:ctrlP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ctrlPr>
                    </m:funcPr>
                    <m:fName>
                      <m:r>
                        <m:rPr>
                          <m:sty m:val="p"/>
                        </m:rP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max</m:t>
                      </m:r>
                    </m:fName>
                    <m:e>
                      <m:d>
                        <m:d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d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0,1−</m:t>
                          </m:r>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𝑦</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sSup>
                            <m:sSup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p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𝒘</m:t>
                              </m:r>
                            </m:e>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𝑇</m:t>
                              </m:r>
                            </m:sup>
                          </m:sSup>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zh-CN" sz="1600" b="1" i="1">
                                  <a:solidFill>
                                    <a:srgbClr val="000000"/>
                                  </a:solidFill>
                                  <a:latin typeface="Arial" panose="02040503050406030204" pitchFamily="18" charset="0"/>
                                  <a:ea typeface="Arial" panose="02040503050406030204" pitchFamily="18" charset="0"/>
                                  <a:cs typeface="Arial" panose="02020603050405020304" pitchFamily="18" charset="0"/>
                                </a:rPr>
                                <m:t>𝒙</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𝑏</m:t>
                          </m:r>
                          <m:r>
                            <a:rPr lang="en-US" altLang="zh-CN" sz="1600" b="0" i="1" smtClean="0">
                              <a:solidFill>
                                <a:srgbClr val="000000"/>
                              </a:solidFill>
                              <a:latin typeface="Arial" panose="02040503050406030204" pitchFamily="18" charset="0"/>
                              <a:ea typeface="Arial" panose="02040503050406030204" pitchFamily="18" charset="0"/>
                              <a:cs typeface="Arial" panose="02020603050405020304" pitchFamily="18" charset="0"/>
                            </a:rPr>
                            <m:t>)</m:t>
                          </m:r>
                          <m:r>
                            <a:rPr lang="en-US" altLang="zh-CN" sz="1600" i="1" smtClean="0">
                              <a:solidFill>
                                <a:srgbClr val="000000"/>
                              </a:solidFill>
                              <a:latin typeface="Arial" panose="02040503050406030204" pitchFamily="18" charset="0"/>
                              <a:ea typeface="Arial" panose="02040503050406030204" pitchFamily="18" charset="0"/>
                              <a:cs typeface="Arial" panose="02020603050405020304" pitchFamily="18" charset="0"/>
                            </a:rPr>
                            <m:t> </m:t>
                          </m:r>
                        </m:e>
                      </m:d>
                    </m:e>
                  </m:func>
                  <m:r>
                    <a:rPr lang="en-US" altLang="zh-CN" sz="1600" i="0">
                      <a:solidFill>
                        <a:srgbClr val="000000"/>
                      </a:solidFill>
                      <a:latin typeface="Arial" panose="02040503050406030204" pitchFamily="18" charset="0"/>
                      <a:ea typeface="Arial" panose="02040503050406030204" pitchFamily="18" charset="0"/>
                      <a:cs typeface="Arial" panose="02020603050405020304" pitchFamily="18" charset="0"/>
                    </a:rPr>
                    <m:t>=0</m:t>
                  </m:r>
                </m:oMath>
              </m:oMathPara>
            </a14:m>
            <a:endParaRPr lang="en-US" altLang="en-US" sz="1600" dirty="0">
              <a:solidFill>
                <a:prstClr val="black"/>
              </a:solidFill>
              <a:latin typeface="Arial" panose="020B0604020202020204" pitchFamily="34" charset="0"/>
              <a:ea typeface="Arial" panose="02010609060101010101" pitchFamily="49" charset="-122"/>
              <a:cs typeface="Arial"/>
            </a:endParaRPr>
          </a:p>
        </p:txBody>
      </p:sp>
      <p:sp xmlns:a14="http://schemas.microsoft.com/office/drawing/2010/main">
        <p:nvSpPr>
          <p:cNvPr id="18" name="文本框 17">
            <a:extLst>
              <a:ext uri="{FF2B5EF4-FFF2-40B4-BE49-F238E27FC236}">
                <a16:creationId xmlns:a16="http://schemas.microsoft.com/office/drawing/2014/main" id="{3DDBD135-8351-F26E-A3DD-068D8EB18722}"/>
              </a:ext>
            </a:extLst>
          </p:cNvPr>
          <p:cNvSpPr txBox="1"/>
          <p:nvPr/>
        </p:nvSpPr>
        <p:spPr>
          <a:xfrm>
            <a:off x="2086709" y="834387"/>
            <a:ext cx="3902611" cy="1285160"/>
          </a:xfrm>
          <a:prstGeom prst="rect">
            <a:avLst/>
          </a:prstGeom>
          <a:noFill/>
        </p:spPr>
        <p:txBody>
          <a:bodyPr wrap="square" lIns="0" tIns="0" rIns="0" bIns="0">
            <a:noAutofit/>
          </a:bodyPr>
          <a:lstStyle/>
          <a:p>
            <a:pPr lvl="0"/>
            <a14:m>
              <m:oMathPara xmlns:m="http://schemas.openxmlformats.org/officeDocument/2006/math">
                <m:oMathParaPr>
                  <m:jc m:val="centerGroup"/>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m:t>
                      </m:r>
                      <m:r>
                        <a:rPr lang="en-US" altLang="zh-CN" sz="1600" i="1">
                          <a:solidFill>
                            <a:srgbClr val="000000"/>
                          </a:solidFill>
                          <a:latin typeface="Arial" panose="02040503050406030204" pitchFamily="18" charset="0"/>
                          <a:ea typeface="Arial" panose="02010600040101010101" pitchFamily="2" charset="-122"/>
                          <a:cs typeface="Arial" panose="02020603050405020304" pitchFamily="18" charset="0"/>
                        </a:rPr>
                        <m:t>𝑐</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m:t>
                      </m:r>
                      <m:nary>
                        <m:naryPr>
                          <m:chr m:val="∑"/>
                          <m:limLoc m:val="subSup"/>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naryPr>
                        <m:sub>
                          <m:r>
                            <m:rPr>
                              <m:brk m:alnAt="25"/>
                            </m:r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=1</m:t>
                          </m:r>
                        </m:sub>
                        <m:sup>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𝑁</m:t>
                          </m:r>
                        </m:sup>
                        <m:e>
                          <m:sSub>
                            <m:sSubPr>
                              <m:ctrlP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ctrlPr>
                            </m:sSubPr>
                            <m:e>
                              <m:r>
                                <a:rPr lang="en-US" altLang="en-US" sz="1600" i="1">
                                  <a:solidFill>
                                    <a:srgbClr val="000000"/>
                                  </a:solidFill>
                                  <a:latin typeface="Arial" panose="02040503050406030204" pitchFamily="18" charset="0"/>
                                  <a:ea typeface="Arial" panose="02040503050406030204" pitchFamily="18" charset="0"/>
                                  <a:cs typeface="Arial" panose="02020603050405020304" pitchFamily="18" charset="0"/>
                                </a:rPr>
                                <m:t>𝜉</m:t>
                              </m:r>
                            </m:e>
                            <m:sub>
                              <m:r>
                                <a:rPr lang="en-US" altLang="zh-CN" sz="1600" i="1">
                                  <a:solidFill>
                                    <a:srgbClr val="000000"/>
                                  </a:solidFill>
                                  <a:latin typeface="Arial" panose="02040503050406030204" pitchFamily="18" charset="0"/>
                                  <a:ea typeface="Arial" panose="02040503050406030204" pitchFamily="18" charset="0"/>
                                  <a:cs typeface="Arial" panose="02020603050405020304" pitchFamily="18" charset="0"/>
                                </a:rPr>
                                <m:t>𝑖</m:t>
                              </m:r>
                            </m:sub>
                          </m:sSub>
                        </m:e>
                      </m:nary>
                    </m:e>
                  </m:func>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Para xmlns:m="http://schemas.openxmlformats.org/officeDocument/2006/math">
                <m:oMathParaPr>
                  <m:jc m:val="centerGroup"/>
                </m:oMathParaPr>
                <m:o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sSup>
                        <m:sSupPr>
                          <m:ctrlPr>
                            <a:rPr lang="en-US" altLang="zh-CN" sz="1600" i="1">
                              <a:solidFill>
                                <a:prstClr val="black"/>
                              </a:solidFill>
                              <a:latin typeface="Arial" panose="02040503050406030204" pitchFamily="18" charset="0"/>
                              <a:ea typeface="Arial"/>
                              <a:cs typeface="Arial"/>
                            </a:rPr>
                          </m:ctrlPr>
                        </m:sSupPr>
                        <m:e>
                          <m:r>
                            <a:rPr lang="en-US" altLang="zh-CN" sz="1600" b="1" i="1">
                              <a:solidFill>
                                <a:prstClr val="black"/>
                              </a:solidFill>
                              <a:latin typeface="Arial" panose="02040503050406030204" pitchFamily="18" charset="0"/>
                              <a:ea typeface="Arial"/>
                              <a:cs typeface="Arial"/>
                            </a:rPr>
                            <m:t>𝒘</m:t>
                          </m:r>
                        </m:e>
                        <m:sup>
                          <m:r>
                            <a:rPr lang="en-US" altLang="zh-CN" sz="1600" i="1">
                              <a:solidFill>
                                <a:prstClr val="black"/>
                              </a:solidFill>
                              <a:latin typeface="Arial" panose="02040503050406030204" pitchFamily="18" charset="0"/>
                              <a:ea typeface="Arial"/>
                              <a:cs typeface="Arial"/>
                            </a:rPr>
                            <m:t>𝑇</m:t>
                          </m:r>
                        </m:sup>
                      </m:sSup>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≥1−</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r>
              <a:rPr lang="en-US" altLang="en-US" sz="1600" spc="-40" dirty="0">
                <a:solidFill>
                  <a:prstClr val="black"/>
                </a:solidFill>
                <a:latin typeface="Arial" panose="020B0604020202020204" pitchFamily="34" charset="0"/>
                <a:ea typeface="Arial" panose="02010609060101010101" pitchFamily="49" charset="-122"/>
                <a:cs typeface="Arial"/>
              </a:rPr>
              <a:t>                   </a:t>
            </a:r>
            <a14:m>
              <m:oMath xmlns:m="http://schemas.openxmlformats.org/officeDocument/2006/math">
                <m:r>
                  <m:rPr>
                    <m:nor/>
                  </m:rPr>
                  <a:rPr lang="en-US" altLang="en-US" sz="1600" spc="-40" dirty="0" smtClean="0">
                    <a:solidFill>
                      <a:prstClr val="black"/>
                    </a:solidFill>
                    <a:latin typeface="Arial" panose="020B0604020202020204" pitchFamily="34" charset="0"/>
                    <a:ea typeface="Arial" panose="02010609060101010101" pitchFamily="49" charset="-122"/>
                    <a:cs typeface="Arial"/>
                  </a:rPr>
                  <m:t>𝜉</m:t>
                </m:r>
                <m:r>
                  <m:rPr>
                    <m:nor/>
                  </m:rPr>
                  <a:rPr lang="en-US" altLang="en-US" sz="1600" spc="44" baseline="-16908" dirty="0" smtClean="0">
                    <a:solidFill>
                      <a:prstClr val="black"/>
                    </a:solidFill>
                    <a:latin typeface="Arial" panose="020B0604020202020204" pitchFamily="34" charset="0"/>
                    <a:ea typeface="Arial" panose="02010609060101010101" pitchFamily="49" charset="-122"/>
                    <a:cs typeface="Arial"/>
                  </a:rPr>
                  <m:t>𝑖</m:t>
                </m:r>
                <m:r>
                  <m:rPr>
                    <m:nor/>
                  </m:rPr>
                  <a:rPr lang="en-US" altLang="en-US" sz="1600" baseline="-16908"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50" baseline="-16908"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8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0</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en-US" sz="1600" spc="15" dirty="0" smtClean="0">
                    <a:solidFill>
                      <a:prstClr val="black"/>
                    </a:solidFill>
                    <a:latin typeface="Arial" panose="020B0604020202020204" pitchFamily="34" charset="0"/>
                    <a:ea typeface="Arial" panose="02010609060101010101" pitchFamily="49" charset="-122"/>
                    <a:cs typeface="Arial"/>
                  </a:rPr>
                  <m:t>𝑖</m:t>
                </m:r>
                <m:r>
                  <m:rPr>
                    <m:nor/>
                  </m:rPr>
                  <a:rPr lang="en-US" altLang="en-US" sz="1600" spc="155"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85"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5" dirty="0" smtClean="0">
                    <a:solidFill>
                      <a:prstClr val="black"/>
                    </a:solidFill>
                    <a:latin typeface="Arial" panose="020B0604020202020204" pitchFamily="34" charset="0"/>
                    <a:ea typeface="Arial" panose="02010609060101010101" pitchFamily="49" charset="-122"/>
                    <a:cs typeface="Arial"/>
                  </a:rPr>
                  <m:t>1</m:t>
                </m:r>
                <m:r>
                  <m:rPr>
                    <m:nor/>
                  </m:rPr>
                  <a:rPr lang="en-US" altLang="zh-CN" sz="1600" spc="5" dirty="0" smtClean="0">
                    <a:solidFill>
                      <a:prstClr val="black"/>
                    </a:solidFill>
                    <a:latin typeface="Arial" panose="020B0604020202020204" pitchFamily="34" charset="0"/>
                    <a:ea typeface="Arial" panose="02010609060101010101" pitchFamily="49" charset="-122"/>
                    <a:cs typeface="Arial"/>
                  </a:rPr>
                  <m:t>,</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2,</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spc="1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dirty="0" smtClean="0">
                    <a:solidFill>
                      <a:prstClr val="black"/>
                    </a:solidFill>
                    <a:latin typeface="Arial" panose="020B0604020202020204" pitchFamily="34" charset="0"/>
                    <a:ea typeface="Arial" panose="02010609060101010101" pitchFamily="49" charset="-122"/>
                    <a:cs typeface="Arial"/>
                  </a:rPr>
                  <m:t>,</m:t>
                </m:r>
                <m:r>
                  <m:rPr>
                    <m:nor/>
                  </m:rPr>
                  <a:rPr lang="en-US" altLang="en-US" sz="1600" spc="-90" dirty="0" smtClean="0">
                    <a:solidFill>
                      <a:prstClr val="black"/>
                    </a:solidFill>
                    <a:latin typeface="Arial" panose="020B0604020202020204" pitchFamily="34" charset="0"/>
                    <a:ea typeface="Arial" panose="02010609060101010101" pitchFamily="49" charset="-122"/>
                    <a:cs typeface="Arial"/>
                  </a:rPr>
                  <m:t> </m:t>
                </m:r>
                <m:r>
                  <m:rPr>
                    <m:nor/>
                  </m:rPr>
                  <a:rPr lang="en-US" altLang="zh-CN" sz="1600" b="0" i="1" spc="-90" dirty="0" smtClean="0">
                    <a:solidFill>
                      <a:prstClr val="black"/>
                    </a:solidFill>
                    <a:latin typeface="Arial" panose="020B0604020202020204" pitchFamily="34" charset="0"/>
                    <a:ea typeface="Arial" panose="02010609060101010101" pitchFamily="49" charset="-122"/>
                    <a:cs typeface="Arial"/>
                  </a:rPr>
                  <m:t>N</m:t>
                </m:r>
              </m:oMath>
            </a14:m>
            <a:endParaRPr kumimoji="0" lang="en-US" altLang="zh-CN" sz="160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p:nvSpPr>
          <p:cNvPr id="20" name="文本框 19">
            <a:extLst>
              <a:ext uri="{FF2B5EF4-FFF2-40B4-BE49-F238E27FC236}">
                <a16:creationId xmlns:a16="http://schemas.microsoft.com/office/drawing/2014/main" id="{966D47D4-1FCB-CE8F-23FD-0397404F9D91}"/>
              </a:ext>
            </a:extLst>
          </p:cNvPr>
          <p:cNvSpPr txBox="1"/>
          <p:nvPr/>
        </p:nvSpPr>
        <p:spPr>
          <a:xfrm>
            <a:off x="44020" y="5616451"/>
            <a:ext cx="6400800" cy="400110"/>
          </a:xfrm>
          <a:prstGeom prst="rect">
            <a:avLst/>
          </a:prstGeom>
          <a:noFill/>
        </p:spPr>
        <p:txBody>
          <a:bodyPr wrap="none" rtlCol="0">
            <a:noAutofit/>
          </a:bodyPr>
          <a:lstStyle/>
          <a:p>
            <a:r>
              <a:rPr lang="en-US" altLang="en-US" sz="1600" dirty="0">
                <a:latin typeface="Arial" panose="020B0604020202020204" pitchFamily="34" charset="0"/>
                <a:ea typeface="Arial" panose="02010609060101010101" pitchFamily="49" charset="-122"/>
                <a:cs typeface="Arial"/>
              </a:rPr>
              <a:t>Theorem 7.4. Primal optimization problem for a linear SVM:</a:t>
            </a:r>
          </a:p>
        </p:txBody>
      </p:sp>
      <p:grpSp>
        <p:nvGrpSpPr>
          <p:cNvPr id="43" name="组合 42">
            <a:extLst>
              <a:ext uri="{FF2B5EF4-FFF2-40B4-BE49-F238E27FC236}">
                <a16:creationId xmlns:a16="http://schemas.microsoft.com/office/drawing/2014/main" id="{E6200958-F8A8-D508-57B2-7A097C7603C3}"/>
              </a:ext>
            </a:extLst>
          </p:cNvPr>
          <p:cNvGrpSpPr>
            <a:grpSpLocks noChangeAspect="1"/>
          </p:cNvGrpSpPr>
          <p:nvPr/>
        </p:nvGrpSpPr>
        <p:grpSpPr>
          <a:xfrm>
            <a:off x="3995957" y="2772345"/>
            <a:ext cx="5092163" cy="2988000"/>
            <a:chOff x="1120775" y="1343025"/>
            <a:chExt cx="6630988" cy="3890963"/>
          </a:xfrm>
        </p:grpSpPr>
        <p:cxnSp>
          <p:nvCxnSpPr>
            <p:cNvPr id="4" name="直接箭头连接符 3">
              <a:extLst>
                <a:ext uri="{FF2B5EF4-FFF2-40B4-BE49-F238E27FC236}">
                  <a16:creationId xmlns:a16="http://schemas.microsoft.com/office/drawing/2014/main" id="{F6F9B65F-3125-3C76-41B5-626A41ADF6AA}"/>
                </a:ext>
              </a:extLst>
            </p:cNvPr>
            <p:cNvCxnSpPr/>
            <p:nvPr/>
          </p:nvCxnSpPr>
          <p:spPr>
            <a:xfrm flipH="1" flipV="1">
              <a:off x="4652963" y="1400175"/>
              <a:ext cx="0" cy="3551238"/>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cxnSp>
          <p:nvCxnSpPr>
            <p:cNvPr id="5" name="直接箭头连接符 4">
              <a:extLst>
                <a:ext uri="{FF2B5EF4-FFF2-40B4-BE49-F238E27FC236}">
                  <a16:creationId xmlns:a16="http://schemas.microsoft.com/office/drawing/2014/main" id="{B9DED727-E9B8-0F97-79C1-BDD45F5E080B}"/>
                </a:ext>
              </a:extLst>
            </p:cNvPr>
            <p:cNvCxnSpPr/>
            <p:nvPr/>
          </p:nvCxnSpPr>
          <p:spPr>
            <a:xfrm>
              <a:off x="2033588" y="4935538"/>
              <a:ext cx="5432425" cy="0"/>
            </a:xfrm>
            <a:prstGeom prst="straightConnector1">
              <a:avLst/>
            </a:prstGeom>
            <a:ln w="19050">
              <a:headEnd type="none" w="med" len="lg"/>
              <a:tailEnd type="triangle" w="lg" len="lg"/>
            </a:ln>
          </p:spPr>
          <p:style>
            <a:lnRef idx="1">
              <a:schemeClr val="dk1"/>
            </a:lnRef>
            <a:fillRef idx="0">
              <a:schemeClr val="dk1"/>
            </a:fillRef>
            <a:effectRef idx="0">
              <a:schemeClr val="dk1"/>
            </a:effectRef>
            <a:fontRef idx="minor">
              <a:schemeClr val="tx1"/>
            </a:fontRef>
          </p:style>
        </p:cxnSp>
        <p:sp>
          <p:nvSpPr>
            <p:cNvPr id="6" name="文本框 38">
              <a:extLst>
                <a:ext uri="{FF2B5EF4-FFF2-40B4-BE49-F238E27FC236}">
                  <a16:creationId xmlns:a16="http://schemas.microsoft.com/office/drawing/2014/main" id="{6111331F-61FB-BCB6-834D-7169964B8CD4}"/>
                </a:ext>
              </a:extLst>
            </p:cNvPr>
            <p:cNvSpPr txBox="1">
              <a:spLocks noChangeArrowheads="1"/>
            </p:cNvSpPr>
            <p:nvPr/>
          </p:nvSpPr>
          <p:spPr bwMode="auto">
            <a:xfrm>
              <a:off x="4484688" y="4919663"/>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0</a:t>
              </a:r>
              <a:endParaRPr lang="en-US" altLang="en-US" sz="1600">
                <a:latin typeface="Arial"/>
                <a:ea typeface="Arial" panose="02010509060101010101" pitchFamily="49" charset="-122"/>
                <a:cs typeface="Arial"/>
              </a:endParaRPr>
            </a:p>
          </p:txBody>
        </p:sp>
        <p:graphicFrame>
          <p:nvGraphicFramePr>
            <p:cNvPr id="7" name="Object 908">
              <a:extLst>
                <a:ext uri="{FF2B5EF4-FFF2-40B4-BE49-F238E27FC236}">
                  <a16:creationId xmlns:a16="http://schemas.microsoft.com/office/drawing/2014/main" id="{A989139F-E277-BDBF-37EB-3EEC7E76B10C}"/>
                </a:ext>
              </a:extLst>
            </p:cNvPr>
            <p:cNvGraphicFramePr>
              <a:graphicFrameLocks noChangeAspect="1"/>
            </p:cNvGraphicFramePr>
            <p:nvPr>
              <p:extLst>
                <p:ext uri="{D42A27DB-BD31-4B8C-83A1-F6EECF244321}">
                  <p14:modId xmlns:p14="http://schemas.microsoft.com/office/powerpoint/2010/main" val="3423165854"/>
                </p:ext>
              </p:extLst>
            </p:nvPr>
          </p:nvGraphicFramePr>
          <p:xfrm>
            <a:off x="7173913" y="4984750"/>
            <a:ext cx="144462" cy="249238"/>
          </p:xfrm>
          <a:graphic>
            <a:graphicData uri="http://schemas.openxmlformats.org/presentationml/2006/ole">
              <p:oleObj name="Formula" r:id="rId8" imgW="76306" imgH="129720" progId="">
                <p:embed/>
              </p:oleObj>
            </a:graphicData>
          </a:graphic>
        </p:graphicFrame>
        <p:graphicFrame>
          <p:nvGraphicFramePr>
            <p:cNvPr id="8" name="Object 909">
              <a:extLst>
                <a:ext uri="{FF2B5EF4-FFF2-40B4-BE49-F238E27FC236}">
                  <a16:creationId xmlns:a16="http://schemas.microsoft.com/office/drawing/2014/main" id="{F935EFE4-3A59-4F5F-4818-17409E884759}"/>
                </a:ext>
              </a:extLst>
            </p:cNvPr>
            <p:cNvGraphicFramePr>
              <a:graphicFrameLocks noChangeAspect="1"/>
            </p:cNvGraphicFramePr>
            <p:nvPr>
              <p:extLst>
                <p:ext uri="{D42A27DB-BD31-4B8C-83A1-F6EECF244321}">
                  <p14:modId xmlns:p14="http://schemas.microsoft.com/office/powerpoint/2010/main" val="2805465919"/>
                </p:ext>
              </p:extLst>
            </p:nvPr>
          </p:nvGraphicFramePr>
          <p:xfrm>
            <a:off x="4021138" y="1343025"/>
            <a:ext cx="471487" cy="338138"/>
          </p:xfrm>
          <a:graphic>
            <a:graphicData uri="http://schemas.openxmlformats.org/presentationml/2006/ole">
              <p:oleObj name="Formula" r:id="rId10" imgW="248920" imgH="177800" progId="">
                <p:embed/>
              </p:oleObj>
            </a:graphicData>
          </a:graphic>
        </p:graphicFrame>
        <p:cxnSp>
          <p:nvCxnSpPr>
            <p:cNvPr id="9" name="直接连接符 8">
              <a:extLst>
                <a:ext uri="{FF2B5EF4-FFF2-40B4-BE49-F238E27FC236}">
                  <a16:creationId xmlns:a16="http://schemas.microsoft.com/office/drawing/2014/main" id="{D96BF22D-EDC2-A117-635E-D1A4DEA97777}"/>
                </a:ext>
              </a:extLst>
            </p:cNvPr>
            <p:cNvCxnSpPr/>
            <p:nvPr/>
          </p:nvCxnSpPr>
          <p:spPr>
            <a:xfrm>
              <a:off x="2119313" y="3921125"/>
              <a:ext cx="2528887" cy="142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cxnSp>
          <p:nvCxnSpPr>
            <p:cNvPr id="10" name="直接连接符 9">
              <a:extLst>
                <a:ext uri="{FF2B5EF4-FFF2-40B4-BE49-F238E27FC236}">
                  <a16:creationId xmlns:a16="http://schemas.microsoft.com/office/drawing/2014/main" id="{CD8DDC5F-7617-AB00-DFD2-02D14521D10D}"/>
                </a:ext>
              </a:extLst>
            </p:cNvPr>
            <p:cNvCxnSpPr/>
            <p:nvPr/>
          </p:nvCxnSpPr>
          <p:spPr>
            <a:xfrm>
              <a:off x="4645025" y="4924425"/>
              <a:ext cx="2528888" cy="14288"/>
            </a:xfrm>
            <a:prstGeom prst="line">
              <a:avLst/>
            </a:prstGeom>
            <a:ln w="19050">
              <a:solidFill>
                <a:srgbClr val="FF0000"/>
              </a:solidFill>
            </a:ln>
          </p:spPr>
          <p:style>
            <a:lnRef idx="1">
              <a:schemeClr val="accent1"/>
            </a:lnRef>
            <a:fillRef idx="0">
              <a:schemeClr val="accent1"/>
            </a:fillRef>
            <a:effectRef idx="0">
              <a:schemeClr val="accent1"/>
            </a:effectRef>
            <a:fontRef idx="minor">
              <a:schemeClr val="tx1"/>
            </a:fontRef>
          </p:style>
        </p:cxnSp>
        <p:sp>
          <p:nvSpPr>
            <p:cNvPr id="11" name="任意多边形 43">
              <a:extLst>
                <a:ext uri="{FF2B5EF4-FFF2-40B4-BE49-F238E27FC236}">
                  <a16:creationId xmlns:a16="http://schemas.microsoft.com/office/drawing/2014/main" id="{E8673F1F-07F2-F0DD-6E0D-DF8BC23B3558}"/>
                </a:ext>
              </a:extLst>
            </p:cNvPr>
            <p:cNvSpPr/>
            <p:nvPr/>
          </p:nvSpPr>
          <p:spPr>
            <a:xfrm>
              <a:off x="3359150" y="1871663"/>
              <a:ext cx="3771900" cy="2927350"/>
            </a:xfrm>
            <a:custGeom>
              <a:avLst/>
              <a:gdLst>
                <a:gd name="connsiteX0" fmla="*/ 0 w 3111500"/>
                <a:gd name="connsiteY0" fmla="*/ 0 h 2527300"/>
                <a:gd name="connsiteX1" fmla="*/ 139700 w 3111500"/>
                <a:gd name="connsiteY1" fmla="*/ 349250 h 2527300"/>
                <a:gd name="connsiteX2" fmla="*/ 349250 w 3111500"/>
                <a:gd name="connsiteY2" fmla="*/ 781050 h 2527300"/>
                <a:gd name="connsiteX3" fmla="*/ 635000 w 3111500"/>
                <a:gd name="connsiteY3" fmla="*/ 1225550 h 2527300"/>
                <a:gd name="connsiteX4" fmla="*/ 914400 w 3111500"/>
                <a:gd name="connsiteY4" fmla="*/ 1574800 h 2527300"/>
                <a:gd name="connsiteX5" fmla="*/ 1149350 w 3111500"/>
                <a:gd name="connsiteY5" fmla="*/ 1790700 h 2527300"/>
                <a:gd name="connsiteX6" fmla="*/ 1517650 w 3111500"/>
                <a:gd name="connsiteY6" fmla="*/ 2063750 h 2527300"/>
                <a:gd name="connsiteX7" fmla="*/ 1822450 w 3111500"/>
                <a:gd name="connsiteY7" fmla="*/ 2203450 h 2527300"/>
                <a:gd name="connsiteX8" fmla="*/ 2197100 w 3111500"/>
                <a:gd name="connsiteY8" fmla="*/ 2349500 h 2527300"/>
                <a:gd name="connsiteX9" fmla="*/ 2660650 w 3111500"/>
                <a:gd name="connsiteY9" fmla="*/ 2451100 h 2527300"/>
                <a:gd name="connsiteX10" fmla="*/ 2990850 w 3111500"/>
                <a:gd name="connsiteY10" fmla="*/ 2501900 h 2527300"/>
                <a:gd name="connsiteX11" fmla="*/ 3111500 w 3111500"/>
                <a:gd name="connsiteY11" fmla="*/ 2527300 h 2527300"/>
                <a:gd name="connsiteX0" fmla="*/ 0 w 3111500"/>
                <a:gd name="connsiteY0" fmla="*/ 0 h 2527300"/>
                <a:gd name="connsiteX1" fmla="*/ 139700 w 3111500"/>
                <a:gd name="connsiteY1" fmla="*/ 349250 h 2527300"/>
                <a:gd name="connsiteX2" fmla="*/ 349250 w 3111500"/>
                <a:gd name="connsiteY2" fmla="*/ 781050 h 2527300"/>
                <a:gd name="connsiteX3" fmla="*/ 635000 w 3111500"/>
                <a:gd name="connsiteY3" fmla="*/ 1225550 h 2527300"/>
                <a:gd name="connsiteX4" fmla="*/ 914400 w 3111500"/>
                <a:gd name="connsiteY4" fmla="*/ 1574800 h 2527300"/>
                <a:gd name="connsiteX5" fmla="*/ 1149350 w 3111500"/>
                <a:gd name="connsiteY5" fmla="*/ 1790700 h 2527300"/>
                <a:gd name="connsiteX6" fmla="*/ 1517650 w 3111500"/>
                <a:gd name="connsiteY6" fmla="*/ 2063750 h 2527300"/>
                <a:gd name="connsiteX7" fmla="*/ 1822450 w 3111500"/>
                <a:gd name="connsiteY7" fmla="*/ 2203450 h 2527300"/>
                <a:gd name="connsiteX8" fmla="*/ 2211388 w 3111500"/>
                <a:gd name="connsiteY8" fmla="*/ 2344738 h 2527300"/>
                <a:gd name="connsiteX9" fmla="*/ 2660650 w 3111500"/>
                <a:gd name="connsiteY9" fmla="*/ 2451100 h 2527300"/>
                <a:gd name="connsiteX10" fmla="*/ 2990850 w 3111500"/>
                <a:gd name="connsiteY10" fmla="*/ 2501900 h 2527300"/>
                <a:gd name="connsiteX11" fmla="*/ 3111500 w 3111500"/>
                <a:gd name="connsiteY11" fmla="*/ 2527300 h 2527300"/>
                <a:gd name="connsiteX0" fmla="*/ 0 w 3135313"/>
                <a:gd name="connsiteY0" fmla="*/ 0 h 2517775"/>
                <a:gd name="connsiteX1" fmla="*/ 139700 w 3135313"/>
                <a:gd name="connsiteY1" fmla="*/ 349250 h 2517775"/>
                <a:gd name="connsiteX2" fmla="*/ 349250 w 3135313"/>
                <a:gd name="connsiteY2" fmla="*/ 781050 h 2517775"/>
                <a:gd name="connsiteX3" fmla="*/ 635000 w 3135313"/>
                <a:gd name="connsiteY3" fmla="*/ 1225550 h 2517775"/>
                <a:gd name="connsiteX4" fmla="*/ 914400 w 3135313"/>
                <a:gd name="connsiteY4" fmla="*/ 1574800 h 2517775"/>
                <a:gd name="connsiteX5" fmla="*/ 1149350 w 3135313"/>
                <a:gd name="connsiteY5" fmla="*/ 1790700 h 2517775"/>
                <a:gd name="connsiteX6" fmla="*/ 1517650 w 3135313"/>
                <a:gd name="connsiteY6" fmla="*/ 2063750 h 2517775"/>
                <a:gd name="connsiteX7" fmla="*/ 1822450 w 3135313"/>
                <a:gd name="connsiteY7" fmla="*/ 2203450 h 2517775"/>
                <a:gd name="connsiteX8" fmla="*/ 2211388 w 3135313"/>
                <a:gd name="connsiteY8" fmla="*/ 2344738 h 2517775"/>
                <a:gd name="connsiteX9" fmla="*/ 2660650 w 3135313"/>
                <a:gd name="connsiteY9" fmla="*/ 2451100 h 2517775"/>
                <a:gd name="connsiteX10" fmla="*/ 2990850 w 3135313"/>
                <a:gd name="connsiteY10" fmla="*/ 2501900 h 2517775"/>
                <a:gd name="connsiteX11" fmla="*/ 3135313 w 3135313"/>
                <a:gd name="connsiteY11" fmla="*/ 2517775 h 2517775"/>
                <a:gd name="connsiteX0" fmla="*/ 0 w 3249613"/>
                <a:gd name="connsiteY0" fmla="*/ 0 h 2522537"/>
                <a:gd name="connsiteX1" fmla="*/ 139700 w 3249613"/>
                <a:gd name="connsiteY1" fmla="*/ 349250 h 2522537"/>
                <a:gd name="connsiteX2" fmla="*/ 349250 w 3249613"/>
                <a:gd name="connsiteY2" fmla="*/ 781050 h 2522537"/>
                <a:gd name="connsiteX3" fmla="*/ 635000 w 3249613"/>
                <a:gd name="connsiteY3" fmla="*/ 1225550 h 2522537"/>
                <a:gd name="connsiteX4" fmla="*/ 914400 w 3249613"/>
                <a:gd name="connsiteY4" fmla="*/ 1574800 h 2522537"/>
                <a:gd name="connsiteX5" fmla="*/ 1149350 w 3249613"/>
                <a:gd name="connsiteY5" fmla="*/ 1790700 h 2522537"/>
                <a:gd name="connsiteX6" fmla="*/ 1517650 w 3249613"/>
                <a:gd name="connsiteY6" fmla="*/ 2063750 h 2522537"/>
                <a:gd name="connsiteX7" fmla="*/ 1822450 w 3249613"/>
                <a:gd name="connsiteY7" fmla="*/ 2203450 h 2522537"/>
                <a:gd name="connsiteX8" fmla="*/ 2211388 w 3249613"/>
                <a:gd name="connsiteY8" fmla="*/ 2344738 h 2522537"/>
                <a:gd name="connsiteX9" fmla="*/ 2660650 w 3249613"/>
                <a:gd name="connsiteY9" fmla="*/ 2451100 h 2522537"/>
                <a:gd name="connsiteX10" fmla="*/ 2990850 w 3249613"/>
                <a:gd name="connsiteY10" fmla="*/ 2501900 h 2522537"/>
                <a:gd name="connsiteX11" fmla="*/ 3249613 w 3249613"/>
                <a:gd name="connsiteY11" fmla="*/ 2522537 h 2522537"/>
                <a:gd name="connsiteX0" fmla="*/ 0 w 3249613"/>
                <a:gd name="connsiteY0" fmla="*/ 0 h 2524602"/>
                <a:gd name="connsiteX1" fmla="*/ 139700 w 3249613"/>
                <a:gd name="connsiteY1" fmla="*/ 349250 h 2524602"/>
                <a:gd name="connsiteX2" fmla="*/ 349250 w 3249613"/>
                <a:gd name="connsiteY2" fmla="*/ 781050 h 2524602"/>
                <a:gd name="connsiteX3" fmla="*/ 635000 w 3249613"/>
                <a:gd name="connsiteY3" fmla="*/ 1225550 h 2524602"/>
                <a:gd name="connsiteX4" fmla="*/ 914400 w 3249613"/>
                <a:gd name="connsiteY4" fmla="*/ 1574800 h 2524602"/>
                <a:gd name="connsiteX5" fmla="*/ 1149350 w 3249613"/>
                <a:gd name="connsiteY5" fmla="*/ 1790700 h 2524602"/>
                <a:gd name="connsiteX6" fmla="*/ 1517650 w 3249613"/>
                <a:gd name="connsiteY6" fmla="*/ 2063750 h 2524602"/>
                <a:gd name="connsiteX7" fmla="*/ 1822450 w 3249613"/>
                <a:gd name="connsiteY7" fmla="*/ 2203450 h 2524602"/>
                <a:gd name="connsiteX8" fmla="*/ 2211388 w 3249613"/>
                <a:gd name="connsiteY8" fmla="*/ 2344738 h 2524602"/>
                <a:gd name="connsiteX9" fmla="*/ 2660650 w 3249613"/>
                <a:gd name="connsiteY9" fmla="*/ 2451100 h 2524602"/>
                <a:gd name="connsiteX10" fmla="*/ 2990850 w 3249613"/>
                <a:gd name="connsiteY10" fmla="*/ 2501900 h 2524602"/>
                <a:gd name="connsiteX11" fmla="*/ 3249613 w 3249613"/>
                <a:gd name="connsiteY11" fmla="*/ 2522537 h 2524602"/>
                <a:gd name="connsiteX0" fmla="*/ 0 w 3249613"/>
                <a:gd name="connsiteY0" fmla="*/ 0 h 2522537"/>
                <a:gd name="connsiteX1" fmla="*/ 139700 w 3249613"/>
                <a:gd name="connsiteY1" fmla="*/ 349250 h 2522537"/>
                <a:gd name="connsiteX2" fmla="*/ 349250 w 3249613"/>
                <a:gd name="connsiteY2" fmla="*/ 781050 h 2522537"/>
                <a:gd name="connsiteX3" fmla="*/ 635000 w 3249613"/>
                <a:gd name="connsiteY3" fmla="*/ 1225550 h 2522537"/>
                <a:gd name="connsiteX4" fmla="*/ 914400 w 3249613"/>
                <a:gd name="connsiteY4" fmla="*/ 1574800 h 2522537"/>
                <a:gd name="connsiteX5" fmla="*/ 1149350 w 3249613"/>
                <a:gd name="connsiteY5" fmla="*/ 1790700 h 2522537"/>
                <a:gd name="connsiteX6" fmla="*/ 1517650 w 3249613"/>
                <a:gd name="connsiteY6" fmla="*/ 2063750 h 2522537"/>
                <a:gd name="connsiteX7" fmla="*/ 1822450 w 3249613"/>
                <a:gd name="connsiteY7" fmla="*/ 2203450 h 2522537"/>
                <a:gd name="connsiteX8" fmla="*/ 2211388 w 3249613"/>
                <a:gd name="connsiteY8" fmla="*/ 2344738 h 2522537"/>
                <a:gd name="connsiteX9" fmla="*/ 2660650 w 3249613"/>
                <a:gd name="connsiteY9" fmla="*/ 2451100 h 2522537"/>
                <a:gd name="connsiteX10" fmla="*/ 2990850 w 3249613"/>
                <a:gd name="connsiteY10" fmla="*/ 2501900 h 2522537"/>
                <a:gd name="connsiteX11" fmla="*/ 3249613 w 3249613"/>
                <a:gd name="connsiteY11" fmla="*/ 2522537 h 25225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249613" h="2522537">
                  <a:moveTo>
                    <a:pt x="0" y="0"/>
                  </a:moveTo>
                  <a:cubicBezTo>
                    <a:pt x="40746" y="109537"/>
                    <a:pt x="81492" y="219075"/>
                    <a:pt x="139700" y="349250"/>
                  </a:cubicBezTo>
                  <a:cubicBezTo>
                    <a:pt x="197908" y="479425"/>
                    <a:pt x="266700" y="635000"/>
                    <a:pt x="349250" y="781050"/>
                  </a:cubicBezTo>
                  <a:cubicBezTo>
                    <a:pt x="431800" y="927100"/>
                    <a:pt x="540808" y="1093258"/>
                    <a:pt x="635000" y="1225550"/>
                  </a:cubicBezTo>
                  <a:cubicBezTo>
                    <a:pt x="729192" y="1357842"/>
                    <a:pt x="828675" y="1480608"/>
                    <a:pt x="914400" y="1574800"/>
                  </a:cubicBezTo>
                  <a:cubicBezTo>
                    <a:pt x="1000125" y="1668992"/>
                    <a:pt x="1048808" y="1709208"/>
                    <a:pt x="1149350" y="1790700"/>
                  </a:cubicBezTo>
                  <a:cubicBezTo>
                    <a:pt x="1249892" y="1872192"/>
                    <a:pt x="1405467" y="1994958"/>
                    <a:pt x="1517650" y="2063750"/>
                  </a:cubicBezTo>
                  <a:cubicBezTo>
                    <a:pt x="1629833" y="2132542"/>
                    <a:pt x="1706827" y="2156619"/>
                    <a:pt x="1822450" y="2203450"/>
                  </a:cubicBezTo>
                  <a:cubicBezTo>
                    <a:pt x="1938073" y="2250281"/>
                    <a:pt x="2071688" y="2303463"/>
                    <a:pt x="2211388" y="2344738"/>
                  </a:cubicBezTo>
                  <a:cubicBezTo>
                    <a:pt x="2351088" y="2386013"/>
                    <a:pt x="2530740" y="2424906"/>
                    <a:pt x="2660650" y="2451100"/>
                  </a:cubicBezTo>
                  <a:cubicBezTo>
                    <a:pt x="2790560" y="2477294"/>
                    <a:pt x="2892689" y="2489994"/>
                    <a:pt x="2990850" y="2501900"/>
                  </a:cubicBezTo>
                  <a:cubicBezTo>
                    <a:pt x="3089011" y="2513806"/>
                    <a:pt x="3130551" y="2520949"/>
                    <a:pt x="3249613" y="2522537"/>
                  </a:cubicBezTo>
                </a:path>
              </a:pathLst>
            </a:custGeom>
            <a:noFill/>
            <a:ln w="19050">
              <a:solidFill>
                <a:schemeClr val="tx1"/>
              </a:solidFill>
              <a:prstDash val="dash"/>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cxnSp>
          <p:nvCxnSpPr>
            <p:cNvPr id="12" name="直接连接符 11">
              <a:extLst>
                <a:ext uri="{FF2B5EF4-FFF2-40B4-BE49-F238E27FC236}">
                  <a16:creationId xmlns:a16="http://schemas.microsoft.com/office/drawing/2014/main" id="{38D6EB52-2F35-8782-3E82-8B7BF95FB5E3}"/>
                </a:ext>
              </a:extLst>
            </p:cNvPr>
            <p:cNvCxnSpPr/>
            <p:nvPr/>
          </p:nvCxnSpPr>
          <p:spPr>
            <a:xfrm>
              <a:off x="2327275" y="1868488"/>
              <a:ext cx="3463925" cy="3063875"/>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9" name="直接连接符 18">
              <a:extLst>
                <a:ext uri="{FF2B5EF4-FFF2-40B4-BE49-F238E27FC236}">
                  <a16:creationId xmlns:a16="http://schemas.microsoft.com/office/drawing/2014/main" id="{2480F154-ED0A-4207-9AD5-589803EE3B0C}"/>
                </a:ext>
              </a:extLst>
            </p:cNvPr>
            <p:cNvCxnSpPr/>
            <p:nvPr/>
          </p:nvCxnSpPr>
          <p:spPr>
            <a:xfrm>
              <a:off x="5783263" y="4918075"/>
              <a:ext cx="1346200" cy="4763"/>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21" name="文本框 46">
              <a:extLst>
                <a:ext uri="{FF2B5EF4-FFF2-40B4-BE49-F238E27FC236}">
                  <a16:creationId xmlns:a16="http://schemas.microsoft.com/office/drawing/2014/main" id="{CC420AAC-B7C1-762D-C288-E2D6B0655AF2}"/>
                </a:ext>
              </a:extLst>
            </p:cNvPr>
            <p:cNvSpPr txBox="1">
              <a:spLocks noChangeArrowheads="1"/>
            </p:cNvSpPr>
            <p:nvPr/>
          </p:nvSpPr>
          <p:spPr bwMode="auto">
            <a:xfrm>
              <a:off x="5632450" y="4930775"/>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2" name="文本框 47">
              <a:extLst>
                <a:ext uri="{FF2B5EF4-FFF2-40B4-BE49-F238E27FC236}">
                  <a16:creationId xmlns:a16="http://schemas.microsoft.com/office/drawing/2014/main" id="{A7DCC583-FB47-4319-8FCA-4BB30B79B3C3}"/>
                </a:ext>
              </a:extLst>
            </p:cNvPr>
            <p:cNvSpPr txBox="1">
              <a:spLocks noChangeArrowheads="1"/>
            </p:cNvSpPr>
            <p:nvPr/>
          </p:nvSpPr>
          <p:spPr bwMode="auto">
            <a:xfrm>
              <a:off x="6696075" y="4916488"/>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sp>
          <p:nvSpPr>
            <p:cNvPr id="23" name="文本框 48">
              <a:extLst>
                <a:ext uri="{FF2B5EF4-FFF2-40B4-BE49-F238E27FC236}">
                  <a16:creationId xmlns:a16="http://schemas.microsoft.com/office/drawing/2014/main" id="{BED8E5ED-784F-711A-B494-01B5D4C92E7F}"/>
                </a:ext>
              </a:extLst>
            </p:cNvPr>
            <p:cNvSpPr txBox="1">
              <a:spLocks noChangeArrowheads="1"/>
            </p:cNvSpPr>
            <p:nvPr/>
          </p:nvSpPr>
          <p:spPr bwMode="auto">
            <a:xfrm>
              <a:off x="3279775" y="4905375"/>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4" name="文本框 49">
              <a:extLst>
                <a:ext uri="{FF2B5EF4-FFF2-40B4-BE49-F238E27FC236}">
                  <a16:creationId xmlns:a16="http://schemas.microsoft.com/office/drawing/2014/main" id="{1E829B29-4F08-8947-E8E3-0B6BEE99FB8F}"/>
                </a:ext>
              </a:extLst>
            </p:cNvPr>
            <p:cNvSpPr txBox="1">
              <a:spLocks noChangeArrowheads="1"/>
            </p:cNvSpPr>
            <p:nvPr/>
          </p:nvSpPr>
          <p:spPr bwMode="auto">
            <a:xfrm>
              <a:off x="2143125" y="4945063"/>
              <a:ext cx="149080"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cxnSp>
          <p:nvCxnSpPr>
            <p:cNvPr id="25" name="直接连接符 24">
              <a:extLst>
                <a:ext uri="{FF2B5EF4-FFF2-40B4-BE49-F238E27FC236}">
                  <a16:creationId xmlns:a16="http://schemas.microsoft.com/office/drawing/2014/main" id="{C0E3061F-A5D4-280D-22E8-4F0C560966C1}"/>
                </a:ext>
              </a:extLst>
            </p:cNvPr>
            <p:cNvCxnSpPr/>
            <p:nvPr/>
          </p:nvCxnSpPr>
          <p:spPr>
            <a:xfrm>
              <a:off x="2344738" y="4856163"/>
              <a:ext cx="0" cy="68262"/>
            </a:xfrm>
            <a:prstGeom prst="line">
              <a:avLst/>
            </a:prstGeom>
            <a:ln w="12700"/>
          </p:spPr>
          <p:style>
            <a:lnRef idx="1">
              <a:schemeClr val="dk1"/>
            </a:lnRef>
            <a:fillRef idx="0">
              <a:schemeClr val="dk1"/>
            </a:fillRef>
            <a:effectRef idx="0">
              <a:schemeClr val="dk1"/>
            </a:effectRef>
            <a:fontRef idx="minor">
              <a:schemeClr val="tx1"/>
            </a:fontRef>
          </p:style>
        </p:cxnSp>
        <p:cxnSp>
          <p:nvCxnSpPr>
            <p:cNvPr id="26" name="直接连接符 25">
              <a:extLst>
                <a:ext uri="{FF2B5EF4-FFF2-40B4-BE49-F238E27FC236}">
                  <a16:creationId xmlns:a16="http://schemas.microsoft.com/office/drawing/2014/main" id="{D7EF2C99-0FE6-64FA-4874-7CA8AD2D123C}"/>
                </a:ext>
              </a:extLst>
            </p:cNvPr>
            <p:cNvCxnSpPr/>
            <p:nvPr/>
          </p:nvCxnSpPr>
          <p:spPr>
            <a:xfrm>
              <a:off x="3495675" y="4864100"/>
              <a:ext cx="0" cy="69850"/>
            </a:xfrm>
            <a:prstGeom prst="line">
              <a:avLst/>
            </a:prstGeom>
            <a:ln w="12700"/>
          </p:spPr>
          <p:style>
            <a:lnRef idx="1">
              <a:schemeClr val="dk1"/>
            </a:lnRef>
            <a:fillRef idx="0">
              <a:schemeClr val="dk1"/>
            </a:fillRef>
            <a:effectRef idx="0">
              <a:schemeClr val="dk1"/>
            </a:effectRef>
            <a:fontRef idx="minor">
              <a:schemeClr val="tx1"/>
            </a:fontRef>
          </p:style>
        </p:cxnSp>
        <p:cxnSp>
          <p:nvCxnSpPr>
            <p:cNvPr id="27" name="直接连接符 26">
              <a:extLst>
                <a:ext uri="{FF2B5EF4-FFF2-40B4-BE49-F238E27FC236}">
                  <a16:creationId xmlns:a16="http://schemas.microsoft.com/office/drawing/2014/main" id="{E66F3F5A-4EEC-FD23-F199-933C232C983E}"/>
                </a:ext>
              </a:extLst>
            </p:cNvPr>
            <p:cNvCxnSpPr/>
            <p:nvPr/>
          </p:nvCxnSpPr>
          <p:spPr>
            <a:xfrm>
              <a:off x="6848475" y="4864100"/>
              <a:ext cx="0" cy="69850"/>
            </a:xfrm>
            <a:prstGeom prst="line">
              <a:avLst/>
            </a:prstGeom>
            <a:ln w="12700"/>
          </p:spPr>
          <p:style>
            <a:lnRef idx="1">
              <a:schemeClr val="dk1"/>
            </a:lnRef>
            <a:fillRef idx="0">
              <a:schemeClr val="dk1"/>
            </a:fillRef>
            <a:effectRef idx="0">
              <a:schemeClr val="dk1"/>
            </a:effectRef>
            <a:fontRef idx="minor">
              <a:schemeClr val="tx1"/>
            </a:fontRef>
          </p:style>
        </p:cxnSp>
        <p:sp>
          <p:nvSpPr>
            <p:cNvPr id="28" name="文本框 53">
              <a:extLst>
                <a:ext uri="{FF2B5EF4-FFF2-40B4-BE49-F238E27FC236}">
                  <a16:creationId xmlns:a16="http://schemas.microsoft.com/office/drawing/2014/main" id="{ED0CBFCD-BD8B-D862-305C-70656FE7A3FF}"/>
                </a:ext>
              </a:extLst>
            </p:cNvPr>
            <p:cNvSpPr txBox="1">
              <a:spLocks noChangeArrowheads="1"/>
            </p:cNvSpPr>
            <p:nvPr/>
          </p:nvSpPr>
          <p:spPr bwMode="auto">
            <a:xfrm>
              <a:off x="4368800" y="3917950"/>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1</a:t>
              </a:r>
              <a:endParaRPr lang="en-US" altLang="en-US" sz="1600">
                <a:latin typeface="Arial"/>
                <a:ea typeface="Arial" panose="02010509060101010101" pitchFamily="49" charset="-122"/>
                <a:cs typeface="Arial"/>
              </a:endParaRPr>
            </a:p>
          </p:txBody>
        </p:sp>
        <p:sp>
          <p:nvSpPr>
            <p:cNvPr id="29" name="文本框 54">
              <a:extLst>
                <a:ext uri="{FF2B5EF4-FFF2-40B4-BE49-F238E27FC236}">
                  <a16:creationId xmlns:a16="http://schemas.microsoft.com/office/drawing/2014/main" id="{7F285162-7C31-A671-B0DB-1B6B8AB10269}"/>
                </a:ext>
              </a:extLst>
            </p:cNvPr>
            <p:cNvSpPr txBox="1">
              <a:spLocks noChangeArrowheads="1"/>
            </p:cNvSpPr>
            <p:nvPr/>
          </p:nvSpPr>
          <p:spPr bwMode="auto">
            <a:xfrm>
              <a:off x="4368800" y="2814638"/>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2</a:t>
              </a:r>
              <a:endParaRPr lang="en-US" altLang="en-US" sz="1600">
                <a:latin typeface="Arial"/>
                <a:ea typeface="Arial" panose="02010509060101010101" pitchFamily="49" charset="-122"/>
                <a:cs typeface="Arial"/>
              </a:endParaRPr>
            </a:p>
          </p:txBody>
        </p:sp>
        <p:cxnSp>
          <p:nvCxnSpPr>
            <p:cNvPr id="30" name="直接连接符 29">
              <a:extLst>
                <a:ext uri="{FF2B5EF4-FFF2-40B4-BE49-F238E27FC236}">
                  <a16:creationId xmlns:a16="http://schemas.microsoft.com/office/drawing/2014/main" id="{9A1A3A9D-57A2-DA57-4F13-2771CB859318}"/>
                </a:ext>
              </a:extLst>
            </p:cNvPr>
            <p:cNvCxnSpPr/>
            <p:nvPr/>
          </p:nvCxnSpPr>
          <p:spPr>
            <a:xfrm rot="16200000">
              <a:off x="4691857" y="2966243"/>
              <a:ext cx="0" cy="68263"/>
            </a:xfrm>
            <a:prstGeom prst="line">
              <a:avLst/>
            </a:prstGeom>
            <a:ln w="12700"/>
          </p:spPr>
          <p:style>
            <a:lnRef idx="1">
              <a:schemeClr val="dk1"/>
            </a:lnRef>
            <a:fillRef idx="0">
              <a:schemeClr val="dk1"/>
            </a:fillRef>
            <a:effectRef idx="0">
              <a:schemeClr val="dk1"/>
            </a:effectRef>
            <a:fontRef idx="minor">
              <a:schemeClr val="tx1"/>
            </a:fontRef>
          </p:style>
        </p:cxnSp>
        <p:sp>
          <p:nvSpPr>
            <p:cNvPr id="31" name="文本框 56">
              <a:extLst>
                <a:ext uri="{FF2B5EF4-FFF2-40B4-BE49-F238E27FC236}">
                  <a16:creationId xmlns:a16="http://schemas.microsoft.com/office/drawing/2014/main" id="{E049988F-FE3D-E8A3-5173-BD65347A409B}"/>
                </a:ext>
              </a:extLst>
            </p:cNvPr>
            <p:cNvSpPr txBox="1">
              <a:spLocks noChangeArrowheads="1"/>
            </p:cNvSpPr>
            <p:nvPr/>
          </p:nvSpPr>
          <p:spPr bwMode="auto">
            <a:xfrm>
              <a:off x="4379913" y="1871663"/>
              <a:ext cx="89768" cy="2154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lang="en-US" altLang="zh-CN" sz="1600">
                  <a:latin typeface="Arial"/>
                  <a:ea typeface="Arial" panose="02010509060101010101" pitchFamily="49" charset="-122"/>
                  <a:cs typeface="Arial"/>
                </a:rPr>
                <a:t>3</a:t>
              </a:r>
              <a:endParaRPr lang="en-US" altLang="en-US" sz="1600">
                <a:latin typeface="Arial"/>
                <a:ea typeface="Arial" panose="02010509060101010101" pitchFamily="49" charset="-122"/>
                <a:cs typeface="Arial"/>
              </a:endParaRPr>
            </a:p>
          </p:txBody>
        </p:sp>
        <p:cxnSp>
          <p:nvCxnSpPr>
            <p:cNvPr id="32" name="直接连接符 31">
              <a:extLst>
                <a:ext uri="{FF2B5EF4-FFF2-40B4-BE49-F238E27FC236}">
                  <a16:creationId xmlns:a16="http://schemas.microsoft.com/office/drawing/2014/main" id="{413DD98F-C3EC-1E8F-5486-6C8AA4F92919}"/>
                </a:ext>
              </a:extLst>
            </p:cNvPr>
            <p:cNvCxnSpPr/>
            <p:nvPr/>
          </p:nvCxnSpPr>
          <p:spPr>
            <a:xfrm rot="16200000">
              <a:off x="4702969" y="2023269"/>
              <a:ext cx="0" cy="68262"/>
            </a:xfrm>
            <a:prstGeom prst="line">
              <a:avLst/>
            </a:prstGeom>
            <a:ln w="12700"/>
          </p:spPr>
          <p:style>
            <a:lnRef idx="1">
              <a:schemeClr val="dk1"/>
            </a:lnRef>
            <a:fillRef idx="0">
              <a:schemeClr val="dk1"/>
            </a:fillRef>
            <a:effectRef idx="0">
              <a:schemeClr val="dk1"/>
            </a:effectRef>
            <a:fontRef idx="minor">
              <a:schemeClr val="tx1"/>
            </a:fontRef>
          </p:style>
        </p:cxnSp>
        <p:graphicFrame>
          <p:nvGraphicFramePr>
            <p:cNvPr id="33" name="Object 910">
              <a:extLst>
                <a:ext uri="{FF2B5EF4-FFF2-40B4-BE49-F238E27FC236}">
                  <a16:creationId xmlns:a16="http://schemas.microsoft.com/office/drawing/2014/main" id="{63AF8469-DE8D-0650-CE5F-006D421CA9A4}"/>
                </a:ext>
              </a:extLst>
            </p:cNvPr>
            <p:cNvGraphicFramePr>
              <a:graphicFrameLocks noChangeAspect="1"/>
            </p:cNvGraphicFramePr>
            <p:nvPr>
              <p:extLst>
                <p:ext uri="{D42A27DB-BD31-4B8C-83A1-F6EECF244321}">
                  <p14:modId xmlns:p14="http://schemas.microsoft.com/office/powerpoint/2010/main" val="3134265184"/>
                </p:ext>
              </p:extLst>
            </p:nvPr>
          </p:nvGraphicFramePr>
          <p:xfrm>
            <a:off x="4895850" y="2228850"/>
            <a:ext cx="1905000" cy="292100"/>
          </p:xfrm>
          <a:graphic>
            <a:graphicData uri="http://schemas.openxmlformats.org/presentationml/2006/ole">
              <p:oleObj name="Formula" r:id="rId12" imgW="1156970" imgH="177800" progId="">
                <p:embed/>
              </p:oleObj>
            </a:graphicData>
          </a:graphic>
        </p:graphicFrame>
        <p:graphicFrame>
          <p:nvGraphicFramePr>
            <p:cNvPr id="34" name="Object 911">
              <a:extLst>
                <a:ext uri="{FF2B5EF4-FFF2-40B4-BE49-F238E27FC236}">
                  <a16:creationId xmlns:a16="http://schemas.microsoft.com/office/drawing/2014/main" id="{94A41ADE-E799-D6FB-B374-DD9B12F5B646}"/>
                </a:ext>
              </a:extLst>
            </p:cNvPr>
            <p:cNvGraphicFramePr>
              <a:graphicFrameLocks noChangeAspect="1"/>
            </p:cNvGraphicFramePr>
            <p:nvPr>
              <p:extLst>
                <p:ext uri="{D42A27DB-BD31-4B8C-83A1-F6EECF244321}">
                  <p14:modId xmlns:p14="http://schemas.microsoft.com/office/powerpoint/2010/main" val="2207233438"/>
                </p:ext>
              </p:extLst>
            </p:nvPr>
          </p:nvGraphicFramePr>
          <p:xfrm>
            <a:off x="1233488" y="3186113"/>
            <a:ext cx="2593975" cy="292100"/>
          </p:xfrm>
          <a:graphic>
            <a:graphicData uri="http://schemas.openxmlformats.org/presentationml/2006/ole">
              <p:oleObj name="Formula" r:id="rId14" imgW="1574800" imgH="177800" progId="">
                <p:embed/>
              </p:oleObj>
            </a:graphicData>
          </a:graphic>
        </p:graphicFrame>
        <p:sp>
          <p:nvSpPr>
            <p:cNvPr id="35" name="任意多边形 60">
              <a:extLst>
                <a:ext uri="{FF2B5EF4-FFF2-40B4-BE49-F238E27FC236}">
                  <a16:creationId xmlns:a16="http://schemas.microsoft.com/office/drawing/2014/main" id="{F327438F-38F2-6724-171F-B54AF4E57BAD}"/>
                </a:ext>
              </a:extLst>
            </p:cNvPr>
            <p:cNvSpPr/>
            <p:nvPr/>
          </p:nvSpPr>
          <p:spPr>
            <a:xfrm>
              <a:off x="2836863" y="2892425"/>
              <a:ext cx="523875" cy="198438"/>
            </a:xfrm>
            <a:custGeom>
              <a:avLst/>
              <a:gdLst>
                <a:gd name="connsiteX0" fmla="*/ 0 w 451555"/>
                <a:gd name="connsiteY0" fmla="*/ 169333 h 171034"/>
                <a:gd name="connsiteX1" fmla="*/ 248355 w 451555"/>
                <a:gd name="connsiteY1" fmla="*/ 146755 h 171034"/>
                <a:gd name="connsiteX2" fmla="*/ 451555 w 451555"/>
                <a:gd name="connsiteY2" fmla="*/ 0 h 171034"/>
              </a:gdLst>
              <a:ahLst/>
              <a:cxnLst>
                <a:cxn ang="0">
                  <a:pos x="connsiteX0" y="connsiteY0"/>
                </a:cxn>
                <a:cxn ang="0">
                  <a:pos x="connsiteX1" y="connsiteY1"/>
                </a:cxn>
                <a:cxn ang="0">
                  <a:pos x="connsiteX2" y="connsiteY2"/>
                </a:cxn>
              </a:cxnLst>
              <a:rect l="l" t="t" r="r" b="b"/>
              <a:pathLst>
                <a:path w="451555" h="171034">
                  <a:moveTo>
                    <a:pt x="0" y="169333"/>
                  </a:moveTo>
                  <a:cubicBezTo>
                    <a:pt x="86548" y="172155"/>
                    <a:pt x="173096" y="174977"/>
                    <a:pt x="248355" y="146755"/>
                  </a:cubicBezTo>
                  <a:cubicBezTo>
                    <a:pt x="323614" y="118533"/>
                    <a:pt x="387584" y="59266"/>
                    <a:pt x="451555"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36" name="任意多边形 61">
              <a:extLst>
                <a:ext uri="{FF2B5EF4-FFF2-40B4-BE49-F238E27FC236}">
                  <a16:creationId xmlns:a16="http://schemas.microsoft.com/office/drawing/2014/main" id="{502DE795-A81C-8F5D-944E-F8D2D6982609}"/>
                </a:ext>
              </a:extLst>
            </p:cNvPr>
            <p:cNvSpPr/>
            <p:nvPr/>
          </p:nvSpPr>
          <p:spPr>
            <a:xfrm rot="10214568">
              <a:off x="3814763" y="2592388"/>
              <a:ext cx="1484312" cy="152400"/>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51555"/>
                <a:gd name="connsiteY0" fmla="*/ 169333 h 169388"/>
                <a:gd name="connsiteX1" fmla="*/ 144516 w 451555"/>
                <a:gd name="connsiteY1" fmla="*/ 38694 h 169388"/>
                <a:gd name="connsiteX2" fmla="*/ 451555 w 451555"/>
                <a:gd name="connsiteY2" fmla="*/ 0 h 169388"/>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93772 w 432019"/>
                <a:gd name="connsiteY1" fmla="*/ 220181 h 430421"/>
                <a:gd name="connsiteX2" fmla="*/ 432019 w 432019"/>
                <a:gd name="connsiteY2" fmla="*/ 0 h 430421"/>
                <a:gd name="connsiteX0" fmla="*/ 0 w 942346"/>
                <a:gd name="connsiteY0" fmla="*/ 217546 h 281484"/>
                <a:gd name="connsiteX1" fmla="*/ 93772 w 942346"/>
                <a:gd name="connsiteY1" fmla="*/ 7306 h 281484"/>
                <a:gd name="connsiteX2" fmla="*/ 942346 w 942346"/>
                <a:gd name="connsiteY2" fmla="*/ 241776 h 281484"/>
                <a:gd name="connsiteX0" fmla="*/ 0 w 942346"/>
                <a:gd name="connsiteY0" fmla="*/ 223742 h 247972"/>
                <a:gd name="connsiteX1" fmla="*/ 93772 w 942346"/>
                <a:gd name="connsiteY1" fmla="*/ 13502 h 247972"/>
                <a:gd name="connsiteX2" fmla="*/ 942346 w 942346"/>
                <a:gd name="connsiteY2" fmla="*/ 247972 h 247972"/>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18993 h 143223"/>
                <a:gd name="connsiteX1" fmla="*/ 114955 w 942346"/>
                <a:gd name="connsiteY1" fmla="*/ 6618 h 143223"/>
                <a:gd name="connsiteX2" fmla="*/ 942346 w 942346"/>
                <a:gd name="connsiteY2" fmla="*/ 143223 h 143223"/>
                <a:gd name="connsiteX0" fmla="*/ 0 w 785321"/>
                <a:gd name="connsiteY0" fmla="*/ 120093 h 125970"/>
                <a:gd name="connsiteX1" fmla="*/ 114955 w 785321"/>
                <a:gd name="connsiteY1" fmla="*/ 7718 h 125970"/>
                <a:gd name="connsiteX2" fmla="*/ 785321 w 785321"/>
                <a:gd name="connsiteY2" fmla="*/ 125970 h 125970"/>
                <a:gd name="connsiteX0" fmla="*/ 0 w 785321"/>
                <a:gd name="connsiteY0" fmla="*/ 57447 h 63324"/>
                <a:gd name="connsiteX1" fmla="*/ 265039 w 785321"/>
                <a:gd name="connsiteY1" fmla="*/ 19751 h 63324"/>
                <a:gd name="connsiteX2" fmla="*/ 785321 w 785321"/>
                <a:gd name="connsiteY2" fmla="*/ 63324 h 63324"/>
                <a:gd name="connsiteX0" fmla="*/ 0 w 785321"/>
                <a:gd name="connsiteY0" fmla="*/ 60251 h 66128"/>
                <a:gd name="connsiteX1" fmla="*/ 265039 w 785321"/>
                <a:gd name="connsiteY1" fmla="*/ 22555 h 66128"/>
                <a:gd name="connsiteX2" fmla="*/ 785321 w 785321"/>
                <a:gd name="connsiteY2" fmla="*/ 66128 h 66128"/>
                <a:gd name="connsiteX0" fmla="*/ 0 w 785321"/>
                <a:gd name="connsiteY0" fmla="*/ 100604 h 106481"/>
                <a:gd name="connsiteX1" fmla="*/ 243916 w 785321"/>
                <a:gd name="connsiteY1" fmla="*/ 9515 h 106481"/>
                <a:gd name="connsiteX2" fmla="*/ 785321 w 785321"/>
                <a:gd name="connsiteY2" fmla="*/ 106481 h 106481"/>
                <a:gd name="connsiteX0" fmla="*/ 0 w 785321"/>
                <a:gd name="connsiteY0" fmla="*/ 100604 h 106481"/>
                <a:gd name="connsiteX1" fmla="*/ 243916 w 785321"/>
                <a:gd name="connsiteY1" fmla="*/ 9515 h 106481"/>
                <a:gd name="connsiteX2" fmla="*/ 785321 w 785321"/>
                <a:gd name="connsiteY2" fmla="*/ 106481 h 106481"/>
                <a:gd name="connsiteX0" fmla="*/ 0 w 958415"/>
                <a:gd name="connsiteY0" fmla="*/ 18240 h 249287"/>
                <a:gd name="connsiteX1" fmla="*/ 417010 w 958415"/>
                <a:gd name="connsiteY1" fmla="*/ 152321 h 249287"/>
                <a:gd name="connsiteX2" fmla="*/ 958415 w 958415"/>
                <a:gd name="connsiteY2" fmla="*/ 249287 h 249287"/>
                <a:gd name="connsiteX0" fmla="*/ 0 w 958415"/>
                <a:gd name="connsiteY0" fmla="*/ 32707 h 263754"/>
                <a:gd name="connsiteX1" fmla="*/ 317695 w 958415"/>
                <a:gd name="connsiteY1" fmla="*/ 17313 h 263754"/>
                <a:gd name="connsiteX2" fmla="*/ 958415 w 958415"/>
                <a:gd name="connsiteY2" fmla="*/ 263754 h 263754"/>
                <a:gd name="connsiteX0" fmla="*/ 0 w 958415"/>
                <a:gd name="connsiteY0" fmla="*/ 49169 h 280216"/>
                <a:gd name="connsiteX1" fmla="*/ 317695 w 958415"/>
                <a:gd name="connsiteY1" fmla="*/ 33775 h 280216"/>
                <a:gd name="connsiteX2" fmla="*/ 958415 w 958415"/>
                <a:gd name="connsiteY2" fmla="*/ 280216 h 280216"/>
                <a:gd name="connsiteX0" fmla="*/ 0 w 958415"/>
                <a:gd name="connsiteY0" fmla="*/ 49169 h 280216"/>
                <a:gd name="connsiteX1" fmla="*/ 317695 w 958415"/>
                <a:gd name="connsiteY1" fmla="*/ 33775 h 280216"/>
                <a:gd name="connsiteX2" fmla="*/ 958415 w 958415"/>
                <a:gd name="connsiteY2" fmla="*/ 280216 h 280216"/>
                <a:gd name="connsiteX0" fmla="*/ 0 w 898303"/>
                <a:gd name="connsiteY0" fmla="*/ 49169 h 149813"/>
                <a:gd name="connsiteX1" fmla="*/ 317695 w 898303"/>
                <a:gd name="connsiteY1" fmla="*/ 33775 h 149813"/>
                <a:gd name="connsiteX2" fmla="*/ 898303 w 898303"/>
                <a:gd name="connsiteY2" fmla="*/ 149813 h 149813"/>
                <a:gd name="connsiteX0" fmla="*/ 0 w 916383"/>
                <a:gd name="connsiteY0" fmla="*/ 49169 h 115493"/>
                <a:gd name="connsiteX1" fmla="*/ 317695 w 916383"/>
                <a:gd name="connsiteY1" fmla="*/ 33775 h 115493"/>
                <a:gd name="connsiteX2" fmla="*/ 916383 w 916383"/>
                <a:gd name="connsiteY2" fmla="*/ 115493 h 115493"/>
                <a:gd name="connsiteX0" fmla="*/ 0 w 916383"/>
                <a:gd name="connsiteY0" fmla="*/ 64789 h 131113"/>
                <a:gd name="connsiteX1" fmla="*/ 418807 w 916383"/>
                <a:gd name="connsiteY1" fmla="*/ 15671 h 131113"/>
                <a:gd name="connsiteX2" fmla="*/ 916383 w 916383"/>
                <a:gd name="connsiteY2" fmla="*/ 131113 h 131113"/>
              </a:gdLst>
              <a:ahLst/>
              <a:cxnLst>
                <a:cxn ang="0">
                  <a:pos x="connsiteX0" y="connsiteY0"/>
                </a:cxn>
                <a:cxn ang="0">
                  <a:pos x="connsiteX1" y="connsiteY1"/>
                </a:cxn>
                <a:cxn ang="0">
                  <a:pos x="connsiteX2" y="connsiteY2"/>
                </a:cxn>
              </a:cxnLst>
              <a:rect l="l" t="t" r="r" b="b"/>
              <a:pathLst>
                <a:path w="916383" h="131113">
                  <a:moveTo>
                    <a:pt x="0" y="64789"/>
                  </a:moveTo>
                  <a:cubicBezTo>
                    <a:pt x="25441" y="-26659"/>
                    <a:pt x="260496" y="975"/>
                    <a:pt x="418807" y="15671"/>
                  </a:cubicBezTo>
                  <a:cubicBezTo>
                    <a:pt x="642995" y="57774"/>
                    <a:pt x="696468" y="58938"/>
                    <a:pt x="916383" y="131113"/>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37" name="任意多边形 62">
              <a:extLst>
                <a:ext uri="{FF2B5EF4-FFF2-40B4-BE49-F238E27FC236}">
                  <a16:creationId xmlns:a16="http://schemas.microsoft.com/office/drawing/2014/main" id="{BC21B4F7-B60B-CAEE-9FCD-B2499DE46B7D}"/>
                </a:ext>
              </a:extLst>
            </p:cNvPr>
            <p:cNvSpPr/>
            <p:nvPr/>
          </p:nvSpPr>
          <p:spPr>
            <a:xfrm>
              <a:off x="2994025" y="1922463"/>
              <a:ext cx="4113213" cy="2752725"/>
            </a:xfrm>
            <a:custGeom>
              <a:avLst/>
              <a:gdLst>
                <a:gd name="connsiteX0" fmla="*/ 0 w 3544711"/>
                <a:gd name="connsiteY0" fmla="*/ 0 h 2370667"/>
                <a:gd name="connsiteX1" fmla="*/ 338667 w 3544711"/>
                <a:gd name="connsiteY1" fmla="*/ 541867 h 2370667"/>
                <a:gd name="connsiteX2" fmla="*/ 767645 w 3544711"/>
                <a:gd name="connsiteY2" fmla="*/ 1049867 h 2370667"/>
                <a:gd name="connsiteX3" fmla="*/ 1095022 w 3544711"/>
                <a:gd name="connsiteY3" fmla="*/ 1388533 h 2370667"/>
                <a:gd name="connsiteX4" fmla="*/ 1433689 w 3544711"/>
                <a:gd name="connsiteY4" fmla="*/ 1727200 h 2370667"/>
                <a:gd name="connsiteX5" fmla="*/ 1817511 w 3544711"/>
                <a:gd name="connsiteY5" fmla="*/ 1930400 h 2370667"/>
                <a:gd name="connsiteX6" fmla="*/ 2235200 w 3544711"/>
                <a:gd name="connsiteY6" fmla="*/ 2111022 h 2370667"/>
                <a:gd name="connsiteX7" fmla="*/ 2777067 w 3544711"/>
                <a:gd name="connsiteY7" fmla="*/ 2269067 h 2370667"/>
                <a:gd name="connsiteX8" fmla="*/ 3172178 w 3544711"/>
                <a:gd name="connsiteY8" fmla="*/ 2336800 h 2370667"/>
                <a:gd name="connsiteX9" fmla="*/ 3544711 w 3544711"/>
                <a:gd name="connsiteY9" fmla="*/ 2370667 h 23706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44711" h="2370667">
                  <a:moveTo>
                    <a:pt x="0" y="0"/>
                  </a:moveTo>
                  <a:cubicBezTo>
                    <a:pt x="105363" y="183444"/>
                    <a:pt x="210726" y="366889"/>
                    <a:pt x="338667" y="541867"/>
                  </a:cubicBezTo>
                  <a:cubicBezTo>
                    <a:pt x="466608" y="716845"/>
                    <a:pt x="641586" y="908756"/>
                    <a:pt x="767645" y="1049867"/>
                  </a:cubicBezTo>
                  <a:cubicBezTo>
                    <a:pt x="893704" y="1190978"/>
                    <a:pt x="984015" y="1275644"/>
                    <a:pt x="1095022" y="1388533"/>
                  </a:cubicBezTo>
                  <a:cubicBezTo>
                    <a:pt x="1206029" y="1501422"/>
                    <a:pt x="1313274" y="1636889"/>
                    <a:pt x="1433689" y="1727200"/>
                  </a:cubicBezTo>
                  <a:cubicBezTo>
                    <a:pt x="1554104" y="1817511"/>
                    <a:pt x="1683926" y="1866430"/>
                    <a:pt x="1817511" y="1930400"/>
                  </a:cubicBezTo>
                  <a:cubicBezTo>
                    <a:pt x="1951096" y="1994370"/>
                    <a:pt x="2075274" y="2054578"/>
                    <a:pt x="2235200" y="2111022"/>
                  </a:cubicBezTo>
                  <a:cubicBezTo>
                    <a:pt x="2395126" y="2167466"/>
                    <a:pt x="2620904" y="2231437"/>
                    <a:pt x="2777067" y="2269067"/>
                  </a:cubicBezTo>
                  <a:cubicBezTo>
                    <a:pt x="2933230" y="2306697"/>
                    <a:pt x="3044237" y="2319867"/>
                    <a:pt x="3172178" y="2336800"/>
                  </a:cubicBezTo>
                  <a:cubicBezTo>
                    <a:pt x="3300119" y="2353733"/>
                    <a:pt x="3422415" y="2362200"/>
                    <a:pt x="3544711" y="2370667"/>
                  </a:cubicBezTo>
                </a:path>
              </a:pathLst>
            </a:custGeom>
            <a:noFill/>
            <a:ln w="19050">
              <a:solidFill>
                <a:schemeClr val="tx1"/>
              </a:solidFill>
              <a:prstDash val="sysDot"/>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graphicFrame>
          <p:nvGraphicFramePr>
            <p:cNvPr id="38" name="Object 912">
              <a:extLst>
                <a:ext uri="{FF2B5EF4-FFF2-40B4-BE49-F238E27FC236}">
                  <a16:creationId xmlns:a16="http://schemas.microsoft.com/office/drawing/2014/main" id="{61F17B28-8C22-2D4F-5C0D-AB709F2CA810}"/>
                </a:ext>
              </a:extLst>
            </p:cNvPr>
            <p:cNvGraphicFramePr>
              <a:graphicFrameLocks noChangeAspect="1"/>
            </p:cNvGraphicFramePr>
            <p:nvPr>
              <p:extLst>
                <p:ext uri="{D42A27DB-BD31-4B8C-83A1-F6EECF244321}">
                  <p14:modId xmlns:p14="http://schemas.microsoft.com/office/powerpoint/2010/main" val="1947340297"/>
                </p:ext>
              </p:extLst>
            </p:nvPr>
          </p:nvGraphicFramePr>
          <p:xfrm>
            <a:off x="4959350" y="3408363"/>
            <a:ext cx="2792413" cy="290512"/>
          </p:xfrm>
          <a:graphic>
            <a:graphicData uri="http://schemas.openxmlformats.org/presentationml/2006/ole">
              <p:oleObj name="Formula" r:id="rId16" imgW="1696720" imgH="177800" progId="">
                <p:embed/>
              </p:oleObj>
            </a:graphicData>
          </a:graphic>
        </p:graphicFrame>
        <p:sp>
          <p:nvSpPr>
            <p:cNvPr id="39" name="任意多边形 64">
              <a:extLst>
                <a:ext uri="{FF2B5EF4-FFF2-40B4-BE49-F238E27FC236}">
                  <a16:creationId xmlns:a16="http://schemas.microsoft.com/office/drawing/2014/main" id="{949E6741-B8CB-5208-BD97-55CDFF7D401A}"/>
                </a:ext>
              </a:extLst>
            </p:cNvPr>
            <p:cNvSpPr/>
            <p:nvPr/>
          </p:nvSpPr>
          <p:spPr>
            <a:xfrm rot="10214568">
              <a:off x="5562600" y="3786188"/>
              <a:ext cx="411163" cy="525462"/>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51555"/>
                <a:gd name="connsiteY0" fmla="*/ 169333 h 169388"/>
                <a:gd name="connsiteX1" fmla="*/ 144516 w 451555"/>
                <a:gd name="connsiteY1" fmla="*/ 38694 h 169388"/>
                <a:gd name="connsiteX2" fmla="*/ 451555 w 451555"/>
                <a:gd name="connsiteY2" fmla="*/ 0 h 169388"/>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51555"/>
                <a:gd name="connsiteY0" fmla="*/ 169333 h 169333"/>
                <a:gd name="connsiteX1" fmla="*/ 144516 w 451555"/>
                <a:gd name="connsiteY1" fmla="*/ 38694 h 169333"/>
                <a:gd name="connsiteX2" fmla="*/ 451555 w 451555"/>
                <a:gd name="connsiteY2" fmla="*/ 0 h 169333"/>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144516 w 432019"/>
                <a:gd name="connsiteY1" fmla="*/ 299782 h 430421"/>
                <a:gd name="connsiteX2" fmla="*/ 432019 w 432019"/>
                <a:gd name="connsiteY2" fmla="*/ 0 h 430421"/>
                <a:gd name="connsiteX0" fmla="*/ 0 w 432019"/>
                <a:gd name="connsiteY0" fmla="*/ 430421 h 430421"/>
                <a:gd name="connsiteX1" fmla="*/ 93772 w 432019"/>
                <a:gd name="connsiteY1" fmla="*/ 220181 h 430421"/>
                <a:gd name="connsiteX2" fmla="*/ 432019 w 432019"/>
                <a:gd name="connsiteY2" fmla="*/ 0 h 430421"/>
                <a:gd name="connsiteX0" fmla="*/ 0 w 942346"/>
                <a:gd name="connsiteY0" fmla="*/ 217546 h 281484"/>
                <a:gd name="connsiteX1" fmla="*/ 93772 w 942346"/>
                <a:gd name="connsiteY1" fmla="*/ 7306 h 281484"/>
                <a:gd name="connsiteX2" fmla="*/ 942346 w 942346"/>
                <a:gd name="connsiteY2" fmla="*/ 241776 h 281484"/>
                <a:gd name="connsiteX0" fmla="*/ 0 w 942346"/>
                <a:gd name="connsiteY0" fmla="*/ 223742 h 247972"/>
                <a:gd name="connsiteX1" fmla="*/ 93772 w 942346"/>
                <a:gd name="connsiteY1" fmla="*/ 13502 h 247972"/>
                <a:gd name="connsiteX2" fmla="*/ 942346 w 942346"/>
                <a:gd name="connsiteY2" fmla="*/ 247972 h 247972"/>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32646 h 156876"/>
                <a:gd name="connsiteX1" fmla="*/ 114955 w 942346"/>
                <a:gd name="connsiteY1" fmla="*/ 20271 h 156876"/>
                <a:gd name="connsiteX2" fmla="*/ 942346 w 942346"/>
                <a:gd name="connsiteY2" fmla="*/ 156876 h 156876"/>
                <a:gd name="connsiteX0" fmla="*/ 0 w 942346"/>
                <a:gd name="connsiteY0" fmla="*/ 118993 h 143223"/>
                <a:gd name="connsiteX1" fmla="*/ 114955 w 942346"/>
                <a:gd name="connsiteY1" fmla="*/ 6618 h 143223"/>
                <a:gd name="connsiteX2" fmla="*/ 942346 w 942346"/>
                <a:gd name="connsiteY2" fmla="*/ 143223 h 143223"/>
                <a:gd name="connsiteX0" fmla="*/ 0 w 785321"/>
                <a:gd name="connsiteY0" fmla="*/ 120093 h 125970"/>
                <a:gd name="connsiteX1" fmla="*/ 114955 w 785321"/>
                <a:gd name="connsiteY1" fmla="*/ 7718 h 125970"/>
                <a:gd name="connsiteX2" fmla="*/ 785321 w 785321"/>
                <a:gd name="connsiteY2" fmla="*/ 125970 h 125970"/>
                <a:gd name="connsiteX0" fmla="*/ 0 w 785321"/>
                <a:gd name="connsiteY0" fmla="*/ 57447 h 63324"/>
                <a:gd name="connsiteX1" fmla="*/ 265039 w 785321"/>
                <a:gd name="connsiteY1" fmla="*/ 19751 h 63324"/>
                <a:gd name="connsiteX2" fmla="*/ 785321 w 785321"/>
                <a:gd name="connsiteY2" fmla="*/ 63324 h 63324"/>
                <a:gd name="connsiteX0" fmla="*/ 0 w 785321"/>
                <a:gd name="connsiteY0" fmla="*/ 60251 h 66128"/>
                <a:gd name="connsiteX1" fmla="*/ 265039 w 785321"/>
                <a:gd name="connsiteY1" fmla="*/ 22555 h 66128"/>
                <a:gd name="connsiteX2" fmla="*/ 785321 w 785321"/>
                <a:gd name="connsiteY2" fmla="*/ 66128 h 66128"/>
                <a:gd name="connsiteX0" fmla="*/ 0 w 785321"/>
                <a:gd name="connsiteY0" fmla="*/ 100604 h 106481"/>
                <a:gd name="connsiteX1" fmla="*/ 243916 w 785321"/>
                <a:gd name="connsiteY1" fmla="*/ 9515 h 106481"/>
                <a:gd name="connsiteX2" fmla="*/ 785321 w 785321"/>
                <a:gd name="connsiteY2" fmla="*/ 106481 h 106481"/>
                <a:gd name="connsiteX0" fmla="*/ 0 w 785321"/>
                <a:gd name="connsiteY0" fmla="*/ 100604 h 106481"/>
                <a:gd name="connsiteX1" fmla="*/ 243916 w 785321"/>
                <a:gd name="connsiteY1" fmla="*/ 9515 h 106481"/>
                <a:gd name="connsiteX2" fmla="*/ 785321 w 785321"/>
                <a:gd name="connsiteY2" fmla="*/ 106481 h 106481"/>
                <a:gd name="connsiteX0" fmla="*/ 0 w 958415"/>
                <a:gd name="connsiteY0" fmla="*/ 18240 h 249287"/>
                <a:gd name="connsiteX1" fmla="*/ 417010 w 958415"/>
                <a:gd name="connsiteY1" fmla="*/ 152321 h 249287"/>
                <a:gd name="connsiteX2" fmla="*/ 958415 w 958415"/>
                <a:gd name="connsiteY2" fmla="*/ 249287 h 249287"/>
                <a:gd name="connsiteX0" fmla="*/ 0 w 958415"/>
                <a:gd name="connsiteY0" fmla="*/ 32707 h 263754"/>
                <a:gd name="connsiteX1" fmla="*/ 317695 w 958415"/>
                <a:gd name="connsiteY1" fmla="*/ 17313 h 263754"/>
                <a:gd name="connsiteX2" fmla="*/ 958415 w 958415"/>
                <a:gd name="connsiteY2" fmla="*/ 263754 h 263754"/>
                <a:gd name="connsiteX0" fmla="*/ 0 w 958415"/>
                <a:gd name="connsiteY0" fmla="*/ 49169 h 280216"/>
                <a:gd name="connsiteX1" fmla="*/ 317695 w 958415"/>
                <a:gd name="connsiteY1" fmla="*/ 33775 h 280216"/>
                <a:gd name="connsiteX2" fmla="*/ 958415 w 958415"/>
                <a:gd name="connsiteY2" fmla="*/ 280216 h 280216"/>
                <a:gd name="connsiteX0" fmla="*/ 0 w 958415"/>
                <a:gd name="connsiteY0" fmla="*/ 49169 h 280216"/>
                <a:gd name="connsiteX1" fmla="*/ 317695 w 958415"/>
                <a:gd name="connsiteY1" fmla="*/ 33775 h 280216"/>
                <a:gd name="connsiteX2" fmla="*/ 958415 w 958415"/>
                <a:gd name="connsiteY2" fmla="*/ 280216 h 280216"/>
                <a:gd name="connsiteX0" fmla="*/ 0 w 898303"/>
                <a:gd name="connsiteY0" fmla="*/ 49169 h 149813"/>
                <a:gd name="connsiteX1" fmla="*/ 317695 w 898303"/>
                <a:gd name="connsiteY1" fmla="*/ 33775 h 149813"/>
                <a:gd name="connsiteX2" fmla="*/ 898303 w 898303"/>
                <a:gd name="connsiteY2" fmla="*/ 149813 h 149813"/>
                <a:gd name="connsiteX0" fmla="*/ 0 w 916383"/>
                <a:gd name="connsiteY0" fmla="*/ 49169 h 115493"/>
                <a:gd name="connsiteX1" fmla="*/ 317695 w 916383"/>
                <a:gd name="connsiteY1" fmla="*/ 33775 h 115493"/>
                <a:gd name="connsiteX2" fmla="*/ 916383 w 916383"/>
                <a:gd name="connsiteY2" fmla="*/ 115493 h 115493"/>
                <a:gd name="connsiteX0" fmla="*/ 0 w 916383"/>
                <a:gd name="connsiteY0" fmla="*/ 64789 h 131113"/>
                <a:gd name="connsiteX1" fmla="*/ 418807 w 916383"/>
                <a:gd name="connsiteY1" fmla="*/ 15671 h 131113"/>
                <a:gd name="connsiteX2" fmla="*/ 916383 w 916383"/>
                <a:gd name="connsiteY2" fmla="*/ 131113 h 131113"/>
                <a:gd name="connsiteX0" fmla="*/ 0 w 467243"/>
                <a:gd name="connsiteY0" fmla="*/ 445275 h 445275"/>
                <a:gd name="connsiteX1" fmla="*/ 418807 w 467243"/>
                <a:gd name="connsiteY1" fmla="*/ 396157 h 445275"/>
                <a:gd name="connsiteX2" fmla="*/ 223670 w 467243"/>
                <a:gd name="connsiteY2" fmla="*/ 7093 h 445275"/>
                <a:gd name="connsiteX0" fmla="*/ 56610 w 280279"/>
                <a:gd name="connsiteY0" fmla="*/ 448595 h 448595"/>
                <a:gd name="connsiteX1" fmla="*/ 67623 w 280279"/>
                <a:gd name="connsiteY1" fmla="*/ 224296 h 448595"/>
                <a:gd name="connsiteX2" fmla="*/ 280280 w 280279"/>
                <a:gd name="connsiteY2" fmla="*/ 10413 h 448595"/>
                <a:gd name="connsiteX0" fmla="*/ 22527 w 246197"/>
                <a:gd name="connsiteY0" fmla="*/ 448595 h 448595"/>
                <a:gd name="connsiteX1" fmla="*/ 33540 w 246197"/>
                <a:gd name="connsiteY1" fmla="*/ 224296 h 448595"/>
                <a:gd name="connsiteX2" fmla="*/ 246197 w 246197"/>
                <a:gd name="connsiteY2" fmla="*/ 10413 h 448595"/>
                <a:gd name="connsiteX0" fmla="*/ 22527 w 246197"/>
                <a:gd name="connsiteY0" fmla="*/ 464084 h 464084"/>
                <a:gd name="connsiteX1" fmla="*/ 33540 w 246197"/>
                <a:gd name="connsiteY1" fmla="*/ 239785 h 464084"/>
                <a:gd name="connsiteX2" fmla="*/ 246197 w 246197"/>
                <a:gd name="connsiteY2" fmla="*/ 25902 h 464084"/>
                <a:gd name="connsiteX0" fmla="*/ 20929 w 244599"/>
                <a:gd name="connsiteY0" fmla="*/ 464084 h 464084"/>
                <a:gd name="connsiteX1" fmla="*/ 31942 w 244599"/>
                <a:gd name="connsiteY1" fmla="*/ 239785 h 464084"/>
                <a:gd name="connsiteX2" fmla="*/ 244599 w 244599"/>
                <a:gd name="connsiteY2" fmla="*/ 25902 h 464084"/>
                <a:gd name="connsiteX0" fmla="*/ 0 w 223670"/>
                <a:gd name="connsiteY0" fmla="*/ 464084 h 464084"/>
                <a:gd name="connsiteX1" fmla="*/ 11013 w 223670"/>
                <a:gd name="connsiteY1" fmla="*/ 239785 h 464084"/>
                <a:gd name="connsiteX2" fmla="*/ 223670 w 223670"/>
                <a:gd name="connsiteY2" fmla="*/ 25902 h 464084"/>
                <a:gd name="connsiteX0" fmla="*/ 0 w 223670"/>
                <a:gd name="connsiteY0" fmla="*/ 464084 h 464084"/>
                <a:gd name="connsiteX1" fmla="*/ 11013 w 223670"/>
                <a:gd name="connsiteY1" fmla="*/ 239785 h 464084"/>
                <a:gd name="connsiteX2" fmla="*/ 223670 w 223670"/>
                <a:gd name="connsiteY2" fmla="*/ 25902 h 464084"/>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6880 h 446880"/>
                <a:gd name="connsiteX1" fmla="*/ 62566 w 275223"/>
                <a:gd name="connsiteY1" fmla="*/ 239785 h 446880"/>
                <a:gd name="connsiteX2" fmla="*/ 275223 w 275223"/>
                <a:gd name="connsiteY2" fmla="*/ 25902 h 446880"/>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48458 h 448458"/>
                <a:gd name="connsiteX1" fmla="*/ 49981 w 275223"/>
                <a:gd name="connsiteY1" fmla="*/ 231095 h 448458"/>
                <a:gd name="connsiteX2" fmla="*/ 275223 w 275223"/>
                <a:gd name="connsiteY2" fmla="*/ 27480 h 448458"/>
                <a:gd name="connsiteX0" fmla="*/ 0 w 275223"/>
                <a:gd name="connsiteY0" fmla="*/ 454939 h 454939"/>
                <a:gd name="connsiteX1" fmla="*/ 59365 w 275223"/>
                <a:gd name="connsiteY1" fmla="*/ 203584 h 454939"/>
                <a:gd name="connsiteX2" fmla="*/ 275223 w 275223"/>
                <a:gd name="connsiteY2" fmla="*/ 33961 h 454939"/>
                <a:gd name="connsiteX0" fmla="*/ 0 w 275223"/>
                <a:gd name="connsiteY0" fmla="*/ 439514 h 439514"/>
                <a:gd name="connsiteX1" fmla="*/ 59365 w 275223"/>
                <a:gd name="connsiteY1" fmla="*/ 188159 h 439514"/>
                <a:gd name="connsiteX2" fmla="*/ 275223 w 275223"/>
                <a:gd name="connsiteY2" fmla="*/ 18536 h 439514"/>
                <a:gd name="connsiteX0" fmla="*/ 0 w 275223"/>
                <a:gd name="connsiteY0" fmla="*/ 439514 h 439514"/>
                <a:gd name="connsiteX1" fmla="*/ 59365 w 275223"/>
                <a:gd name="connsiteY1" fmla="*/ 188159 h 439514"/>
                <a:gd name="connsiteX2" fmla="*/ 275223 w 275223"/>
                <a:gd name="connsiteY2" fmla="*/ 18536 h 439514"/>
                <a:gd name="connsiteX0" fmla="*/ 0 w 191484"/>
                <a:gd name="connsiteY0" fmla="*/ 473825 h 473825"/>
                <a:gd name="connsiteX1" fmla="*/ 59365 w 191484"/>
                <a:gd name="connsiteY1" fmla="*/ 222470 h 473825"/>
                <a:gd name="connsiteX2" fmla="*/ 191484 w 191484"/>
                <a:gd name="connsiteY2" fmla="*/ 15838 h 473825"/>
                <a:gd name="connsiteX0" fmla="*/ 0 w 191484"/>
                <a:gd name="connsiteY0" fmla="*/ 457987 h 457987"/>
                <a:gd name="connsiteX1" fmla="*/ 59365 w 191484"/>
                <a:gd name="connsiteY1" fmla="*/ 206632 h 457987"/>
                <a:gd name="connsiteX2" fmla="*/ 191484 w 191484"/>
                <a:gd name="connsiteY2" fmla="*/ 0 h 457987"/>
                <a:gd name="connsiteX0" fmla="*/ 0 w 191484"/>
                <a:gd name="connsiteY0" fmla="*/ 457987 h 457987"/>
                <a:gd name="connsiteX1" fmla="*/ 59365 w 191484"/>
                <a:gd name="connsiteY1" fmla="*/ 206632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54449 w 191484"/>
                <a:gd name="connsiteY1" fmla="*/ 246527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191484"/>
                <a:gd name="connsiteY0" fmla="*/ 457987 h 457987"/>
                <a:gd name="connsiteX1" fmla="*/ 83797 w 191484"/>
                <a:gd name="connsiteY1" fmla="*/ 275315 h 457987"/>
                <a:gd name="connsiteX2" fmla="*/ 191484 w 191484"/>
                <a:gd name="connsiteY2" fmla="*/ 0 h 457987"/>
                <a:gd name="connsiteX0" fmla="*/ 0 w 253181"/>
                <a:gd name="connsiteY0" fmla="*/ 452846 h 452846"/>
                <a:gd name="connsiteX1" fmla="*/ 145494 w 253181"/>
                <a:gd name="connsiteY1" fmla="*/ 275315 h 452846"/>
                <a:gd name="connsiteX2" fmla="*/ 253181 w 253181"/>
                <a:gd name="connsiteY2" fmla="*/ 0 h 452846"/>
                <a:gd name="connsiteX0" fmla="*/ 0 w 253181"/>
                <a:gd name="connsiteY0" fmla="*/ 452846 h 452846"/>
                <a:gd name="connsiteX1" fmla="*/ 145494 w 253181"/>
                <a:gd name="connsiteY1" fmla="*/ 275315 h 452846"/>
                <a:gd name="connsiteX2" fmla="*/ 253181 w 253181"/>
                <a:gd name="connsiteY2" fmla="*/ 0 h 452846"/>
                <a:gd name="connsiteX0" fmla="*/ 0 w 253181"/>
                <a:gd name="connsiteY0" fmla="*/ 452846 h 452846"/>
                <a:gd name="connsiteX1" fmla="*/ 127628 w 253181"/>
                <a:gd name="connsiteY1" fmla="*/ 251698 h 452846"/>
                <a:gd name="connsiteX2" fmla="*/ 253181 w 253181"/>
                <a:gd name="connsiteY2" fmla="*/ 0 h 452846"/>
                <a:gd name="connsiteX0" fmla="*/ 0 w 253181"/>
                <a:gd name="connsiteY0" fmla="*/ 452846 h 452846"/>
                <a:gd name="connsiteX1" fmla="*/ 127628 w 253181"/>
                <a:gd name="connsiteY1" fmla="*/ 251698 h 452846"/>
                <a:gd name="connsiteX2" fmla="*/ 253181 w 253181"/>
                <a:gd name="connsiteY2" fmla="*/ 0 h 452846"/>
              </a:gdLst>
              <a:ahLst/>
              <a:cxnLst>
                <a:cxn ang="0">
                  <a:pos x="connsiteX0" y="connsiteY0"/>
                </a:cxn>
                <a:cxn ang="0">
                  <a:pos x="connsiteX1" y="connsiteY1"/>
                </a:cxn>
                <a:cxn ang="0">
                  <a:pos x="connsiteX2" y="connsiteY2"/>
                </a:cxn>
              </a:cxnLst>
              <a:rect l="l" t="t" r="r" b="b"/>
              <a:pathLst>
                <a:path w="253181" h="452846">
                  <a:moveTo>
                    <a:pt x="0" y="452846"/>
                  </a:moveTo>
                  <a:cubicBezTo>
                    <a:pt x="32959" y="300382"/>
                    <a:pt x="57077" y="325717"/>
                    <a:pt x="127628" y="251698"/>
                  </a:cubicBezTo>
                  <a:cubicBezTo>
                    <a:pt x="156853" y="218019"/>
                    <a:pt x="211564" y="110753"/>
                    <a:pt x="253181" y="0"/>
                  </a:cubicBezTo>
                </a:path>
              </a:pathLst>
            </a:custGeom>
            <a:ln w="19050">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dirty="0" sz="1600">
                <a:latin typeface="Arial"/>
                <a:ea typeface="Arial"/>
                <a:cs typeface="Arial"/>
              </a:endParaRPr>
            </a:p>
          </p:txBody>
        </p:sp>
        <p:graphicFrame>
          <p:nvGraphicFramePr>
            <p:cNvPr id="40" name="Object 913">
              <a:extLst>
                <a:ext uri="{FF2B5EF4-FFF2-40B4-BE49-F238E27FC236}">
                  <a16:creationId xmlns:a16="http://schemas.microsoft.com/office/drawing/2014/main" id="{9257D2F0-8948-0616-6B25-612AF0860D44}"/>
                </a:ext>
              </a:extLst>
            </p:cNvPr>
            <p:cNvGraphicFramePr>
              <a:graphicFrameLocks noChangeAspect="1"/>
            </p:cNvGraphicFramePr>
            <p:nvPr>
              <p:extLst>
                <p:ext uri="{D42A27DB-BD31-4B8C-83A1-F6EECF244321}">
                  <p14:modId xmlns:p14="http://schemas.microsoft.com/office/powerpoint/2010/main" val="1524723770"/>
                </p:ext>
              </p:extLst>
            </p:nvPr>
          </p:nvGraphicFramePr>
          <p:xfrm>
            <a:off x="1120775" y="4073525"/>
            <a:ext cx="2465388" cy="752475"/>
          </p:xfrm>
          <a:graphic>
            <a:graphicData uri="http://schemas.openxmlformats.org/presentationml/2006/ole">
              <p:oleObj name="Formula" r:id="rId18" imgW="1584960" imgH="482600" progId="">
                <p:embed/>
              </p:oleObj>
            </a:graphicData>
          </a:graphic>
        </p:graphicFrame>
        <p:sp>
          <p:nvSpPr>
            <p:cNvPr id="41" name="任意多边形 66">
              <a:extLst>
                <a:ext uri="{FF2B5EF4-FFF2-40B4-BE49-F238E27FC236}">
                  <a16:creationId xmlns:a16="http://schemas.microsoft.com/office/drawing/2014/main" id="{6ADFED80-AA2C-1883-175F-8CBED043BCDC}"/>
                </a:ext>
              </a:extLst>
            </p:cNvPr>
            <p:cNvSpPr/>
            <p:nvPr/>
          </p:nvSpPr>
          <p:spPr>
            <a:xfrm>
              <a:off x="3465513" y="3983038"/>
              <a:ext cx="587375" cy="344487"/>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89655"/>
                <a:gd name="connsiteY0" fmla="*/ 255058 h 256759"/>
                <a:gd name="connsiteX1" fmla="*/ 248355 w 489655"/>
                <a:gd name="connsiteY1" fmla="*/ 232480 h 256759"/>
                <a:gd name="connsiteX2" fmla="*/ 489655 w 489655"/>
                <a:gd name="connsiteY2" fmla="*/ 0 h 256759"/>
                <a:gd name="connsiteX0" fmla="*/ 0 w 489655"/>
                <a:gd name="connsiteY0" fmla="*/ 255058 h 255185"/>
                <a:gd name="connsiteX1" fmla="*/ 324555 w 489655"/>
                <a:gd name="connsiteY1" fmla="*/ 184855 h 255185"/>
                <a:gd name="connsiteX2" fmla="*/ 489655 w 489655"/>
                <a:gd name="connsiteY2" fmla="*/ 0 h 2551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514"/>
                <a:gd name="connsiteX1" fmla="*/ 295980 w 489655"/>
                <a:gd name="connsiteY1" fmla="*/ 222955 h 293514"/>
                <a:gd name="connsiteX2" fmla="*/ 489655 w 489655"/>
                <a:gd name="connsiteY2" fmla="*/ 0 h 293514"/>
                <a:gd name="connsiteX0" fmla="*/ 0 w 505530"/>
                <a:gd name="connsiteY0" fmla="*/ 296333 h 296637"/>
                <a:gd name="connsiteX1" fmla="*/ 311855 w 505530"/>
                <a:gd name="connsiteY1" fmla="*/ 222955 h 296637"/>
                <a:gd name="connsiteX2" fmla="*/ 505530 w 505530"/>
                <a:gd name="connsiteY2" fmla="*/ 0 h 296637"/>
              </a:gdLst>
              <a:ahLst/>
              <a:cxnLst>
                <a:cxn ang="0">
                  <a:pos x="connsiteX0" y="connsiteY0"/>
                </a:cxn>
                <a:cxn ang="0">
                  <a:pos x="connsiteX1" y="connsiteY1"/>
                </a:cxn>
                <a:cxn ang="0">
                  <a:pos x="connsiteX2" y="connsiteY2"/>
                </a:cxn>
              </a:cxnLst>
              <a:rect l="l" t="t" r="r" b="b"/>
              <a:pathLst>
                <a:path w="505530" h="296637">
                  <a:moveTo>
                    <a:pt x="0" y="296333"/>
                  </a:moveTo>
                  <a:cubicBezTo>
                    <a:pt x="86548" y="299155"/>
                    <a:pt x="204846" y="282927"/>
                    <a:pt x="311855" y="222955"/>
                  </a:cubicBezTo>
                  <a:cubicBezTo>
                    <a:pt x="380764" y="169333"/>
                    <a:pt x="432034" y="110066"/>
                    <a:pt x="505530"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sp>
          <p:nvSpPr>
            <p:cNvPr id="42" name="任意多边形 67">
              <a:extLst>
                <a:ext uri="{FF2B5EF4-FFF2-40B4-BE49-F238E27FC236}">
                  <a16:creationId xmlns:a16="http://schemas.microsoft.com/office/drawing/2014/main" id="{6C3F2871-7425-9EF6-B7B0-EADB9A7AA7CA}"/>
                </a:ext>
              </a:extLst>
            </p:cNvPr>
            <p:cNvSpPr/>
            <p:nvPr/>
          </p:nvSpPr>
          <p:spPr>
            <a:xfrm flipV="1">
              <a:off x="3468688" y="4514850"/>
              <a:ext cx="1443037" cy="344488"/>
            </a:xfrm>
            <a:custGeom>
              <a:avLst/>
              <a:gdLst>
                <a:gd name="connsiteX0" fmla="*/ 0 w 451555"/>
                <a:gd name="connsiteY0" fmla="*/ 169333 h 171034"/>
                <a:gd name="connsiteX1" fmla="*/ 248355 w 451555"/>
                <a:gd name="connsiteY1" fmla="*/ 146755 h 171034"/>
                <a:gd name="connsiteX2" fmla="*/ 451555 w 451555"/>
                <a:gd name="connsiteY2" fmla="*/ 0 h 171034"/>
                <a:gd name="connsiteX0" fmla="*/ 0 w 489655"/>
                <a:gd name="connsiteY0" fmla="*/ 255058 h 256759"/>
                <a:gd name="connsiteX1" fmla="*/ 248355 w 489655"/>
                <a:gd name="connsiteY1" fmla="*/ 232480 h 256759"/>
                <a:gd name="connsiteX2" fmla="*/ 489655 w 489655"/>
                <a:gd name="connsiteY2" fmla="*/ 0 h 256759"/>
                <a:gd name="connsiteX0" fmla="*/ 0 w 489655"/>
                <a:gd name="connsiteY0" fmla="*/ 255058 h 255185"/>
                <a:gd name="connsiteX1" fmla="*/ 324555 w 489655"/>
                <a:gd name="connsiteY1" fmla="*/ 184855 h 255185"/>
                <a:gd name="connsiteX2" fmla="*/ 489655 w 489655"/>
                <a:gd name="connsiteY2" fmla="*/ 0 h 2551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324555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285"/>
                <a:gd name="connsiteX1" fmla="*/ 295980 w 489655"/>
                <a:gd name="connsiteY1" fmla="*/ 222955 h 293285"/>
                <a:gd name="connsiteX2" fmla="*/ 489655 w 489655"/>
                <a:gd name="connsiteY2" fmla="*/ 0 h 293285"/>
                <a:gd name="connsiteX0" fmla="*/ 0 w 489655"/>
                <a:gd name="connsiteY0" fmla="*/ 293158 h 293514"/>
                <a:gd name="connsiteX1" fmla="*/ 295980 w 489655"/>
                <a:gd name="connsiteY1" fmla="*/ 222955 h 293514"/>
                <a:gd name="connsiteX2" fmla="*/ 489655 w 489655"/>
                <a:gd name="connsiteY2" fmla="*/ 0 h 293514"/>
                <a:gd name="connsiteX0" fmla="*/ 0 w 505530"/>
                <a:gd name="connsiteY0" fmla="*/ 296333 h 296637"/>
                <a:gd name="connsiteX1" fmla="*/ 311855 w 505530"/>
                <a:gd name="connsiteY1" fmla="*/ 222955 h 296637"/>
                <a:gd name="connsiteX2" fmla="*/ 505530 w 505530"/>
                <a:gd name="connsiteY2" fmla="*/ 0 h 296637"/>
                <a:gd name="connsiteX0" fmla="*/ 0 w 1243718"/>
                <a:gd name="connsiteY0" fmla="*/ 469095 h 469399"/>
                <a:gd name="connsiteX1" fmla="*/ 311855 w 1243718"/>
                <a:gd name="connsiteY1" fmla="*/ 395717 h 469399"/>
                <a:gd name="connsiteX2" fmla="*/ 1243718 w 1243718"/>
                <a:gd name="connsiteY2" fmla="*/ 0 h 469399"/>
                <a:gd name="connsiteX0" fmla="*/ 0 w 1243718"/>
                <a:gd name="connsiteY0" fmla="*/ 469095 h 469170"/>
                <a:gd name="connsiteX1" fmla="*/ 859542 w 1243718"/>
                <a:gd name="connsiteY1" fmla="*/ 335627 h 469170"/>
                <a:gd name="connsiteX2" fmla="*/ 1243718 w 1243718"/>
                <a:gd name="connsiteY2" fmla="*/ 0 h 469170"/>
                <a:gd name="connsiteX0" fmla="*/ 0 w 1243718"/>
                <a:gd name="connsiteY0" fmla="*/ 469095 h 469202"/>
                <a:gd name="connsiteX1" fmla="*/ 730954 w 1243718"/>
                <a:gd name="connsiteY1" fmla="*/ 358160 h 469202"/>
                <a:gd name="connsiteX2" fmla="*/ 1243718 w 1243718"/>
                <a:gd name="connsiteY2" fmla="*/ 0 h 469202"/>
                <a:gd name="connsiteX0" fmla="*/ 0 w 1243718"/>
                <a:gd name="connsiteY0" fmla="*/ 469095 h 469200"/>
                <a:gd name="connsiteX1" fmla="*/ 730954 w 1243718"/>
                <a:gd name="connsiteY1" fmla="*/ 358160 h 469200"/>
                <a:gd name="connsiteX2" fmla="*/ 1243718 w 1243718"/>
                <a:gd name="connsiteY2" fmla="*/ 0 h 469200"/>
                <a:gd name="connsiteX0" fmla="*/ 0 w 1243718"/>
                <a:gd name="connsiteY0" fmla="*/ 469095 h 469202"/>
                <a:gd name="connsiteX1" fmla="*/ 730954 w 1243718"/>
                <a:gd name="connsiteY1" fmla="*/ 358160 h 469202"/>
                <a:gd name="connsiteX2" fmla="*/ 1243718 w 1243718"/>
                <a:gd name="connsiteY2" fmla="*/ 0 h 469202"/>
                <a:gd name="connsiteX0" fmla="*/ 0 w 1243718"/>
                <a:gd name="connsiteY0" fmla="*/ 469095 h 469200"/>
                <a:gd name="connsiteX1" fmla="*/ 730954 w 1243718"/>
                <a:gd name="connsiteY1" fmla="*/ 358160 h 469200"/>
                <a:gd name="connsiteX2" fmla="*/ 1243718 w 1243718"/>
                <a:gd name="connsiteY2" fmla="*/ 0 h 469200"/>
              </a:gdLst>
              <a:ahLst/>
              <a:cxnLst>
                <a:cxn ang="0">
                  <a:pos x="connsiteX0" y="connsiteY0"/>
                </a:cxn>
                <a:cxn ang="0">
                  <a:pos x="connsiteX1" y="connsiteY1"/>
                </a:cxn>
                <a:cxn ang="0">
                  <a:pos x="connsiteX2" y="connsiteY2"/>
                </a:cxn>
              </a:cxnLst>
              <a:rect l="l" t="t" r="r" b="b"/>
              <a:pathLst>
                <a:path w="1243718" h="469200">
                  <a:moveTo>
                    <a:pt x="0" y="469095"/>
                  </a:moveTo>
                  <a:cubicBezTo>
                    <a:pt x="86548" y="471917"/>
                    <a:pt x="585845" y="418132"/>
                    <a:pt x="730954" y="358160"/>
                  </a:cubicBezTo>
                  <a:cubicBezTo>
                    <a:pt x="885588" y="274492"/>
                    <a:pt x="1065447" y="215224"/>
                    <a:pt x="1243718" y="0"/>
                  </a:cubicBezTo>
                </a:path>
              </a:pathLst>
            </a:custGeom>
            <a:ln w="19050">
              <a:solidFill>
                <a:srgbClr val="FF0000"/>
              </a:solidFill>
              <a:tailEnd type="triangle"/>
            </a:ln>
          </p:spPr>
          <p:style>
            <a:lnRef idx="1">
              <a:schemeClr val="dk1"/>
            </a:lnRef>
            <a:fillRef idx="0">
              <a:schemeClr val="dk1"/>
            </a:fillRef>
            <a:effectRef idx="0">
              <a:schemeClr val="dk1"/>
            </a:effectRef>
            <a:fontRef idx="minor">
              <a:schemeClr val="tx1"/>
            </a:fontRef>
          </p:style>
          <p:txBody>
            <a:bodyPr lIns="0" tIns="0" rIns="0" bIns="0" anchor="ctr">
              <a:noAutofit/>
            </a:bodyPr>
            <a:lstStyle/>
            <a:p>
              <a:pPr algn="ctr" fontAlgn="auto">
                <a:spcBef>
                  <a:spcPts val="0"/>
                </a:spcBef>
                <a:spcAft>
                  <a:spcPts val="0"/>
                </a:spcAft>
                <a:defRPr sz="1600" lang="en-US">
                  <a:latin typeface="Arial"/>
                  <a:ea typeface="Arial"/>
                  <a:cs typeface="Arial"/>
                </a:defRPr>
              </a:pPr>
              <a:endParaRPr lang="en-US" altLang="en-US" sz="1600">
                <a:latin typeface="Arial"/>
                <a:ea typeface="Arial"/>
                <a:cs typeface="Arial"/>
              </a:endParaRPr>
            </a:p>
          </p:txBody>
        </p:sp>
      </p:grpSp>
      <p:sp xmlns:a14="http://schemas.microsoft.com/office/drawing/2010/main">
        <p:nvSpPr>
          <p:cNvPr id="44" name="文本框 43">
            <a:extLst>
              <a:ext uri="{FF2B5EF4-FFF2-40B4-BE49-F238E27FC236}">
                <a16:creationId xmlns:a16="http://schemas.microsoft.com/office/drawing/2014/main" id="{7601A092-B635-1B0B-F1FA-277EBD65C094}"/>
              </a:ext>
            </a:extLst>
          </p:cNvPr>
          <p:cNvSpPr txBox="1"/>
          <p:nvPr/>
        </p:nvSpPr>
        <p:spPr>
          <a:xfrm>
            <a:off x="6702349" y="5735699"/>
            <a:ext cx="2195537" cy="276999"/>
          </a:xfrm>
          <a:prstGeom prst="rect">
            <a:avLst/>
          </a:prstGeom>
          <a:noFill/>
        </p:spPr>
        <p:txBody>
          <a:bodyPr wrap="none" lIns="0" tIns="0" rIns="0" bIns="0" rtlCol="0">
            <a:noAutofit/>
          </a:bodyPr>
          <a:lstStyle/>
          <a:p>
            <a:r>
              <a:rPr lang="en-US" altLang="en-US" dirty="0" sz="1600">
                <a:latin typeface="Arial"/>
                <a:ea typeface="Arial"/>
                <a:cs typeface="Arial"/>
              </a:rPr>
              <a:t>Functional margin </a:t>
            </a:r>
            <a14:m>
              <m:oMath xmlns:m="http://schemas.openxmlformats.org/officeDocument/2006/math">
                <m:r>
                  <a:rPr lang="en-US" altLang="zh-CN" b="0" i="1" smtClean="0" sz="1600">
                    <a:latin typeface="Arial" panose="02040503050406030204" pitchFamily="18" charset="0"/>
                    <a:ea typeface="Arial"/>
                    <a:cs typeface="Arial"/>
                  </a:rPr>
                  <m:t>𝑦</m:t>
                </m:r>
                <m:r>
                  <a:rPr lang="en-US" altLang="zh-CN" b="0" i="1" smtClean="0" sz="1600">
                    <a:latin typeface="Arial" panose="02040503050406030204" pitchFamily="18" charset="0"/>
                    <a:ea typeface="Arial"/>
                    <a:cs typeface="Arial"/>
                  </a:rPr>
                  <m:t>(</m:t>
                </m:r>
                <m:r>
                  <a:rPr lang="en-US" altLang="zh-CN" b="1" i="1" smtClean="0" sz="1600">
                    <a:latin typeface="Arial" panose="02040503050406030204" pitchFamily="18" charset="0"/>
                    <a:ea typeface="Arial"/>
                    <a:cs typeface="Arial"/>
                  </a:rPr>
                  <m:t>𝒘</m:t>
                </m:r>
                <m:r>
                  <a:rPr lang="en-US" altLang="zh-CN" b="0" i="1" smtClean="0" sz="1600">
                    <a:latin typeface="Arial" panose="02040503050406030204" pitchFamily="18" charset="0"/>
                    <a:ea typeface="Arial" panose="02040503050406030204" pitchFamily="18" charset="0"/>
                    <a:cs typeface="Arial"/>
                  </a:rPr>
                  <m:t>⋅</m:t>
                </m:r>
                <m:r>
                  <a:rPr lang="en-US" altLang="zh-CN" b="1" i="1" smtClean="0" sz="1600">
                    <a:latin typeface="Arial" panose="02040503050406030204" pitchFamily="18" charset="0"/>
                    <a:ea typeface="Arial" panose="02040503050406030204" pitchFamily="18" charset="0"/>
                    <a:cs typeface="Arial"/>
                  </a:rPr>
                  <m:t>𝒙</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𝑏</m:t>
                </m:r>
                <m:r>
                  <a:rPr lang="en-US" altLang="zh-CN" b="0" i="1" smtClean="0" sz="1600">
                    <a:latin typeface="Arial" panose="02040503050406030204" pitchFamily="18" charset="0"/>
                    <a:ea typeface="Arial"/>
                    <a:cs typeface="Arial"/>
                  </a:rPr>
                  <m:t>)</m:t>
                </m:r>
              </m:oMath>
            </a14:m>
          </a:p>
        </p:txBody>
      </p:sp>
    </p:spTree>
    <p:extLst>
      <p:ext uri="{BB962C8B-B14F-4D97-AF65-F5344CB8AC3E}">
        <p14:creationId xmlns:p14="http://schemas.microsoft.com/office/powerpoint/2010/main" val="63854435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3" name="文本框 2">
            <a:extLst>
              <a:ext uri="{FF2B5EF4-FFF2-40B4-BE49-F238E27FC236}">
                <a16:creationId xmlns:a16="http://schemas.microsoft.com/office/drawing/2014/main" id="{6CD6D55D-41F4-D0B3-FA85-EB8BB00C78F0}"/>
              </a:ext>
            </a:extLst>
          </p:cNvPr>
          <p:cNvSpPr txBox="1"/>
          <p:nvPr/>
        </p:nvSpPr>
        <p:spPr>
          <a:xfrm>
            <a:off x="168376" y="946164"/>
            <a:ext cx="5444147" cy="307777"/>
          </a:xfrm>
          <a:prstGeom prst="rect">
            <a:avLst/>
          </a:prstGeom>
          <a:noFill/>
        </p:spPr>
        <p:txBody>
          <a:bodyPr wrap="square" lIns="0" tIns="0" rIns="0" bIns="0" rtlCol="0">
            <a:noAutofit/>
          </a:bodyPr>
          <a:lstStyle/>
          <a:p>
            <a:r>
              <a:rPr lang="en-US" altLang="en-US" sz="1600" dirty="0">
                <a:solidFill>
                  <a:prstClr val="black"/>
                </a:solidFill>
                <a:latin typeface="Arial" panose="020B0604020202020204" pitchFamily="34" charset="0"/>
                <a:ea typeface="Arial" panose="02010609060101010101" pitchFamily="49" charset="-122"/>
                <a:cs typeface="Arial"/>
              </a:rPr>
              <a:t>Soft-margin SVM: primal problem (convex quadratic program)</a:t>
            </a:r>
          </a:p>
        </p:txBody>
      </p:sp>
      <p:sp>
        <p:nvSpPr>
          <p:cNvPr id="9" name="文本框 8">
            <a:extLst>
              <a:ext uri="{FF2B5EF4-FFF2-40B4-BE49-F238E27FC236}">
                <a16:creationId xmlns:a16="http://schemas.microsoft.com/office/drawing/2014/main" id="{EE47A512-44A3-CA21-6A30-79FCA2381EBB}"/>
              </a:ext>
            </a:extLst>
          </p:cNvPr>
          <p:cNvSpPr txBox="1"/>
          <p:nvPr/>
        </p:nvSpPr>
        <p:spPr>
          <a:xfrm>
            <a:off x="168376" y="3462570"/>
            <a:ext cx="8707821" cy="615553"/>
          </a:xfrm>
          <a:prstGeom prst="rect">
            <a:avLst/>
          </a:prstGeom>
          <a:noFill/>
        </p:spPr>
        <p:txBody>
          <a:bodyPr wrap="square" lIns="0" tIns="0" rIns="0" bIns="0">
            <a:noAutofit/>
          </a:bodyPr>
          <a:lstStyle/>
          <a:p>
            <a:r>
              <a:rPr lang="en-US" altLang="en-US" sz="1600" b="0" i="0" dirty="0">
                <a:solidFill>
                  <a:srgbClr val="333333"/>
                </a:solidFill>
                <a:effectLst/>
                <a:latin typeface="Arial" panose="020B0604020202020204" pitchFamily="34" charset="0"/>
                <a:ea typeface="Arial" panose="02010609060101010101" pitchFamily="49" charset="-122"/>
                <a:cs typeface="Arial"/>
              </a:rPr>
              <a:t>Definition 7.5 (Linear SVM). For a linearly inseparable training set, solve the convex quadratic program, i.e., maximize the soft margin. The resulting separating hyperplane</a:t>
            </a:r>
          </a:p>
        </p:txBody>
      </p:sp>
      <p:sp>
        <p:nvSpPr>
          <p:cNvPr id="11" name="文本框 10">
            <a:extLst>
              <a:ext uri="{FF2B5EF4-FFF2-40B4-BE49-F238E27FC236}">
                <a16:creationId xmlns:a16="http://schemas.microsoft.com/office/drawing/2014/main" id="{A75D2B58-250A-AD66-5E06-641DFB2AC6C7}"/>
              </a:ext>
            </a:extLst>
          </p:cNvPr>
          <p:cNvSpPr txBox="1"/>
          <p:nvPr/>
        </p:nvSpPr>
        <p:spPr>
          <a:xfrm>
            <a:off x="346841" y="4730579"/>
            <a:ext cx="3048000" cy="307777"/>
          </a:xfrm>
          <a:prstGeom prst="rect">
            <a:avLst/>
          </a:prstGeom>
          <a:noFill/>
        </p:spPr>
        <p:txBody>
          <a:bodyPr wrap="square" lIns="0" tIns="0" rIns="0" bIns="0">
            <a:noAutofit/>
          </a:bodyPr>
          <a:lstStyle/>
          <a:p>
            <a:r>
              <a:rPr lang="en-US" altLang="en-US" sz="1600" dirty="0">
                <a:latin typeface="Arial"/>
                <a:ea typeface="Arial"/>
                <a:cs typeface="Arial"/>
              </a:rPr>
              <a:t>and the corresponding classification decision function</a:t>
            </a:r>
          </a:p>
        </p:txBody>
      </p:sp>
      <p:sp>
        <p:nvSpPr>
          <p:cNvPr id="14" name="文本框 13">
            <a:extLst>
              <a:ext uri="{FF2B5EF4-FFF2-40B4-BE49-F238E27FC236}">
                <a16:creationId xmlns:a16="http://schemas.microsoft.com/office/drawing/2014/main" id="{6C968576-0FE9-56D6-2EA7-DE7433D1FBE7}"/>
              </a:ext>
            </a:extLst>
          </p:cNvPr>
          <p:cNvSpPr txBox="1"/>
          <p:nvPr/>
        </p:nvSpPr>
        <p:spPr>
          <a:xfrm>
            <a:off x="383628" y="6031148"/>
            <a:ext cx="2538248" cy="307777"/>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define a linear support vector machine.</a:t>
            </a:r>
          </a:p>
        </p:txBody>
      </p:sp>
      <p:sp xmlns:a14="http://schemas.microsoft.com/office/drawing/2010/main">
        <p:nvSpPr>
          <p:cNvPr id="2" name="文本框 9">
            <a:extLst>
              <a:ext uri="{FF2B5EF4-FFF2-40B4-BE49-F238E27FC236}">
                <a16:creationId xmlns:a16="http://schemas.microsoft.com/office/drawing/2014/main" id="{B01D4143-490C-07A5-4D05-C63EAF5CE362}"/>
              </a:ext>
            </a:extLst>
          </p:cNvPr>
          <p:cNvSpPr txBox="1"/>
          <p:nvPr/>
        </p:nvSpPr>
        <p:spPr>
          <a:xfrm>
            <a:off x="1354686" y="1437696"/>
            <a:ext cx="4791536" cy="1495474"/>
          </a:xfrm>
          <a:prstGeom prst="rect">
            <a:avLst/>
          </a:prstGeom>
          <a:noFill/>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𝑇</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 xmlns:m="http://schemas.openxmlformats.org/officeDocument/2006/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r>
                      <a:rPr lang="en-US" altLang="zh-CN" sz="1600" b="1" i="1" smtClean="0">
                        <a:solidFill>
                          <a:prstClr val="black"/>
                        </a:solidFill>
                        <a:latin typeface="Arial" panose="02040503050406030204" pitchFamily="18" charset="0"/>
                        <a:ea typeface="Arial"/>
                        <a:cs typeface="Arial"/>
                      </a:rPr>
                      <m:t>𝒘</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r>
                  <a:rPr lang="en-US" altLang="zh-CN" sz="1600" b="0" i="1" smtClean="0">
                    <a:solidFill>
                      <a:prstClr val="black"/>
                    </a:solidFill>
                    <a:latin typeface="Arial" panose="02040503050406030204" pitchFamily="18" charset="0"/>
                    <a:ea typeface="Arial" panose="02040503050406030204" pitchFamily="18" charset="0"/>
                    <a:cs typeface="Arial"/>
                  </a:rPr>
                  <m:t>, </m:t>
                </m:r>
                <m:r>
                  <a:rPr lang="en-US" altLang="zh-CN" sz="1600" b="0" i="1" smtClean="0">
                    <a:solidFill>
                      <a:prstClr val="black"/>
                    </a:solidFill>
                    <a:latin typeface="Arial" panose="02040503050406030204" pitchFamily="18" charset="0"/>
                    <a:ea typeface="Arial" panose="02040503050406030204" pitchFamily="18" charset="0"/>
                    <a:cs typeface="Arial"/>
                  </a:rPr>
                  <m:t>𝑖</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1</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2</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𝑁</m:t>
                </m:r>
              </m:oMath>
            </a14:m>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 </a:t>
            </a: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90" normalizeH="0" baseline="0" noProof="0" dirty="0" smtClean="0">
                    <a:ln>
                      <a:noFill/>
                    </a:ln>
                    <a:solidFill>
                      <a:prstClr val="black"/>
                    </a:solidFill>
                    <a:effectLst/>
                    <a:uLnTx/>
                    <a:uFillTx/>
                    <a:latin typeface="Arial"/>
                    <a:ea typeface="Arial"/>
                    <a:cs typeface="Arial"/>
                  </a:rPr>
                  <m:t>,</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N</m:t>
                </m:r>
              </m:oMath>
            </a14:m>
            <a:endParaRPr kumimoji="0" lang="en-US" altLang="en-US" sz="1600" b="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8" name="文本框 7">
            <a:extLst>
              <a:ext uri="{FF2B5EF4-FFF2-40B4-BE49-F238E27FC236}">
                <a16:creationId xmlns:a16="http://schemas.microsoft.com/office/drawing/2014/main" id="{8E199E45-29FE-1165-B11E-787D780FA2BE}"/>
              </a:ext>
            </a:extLst>
          </p:cNvPr>
          <p:cNvSpPr txBox="1"/>
          <p:nvPr/>
        </p:nvSpPr>
        <p:spPr>
          <a:xfrm>
            <a:off x="1740477" y="4194603"/>
            <a:ext cx="4572000" cy="400110"/>
          </a:xfrm>
          <a:prstGeom prst="rect">
            <a:avLst/>
          </a:prstGeom>
          <a:noFill/>
        </p:spPr>
        <p:txBody>
          <a:bodyPr wrap="square">
            <a:noAutofit/>
          </a:bodyPr>
          <a:lstStyle/>
          <a:p>
            <a:pPr/>
            <a14:m>
              <m:oMathPara xmlns:m="http://schemas.openxmlformats.org/officeDocument/2006/math">
                <m:oMathParaPr>
                  <m:jc m:val="left"/>
                </m:oMathParaPr>
                <m:oMath>
                  <m:sSup>
                    <m:sSupPr>
                      <m:ctrlP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𝑏</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0</m:t>
                  </m:r>
                </m:oMath>
              </m:oMathPara>
            </a14:m>
            <a:endParaRPr lang="en-US" altLang="en-US" dirty="0" sz="1600">
              <a:latin typeface="Arial"/>
              <a:ea typeface="Arial"/>
              <a:cs typeface="Arial"/>
            </a:endParaRPr>
          </a:p>
        </p:txBody>
      </p:sp>
      <p:sp xmlns:a14="http://schemas.microsoft.com/office/drawing/2010/main">
        <p:nvSpPr>
          <p:cNvPr id="12" name="文本框 11">
            <a:extLst>
              <a:ext uri="{FF2B5EF4-FFF2-40B4-BE49-F238E27FC236}">
                <a16:creationId xmlns:a16="http://schemas.microsoft.com/office/drawing/2014/main" id="{F9AC4A04-A619-EBFB-E972-D2C076DA0F62}"/>
              </a:ext>
            </a:extLst>
          </p:cNvPr>
          <p:cNvSpPr txBox="1"/>
          <p:nvPr/>
        </p:nvSpPr>
        <p:spPr>
          <a:xfrm>
            <a:off x="1740477" y="5259005"/>
            <a:ext cx="4572000" cy="400110"/>
          </a:xfrm>
          <a:prstGeom prst="rect">
            <a:avLst/>
          </a:prstGeom>
          <a:noFill/>
        </p:spPr>
        <p:txBody>
          <a:bodyPr wrap="square">
            <a:noAutofit/>
          </a:bodyPr>
          <a:lstStyle/>
          <a:p>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𝑓</m:t>
                  </m:r>
                  <m:d>
                    <m:dPr>
                      <m:ctrlPr>
                        <a:rPr kumimoji="0" lang="en-US" altLang="zh-CN" sz="160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d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m:rPr>
                      <m:sty m:val="p"/>
                    </m:rP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sign</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Sup>
                    <m:sSupPr>
                      <m:ctrlP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𝒙</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p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𝑏</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oMath>
              </m:oMathPara>
            </a14:m>
            <a:endParaRPr lang="en-US" altLang="en-US" dirty="0" sz="1600">
              <a:latin typeface="Arial"/>
              <a:ea typeface="Arial"/>
              <a:cs typeface="Arial"/>
            </a:endParaRPr>
          </a:p>
        </p:txBody>
      </p:sp>
    </p:spTree>
    <p:extLst>
      <p:ext uri="{BB962C8B-B14F-4D97-AF65-F5344CB8AC3E}">
        <p14:creationId xmlns:p14="http://schemas.microsoft.com/office/powerpoint/2010/main" val="1717476114"/>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3" name="文本框 32">
            <a:extLst>
              <a:ext uri="{FF2B5EF4-FFF2-40B4-BE49-F238E27FC236}">
                <a16:creationId xmlns:a16="http://schemas.microsoft.com/office/drawing/2014/main" id="{57B17D2C-909E-43C9-A728-8768958E1193}"/>
              </a:ext>
            </a:extLst>
          </p:cNvPr>
          <p:cNvSpPr txBox="1"/>
          <p:nvPr/>
        </p:nvSpPr>
        <p:spPr>
          <a:xfrm>
            <a:off x="217602" y="942684"/>
            <a:ext cx="3334246" cy="615553"/>
          </a:xfrm>
          <a:prstGeom prst="rect">
            <a:avLst/>
          </a:prstGeom>
          <a:noFill/>
        </p:spPr>
        <p:txBody>
          <a:bodyPr wrap="non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r>
              <a:rPr lang="en-US" altLang="en-US" sz="1600" dirty="0">
                <a:latin typeface="Arial" panose="020B0604020202020204" pitchFamily="34" charset="0"/>
                <a:ea typeface="Arial" panose="02010609060101010101" pitchFamily="49" charset="-122"/>
                <a:cs typeface="Arial"/>
              </a:rPr>
              <a:t>Primal problem for a soft-margin SVM</a:t>
            </a:r>
          </a:p>
          <a:p>
            <a:r>
              <a:rPr lang="en-US" altLang="zh-CN" sz="1600" dirty="0">
                <a:latin typeface="Arial" panose="020B0604020202020204" pitchFamily="34" charset="0"/>
                <a:ea typeface="Arial" panose="02010609060101010101" pitchFamily="49" charset="-122"/>
                <a:cs typeface="Arial"/>
              </a:rPr>
              <a:t>(convex quadratic program):</a:t>
            </a:r>
          </a:p>
        </p:txBody>
      </p:sp>
      <p:sp>
        <p:nvSpPr>
          <p:cNvPr id="9" name="文本框 8">
            <a:extLst>
              <a:ext uri="{FF2B5EF4-FFF2-40B4-BE49-F238E27FC236}">
                <a16:creationId xmlns:a16="http://schemas.microsoft.com/office/drawing/2014/main" id="{31DF3D1A-61D1-2467-2D27-950E3726C36B}"/>
              </a:ext>
            </a:extLst>
          </p:cNvPr>
          <p:cNvSpPr txBox="1"/>
          <p:nvPr/>
        </p:nvSpPr>
        <p:spPr>
          <a:xfrm>
            <a:off x="217602" y="2780009"/>
            <a:ext cx="2635337"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The dual of the primal problem is:</a:t>
            </a:r>
          </a:p>
        </p:txBody>
      </p:sp>
      <p:sp xmlns:a14="http://schemas.microsoft.com/office/drawing/2010/main">
        <p:nvSpPr>
          <p:cNvPr id="2" name="文本框 9">
            <a:extLst>
              <a:ext uri="{FF2B5EF4-FFF2-40B4-BE49-F238E27FC236}">
                <a16:creationId xmlns:a16="http://schemas.microsoft.com/office/drawing/2014/main" id="{806D1706-83E7-518E-532F-51E6AFD4FD9D}"/>
              </a:ext>
            </a:extLst>
          </p:cNvPr>
          <p:cNvSpPr txBox="1"/>
          <p:nvPr/>
        </p:nvSpPr>
        <p:spPr>
          <a:xfrm>
            <a:off x="3912914" y="929656"/>
            <a:ext cx="4586850" cy="1495474"/>
          </a:xfrm>
          <a:prstGeom prst="rect">
            <a:avLst/>
          </a:prstGeom>
          <a:noFill/>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uncPr>
                    <m:fName>
                      <m:limLow>
                        <m:limLow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limLowPr>
                        <m:e>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min</m:t>
                          </m:r>
                        </m:e>
                        <m:lim>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𝑏</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𝜉</m:t>
                          </m:r>
                        </m:lim>
                      </m:limLow>
                    </m:fName>
                    <m:e>
                      <m:f>
                        <m:f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1</m:t>
                          </m:r>
                        </m:num>
                        <m:den>
                          <m: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2</m:t>
                          </m:r>
                        </m:den>
                      </m:f>
                      <m:sSup>
                        <m:sSupPr>
                          <m:ctrlPr>
                            <a:rPr kumimoji="0" lang="en-US" altLang="zh-CN" sz="1600" b="0" i="1" u="none" strike="noStrike" kern="1200" cap="none" spc="0" normalizeH="0" noProof="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sup>
                          <m:r>
                            <m:rPr>
                              <m:sty m:val="p"/>
                            </m:rPr>
                            <a:rPr kumimoji="0" lang="en-US" altLang="zh-CN" sz="1600" b="0" i="0"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T</m:t>
                          </m:r>
                        </m:sup>
                      </m:sSup>
                      <m:r>
                        <a:rPr kumimoji="0" lang="en-US" altLang="zh-CN" sz="1600" b="1" i="1" u="none" strike="noStrike" kern="1200" cap="none" spc="0" normalizeH="0" noProof="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𝒘</m:t>
                      </m:r>
                    </m:e>
                  </m:func>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10600040101010101" pitchFamily="2" charset="-122"/>
                      <a:cs typeface="Arial" panose="02020603050405020304" pitchFamily="18" charset="0"/>
                    </a:rPr>
                    <m:t>𝑐</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nary>
                    <m:naryPr>
                      <m:chr m:val="∑"/>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naryPr>
                    <m:sub>
                      <m:r>
                        <m:rPr>
                          <m:brk m:alnAt="23"/>
                        </m:r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m:t>
                      </m:r>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1</m:t>
                      </m:r>
                    </m:sub>
                    <m:sup>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𝑛</m:t>
                      </m:r>
                    </m:sup>
                    <m:e>
                      <m:sSub>
                        <m:sSubPr>
                          <m:ctrlP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en-US"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𝜉</m:t>
                          </m:r>
                        </m:e>
                        <m:sub>
                          <m:r>
                            <a:rPr kumimoji="0" lang="en-US" altLang="zh-CN" sz="1600" b="0" i="1" u="none" strike="noStrike" kern="1200" cap="none" spc="0" normalizeH="0" noProof="0" smtClean="0">
                              <a:ln>
                                <a:noFill/>
                              </a:ln>
                              <a:solidFill>
                                <a:srgbClr val="000000"/>
                              </a:solidFill>
                              <a:effectLst/>
                              <a:uLnTx/>
                              <a:uFillTx/>
                              <a:latin typeface="Arial" panose="02040503050406030204" pitchFamily="18" charset="0"/>
                              <a:ea typeface="Arial" panose="02040503050406030204" pitchFamily="18" charset="0"/>
                              <a:cs typeface="Arial" panose="02020603050405020304" pitchFamily="18" charset="0"/>
                            </a:rPr>
                            <m:t>𝑖</m:t>
                          </m:r>
                        </m:sub>
                      </m:sSub>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lvl="0"/>
            <a14:m>
              <m:oMath xmlns:m="http://schemas.openxmlformats.org/officeDocument/2006/math">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s</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m:rPr>
                    <m:sty m:val="p"/>
                  </m:rP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t</m:t>
                </m:r>
                <m:r>
                  <a:rPr kumimoji="0" lang="en-US" altLang="zh-CN" sz="1600" b="0" i="0" u="none" strike="noStrike" kern="1200" cap="none" spc="0" normalizeH="0" noProof="0" smtClean="0">
                    <a:ln>
                      <a:noFill/>
                    </a:ln>
                    <a:solidFill>
                      <a:prstClr val="black"/>
                    </a:solidFill>
                    <a:effectLst/>
                    <a:uLnTx/>
                    <a:uFillTx/>
                    <a:latin typeface="Arial" panose="02040503050406030204" pitchFamily="18" charset="0"/>
                    <a:ea typeface="Arial"/>
                    <a:cs typeface="Arial"/>
                  </a:rPr>
                  <m:t>.</m:t>
                </m:r>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a:cs typeface="Arial"/>
                  </a:rPr>
                  <m:t>   </m:t>
                </m:r>
                <m:sSub>
                  <m:sSubPr>
                    <m:ctrlPr>
                      <a:rPr lang="en-US" altLang="zh-CN" sz="1600" i="1">
                        <a:solidFill>
                          <a:prstClr val="black"/>
                        </a:solidFill>
                        <a:latin typeface="Arial" panose="02040503050406030204" pitchFamily="18" charset="0"/>
                        <a:ea typeface="Arial"/>
                        <a:cs typeface="Arial"/>
                      </a:rPr>
                    </m:ctrlPr>
                  </m:sSubPr>
                  <m:e>
                    <m:r>
                      <a:rPr lang="en-US" altLang="zh-CN" sz="1600" i="1">
                        <a:solidFill>
                          <a:prstClr val="black"/>
                        </a:solidFill>
                        <a:latin typeface="Arial" panose="02040503050406030204" pitchFamily="18" charset="0"/>
                        <a:ea typeface="Arial"/>
                        <a:cs typeface="Arial"/>
                      </a:rPr>
                      <m:t>𝑦</m:t>
                    </m:r>
                  </m:e>
                  <m:sub>
                    <m:r>
                      <a:rPr lang="en-US" altLang="zh-CN" sz="1600" i="1">
                        <a:solidFill>
                          <a:prstClr val="black"/>
                        </a:solidFill>
                        <a:latin typeface="Arial" panose="02040503050406030204" pitchFamily="18" charset="0"/>
                        <a:ea typeface="Arial"/>
                        <a:cs typeface="Arial"/>
                      </a:rPr>
                      <m:t>𝑖</m:t>
                    </m:r>
                  </m:sub>
                </m:sSub>
                <m:d>
                  <m:dPr>
                    <m:ctrlPr>
                      <a:rPr lang="en-US" altLang="zh-CN" sz="1600" i="1">
                        <a:solidFill>
                          <a:prstClr val="black"/>
                        </a:solidFill>
                        <a:latin typeface="Arial" panose="02040503050406030204" pitchFamily="18" charset="0"/>
                        <a:ea typeface="Arial"/>
                        <a:cs typeface="Arial"/>
                      </a:rPr>
                    </m:ctrlPr>
                  </m:dPr>
                  <m:e>
                    <m:r>
                      <a:rPr lang="en-US" altLang="zh-CN" sz="1600" b="1" i="1" smtClean="0">
                        <a:solidFill>
                          <a:prstClr val="black"/>
                        </a:solidFill>
                        <a:latin typeface="Arial" panose="02040503050406030204" pitchFamily="18" charset="0"/>
                        <a:ea typeface="Arial"/>
                        <a:cs typeface="Arial"/>
                      </a:rPr>
                      <m:t>𝒘</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a:cs typeface="Arial"/>
                          </a:rPr>
                        </m:ctrlPr>
                      </m:sSub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Sub>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𝑏</m:t>
                    </m:r>
                  </m:e>
                </m:d>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sSub>
                  <m:sSubPr>
                    <m:ctrlPr>
                      <a:rPr lang="en-US" altLang="zh-CN" sz="1600" i="1">
                        <a:solidFill>
                          <a:prstClr val="black"/>
                        </a:solidFill>
                        <a:latin typeface="Arial" panose="02040503050406030204" pitchFamily="18" charset="0"/>
                        <a:ea typeface="Arial" panose="02040503050406030204" pitchFamily="18" charset="0"/>
                        <a:cs typeface="Arial"/>
                      </a:rPr>
                    </m:ctrlPr>
                  </m:sSubPr>
                  <m:e>
                    <m:r>
                      <a:rPr lang="en-US" altLang="en-US" sz="1600" i="1">
                        <a:solidFill>
                          <a:prstClr val="black"/>
                        </a:solidFill>
                        <a:latin typeface="Arial" panose="02040503050406030204" pitchFamily="18" charset="0"/>
                        <a:ea typeface="Arial" panose="02040503050406030204" pitchFamily="18" charset="0"/>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𝑖</m:t>
                    </m:r>
                  </m:sub>
                </m:sSub>
                <m:r>
                  <a:rPr lang="en-US" altLang="zh-CN" sz="1600" b="0" i="1" smtClean="0">
                    <a:solidFill>
                      <a:prstClr val="black"/>
                    </a:solidFill>
                    <a:latin typeface="Arial" panose="02040503050406030204" pitchFamily="18" charset="0"/>
                    <a:ea typeface="Arial" panose="02040503050406030204" pitchFamily="18" charset="0"/>
                    <a:cs typeface="Arial"/>
                  </a:rPr>
                  <m:t>, </m:t>
                </m:r>
                <m:r>
                  <a:rPr lang="en-US" altLang="zh-CN" sz="1600" b="0" i="1" smtClean="0">
                    <a:solidFill>
                      <a:prstClr val="black"/>
                    </a:solidFill>
                    <a:latin typeface="Arial" panose="02040503050406030204" pitchFamily="18" charset="0"/>
                    <a:ea typeface="Arial" panose="02040503050406030204" pitchFamily="18" charset="0"/>
                    <a:cs typeface="Arial"/>
                  </a:rPr>
                  <m:t>𝑖</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1</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2</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𝑁</m:t>
                </m:r>
              </m:oMath>
            </a14:m>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 </a:t>
            </a:r>
          </a:p>
          <a:p>
            <a:pPr lvl="0"/>
            <a:r>
              <a:rPr kumimoji="0" lang="en-US" altLang="en-US" sz="1600" b="0" u="none" strike="noStrike" kern="1200" cap="none" spc="-40" normalizeH="0" baseline="0" noProof="0" dirty="0">
                <a:ln>
                  <a:noFill/>
                </a:ln>
                <a:solidFill>
                  <a:prstClr val="black"/>
                </a:solidFill>
                <a:effectLst/>
                <a:uLnTx/>
                <a:uFillTx/>
                <a:ea typeface="Arial"/>
                <a:cs typeface="Arial"/>
                <a:latin typeface="Arial"/>
              </a:rPr>
              <a:t>         </a:t>
            </a:r>
            <a14:m>
              <m:oMath xmlns:m="http://schemas.openxmlformats.org/officeDocument/2006/math">
                <m:r>
                  <m:rPr>
                    <m:nor/>
                  </m:rPr>
                  <a:rPr kumimoji="0" lang="en-US" altLang="en-US" sz="1600" b="0" i="0" u="none" strike="noStrike" kern="1200" cap="none" spc="-40" normalizeH="0" baseline="0" noProof="0" dirty="0" smtClean="0">
                    <a:ln>
                      <a:noFill/>
                    </a:ln>
                    <a:solidFill>
                      <a:prstClr val="black"/>
                    </a:solidFill>
                    <a:effectLst/>
                    <a:uLnTx/>
                    <a:uFillTx/>
                    <a:latin typeface="Arial"/>
                    <a:ea typeface="Arial"/>
                    <a:cs typeface="Arial"/>
                  </a:rPr>
                  <m:t>𝜉</m:t>
                </m:r>
                <m:r>
                  <m:rPr>
                    <m:nor/>
                  </m:rPr>
                  <a:rPr kumimoji="0" lang="en-US" altLang="en-US" sz="1600" b="0" i="0" u="none" strike="noStrike" kern="1200" cap="none" spc="44" normalizeH="0" baseline="-16908"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0" normalizeH="0" baseline="-16908"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0"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0</m:t>
                </m:r>
                <m:r>
                  <m:rPr>
                    <m:nor/>
                  </m:rPr>
                  <a:rPr kumimoji="0" lang="en-US" altLang="zh-CN" sz="1600" b="0" i="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en-US" sz="1600" b="0" i="0" u="none" strike="noStrike" kern="1200" cap="none" spc="15" normalizeH="0" baseline="0" noProof="0" dirty="0" smtClean="0">
                    <a:ln>
                      <a:noFill/>
                    </a:ln>
                    <a:solidFill>
                      <a:prstClr val="black"/>
                    </a:solidFill>
                    <a:effectLst/>
                    <a:uLnTx/>
                    <a:uFillTx/>
                    <a:latin typeface="Arial"/>
                    <a:ea typeface="Arial"/>
                    <a:cs typeface="Arial"/>
                  </a:rPr>
                  <m:t>𝑖</m:t>
                </m:r>
                <m:r>
                  <m:rPr>
                    <m:nor/>
                  </m:rPr>
                  <a:rPr kumimoji="0" lang="en-US" altLang="en-US" sz="1600" b="0" i="0" u="none" strike="noStrike" kern="1200" cap="none" spc="155" normalizeH="0" baseline="0" noProof="0" dirty="0" smtClean="0">
                    <a:ln>
                      <a:noFill/>
                    </a:ln>
                    <a:solidFill>
                      <a:prstClr val="black"/>
                    </a:solidFill>
                    <a:effectLst/>
                    <a:uLnTx/>
                    <a:uFillTx/>
                    <a:latin typeface="Arial"/>
                    <a:ea typeface="Arial"/>
                    <a:cs typeface="Arial"/>
                  </a:rPr>
                  <m:t> </m:t>
                </m:r>
                <m:r>
                  <m:rPr>
                    <m:nor/>
                  </m:rPr>
                  <a:rPr kumimoji="0" lang="en-US" altLang="zh-CN" sz="1600" b="0" i="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i="0" u="none" strike="noStrike" kern="1200" cap="none" spc="85"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1</m:t>
                </m:r>
                <m:r>
                  <m:rPr>
                    <m:nor/>
                  </m:rPr>
                  <a:rPr kumimoji="0" lang="en-US" altLang="zh-CN" sz="1600" b="0" u="none" strike="noStrike" kern="1200" cap="none" spc="5" normalizeH="0" baseline="0" noProof="0" dirty="0" smtClean="0">
                    <a:ln>
                      <a:noFill/>
                    </a:ln>
                    <a:solidFill>
                      <a:prstClr val="black"/>
                    </a:solidFill>
                    <a:effectLst/>
                    <a:uLnTx/>
                    <a:uFillTx/>
                    <a:latin typeface="Arial"/>
                    <a:ea typeface="Arial"/>
                    <a:cs typeface="Arial"/>
                  </a:rPr>
                  <m:t>,</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2</m:t>
                </m:r>
                <m:r>
                  <m:rPr>
                    <m:nor/>
                  </m:rPr>
                  <a:rPr kumimoji="0" lang="en-US" altLang="zh-CN" sz="1600" b="0" u="none" strike="noStrike" kern="1200" cap="none" spc="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10" normalizeH="0" baseline="0" noProof="0" dirty="0" smtClean="0">
                    <a:ln>
                      <a:noFill/>
                    </a:ln>
                    <a:solidFill>
                      <a:prstClr val="black"/>
                    </a:solidFill>
                    <a:effectLst/>
                    <a:uLnTx/>
                    <a:uFillTx/>
                    <a:latin typeface="Arial"/>
                    <a:ea typeface="Arial"/>
                    <a:cs typeface="Arial"/>
                  </a:rPr>
                  <m:t>…</m:t>
                </m:r>
                <m:r>
                  <m:rPr>
                    <m:nor/>
                  </m:rPr>
                  <a:rPr kumimoji="0" lang="en-US" altLang="en-US" sz="1600" b="0"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u="none" strike="noStrike" kern="1200" cap="none" spc="-90" normalizeH="0" baseline="0" noProof="0" dirty="0" smtClean="0">
                    <a:ln>
                      <a:noFill/>
                    </a:ln>
                    <a:solidFill>
                      <a:prstClr val="black"/>
                    </a:solidFill>
                    <a:effectLst/>
                    <a:uLnTx/>
                    <a:uFillTx/>
                    <a:latin typeface="Arial"/>
                    <a:ea typeface="Arial"/>
                    <a:cs typeface="Arial"/>
                  </a:rPr>
                  <m:t>,</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 </m:t>
                </m:r>
                <m:r>
                  <m:rPr>
                    <m:nor/>
                  </m:rPr>
                  <a:rPr kumimoji="0" lang="en-US" altLang="zh-CN" sz="1600" b="0" i="1" u="none" strike="noStrike" kern="1200" cap="none" spc="-90" normalizeH="0" baseline="0" noProof="0" dirty="0" smtClean="0">
                    <a:ln>
                      <a:noFill/>
                    </a:ln>
                    <a:solidFill>
                      <a:prstClr val="black"/>
                    </a:solidFill>
                    <a:effectLst/>
                    <a:uLnTx/>
                    <a:uFillTx/>
                    <a:latin typeface="Arial"/>
                    <a:ea typeface="Arial"/>
                    <a:cs typeface="Arial"/>
                  </a:rPr>
                  <m:t>N</m:t>
                </m:r>
              </m:oMath>
            </a14:m>
            <a:endParaRPr kumimoji="0" lang="en-US" altLang="en-US" sz="1600" b="0" i="1"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4" name="内容占位符 2">
            <a:extLst>
              <a:ext uri="{FF2B5EF4-FFF2-40B4-BE49-F238E27FC236}">
                <a16:creationId xmlns:a16="http://schemas.microsoft.com/office/drawing/2014/main" id="{F156988E-3BEE-D78C-EEEF-3F8D8CA172FD}"/>
              </a:ext>
            </a:extLst>
          </p:cNvPr>
          <p:cNvSpPr txBox="1">
            <a:spLocks/>
          </p:cNvSpPr>
          <p:nvPr/>
        </p:nvSpPr>
        <p:spPr bwMode="auto">
          <a:xfrm>
            <a:off x="3912914" y="2545694"/>
            <a:ext cx="4436181" cy="1646253"/>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7" name="文本框 6">
            <a:extLst>
              <a:ext uri="{FF2B5EF4-FFF2-40B4-BE49-F238E27FC236}">
                <a16:creationId xmlns:a16="http://schemas.microsoft.com/office/drawing/2014/main" id="{2FDC6888-E8DD-12C6-7AAF-0B0E867C7FDA}"/>
              </a:ext>
            </a:extLst>
          </p:cNvPr>
          <p:cNvSpPr txBox="1"/>
          <p:nvPr/>
        </p:nvSpPr>
        <p:spPr>
          <a:xfrm>
            <a:off x="153804" y="4299483"/>
            <a:ext cx="8836392" cy="1532343"/>
          </a:xfrm>
          <a:prstGeom prst="rect">
            <a:avLst/>
          </a:prstGeom>
          <a:noFill/>
        </p:spPr>
        <p:txBody>
          <a:bodyPr wrap="square" lIns="0" tIns="0" rIns="0" bIns="0">
            <a:noAutofit/>
          </a:bodyPr>
          <a:lstStyle/>
          <a:p>
            <a:pPr>
              <a:spcBef>
                <a:spcPts val="400"/>
              </a:spcBef>
            </a:pPr>
            <a:r>
              <a:rPr lang="en-US" altLang="en-US" sz="1600" dirty="0">
                <a:latin typeface="Arial" panose="020B0604020202020204" pitchFamily="34" charset="0"/>
                <a:ea typeface="Arial" panose="02010609060101010101" pitchFamily="49" charset="-122"/>
                <a:cs typeface="Arial"/>
              </a:rPr>
              <a:t>The Lagrangian of the primal problem is:</a:t>
            </a:r>
          </a:p>
          <a:p>
            <a:pPr>
              <a:spcBef>
                <a:spcPts val="400"/>
              </a:spcBef>
            </a:pPr>
            <a14:m>
              <m:oMathPara xmlns:m="http://schemas.openxmlformats.org/officeDocument/2006/math">
                <m:oMathParaPr>
                  <m:jc m:val="centerGroup"/>
                </m:oMathParaPr>
                <m:oMath>
                  <m:r>
                    <a:rPr lang="en-US" altLang="zh-CN" sz="1600" b="0" i="1" smtClean="0">
                      <a:latin typeface="Arial" panose="02040503050406030204" pitchFamily="18" charset="0"/>
                      <a:ea typeface="Arial" panose="02010609060101010101" pitchFamily="49" charset="-122"/>
                      <a:cs typeface="Arial"/>
                    </a:rPr>
                    <m:t>𝐿</m:t>
                  </m:r>
                  <m:d>
                    <m:dPr>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𝒘</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𝝃</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𝜶</m:t>
                      </m:r>
                      <m:r>
                        <a:rPr lang="en-US" altLang="zh-CN" sz="1600" b="0" i="1" smtClean="0">
                          <a:latin typeface="Arial" panose="02040503050406030204" pitchFamily="18" charset="0"/>
                          <a:ea typeface="Arial" panose="02010609060101010101" pitchFamily="49" charset="-122"/>
                          <a:cs typeface="Arial"/>
                        </a:rPr>
                        <m:t>,</m:t>
                      </m:r>
                      <m:r>
                        <a:rPr lang="en-US" altLang="en-US" sz="1600" b="1" i="1" smtClean="0">
                          <a:latin typeface="Arial" panose="02040503050406030204" pitchFamily="18" charset="0"/>
                          <a:ea typeface="Arial" panose="02010609060101010101" pitchFamily="49" charset="-122"/>
                          <a:cs typeface="Arial"/>
                        </a:rPr>
                        <m:t>𝝁</m:t>
                      </m:r>
                    </m:e>
                  </m:d>
                  <m:r>
                    <a:rPr lang="en-US" altLang="zh-CN" sz="1600" b="0" i="1" smtClean="0">
                      <a:latin typeface="Arial" panose="02040503050406030204" pitchFamily="18" charset="0"/>
                      <a:ea typeface="Arial" panose="02010609060101010101" pitchFamily="49" charset="-122"/>
                      <a:cs typeface="Arial"/>
                    </a:rPr>
                    <m:t>=</m:t>
                  </m:r>
                  <m:f>
                    <m:fPr>
                      <m:ctrlPr>
                        <a:rPr lang="en-US" altLang="zh-CN" sz="1600" b="0" i="1" smtClean="0">
                          <a:latin typeface="Arial" panose="02040503050406030204" pitchFamily="18" charset="0"/>
                          <a:ea typeface="Arial" panose="02010609060101010101" pitchFamily="49" charset="-122"/>
                          <a:cs typeface="Arial"/>
                        </a:rPr>
                      </m:ctrlPr>
                    </m:fPr>
                    <m:num>
                      <m:r>
                        <a:rPr lang="en-US" altLang="zh-CN" sz="1600" b="0" i="1" smtClean="0">
                          <a:latin typeface="Arial" panose="02040503050406030204" pitchFamily="18" charset="0"/>
                          <a:ea typeface="Arial" panose="02010609060101010101" pitchFamily="49" charset="-122"/>
                          <a:cs typeface="Arial"/>
                        </a:rPr>
                        <m:t>1</m:t>
                      </m:r>
                    </m:num>
                    <m:den>
                      <m:r>
                        <a:rPr lang="en-US" altLang="zh-CN" sz="1600" b="0" i="1" smtClean="0">
                          <a:latin typeface="Arial" panose="02040503050406030204" pitchFamily="18" charset="0"/>
                          <a:ea typeface="Arial" panose="02010609060101010101" pitchFamily="49" charset="-122"/>
                          <a:cs typeface="Arial"/>
                        </a:rPr>
                        <m:t>2</m:t>
                      </m:r>
                    </m:den>
                  </m:f>
                  <m:sSup>
                    <m:sSupPr>
                      <m:ctrlPr>
                        <a:rPr lang="en-US" altLang="zh-CN" sz="1600" b="0" i="1" smtClean="0">
                          <a:latin typeface="Arial" panose="02040503050406030204" pitchFamily="18" charset="0"/>
                          <a:ea typeface="Arial" panose="02010609060101010101" pitchFamily="49" charset="-122"/>
                          <a:cs typeface="Arial"/>
                        </a:rPr>
                      </m:ctrlPr>
                    </m:sSupPr>
                    <m:e>
                      <m:d>
                        <m:dPr>
                          <m:begChr m:val="‖"/>
                          <m:endChr m:val="‖"/>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𝒘</m:t>
                          </m:r>
                        </m:e>
                      </m:d>
                    </m:e>
                    <m:sup>
                      <m:r>
                        <a:rPr lang="en-US" altLang="zh-CN" sz="1600" b="0" i="1" smtClean="0">
                          <a:latin typeface="Arial" panose="02040503050406030204" pitchFamily="18" charset="0"/>
                          <a:ea typeface="Arial" panose="02010609060101010101" pitchFamily="49" charset="-122"/>
                          <a:cs typeface="Arial"/>
                        </a:rPr>
                        <m:t>2</m:t>
                      </m:r>
                    </m:sup>
                  </m:sSup>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𝐶</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𝜉</m:t>
                          </m:r>
                        </m:e>
                        <m:sub>
                          <m:r>
                            <a:rPr lang="en-US" altLang="zh-CN" sz="1600" b="0" i="1" smtClean="0">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d>
                            <m:dPr>
                              <m:ctrlPr>
                                <a:rPr lang="en-US" altLang="zh-CN" sz="1600" b="0" i="1" smtClean="0">
                                  <a:latin typeface="Arial" panose="02040503050406030204" pitchFamily="18" charset="0"/>
                                  <a:ea typeface="Arial" panose="02010609060101010101" pitchFamily="49" charset="-122"/>
                                  <a:cs typeface="Arial"/>
                                </a:rPr>
                              </m:ctrlPr>
                            </m:dPr>
                            <m:e>
                              <m:sSup>
                                <m:sSupPr>
                                  <m:ctrlPr>
                                    <a:rPr lang="en-US" altLang="zh-CN" sz="1600" b="0" i="1" smtClean="0">
                                      <a:latin typeface="Arial" panose="02040503050406030204" pitchFamily="18" charset="0"/>
                                      <a:ea typeface="Arial" panose="02010609060101010101" pitchFamily="49" charset="-122"/>
                                      <a:cs typeface="Arial"/>
                                    </a:rPr>
                                  </m:ctrlPr>
                                </m:sSupPr>
                                <m:e>
                                  <m:r>
                                    <a:rPr lang="en-US" altLang="zh-CN" sz="1600" b="1" i="1" smtClean="0">
                                      <a:latin typeface="Arial" panose="02040503050406030204" pitchFamily="18" charset="0"/>
                                      <a:ea typeface="Arial" panose="02010609060101010101" pitchFamily="49" charset="-122"/>
                                      <a:cs typeface="Arial"/>
                                    </a:rPr>
                                    <m:t>𝒘</m:t>
                                  </m:r>
                                </m:e>
                                <m:sup>
                                  <m:r>
                                    <m:rPr>
                                      <m:sty m:val="p"/>
                                    </m:rPr>
                                    <a:rPr lang="en-US" altLang="zh-CN" sz="1600" b="0" i="0" smtClean="0">
                                      <a:latin typeface="Arial" panose="02040503050406030204" pitchFamily="18" charset="0"/>
                                      <a:ea typeface="Arial" panose="02010609060101010101" pitchFamily="49" charset="-122"/>
                                      <a:cs typeface="Arial"/>
                                    </a:rPr>
                                    <m:t>T</m:t>
                                  </m:r>
                                </m:sup>
                              </m:sSup>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e>
                          </m:d>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1</m:t>
                          </m:r>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d>
                    </m:e>
                  </m:nary>
                  <m:r>
                    <a:rPr lang="en-US" altLang="zh-CN" sz="1600" i="1">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oMath>
              </m:oMathPara>
            </a14:m>
            <a:endParaRPr lang="en-US" altLang="zh-CN" sz="1600" b="0" dirty="0">
              <a:latin typeface="Arial" panose="020B0604020202020204" pitchFamily="34" charset="0"/>
              <a:ea typeface="Arial" panose="02010609060101010101" pitchFamily="49" charset="-122"/>
              <a:cs typeface="Arial"/>
            </a:endParaRPr>
          </a:p>
          <a:p>
            <a:pPr algn="ctr">
              <a:spcBef>
                <a:spcPts val="400"/>
              </a:spcBef>
            </a:pPr>
            <a14:m>
              <m:oMath xmlns:m="http://schemas.openxmlformats.org/officeDocument/2006/math">
                <m:sSub>
                  <m:sSubPr>
                    <m:ctrlPr>
                      <a:rPr lang="en-US" altLang="zh-CN" sz="1600" i="1" smtClean="0">
                        <a:latin typeface="Arial" panose="02040503050406030204" pitchFamily="18" charset="0"/>
                        <a:ea typeface="Arial" panose="02010609060101010101" pitchFamily="49" charset="-122"/>
                        <a:cs typeface="Arial"/>
                      </a:rPr>
                    </m:ctrlPr>
                  </m:sSub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a14:m>
            <a:r>
              <a:rPr lang="en-US" altLang="en-US" sz="1600" dirty="0">
                <a:latin typeface="Arial" panose="020B0604020202020204" pitchFamily="34" charset="0"/>
                <a:ea typeface="Arial" panose="02010609060101010101" pitchFamily="49" charset="-122"/>
                <a:cs typeface="Arial"/>
              </a:rPr>
              <a:t> are Lagrange multipliers.</a:t>
            </a:r>
          </a:p>
        </p:txBody>
      </p:sp>
    </p:spTree>
    <p:extLst>
      <p:ext uri="{BB962C8B-B14F-4D97-AF65-F5344CB8AC3E}">
        <p14:creationId xmlns:p14="http://schemas.microsoft.com/office/powerpoint/2010/main" val="2527683692"/>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20" name="文本框 19">
            <a:extLst>
              <a:ext uri="{FF2B5EF4-FFF2-40B4-BE49-F238E27FC236}">
                <a16:creationId xmlns:a16="http://schemas.microsoft.com/office/drawing/2014/main" id="{0CE1F6EB-1FE9-5F22-18EF-78C1A730B4CE}"/>
              </a:ext>
            </a:extLst>
          </p:cNvPr>
          <p:cNvSpPr txBox="1"/>
          <p:nvPr/>
        </p:nvSpPr>
        <p:spPr>
          <a:xfrm>
            <a:off x="180067" y="2226667"/>
            <a:ext cx="8921892" cy="1708994"/>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Substituting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a:rPr lang="en-US" altLang="zh-CN" sz="1600" b="1" i="1" smtClean="0">
                    <a:latin typeface="Arial" panose="02040503050406030204" pitchFamily="18" charset="0"/>
                    <a:ea typeface="Arial"/>
                    <a:cs typeface="Arial"/>
                  </a:rPr>
                  <m:t>𝒘</m:t>
                </m:r>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𝑏</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𝜉</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𝛼</m:t>
                </m:r>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𝜇</m:t>
                </m:r>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gives:</a:t>
            </a:r>
          </a:p>
          <a:p>
            <a:r>
              <a:rPr lang="en-US" altLang="zh-CN" sz="1600" dirty="0">
                <a:solidFill>
                  <a:sysClr val="windowText" lastClr="000000"/>
                </a:solidFill>
                <a:ea typeface="Arial" panose="02010609060101010101" pitchFamily="49" charset="-122"/>
                <a:latin typeface="Arial"/>
                <a:cs typeface="Arial"/>
              </a:rPr>
              <a:t> </a:t>
            </a:r>
            <a14:m>
              <m:oMath xmlns:m="http://schemas.openxmlformats.org/officeDocument/2006/math">
                <m:func>
                  <m:funcPr>
                    <m:ctrlPr>
                      <a:rPr lang="en-US" altLang="zh-CN" sz="1600" i="1" smtClean="0">
                        <a:solidFill>
                          <a:sysClr val="windowText" lastClr="000000"/>
                        </a:solidFill>
                        <a:latin typeface="Arial" panose="02040503050406030204" pitchFamily="18" charset="0"/>
                        <a:ea typeface="Arial" panose="02010609060101010101" pitchFamily="49" charset="-122"/>
                        <a:cs typeface="Arial"/>
                      </a:rPr>
                    </m:ctrlPr>
                  </m:funcPr>
                  <m:fName>
                    <m:limLow>
                      <m:limLowPr>
                        <m:ctrlPr>
                          <a:rPr lang="en-US" altLang="zh-CN" sz="1600" i="1">
                            <a:solidFill>
                              <a:sysClr val="windowText" lastClr="000000"/>
                            </a:solidFill>
                            <a:latin typeface="Arial" panose="02040503050406030204" pitchFamily="18" charset="0"/>
                            <a:ea typeface="Arial" panose="02010609060101010101" pitchFamily="49" charset="-122"/>
                            <a:cs typeface="Arial"/>
                          </a:rPr>
                        </m:ctrlPr>
                      </m:limLowPr>
                      <m:e>
                        <m:r>
                          <m:rPr>
                            <m:sty m:val="p"/>
                          </m:rPr>
                          <a:rPr lang="en-US" altLang="zh-CN" sz="1600">
                            <a:solidFill>
                              <a:sysClr val="windowText" lastClr="000000"/>
                            </a:solidFill>
                            <a:latin typeface="Arial" panose="02040503050406030204" pitchFamily="18" charset="0"/>
                            <a:ea typeface="Arial" panose="02010609060101010101" pitchFamily="49" charset="-122"/>
                            <a:cs typeface="Arial"/>
                          </a:rPr>
                          <m:t>m</m:t>
                        </m:r>
                        <m:r>
                          <m:rPr>
                            <m:sty m:val="p"/>
                          </m:rPr>
                          <a:rPr lang="en-US" altLang="zh-CN" sz="1600" b="0" i="0" smtClean="0">
                            <a:solidFill>
                              <a:sysClr val="windowText" lastClr="000000"/>
                            </a:solidFill>
                            <a:latin typeface="Arial" panose="02040503050406030204" pitchFamily="18" charset="0"/>
                            <a:ea typeface="Arial" panose="02010609060101010101" pitchFamily="49" charset="-122"/>
                            <a:cs typeface="Arial"/>
                          </a:rPr>
                          <m:t>in</m:t>
                        </m:r>
                      </m:e>
                      <m:lim>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𝜉</m:t>
                        </m:r>
                      </m:lim>
                    </m:limLow>
                  </m:fName>
                  <m:e>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𝐿</m:t>
                    </m:r>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𝜉</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𝛼</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𝜇</m:t>
                        </m:r>
                      </m:e>
                    </m:d>
                  </m:e>
                </m:func>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f>
                  <m:fPr>
                    <m:ctrlPr>
                      <a:rPr lang="en-US" altLang="zh-CN" sz="1600" i="1">
                        <a:solidFill>
                          <a:sysClr val="windowText" lastClr="000000"/>
                        </a:solidFill>
                        <a:latin typeface="Arial" panose="02040503050406030204" pitchFamily="18" charset="0"/>
                        <a:ea typeface="Arial" panose="02010609060101010101" pitchFamily="49" charset="-122"/>
                        <a:cs typeface="Arial"/>
                      </a:rPr>
                    </m:ctrlPr>
                  </m:fPr>
                  <m:num>
                    <m:r>
                      <a:rPr lang="en-US" altLang="zh-CN" sz="1600" i="1">
                        <a:solidFill>
                          <a:sysClr val="windowText" lastClr="000000"/>
                        </a:solidFill>
                        <a:latin typeface="Arial" panose="02040503050406030204" pitchFamily="18" charset="0"/>
                        <a:ea typeface="Arial" panose="02010609060101010101" pitchFamily="49" charset="-122"/>
                        <a:cs typeface="Arial"/>
                      </a:rPr>
                      <m:t>1</m:t>
                    </m:r>
                  </m:num>
                  <m:den>
                    <m:r>
                      <a:rPr lang="en-US" altLang="zh-CN" sz="1600" i="1">
                        <a:solidFill>
                          <a:sysClr val="windowText" lastClr="000000"/>
                        </a:solidFill>
                        <a:latin typeface="Arial" panose="02040503050406030204" pitchFamily="18" charset="0"/>
                        <a:ea typeface="Arial" panose="02010609060101010101" pitchFamily="49" charset="-122"/>
                        <a:cs typeface="Arial"/>
                      </a:rPr>
                      <m:t>2</m:t>
                    </m:r>
                  </m:den>
                </m:f>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𝐶</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𝜇</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𝜉</m:t>
                        </m:r>
                      </m:e>
                      <m:sub>
                        <m:r>
                          <a:rPr lang="en-US" altLang="zh-CN" sz="1600" i="1">
                            <a:latin typeface="Arial" panose="02040503050406030204" pitchFamily="18" charset="0"/>
                            <a:ea typeface="Arial" panose="02010609060101010101" pitchFamily="49" charset="-122"/>
                            <a:cs typeface="Arial"/>
                          </a:rPr>
                          <m:t>𝑖</m:t>
                        </m:r>
                      </m:sub>
                    </m:sSub>
                  </m:e>
                </m:nary>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i="1">
                            <a:latin typeface="Arial" panose="02040503050406030204" pitchFamily="18" charset="0"/>
                            <a:ea typeface="Arial" panose="02010609060101010101" pitchFamily="49" charset="-122"/>
                            <a:cs typeface="Arial"/>
                          </a:rPr>
                          <m:t>𝑖</m:t>
                        </m:r>
                      </m:sub>
                    </m:sSub>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𝑏</m:t>
                    </m:r>
                  </m:e>
                </m:nary>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oMath>
            </a14:m>
            <a:endParaRPr lang="en-US" altLang="zh-CN" sz="1600" dirty="0">
              <a:solidFill>
                <a:sysClr val="windowText" lastClr="000000"/>
              </a:solidFill>
              <a:ea typeface="Arial" panose="02010609060101010101" pitchFamily="49" charset="-122"/>
              <a:latin typeface="Arial"/>
              <a:cs typeface="Arial"/>
            </a:endParaRPr>
          </a:p>
          <a:p>
            <a:pPr>
              <a:spcBef>
                <a:spcPts val="600"/>
              </a:spcBef>
            </a:pPr>
            <a:r>
              <a:rPr lang="en-US" altLang="zh-CN" sz="1600" dirty="0">
                <a:solidFill>
                  <a:sysClr val="windowText" lastClr="000000"/>
                </a:solidFill>
                <a:ea typeface="Arial" panose="02010609060101010101" pitchFamily="49" charset="-122"/>
                <a:latin typeface="Arial"/>
                <a:cs typeface="Arial"/>
              </a:rPr>
              <a:t> </a:t>
            </a:r>
            <a14:m>
              <m:oMath xmlns:m="http://schemas.openxmlformats.org/officeDocument/2006/math">
                <m:func>
                  <m:funcPr>
                    <m:ctrlPr>
                      <a:rPr lang="en-US" altLang="zh-CN" sz="1600" i="1">
                        <a:solidFill>
                          <a:sysClr val="windowText" lastClr="000000"/>
                        </a:solidFill>
                        <a:latin typeface="Arial" panose="02040503050406030204" pitchFamily="18" charset="0"/>
                        <a:ea typeface="Arial" panose="02010609060101010101" pitchFamily="49" charset="-122"/>
                        <a:cs typeface="Arial"/>
                      </a:rPr>
                    </m:ctrlPr>
                  </m:funcPr>
                  <m:fName>
                    <m:limLow>
                      <m:limLowPr>
                        <m:ctrlPr>
                          <a:rPr lang="en-US" altLang="zh-CN" sz="1600" i="1">
                            <a:solidFill>
                              <a:sysClr val="windowText" lastClr="000000"/>
                            </a:solidFill>
                            <a:latin typeface="Arial" panose="02040503050406030204" pitchFamily="18" charset="0"/>
                            <a:ea typeface="Arial" panose="02010609060101010101" pitchFamily="49" charset="-122"/>
                            <a:cs typeface="Arial"/>
                          </a:rPr>
                        </m:ctrlPr>
                      </m:limLowPr>
                      <m:e>
                        <m:r>
                          <m:rPr>
                            <m:sty m:val="p"/>
                          </m:rPr>
                          <a:rPr lang="en-US" altLang="zh-CN" sz="1600">
                            <a:solidFill>
                              <a:sysClr val="windowText" lastClr="000000"/>
                            </a:solidFill>
                            <a:latin typeface="Arial" panose="02040503050406030204" pitchFamily="18" charset="0"/>
                            <a:ea typeface="Arial" panose="02010609060101010101" pitchFamily="49" charset="-122"/>
                            <a:cs typeface="Arial"/>
                          </a:rPr>
                          <m:t>m</m:t>
                        </m:r>
                        <m:r>
                          <m:rPr>
                            <m:sty m:val="p"/>
                          </m:rPr>
                          <a:rPr lang="en-US" altLang="zh-CN" sz="1600" b="0" i="0" smtClean="0">
                            <a:solidFill>
                              <a:sysClr val="windowText" lastClr="000000"/>
                            </a:solidFill>
                            <a:latin typeface="Arial" panose="02040503050406030204" pitchFamily="18" charset="0"/>
                            <a:ea typeface="Arial" panose="02010609060101010101" pitchFamily="49" charset="-122"/>
                            <a:cs typeface="Arial"/>
                          </a:rPr>
                          <m:t>in</m:t>
                        </m:r>
                      </m:e>
                      <m:lim>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𝜉</m:t>
                        </m:r>
                      </m:lim>
                    </m:limLow>
                  </m:fName>
                  <m:e>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𝐿</m:t>
                    </m:r>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𝒘</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𝑏</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𝜉</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𝛼</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b="0" i="1" smtClean="0">
                            <a:solidFill>
                              <a:sysClr val="windowText" lastClr="000000"/>
                            </a:solidFill>
                            <a:latin typeface="Arial" panose="02040503050406030204" pitchFamily="18" charset="0"/>
                            <a:ea typeface="Arial" panose="02010609060101010101" pitchFamily="49" charset="-122"/>
                            <a:cs typeface="Arial"/>
                          </a:rPr>
                          <m:t>𝜇</m:t>
                        </m:r>
                      </m:e>
                    </m:d>
                  </m:e>
                </m:func>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i="1">
                    <a:solidFill>
                      <a:sysClr val="windowText" lastClr="000000"/>
                    </a:solidFill>
                    <a:latin typeface="Arial" panose="02040503050406030204" pitchFamily="18" charset="0"/>
                    <a:ea typeface="Arial" panose="02010609060101010101" pitchFamily="49" charset="-122"/>
                    <a:cs typeface="Arial"/>
                  </a:rPr>
                  <m:t>−</m:t>
                </m:r>
                <m:f>
                  <m:fPr>
                    <m:ctrlPr>
                      <a:rPr lang="en-US" altLang="zh-CN" sz="1600" i="1">
                        <a:solidFill>
                          <a:sysClr val="windowText" lastClr="000000"/>
                        </a:solidFill>
                        <a:latin typeface="Arial" panose="02040503050406030204" pitchFamily="18" charset="0"/>
                        <a:ea typeface="Arial" panose="02010609060101010101" pitchFamily="49" charset="-122"/>
                        <a:cs typeface="Arial"/>
                      </a:rPr>
                    </m:ctrlPr>
                  </m:fPr>
                  <m:num>
                    <m:r>
                      <a:rPr lang="en-US" altLang="zh-CN" sz="1600" i="1">
                        <a:solidFill>
                          <a:sysClr val="windowText" lastClr="000000"/>
                        </a:solidFill>
                        <a:latin typeface="Arial" panose="02040503050406030204" pitchFamily="18" charset="0"/>
                        <a:ea typeface="Arial" panose="02010609060101010101" pitchFamily="49" charset="-122"/>
                        <a:cs typeface="Arial"/>
                      </a:rPr>
                      <m:t>1</m:t>
                    </m:r>
                  </m:num>
                  <m:den>
                    <m:r>
                      <a:rPr lang="en-US" altLang="zh-CN" sz="1600" i="1">
                        <a:solidFill>
                          <a:sysClr val="windowText" lastClr="000000"/>
                        </a:solidFill>
                        <a:latin typeface="Arial" panose="02040503050406030204" pitchFamily="18" charset="0"/>
                        <a:ea typeface="Arial" panose="02010609060101010101" pitchFamily="49" charset="-122"/>
                        <a:cs typeface="Arial"/>
                      </a:rPr>
                      <m:t>2</m:t>
                    </m:r>
                  </m:den>
                </m:f>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𝑗</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e>
                    </m:nary>
                  </m:e>
                </m:nary>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oMath>
            </a14:m>
            <a:endParaRPr lang="en-US" altLang="en-US" sz="1600" dirty="0">
              <a:latin typeface="Arial" panose="020B0604020202020204" pitchFamily="34" charset="0"/>
              <a:ea typeface="Arial" panose="02010609060101010101" pitchFamily="49" charset="-122"/>
              <a:cs typeface="Arial"/>
            </a:endParaRPr>
          </a:p>
        </p:txBody>
      </p:sp>
      <p:sp xmlns:a14="http://schemas.microsoft.com/office/drawing/2010/main">
        <p:nvSpPr>
          <p:cNvPr id="21" name="文本框 20">
            <a:extLst>
              <a:ext uri="{FF2B5EF4-FFF2-40B4-BE49-F238E27FC236}">
                <a16:creationId xmlns:a16="http://schemas.microsoft.com/office/drawing/2014/main" id="{36DE7104-C6D6-17F7-7933-23AF8A8CBE13}"/>
              </a:ext>
            </a:extLst>
          </p:cNvPr>
          <p:cNvSpPr txBox="1"/>
          <p:nvPr/>
        </p:nvSpPr>
        <p:spPr>
          <a:xfrm>
            <a:off x="226194" y="4255838"/>
            <a:ext cx="3223586" cy="745653"/>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Next, maximize </a:t>
            </a:r>
            <a14:m>
              <m:oMath xmlns:m="http://schemas.openxmlformats.org/officeDocument/2006/math">
                <m:r>
                  <a:rPr lang="en-US" altLang="en-US" sz="1600" i="1" dirty="0" smtClean="0">
                    <a:latin typeface="Arial" panose="02040503050406030204" pitchFamily="18" charset="0"/>
                    <a:ea typeface="Arial"/>
                    <a:cs typeface="Arial"/>
                  </a:rPr>
                  <m:t>𝛼</m:t>
                </m:r>
              </m:oMath>
            </a14:m>
            <a:r>
              <a:rPr lang="en-US" altLang="en-US" sz="1600" dirty="0">
                <a:latin typeface="Arial" panose="020B0604020202020204" pitchFamily="34" charset="0"/>
                <a:ea typeface="Arial" panose="02010609060101010101" pitchFamily="49" charset="-122"/>
                <a:cs typeface="Arial"/>
              </a:rPr>
              <a:t> with respect to </a:t>
            </a:r>
            <a14:m>
              <m:oMath xmlns:m="http://schemas.openxmlformats.org/officeDocument/2006/math">
                <m:func>
                  <m:funcPr>
                    <m:ctrlPr>
                      <a:rPr lang="en-US" altLang="zh-CN" sz="1600" b="0" i="1" smtClean="0">
                        <a:latin typeface="Arial" panose="02040503050406030204" pitchFamily="18" charset="0"/>
                        <a:ea typeface="Arial"/>
                        <a:cs typeface="Arial"/>
                      </a:rPr>
                    </m:ctrlPr>
                  </m:funcPr>
                  <m:fName>
                    <m:limLow>
                      <m:limLowPr>
                        <m:ctrlPr>
                          <a:rPr lang="en-US" altLang="zh-CN" sz="1600" b="0" i="1" smtClean="0">
                            <a:latin typeface="Arial" panose="02040503050406030204" pitchFamily="18" charset="0"/>
                            <a:ea typeface="Arial"/>
                            <a:cs typeface="Arial"/>
                          </a:rPr>
                        </m:ctrlPr>
                      </m:limLowPr>
                      <m:e>
                        <m:r>
                          <m:rPr>
                            <m:sty m:val="p"/>
                          </m:rPr>
                          <a:rPr lang="en-US" altLang="zh-CN" sz="1600" b="0" i="0" smtClean="0">
                            <a:latin typeface="Arial" panose="02040503050406030204" pitchFamily="18" charset="0"/>
                            <a:ea typeface="Arial"/>
                            <a:cs typeface="Arial"/>
                          </a:rPr>
                          <m:t>min</m:t>
                        </m:r>
                      </m:e>
                      <m:lim>
                        <m:r>
                          <a:rPr lang="en-US" altLang="zh-CN" sz="1600" b="0" i="1" smtClean="0">
                            <a:latin typeface="Arial" panose="02040503050406030204" pitchFamily="18" charset="0"/>
                            <a:ea typeface="Arial"/>
                            <a:cs typeface="Arial"/>
                          </a:rPr>
                          <m:t>𝑤</m:t>
                        </m:r>
                        <m:r>
                          <a:rPr lang="en-US" altLang="zh-CN" sz="1600" b="0" i="1" smtClean="0">
                            <a:latin typeface="Arial" panose="02040503050406030204" pitchFamily="18" charset="0"/>
                            <a:ea typeface="Arial"/>
                            <a:cs typeface="Arial"/>
                          </a:rPr>
                          <m:t>,  </m:t>
                        </m:r>
                        <m:r>
                          <a:rPr lang="en-US" altLang="zh-CN" sz="1600" b="0" i="1" smtClean="0">
                            <a:latin typeface="Arial" panose="02040503050406030204" pitchFamily="18" charset="0"/>
                            <a:ea typeface="Arial"/>
                            <a:cs typeface="Arial"/>
                          </a:rPr>
                          <m:t>𝑏</m:t>
                        </m:r>
                        <m:r>
                          <a:rPr lang="en-US" altLang="zh-CN" sz="1600" b="0" i="1" smtClean="0">
                            <a:latin typeface="Arial" panose="02040503050406030204" pitchFamily="18" charset="0"/>
                            <a:ea typeface="Arial"/>
                            <a:cs typeface="Arial"/>
                          </a:rPr>
                          <m:t>, </m:t>
                        </m:r>
                        <m:r>
                          <a:rPr lang="en-US" altLang="en-US" sz="1600" b="0" i="1" smtClean="0">
                            <a:latin typeface="Arial" panose="02040503050406030204" pitchFamily="18" charset="0"/>
                            <a:ea typeface="Arial"/>
                            <a:cs typeface="Arial"/>
                          </a:rPr>
                          <m:t>𝜉</m:t>
                        </m:r>
                      </m:lim>
                    </m:limLow>
                  </m:fName>
                  <m:e>
                    <m:r>
                      <a:rPr lang="en-US" altLang="en-US" sz="1600" i="1">
                        <a:latin typeface="Arial" panose="02040503050406030204" pitchFamily="18" charset="0"/>
                        <a:ea typeface="Arial"/>
                        <a:cs typeface="Arial"/>
                      </a:rPr>
                      <m:t>𝐿</m:t>
                    </m:r>
                    <m:r>
                      <a:rPr lang="en-US" altLang="zh-CN" sz="1600" i="1">
                        <a:latin typeface="Arial" panose="02040503050406030204" pitchFamily="18" charset="0"/>
                        <a:ea typeface="Arial"/>
                        <a:cs typeface="Arial"/>
                      </a:rPr>
                      <m:t>(</m:t>
                    </m:r>
                    <m:r>
                      <a:rPr lang="en-US" altLang="en-US"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𝜉</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𝛼</m:t>
                    </m:r>
                    <m:r>
                      <a:rPr lang="en-US" altLang="zh-CN" sz="1600" i="1">
                        <a:latin typeface="Arial" panose="02040503050406030204" pitchFamily="18" charset="0"/>
                        <a:ea typeface="Arial"/>
                        <a:cs typeface="Arial"/>
                      </a:rPr>
                      <m:t>,</m:t>
                    </m:r>
                    <m:r>
                      <a:rPr lang="en-US" altLang="en-US" sz="1600" i="1">
                        <a:latin typeface="Arial" panose="02040503050406030204" pitchFamily="18" charset="0"/>
                        <a:ea typeface="Arial"/>
                        <a:cs typeface="Arial"/>
                      </a:rPr>
                      <m:t>𝜇</m:t>
                    </m:r>
                    <m:r>
                      <a:rPr lang="en-US" altLang="zh-CN" sz="1600" i="1">
                        <a:latin typeface="Arial" panose="02040503050406030204" pitchFamily="18" charset="0"/>
                        <a:ea typeface="Arial"/>
                        <a:cs typeface="Arial"/>
                      </a:rPr>
                      <m:t>)</m:t>
                    </m:r>
                  </m:e>
                </m:func>
              </m:oMath>
            </a14:m>
            <a:r>
              <a:rPr lang="en-US" altLang="en-US" sz="1600" dirty="0">
                <a:latin typeface="Arial" panose="020B0604020202020204" pitchFamily="34" charset="0"/>
                <a:ea typeface="Arial" panose="02010609060101010101" pitchFamily="49" charset="-122"/>
                <a:cs typeface="Arial"/>
              </a:rPr>
              <a:t> to obtain the dual problem:</a:t>
            </a:r>
          </a:p>
        </p:txBody>
      </p:sp>
      <p:sp xmlns:a14="http://schemas.microsoft.com/office/drawing/2010/main">
        <p:nvSpPr>
          <p:cNvPr id="26" name="文本框 25">
            <a:extLst>
              <a:ext uri="{FF2B5EF4-FFF2-40B4-BE49-F238E27FC236}">
                <a16:creationId xmlns:a16="http://schemas.microsoft.com/office/drawing/2014/main" id="{B95EFFBB-F098-F751-3E57-61939BB13D88}"/>
              </a:ext>
            </a:extLst>
          </p:cNvPr>
          <p:cNvSpPr txBox="1"/>
          <p:nvPr/>
        </p:nvSpPr>
        <p:spPr>
          <a:xfrm>
            <a:off x="110357" y="5937836"/>
            <a:ext cx="8991601" cy="615553"/>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Reformulate the dual: use the equality constraint to eliminate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Sub>
              </m:oMath>
            </a14:m>
            <a:r>
              <a:rPr lang="en-US" altLang="en-US" sz="1600" dirty="0">
                <a:latin typeface="Arial" panose="020B0604020202020204" pitchFamily="34" charset="0"/>
                <a:ea typeface="Arial" panose="02010609060101010101" pitchFamily="49" charset="-122"/>
                <a:cs typeface="Arial"/>
              </a:rPr>
              <a:t>, leaving only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Sub>
              </m:oMath>
            </a14:m>
            <a:r>
              <a:rPr lang="en-US" altLang="en-US" sz="1600" dirty="0">
                <a:latin typeface="Arial" panose="020B0604020202020204" pitchFamily="34" charset="0"/>
                <a:ea typeface="Arial" panose="02010609060101010101" pitchFamily="49" charset="-122"/>
                <a:cs typeface="Arial"/>
              </a:rPr>
              <a:t>. Rewrite constraints (7.46)–(7.48) as: </a:t>
            </a:r>
            <a14:m>
              <m:oMath xmlns:m="http://schemas.openxmlformats.org/officeDocument/2006/math">
                <m:r>
                  <a:rPr lang="en-US" altLang="zh-CN" sz="1600" b="0" i="0" smtClean="0">
                    <a:solidFill>
                      <a:sysClr val="windowText" lastClr="000000"/>
                    </a:solidFill>
                    <a:latin typeface="Arial" panose="02040503050406030204" pitchFamily="18" charset="0"/>
                    <a:ea typeface="Arial" panose="02040503050406030204" pitchFamily="18" charset="0"/>
                    <a:cs typeface="Arial"/>
                  </a:rPr>
                  <m:t>0</m:t>
                </m:r>
                <m:r>
                  <a:rPr lang="en-US" altLang="zh-CN" sz="1600" i="1" smtClean="0">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en-US" sz="160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𝐶</m:t>
                </m:r>
              </m:oMath>
            </a14:m>
          </a:p>
        </p:txBody>
      </p:sp>
      <p:sp xmlns:a14="http://schemas.microsoft.com/office/drawing/2010/main">
        <p:nvSpPr>
          <p:cNvPr id="2" name="内容占位符 2">
            <a:extLst>
              <a:ext uri="{FF2B5EF4-FFF2-40B4-BE49-F238E27FC236}">
                <a16:creationId xmlns:a16="http://schemas.microsoft.com/office/drawing/2014/main" id="{AB2D4211-CB74-1313-ED19-F5B2BDBE4756}"/>
              </a:ext>
            </a:extLst>
          </p:cNvPr>
          <p:cNvSpPr txBox="1">
            <a:spLocks/>
          </p:cNvSpPr>
          <p:nvPr/>
        </p:nvSpPr>
        <p:spPr bwMode="auto">
          <a:xfrm>
            <a:off x="3802543" y="4210206"/>
            <a:ext cx="4888602" cy="169340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lvl="0" indent="0" eaLnBrk="1" hangingPunct="1">
              <a:lnSpc>
                <a:spcPct val="100000"/>
              </a:lnSpc>
              <a:spcBef>
                <a:spcPts val="0"/>
              </a:spcBef>
              <a:spcAft>
                <a:spcPts val="0"/>
              </a:spcAft>
              <a:buClr>
                <a:srgbClr val="16754D"/>
              </a:buClr>
              <a:buNone/>
              <a:defRPr sz="1600" lang="en-US">
                <a:latin typeface="Arial"/>
                <a:ea typeface="Arial"/>
                <a:cs typeface="Arial"/>
              </a:defRPr>
            </a:pPr>
            <a14:m>
              <m:oMath xmlns:m="http://schemas.openxmlformats.org/officeDocument/2006/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max</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e>
                </m:func>
              </m:oMath>
            </a14:m>
            <a:r>
              <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a:t>
            </a: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smtClean="0">
                        <a:solidFill>
                          <a:sysClr val="windowText" lastClr="000000"/>
                        </a:solidFill>
                        <a:latin typeface="Arial" panose="02040503050406030204" pitchFamily="18" charset="0"/>
                        <a:ea typeface="Arial" panose="02010609060101010101" pitchFamily="49" charset="-122"/>
                        <a:cs typeface="Arial"/>
                      </a:rPr>
                      <m:t>𝜇</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cs typeface="Arial"/>
                <a:latin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1" u="none" strike="noStrike" kern="1200" cap="none" spc="0" normalizeH="0" baseline="0" noProof="0" dirty="0">
              <a:ln>
                <a:noFill/>
              </a:ln>
              <a:solidFill>
                <a:sysClr val="windowText" lastClr="000000"/>
              </a:solidFill>
              <a:effectLst/>
              <a:uLnTx/>
              <a:uFillTx/>
              <a:latin typeface="Arial" panose="02040503050406030204" pitchFamily="18" charset="0"/>
              <a:ea typeface="Arial" panose="02010609060101010101" pitchFamily="49" charset="-122"/>
              <a:cs typeface="Arial"/>
            </a:endParaRPr>
          </a:p>
          <a:p>
            <a:pPr marL="0" lvl="0" indent="0" eaLnBrk="1" fontAlgn="auto" hangingPunct="1">
              <a:lnSpc>
                <a:spcPct val="100000"/>
              </a:lnSpc>
              <a:spcBef>
                <a:spcPts val="0"/>
              </a:spcBef>
              <a:spcAft>
                <a:spcPts val="0"/>
              </a:spcAft>
              <a:buClr>
                <a:srgbClr val="16754D"/>
              </a:buClr>
              <a:buSzTx/>
              <a:buNone/>
              <a:defRPr sz="1600" lang="en-US">
                <a:latin typeface="Arial"/>
                <a:ea typeface="Arial"/>
                <a:cs typeface="Arial"/>
              </a:defRPr>
            </a:pPr>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cs typeface="Arial"/>
                <a:latin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r>
                  <a:rPr lang="en-US" altLang="zh-CN" sz="1600" i="1">
                    <a:solidFill>
                      <a:sysClr val="windowText" lastClr="000000"/>
                    </a:solidFill>
                    <a:latin typeface="Arial" panose="02040503050406030204" pitchFamily="18" charset="0"/>
                    <a:ea typeface="Arial" panose="02040503050406030204" pitchFamily="18" charset="0"/>
                    <a:cs typeface="Arial"/>
                  </a:rPr>
                  <m:t>,  </m:t>
                </m:r>
                <m:r>
                  <a:rPr lang="en-US" altLang="zh-CN" sz="1600" i="1">
                    <a:solidFill>
                      <a:sysClr val="windowText" lastClr="000000"/>
                    </a:solidFill>
                    <a:latin typeface="Arial" panose="02040503050406030204" pitchFamily="18" charset="0"/>
                    <a:ea typeface="Arial" panose="02040503050406030204" pitchFamily="18" charset="0"/>
                    <a:cs typeface="Arial"/>
                  </a:rPr>
                  <m:t>𝑖</m:t>
                </m:r>
                <m:r>
                  <a:rPr lang="en-US" altLang="zh-CN" sz="1600" i="1">
                    <a:solidFill>
                      <a:sysClr val="windowText" lastClr="000000"/>
                    </a:solidFill>
                    <a:latin typeface="Arial" panose="02040503050406030204" pitchFamily="18" charset="0"/>
                    <a:ea typeface="Arial" panose="02040503050406030204" pitchFamily="18" charset="0"/>
                    <a:cs typeface="Arial"/>
                  </a:rPr>
                  <m:t>=1,2,⋯,</m:t>
                </m:r>
                <m:r>
                  <a:rPr lang="en-US" altLang="zh-CN" sz="1600" i="1">
                    <a:solidFill>
                      <a:sysClr val="windowText" lastClr="000000"/>
                    </a:solidFill>
                    <a:latin typeface="Arial" panose="02040503050406030204" pitchFamily="18" charset="0"/>
                    <a:ea typeface="Arial" panose="02040503050406030204" pitchFamily="18" charset="0"/>
                    <a:cs typeface="Arial"/>
                  </a:rPr>
                  <m:t>𝑁</m:t>
                </m:r>
              </m:oMath>
            </a14:m>
            <a:r>
              <a:rPr lang="en-US" altLang="zh-CN" sz="1600" dirty="0">
                <a:solidFill>
                  <a:sysClr val="windowText" lastClr="000000"/>
                </a:solidFill>
                <a:latin typeface="Arial" panose="020B0604020202020204" pitchFamily="34" charset="0"/>
                <a:ea typeface="Arial" panose="02010609060101010101" pitchFamily="49" charset="-122"/>
                <a:cs typeface="Arial"/>
              </a:rPr>
              <a:t> </a:t>
            </a:r>
          </a:p>
        </p:txBody>
      </p:sp>
      <p:sp>
        <p:nvSpPr>
          <p:cNvPr id="3" name="文本框 2">
            <a:extLst>
              <a:ext uri="{FF2B5EF4-FFF2-40B4-BE49-F238E27FC236}">
                <a16:creationId xmlns:a16="http://schemas.microsoft.com/office/drawing/2014/main" id="{536A768B-18AD-D218-6110-69F35B7BCC3C}"/>
              </a:ext>
            </a:extLst>
          </p:cNvPr>
          <p:cNvSpPr txBox="1"/>
          <p:nvPr/>
        </p:nvSpPr>
        <p:spPr>
          <a:xfrm>
            <a:off x="226194" y="822120"/>
            <a:ext cx="5001369" cy="307777"/>
          </a:xfrm>
          <a:prstGeom prst="rect">
            <a:avLst/>
          </a:prstGeom>
          <a:noFill/>
        </p:spPr>
        <p:txBody>
          <a:bodyPr wrap="none" lIns="0" tIns="0" rIns="0" bIns="0" rtlCol="0">
            <a:noAutofit/>
          </a:bodyPr>
          <a:lstStyle/>
          <a:p>
            <a:r>
              <a:rPr lang="en-US" altLang="en-US" sz="1600" dirty="0">
                <a:solidFill>
                  <a:prstClr val="black"/>
                </a:solidFill>
                <a:latin typeface="Arial" panose="020B0604020202020204" pitchFamily="34" charset="0"/>
                <a:ea typeface="Arial" panose="02010609060101010101" pitchFamily="49" charset="-122"/>
                <a:cs typeface="Arial"/>
              </a:rPr>
              <a:t>The dual is a max–min problem for the Lagrangian:</a:t>
            </a:r>
          </a:p>
        </p:txBody>
      </p:sp>
      <p:sp>
        <p:nvSpPr>
          <p:cNvPr id="11" name="箭头: 右 10">
            <a:extLst>
              <a:ext uri="{FF2B5EF4-FFF2-40B4-BE49-F238E27FC236}">
                <a16:creationId xmlns:a16="http://schemas.microsoft.com/office/drawing/2014/main" id="{21A8018D-CE24-0B6D-DEB0-84716CE5D700}"/>
              </a:ext>
            </a:extLst>
          </p:cNvPr>
          <p:cNvSpPr/>
          <p:nvPr/>
        </p:nvSpPr>
        <p:spPr>
          <a:xfrm>
            <a:off x="5363544" y="1503069"/>
            <a:ext cx="251104" cy="317435"/>
          </a:xfrm>
          <a:prstGeom prst="rightArrow">
            <a:avLst/>
          </a:prstGeom>
          <a:solidFill>
            <a:srgbClr val="4F81BD"/>
          </a:solidFill>
          <a:ln w="25400" cap="flat" cmpd="sng" algn="ctr">
            <a:solidFill>
              <a:srgbClr val="4F81BD">
                <a:shade val="50000"/>
              </a:srgbClr>
            </a:solidFill>
            <a:prstDash val="solid"/>
          </a:ln>
          <a:effectLst/>
        </p:spPr>
        <p:txBody>
          <a:bodyPr lIns="0" tIns="0" rIns="0" bIns="0" rtlCol="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panose="02010600030101010101" pitchFamily="2" charset="-122"/>
              <a:cs typeface="Arial"/>
            </a:endParaRPr>
          </a:p>
        </p:txBody>
      </p:sp>
      <p:sp xmlns:a14="http://schemas.microsoft.com/office/drawing/2010/main">
        <p:nvSpPr>
          <p:cNvPr id="13" name="文本框 12">
            <a:extLst>
              <a:ext uri="{FF2B5EF4-FFF2-40B4-BE49-F238E27FC236}">
                <a16:creationId xmlns:a16="http://schemas.microsoft.com/office/drawing/2014/main" id="{2ADF3F19-B242-C946-532F-2806169A6C79}"/>
              </a:ext>
            </a:extLst>
          </p:cNvPr>
          <p:cNvSpPr txBox="1"/>
          <p:nvPr/>
        </p:nvSpPr>
        <p:spPr>
          <a:xfrm>
            <a:off x="226194" y="1211816"/>
            <a:ext cx="4644850" cy="986873"/>
          </a:xfrm>
          <a:prstGeom prst="rect">
            <a:avLst/>
          </a:prstGeom>
          <a:noFill/>
        </p:spPr>
        <p:txBody>
          <a:bodyPr wrap="square" lIns="0" tIns="0" rIns="0" bIns="0">
            <a:noAutofit/>
          </a:bodyPr>
          <a:lstStyle/>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𝑏</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lang="en-US" altLang="zh-CN" sz="1600" i="1">
                    <a:solidFill>
                      <a:sysClr val="windowText" lastClr="000000"/>
                    </a:solidFill>
                    <a:latin typeface="Arial" panose="02040503050406030204" pitchFamily="18" charset="0"/>
                    <a:ea typeface="Arial" panose="02010609060101010101" pitchFamily="49" charset="-122"/>
                    <a:cs typeface="Arial"/>
                  </a:rPr>
                  <m:t>−</m:t>
                </m:r>
                <m:nary>
                  <m:naryPr>
                    <m:chr m:val="∑"/>
                    <m:ctrlPr>
                      <a:rPr lang="en-US" altLang="zh-CN" sz="1600" i="1">
                        <a:solidFill>
                          <a:sysClr val="windowText" lastClr="000000"/>
                        </a:solidFill>
                        <a:latin typeface="Arial" panose="02040503050406030204" pitchFamily="18" charset="0"/>
                        <a:ea typeface="Arial" panose="02010609060101010101" pitchFamily="49" charset="-122"/>
                        <a:cs typeface="Arial"/>
                      </a:rPr>
                    </m:ctrlPr>
                  </m:naryPr>
                  <m:sub>
                    <m:r>
                      <m:rPr>
                        <m:brk m:alnAt="23"/>
                      </m:rPr>
                      <a:rPr lang="en-US" altLang="zh-CN" sz="1600" i="1">
                        <a:solidFill>
                          <a:sysClr val="windowText" lastClr="000000"/>
                        </a:solidFill>
                        <a:latin typeface="Arial" panose="02040503050406030204" pitchFamily="18" charset="0"/>
                        <a:ea typeface="Arial" panose="02010609060101010101" pitchFamily="49" charset="-122"/>
                        <a:cs typeface="Arial"/>
                      </a:rPr>
                      <m:t>𝑖</m:t>
                    </m:r>
                    <m:r>
                      <a:rPr lang="en-US" altLang="zh-CN" sz="1600" i="1">
                        <a:solidFill>
                          <a:sysClr val="windowText" lastClr="000000"/>
                        </a:solidFill>
                        <a:latin typeface="Arial" panose="02040503050406030204" pitchFamily="18" charset="0"/>
                        <a:ea typeface="Arial" panose="02010609060101010101" pitchFamily="49" charset="-122"/>
                        <a:cs typeface="Arial"/>
                      </a:rPr>
                      <m:t>=1</m:t>
                    </m:r>
                  </m:sub>
                  <m:sup>
                    <m:r>
                      <a:rPr lang="en-US" altLang="zh-CN" sz="1600" i="1">
                        <a:solidFill>
                          <a:sysClr val="windowText" lastClr="000000"/>
                        </a:solidFill>
                        <a:latin typeface="Arial" panose="02040503050406030204" pitchFamily="18" charset="0"/>
                        <a:ea typeface="Arial" panose="02010609060101010101" pitchFamily="49" charset="-122"/>
                        <a:cs typeface="Arial"/>
                      </a:rPr>
                      <m:t>𝑁</m:t>
                    </m:r>
                  </m:sup>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𝛼</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i="1">
                            <a:solidFill>
                              <a:sysClr val="windowText" lastClr="000000"/>
                            </a:solidFill>
                            <a:latin typeface="Arial" panose="02040503050406030204" pitchFamily="18" charset="0"/>
                            <a:ea typeface="Arial" panose="02010609060101010101" pitchFamily="49" charset="-122"/>
                            <a:cs typeface="Arial"/>
                          </a:rPr>
                          <m:t>𝑦</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𝑖</m:t>
                        </m:r>
                      </m:sub>
                    </m:sSub>
                  </m:e>
                </m:nary>
                <m:r>
                  <a:rPr lang="en-US" altLang="zh-CN" sz="1600" b="0" i="1" smtClean="0">
                    <a:solidFill>
                      <a:sysClr val="windowText" lastClr="000000"/>
                    </a:solidFill>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m:rPr>
                        <m:sty m:val="p"/>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e>
                  <m: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𝜉</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sub>
                    </m:sSub>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𝐿</m:t>
                </m:r>
                <m:d>
                  <m:d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𝜉</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d>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en-US" sz="1600" dirty="0">
              <a:latin typeface="Arial"/>
              <a:ea typeface="Arial"/>
              <a:cs typeface="Arial"/>
            </a:endParaRPr>
          </a:p>
        </p:txBody>
      </p:sp>
      <p:sp xmlns:a14="http://schemas.microsoft.com/office/drawing/2010/main">
        <p:nvSpPr>
          <p:cNvPr id="15" name="文本框 14">
            <a:extLst>
              <a:ext uri="{FF2B5EF4-FFF2-40B4-BE49-F238E27FC236}">
                <a16:creationId xmlns:a16="http://schemas.microsoft.com/office/drawing/2014/main" id="{1D055145-1ABA-2222-C59D-0B34E6C380A9}"/>
              </a:ext>
            </a:extLst>
          </p:cNvPr>
          <p:cNvSpPr txBox="1"/>
          <p:nvPr/>
        </p:nvSpPr>
        <p:spPr>
          <a:xfrm>
            <a:off x="6163415" y="1241632"/>
            <a:ext cx="2041064" cy="957057"/>
          </a:xfrm>
          <a:prstGeom prst="rect">
            <a:avLst/>
          </a:prstGeom>
          <a:noFill/>
        </p:spPr>
        <p:txBody>
          <a:bodyPr wrap="square" lIns="0" tIns="0" rIns="0" bIns="0">
            <a:noAutofit/>
          </a:bodyPr>
          <a:lstStyle/>
          <a:p>
            <a:r>
              <a:rPr kumimoji="0" lang="en-US" altLang="zh-CN" sz="1600" b="1"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zh-CN" sz="1600" dirty="0">
              <a:latin typeface="Arial"/>
              <a:ea typeface="Arial"/>
              <a:cs typeface="Arial"/>
            </a:endParaRPr>
          </a:p>
          <a:p>
            <a:r>
              <a:rPr kumimoji="0" lang="en-US" altLang="zh-CN" sz="1600" b="0" u="none" strike="noStrike" kern="1200" cap="none" spc="0" normalizeH="0" baseline="0" noProof="0" dirty="0">
                <a:ln>
                  <a:noFill/>
                </a:ln>
                <a:solidFill>
                  <a:sysClr val="windowText" lastClr="000000"/>
                </a:solidFill>
                <a:effectLst/>
                <a:uLnTx/>
                <a:uFillTx/>
                <a:ea typeface="Arial" panose="02010609060101010101" pitchFamily="49" charset="-122"/>
                <a:latin typeface="Arial"/>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𝜇</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lang="en-US" altLang="en-US" sz="1600" dirty="0">
              <a:latin typeface="Arial"/>
              <a:ea typeface="Arial"/>
              <a:cs typeface="Arial"/>
            </a:endParaRPr>
          </a:p>
        </p:txBody>
      </p:sp>
    </p:spTree>
    <p:extLst>
      <p:ext uri="{BB962C8B-B14F-4D97-AF65-F5344CB8AC3E}">
        <p14:creationId xmlns:p14="http://schemas.microsoft.com/office/powerpoint/2010/main" val="41207876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4" name="文本框 3">
            <a:extLst>
              <a:ext uri="{FF2B5EF4-FFF2-40B4-BE49-F238E27FC236}">
                <a16:creationId xmlns:a16="http://schemas.microsoft.com/office/drawing/2014/main" id="{87609E74-DB5A-EB98-3140-0857E615399C}"/>
              </a:ext>
            </a:extLst>
          </p:cNvPr>
          <p:cNvSpPr txBox="1"/>
          <p:nvPr/>
        </p:nvSpPr>
        <p:spPr>
          <a:xfrm>
            <a:off x="131533" y="977679"/>
            <a:ext cx="2095125" cy="307777"/>
          </a:xfrm>
          <a:prstGeom prst="rect">
            <a:avLst/>
          </a:prstGeom>
          <a:noFill/>
        </p:spPr>
        <p:txBody>
          <a:bodyPr wrap="none" lIns="0" tIns="0" rIns="0" bIns="0" rtlCol="0">
            <a:noAutofit/>
          </a:bodyPr>
          <a:lstStyle/>
          <a:p>
            <a:r>
              <a:rPr lang="en-US" altLang="zh-CN" sz="1600" dirty="0">
                <a:latin typeface="Arial" panose="020B0604020202020204" pitchFamily="34" charset="0"/>
                <a:ea typeface="Arial" panose="02010609060101010101" pitchFamily="49" charset="-122"/>
                <a:cs typeface="Arial"/>
              </a:rPr>
              <a:t>Dual problem of the SVM:</a:t>
            </a:r>
          </a:p>
        </p:txBody>
      </p:sp>
      <p:sp>
        <p:nvSpPr>
          <p:cNvPr id="5" name="文本框 4">
            <a:extLst>
              <a:ext uri="{FF2B5EF4-FFF2-40B4-BE49-F238E27FC236}">
                <a16:creationId xmlns:a16="http://schemas.microsoft.com/office/drawing/2014/main" id="{4BCA79BD-9674-3FB9-568C-F9BBC08DFBDB}"/>
              </a:ext>
            </a:extLst>
          </p:cNvPr>
          <p:cNvSpPr txBox="1"/>
          <p:nvPr/>
        </p:nvSpPr>
        <p:spPr>
          <a:xfrm>
            <a:off x="3096531" y="6116911"/>
            <a:ext cx="1782539"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Proof: KKT conditions</a:t>
            </a:r>
          </a:p>
        </p:txBody>
      </p:sp>
      <p:sp xmlns:a14="http://schemas.microsoft.com/office/drawing/2010/main">
        <p:nvSpPr>
          <p:cNvPr id="7" name="文本框 6">
            <a:extLst>
              <a:ext uri="{FF2B5EF4-FFF2-40B4-BE49-F238E27FC236}">
                <a16:creationId xmlns:a16="http://schemas.microsoft.com/office/drawing/2014/main" id="{8DAF920F-CC10-A78F-D631-CCCC0EDDF03C}"/>
              </a:ext>
            </a:extLst>
          </p:cNvPr>
          <p:cNvSpPr txBox="1"/>
          <p:nvPr/>
        </p:nvSpPr>
        <p:spPr>
          <a:xfrm>
            <a:off x="255070" y="3519018"/>
            <a:ext cx="8793472" cy="656334"/>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Theorem 7.3. Let </a:t>
            </a:r>
            <a14:m>
              <m:oMath xmlns:m="http://schemas.openxmlformats.org/officeDocument/2006/math">
                <m:sSup>
                  <m:sSupPr>
                    <m:ctrlPr>
                      <a:rPr lang="en-US" altLang="zh-CN" sz="1600" i="1" smtClean="0">
                        <a:latin typeface="Arial" panose="02040503050406030204" pitchFamily="18" charset="0"/>
                        <a:ea typeface="Arial"/>
                        <a:cs typeface="Arial"/>
                      </a:rPr>
                    </m:ctrlPr>
                  </m:sSupPr>
                  <m:e>
                    <m:r>
                      <a:rPr lang="en-US" altLang="en-US" sz="1600" i="1" smtClean="0">
                        <a:latin typeface="Arial" panose="02040503050406030204" pitchFamily="18" charset="0"/>
                        <a:ea typeface="Arial"/>
                        <a:cs typeface="Arial"/>
                      </a:rPr>
                      <m:t>𝛼</m:t>
                    </m:r>
                  </m:e>
                  <m:sup>
                    <m:r>
                      <a:rPr lang="en-US" altLang="zh-CN" sz="1600" b="0" i="1" smtClean="0">
                        <a:latin typeface="Arial" panose="02040503050406030204" pitchFamily="18" charset="0"/>
                        <a:ea typeface="Arial"/>
                        <a:cs typeface="Arial"/>
                      </a:rPr>
                      <m:t>∗</m:t>
                    </m:r>
                  </m:sup>
                </m:sSup>
                <m:r>
                  <a:rPr lang="en-US" altLang="zh-CN" sz="1600" b="0" i="1" smtClean="0">
                    <a:latin typeface="Arial" panose="02040503050406030204" pitchFamily="18" charset="0"/>
                    <a:ea typeface="Arial"/>
                    <a:cs typeface="Arial"/>
                  </a:rPr>
                  <m:t>=</m:t>
                </m:r>
                <m:sSup>
                  <m:sSupPr>
                    <m:ctrlPr>
                      <a:rPr lang="en-US" altLang="zh-CN" sz="1600" b="0" i="1" smtClean="0">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m:t>
                    </m:r>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𝑁</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e>
                  <m:sup>
                    <m:r>
                      <m:rPr>
                        <m:sty m:val="p"/>
                      </m:rPr>
                      <a:rPr lang="en-US" altLang="zh-CN" sz="1600" b="0" i="0" smtClean="0">
                        <a:latin typeface="Arial" panose="02040503050406030204" pitchFamily="18" charset="0"/>
                        <a:ea typeface="Arial"/>
                        <a:cs typeface="Arial"/>
                      </a:rPr>
                      <m:t>T</m:t>
                    </m:r>
                  </m:sup>
                </m:sSup>
              </m:oMath>
            </a14:m>
            <a:r>
              <a:rPr lang="en-US" altLang="en-US" sz="1600" dirty="0">
                <a:latin typeface="Arial" panose="020B0604020202020204" pitchFamily="34" charset="0"/>
                <a:ea typeface="Arial" panose="02010609060101010101" pitchFamily="49" charset="-122"/>
                <a:cs typeface="Arial"/>
              </a:rPr>
              <a:t> solve the SVM dual problem. If a component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oMath>
            </a14:m>
            <a:r>
              <a:rPr lang="en-US" altLang="en-US" sz="1600" dirty="0">
                <a:latin typeface="Arial" panose="020B0604020202020204" pitchFamily="34" charset="0"/>
                <a:ea typeface="Arial" panose="02010609060101010101" pitchFamily="49" charset="-122"/>
                <a:cs typeface="Arial"/>
              </a:rPr>
              <a:t> of </a:t>
            </a:r>
            <a14:m>
              <m:oMath xmlns:m="http://schemas.openxmlformats.org/officeDocument/2006/math">
                <m:sSup>
                  <m:sSupPr>
                    <m:ctrlPr>
                      <a:rPr lang="en-US" altLang="zh-CN" sz="1600" i="1">
                        <a:latin typeface="Arial" panose="02040503050406030204" pitchFamily="18" charset="0"/>
                        <a:ea typeface="Arial"/>
                        <a:cs typeface="Arial"/>
                      </a:rPr>
                    </m:ctrlPr>
                  </m:sSupPr>
                  <m:e>
                    <m:r>
                      <a:rPr lang="en-US" altLang="en-US" sz="1600" i="1">
                        <a:latin typeface="Arial" panose="02040503050406030204" pitchFamily="18" charset="0"/>
                        <a:ea typeface="Arial"/>
                        <a:cs typeface="Arial"/>
                      </a:rPr>
                      <m:t>𝛼</m:t>
                    </m:r>
                  </m:e>
                  <m:sup>
                    <m:r>
                      <a:rPr lang="en-US" altLang="zh-CN" sz="1600" i="1">
                        <a:latin typeface="Arial" panose="02040503050406030204" pitchFamily="18" charset="0"/>
                        <a:ea typeface="Arial"/>
                        <a:cs typeface="Arial"/>
                      </a:rPr>
                      <m:t>∗</m:t>
                    </m:r>
                  </m:sup>
                </m:sSup>
              </m:oMath>
            </a14:m>
            <a:r>
              <a:rPr lang="en-US" altLang="en-US" sz="1600" dirty="0">
                <a:latin typeface="Arial" panose="020B0604020202020204" pitchFamily="34" charset="0"/>
                <a:ea typeface="Arial" panose="02010609060101010101" pitchFamily="49" charset="-122"/>
                <a:cs typeface="Arial"/>
              </a:rPr>
              <a:t> satisfies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zh-CN" sz="1600" b="0" i="1" smtClean="0">
                        <a:latin typeface="Arial" panose="02040503050406030204" pitchFamily="18" charset="0"/>
                        <a:ea typeface="Arial"/>
                        <a:cs typeface="Arial"/>
                      </a:rPr>
                      <m:t>0</m:t>
                    </m:r>
                    <m:r>
                      <a:rPr lang="en-US" altLang="zh-CN" sz="1600" b="0" i="1" smtClean="0">
                        <a:latin typeface="Arial" panose="02040503050406030204" pitchFamily="18" charset="0"/>
                        <a:ea typeface="Arial"/>
                        <a:cs typeface="Arial"/>
                      </a:rPr>
                      <m:t>&lt;</m:t>
                    </m:r>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&lt;</m:t>
                </m:r>
                <m:r>
                  <a:rPr lang="en-US" altLang="zh-CN" sz="1600" b="0" i="1" smtClean="0">
                    <a:latin typeface="Arial" panose="02040503050406030204" pitchFamily="18" charset="0"/>
                    <a:ea typeface="Arial"/>
                    <a:cs typeface="Arial"/>
                  </a:rPr>
                  <m:t>𝐶</m:t>
                </m:r>
              </m:oMath>
            </a14:m>
            <a:r>
              <a:rPr lang="en-US" altLang="en-US" sz="1600" dirty="0">
                <a:latin typeface="Arial" panose="020B0604020202020204" pitchFamily="34" charset="0"/>
                <a:ea typeface="Arial" panose="02010609060101010101" pitchFamily="49" charset="-122"/>
                <a:cs typeface="Arial"/>
              </a:rPr>
              <a:t>, the primal solution </a:t>
            </a:r>
            <a14:m>
              <m:oMath xmlns:m="http://schemas.openxmlformats.org/officeDocument/2006/math">
                <m:sSup>
                  <m:sSupPr>
                    <m:ctrlPr>
                      <a:rPr lang="en-US" altLang="zh-CN" sz="1600" i="1">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𝑤</m:t>
                    </m:r>
                  </m:e>
                  <m:sup>
                    <m:r>
                      <a:rPr lang="en-US" altLang="zh-CN" sz="1600" i="1">
                        <a:latin typeface="Arial" panose="02040503050406030204" pitchFamily="18" charset="0"/>
                        <a:ea typeface="Arial"/>
                        <a:cs typeface="Arial"/>
                      </a:rPr>
                      <m:t>∗</m:t>
                    </m:r>
                  </m:sup>
                </m:sSup>
                <m:r>
                  <a:rPr lang="en-US" altLang="zh-CN" sz="1600" b="0" i="1" smtClean="0">
                    <a:latin typeface="Arial" panose="02040503050406030204" pitchFamily="18" charset="0"/>
                    <a:ea typeface="Arial"/>
                    <a:cs typeface="Arial"/>
                  </a:rPr>
                  <m:t>, </m:t>
                </m:r>
                <m:sSup>
                  <m:sSupPr>
                    <m:ctrlPr>
                      <a:rPr lang="en-US" altLang="zh-CN" sz="1600" b="0" i="1" smtClean="0">
                        <a:latin typeface="Arial" panose="02040503050406030204" pitchFamily="18" charset="0"/>
                        <a:ea typeface="Arial"/>
                        <a:cs typeface="Arial"/>
                      </a:rPr>
                    </m:ctrlPr>
                  </m:sSupPr>
                  <m:e>
                    <m:r>
                      <a:rPr lang="en-US" altLang="zh-CN" sz="1600" b="0" i="1" smtClean="0">
                        <a:latin typeface="Arial" panose="02040503050406030204" pitchFamily="18" charset="0"/>
                        <a:ea typeface="Arial"/>
                        <a:cs typeface="Arial"/>
                      </a:rPr>
                      <m:t>𝑏</m:t>
                    </m:r>
                  </m:e>
                  <m:sup>
                    <m:r>
                      <a:rPr lang="en-US" altLang="zh-CN" sz="1600" b="0" i="1" smtClean="0">
                        <a:latin typeface="Arial" panose="02040503050406030204" pitchFamily="18" charset="0"/>
                        <a:ea typeface="Arial"/>
                        <a:cs typeface="Arial"/>
                      </a:rPr>
                      <m:t>∗</m:t>
                    </m:r>
                  </m:sup>
                </m:sSup>
              </m:oMath>
            </a14:m>
            <a:r>
              <a:rPr lang="en-US" altLang="en-US" sz="1600" dirty="0">
                <a:latin typeface="Arial" panose="020B0604020202020204" pitchFamily="34" charset="0"/>
                <a:ea typeface="Arial" panose="02010609060101010101" pitchFamily="49" charset="-122"/>
                <a:cs typeface="Arial"/>
              </a:rPr>
              <a:t> is given by:</a:t>
            </a:r>
          </a:p>
        </p:txBody>
      </p:sp>
      <p:sp xmlns:a14="http://schemas.microsoft.com/office/drawing/2010/main">
        <p:nvSpPr>
          <p:cNvPr id="8" name="内容占位符 2">
            <a:extLst>
              <a:ext uri="{FF2B5EF4-FFF2-40B4-BE49-F238E27FC236}">
                <a16:creationId xmlns:a16="http://schemas.microsoft.com/office/drawing/2014/main" id="{C9F67C47-111B-E0E9-76B3-256E03D1FD21}"/>
              </a:ext>
            </a:extLst>
          </p:cNvPr>
          <p:cNvSpPr txBox="1">
            <a:spLocks/>
          </p:cNvSpPr>
          <p:nvPr/>
        </p:nvSpPr>
        <p:spPr bwMode="auto">
          <a:xfrm>
            <a:off x="1536479" y="1286932"/>
            <a:ext cx="4436181" cy="2147687"/>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10" name="文本框 9">
            <a:extLst>
              <a:ext uri="{FF2B5EF4-FFF2-40B4-BE49-F238E27FC236}">
                <a16:creationId xmlns:a16="http://schemas.microsoft.com/office/drawing/2014/main" id="{07A6E089-1440-8B95-F361-BA6041604B26}"/>
              </a:ext>
            </a:extLst>
          </p:cNvPr>
          <p:cNvSpPr txBox="1"/>
          <p:nvPr/>
        </p:nvSpPr>
        <p:spPr>
          <a:xfrm>
            <a:off x="1624158" y="4259751"/>
            <a:ext cx="4878474" cy="1823320"/>
          </a:xfrm>
          <a:prstGeom prst="rect">
            <a:avLst/>
          </a:prstGeom>
          <a:noFill/>
        </p:spPr>
        <p:txBody>
          <a:bodyPr wrap="square">
            <a:noAutofit/>
          </a:bodyPr>
          <a:lstStyle/>
          <a:p>
            <a:pPr/>
            <a14:m>
              <m:oMathPara xmlns:m="http://schemas.openxmlformats.org/officeDocument/2006/math">
                <m:oMathParaPr>
                  <m:jc m:val="centerGroup"/>
                </m:oMathParaPr>
                <m:oMath>
                  <m:sSup>
                    <m:sSupPr>
                      <m:ctrlP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𝒘</m:t>
                      </m:r>
                    </m:e>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Sup>
                        <m:sSubSup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bSup>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oMath>
              </m:oMathPara>
            </a14:m>
            <a:endParaRPr lang="en-US" altLang="zh-CN" sz="1600" dirty="0">
              <a:latin typeface="Arial"/>
              <a:ea typeface="Arial"/>
              <a:cs typeface="Arial"/>
            </a:endParaRPr>
          </a:p>
          <a:p>
            <a:pPr/>
            <a14:m>
              <m:oMathPara xmlns:m="http://schemas.openxmlformats.org/officeDocument/2006/math">
                <m:oMathParaPr>
                  <m:jc m:val="centerGroup"/>
                </m:oMathParaPr>
                <m:oMath>
                  <m:sSup>
                    <m:sSupPr>
                      <m:ctrlP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Sup>
                        <m:sSubSup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up>
                      </m:sSubSup>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zh-CN" sz="1600" b="1" i="1">
                              <a:solidFill>
                                <a:sysClr val="windowText" lastClr="000000"/>
                              </a:solidFill>
                              <a:latin typeface="Arial" panose="02040503050406030204" pitchFamily="18" charset="0"/>
                              <a:ea typeface="Arial" panose="02010609060101010101" pitchFamily="49" charset="-122"/>
                              <a:cs typeface="Arial"/>
                            </a:rPr>
                            <m:t>𝒙</m:t>
                          </m:r>
                        </m:e>
                        <m:sub>
                          <m:r>
                            <a:rPr lang="en-US" altLang="zh-CN" sz="1600" i="1">
                              <a:solidFill>
                                <a:sysClr val="windowText" lastClr="000000"/>
                              </a:solidFill>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oMath>
              </m:oMathPara>
            </a14:m>
            <a:endParaRPr lang="en-US" altLang="en-US" sz="1600" dirty="0">
              <a:latin typeface="Arial"/>
              <a:ea typeface="Arial"/>
              <a:cs typeface="Arial"/>
            </a:endParaRPr>
          </a:p>
        </p:txBody>
      </p:sp>
    </p:spTree>
    <p:extLst>
      <p:ext uri="{BB962C8B-B14F-4D97-AF65-F5344CB8AC3E}">
        <p14:creationId xmlns:p14="http://schemas.microsoft.com/office/powerpoint/2010/main" val="294762765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标题 5">
            <a:extLst>
              <a:ext uri="{FF2B5EF4-FFF2-40B4-BE49-F238E27FC236}">
                <a16:creationId xmlns:a16="http://schemas.microsoft.com/office/drawing/2014/main" id="{334B100C-19F5-2586-B99D-840F73DB0581}"/>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p:nvSpPr>
          <p:cNvPr id="4" name="文本框 3">
            <a:extLst>
              <a:ext uri="{FF2B5EF4-FFF2-40B4-BE49-F238E27FC236}">
                <a16:creationId xmlns:a16="http://schemas.microsoft.com/office/drawing/2014/main" id="{87609E74-DB5A-EB98-3140-0857E615399C}"/>
              </a:ext>
            </a:extLst>
          </p:cNvPr>
          <p:cNvSpPr txBox="1"/>
          <p:nvPr/>
        </p:nvSpPr>
        <p:spPr>
          <a:xfrm>
            <a:off x="148571" y="868599"/>
            <a:ext cx="1811393" cy="307777"/>
          </a:xfrm>
          <a:prstGeom prst="rect">
            <a:avLst/>
          </a:prstGeom>
          <a:noFill/>
        </p:spPr>
        <p:txBody>
          <a:bodyPr wrap="none" lIns="0" tIns="0" rIns="0" bIns="0" rtlCol="0">
            <a:noAutofit/>
          </a:bodyPr>
          <a:lstStyle/>
          <a:p>
            <a:r>
              <a:rPr lang="en-US" altLang="en-US" sz="1600" dirty="0">
                <a:latin typeface="Arial" panose="020B0604020202020204" pitchFamily="34" charset="0"/>
                <a:ea typeface="Arial" panose="02010609060101010101" pitchFamily="49" charset="-122"/>
                <a:cs typeface="Arial"/>
              </a:rPr>
              <a:t>From the KKT conditions:</a:t>
            </a:r>
          </a:p>
        </p:txBody>
      </p:sp>
      <p:sp xmlns:a14="http://schemas.microsoft.com/office/drawing/2010/main">
        <p:nvSpPr>
          <p:cNvPr id="13" name="文本框 12">
            <a:extLst>
              <a:ext uri="{FF2B5EF4-FFF2-40B4-BE49-F238E27FC236}">
                <a16:creationId xmlns:a16="http://schemas.microsoft.com/office/drawing/2014/main" id="{1E7691E9-A979-94E6-43A6-93A5D8D8C0B2}"/>
              </a:ext>
            </a:extLst>
          </p:cNvPr>
          <p:cNvSpPr txBox="1"/>
          <p:nvPr/>
        </p:nvSpPr>
        <p:spPr>
          <a:xfrm>
            <a:off x="5223186" y="1564008"/>
            <a:ext cx="3267548" cy="1643912"/>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At least one satisfies </a:t>
            </a:r>
            <a14:m>
              <m:oMath xmlns:m="http://schemas.openxmlformats.org/officeDocument/2006/math">
                <m:sSubSup>
                  <m:sSubSupPr>
                    <m:ctrlPr>
                      <a:rPr lang="en-US" altLang="zh-CN" sz="1600" i="1" smtClean="0">
                        <a:latin typeface="Arial" panose="02040503050406030204" pitchFamily="18" charset="0"/>
                        <a:ea typeface="Arial" panose="02010609060101010101" pitchFamily="49" charset="-122"/>
                        <a:cs typeface="Arial"/>
                      </a:rPr>
                    </m:ctrlPr>
                  </m:sSubSup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up>
                    <m:r>
                      <a:rPr lang="en-US" altLang="zh-CN" sz="1600" b="0" i="1" smtClean="0">
                        <a:latin typeface="Arial" panose="02040503050406030204" pitchFamily="18" charset="0"/>
                        <a:ea typeface="Arial" panose="02010609060101010101" pitchFamily="49" charset="-122"/>
                        <a:cs typeface="Arial"/>
                      </a:rPr>
                      <m:t>∗</m:t>
                    </m:r>
                  </m:sup>
                </m:sSubSup>
                <m:r>
                  <a:rPr lang="en-US" altLang="zh-CN" sz="1600" b="0" i="1" smtClean="0">
                    <a:latin typeface="Arial" panose="02040503050406030204" pitchFamily="18" charset="0"/>
                    <a:ea typeface="Arial" panose="02010609060101010101" pitchFamily="49" charset="-122"/>
                    <a:cs typeface="Arial"/>
                  </a:rPr>
                  <m:t>&gt;</m:t>
                </m:r>
                <m:r>
                  <a:rPr lang="en-US" altLang="zh-CN" sz="1600" b="0" i="1" smtClean="0">
                    <a:latin typeface="Arial" panose="02040503050406030204" pitchFamily="18" charset="0"/>
                    <a:ea typeface="Arial" panose="02010609060101010101" pitchFamily="49" charset="-122"/>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Proof by contradiction: suppose </a:t>
            </a:r>
            <a14:m>
              <m:oMath xmlns:m="http://schemas.openxmlformats.org/officeDocument/2006/math">
                <m:r>
                  <a:rPr lang="en-US" altLang="zh-CN" sz="1600" i="1">
                    <a:solidFill>
                      <a:prstClr val="black"/>
                    </a:solidFill>
                    <a:latin typeface="Arial" panose="02040503050406030204" pitchFamily="18" charset="0"/>
                    <a:ea typeface="Arial" panose="02040503050406030204" pitchFamily="18" charset="0"/>
                    <a:cs typeface="Arial"/>
                  </a:rPr>
                  <m:t>∀</m:t>
                </m:r>
                <m:sSubSup>
                  <m:sSubSupPr>
                    <m:ctrlPr>
                      <a:rPr lang="en-US" altLang="zh-CN" sz="1600" i="1" smtClean="0">
                        <a:latin typeface="Arial" panose="02040503050406030204" pitchFamily="18" charset="0"/>
                        <a:ea typeface="Arial" panose="02010609060101010101" pitchFamily="49" charset="-122"/>
                        <a:cs typeface="Arial"/>
                      </a:rPr>
                    </m:ctrlPr>
                  </m:sSubSupPr>
                  <m:e>
                    <m:r>
                      <a:rPr lang="en-US" altLang="en-US" sz="160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up>
                    <m:r>
                      <a:rPr lang="en-US" altLang="zh-CN" sz="1600" b="0" i="1" smtClean="0">
                        <a:latin typeface="Arial" panose="02040503050406030204" pitchFamily="18" charset="0"/>
                        <a:ea typeface="Arial" panose="02010609060101010101" pitchFamily="49" charset="-122"/>
                        <a:cs typeface="Arial"/>
                      </a:rPr>
                      <m:t>∗</m:t>
                    </m:r>
                  </m:sup>
                </m:sSubSup>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zh-CN" sz="1600" dirty="0">
                <a:ea typeface="Arial" panose="02040503050406030204" pitchFamily="18" charset="0"/>
                <a:latin typeface="Arial"/>
                <a:cs typeface="Arial"/>
              </a:rPr>
              <a:t> </a:t>
            </a:r>
            <a14:m>
              <m:oMath xmlns:m="http://schemas.openxmlformats.org/officeDocument/2006/math">
                <m:r>
                  <a:rPr lang="en-US" altLang="zh-CN" sz="1600" i="1" dirty="0" smtClean="0">
                    <a:latin typeface="Arial" panose="02040503050406030204" pitchFamily="18" charset="0"/>
                    <a:ea typeface="Arial" panose="02040503050406030204" pitchFamily="18" charset="0"/>
                    <a:cs typeface="Arial"/>
                  </a:rPr>
                  <m:t>⇒</m:t>
                </m:r>
              </m:oMath>
            </a14:m>
            <a:r>
              <a:rPr lang="en-US" altLang="zh-CN" sz="1600" dirty="0">
                <a:latin typeface="Arial" panose="020B0604020202020204" pitchFamily="34" charset="0"/>
                <a:ea typeface="Arial" panose="02010609060101010101" pitchFamily="49" charset="-122"/>
                <a:cs typeface="Arial"/>
              </a:rPr>
              <a:t> </a:t>
            </a:r>
            <a14:m>
              <m:oMath xmlns:m="http://schemas.openxmlformats.org/officeDocument/2006/math">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r>
                  <a:rPr lang="en-US" altLang="zh-CN" sz="1600" b="0" i="1" smtClean="0">
                    <a:solidFill>
                      <a:prstClr val="black"/>
                    </a:solidFill>
                    <a:latin typeface="Arial" panose="02040503050406030204" pitchFamily="18" charset="0"/>
                    <a:ea typeface="Arial" panose="02010609060101010101" pitchFamily="49" charset="-122"/>
                    <a:cs typeface="Arial"/>
                  </a:rPr>
                  <m:t>, ∀</m:t>
                </m:r>
                <m:sSubSup>
                  <m:sSubSupPr>
                    <m:ctrlPr>
                      <a:rPr lang="en-US" altLang="zh-CN" sz="1600" b="0" i="1" smtClean="0">
                        <a:solidFill>
                          <a:prstClr val="black"/>
                        </a:solidFill>
                        <a:latin typeface="Arial" panose="02040503050406030204" pitchFamily="18" charset="0"/>
                        <a:ea typeface="Arial" panose="02040503050406030204" pitchFamily="18" charset="0"/>
                        <a:cs typeface="Arial"/>
                      </a:rPr>
                    </m:ctrlPr>
                  </m:sSubSupPr>
                  <m:e>
                    <m:r>
                      <a:rPr lang="en-US" altLang="en-US" sz="1600" i="1">
                        <a:latin typeface="Arial" panose="02040503050406030204" pitchFamily="18" charset="0"/>
                        <a:ea typeface="Arial"/>
                        <a:cs typeface="Arial"/>
                      </a:rPr>
                      <m:t>𝜇</m:t>
                    </m:r>
                  </m:e>
                  <m:sub>
                    <m:r>
                      <a:rPr lang="en-US" altLang="zh-CN" sz="1600" b="0" i="1" smtClean="0">
                        <a:solidFill>
                          <a:prstClr val="black"/>
                        </a:solidFill>
                        <a:latin typeface="Arial" panose="02040503050406030204" pitchFamily="18" charset="0"/>
                        <a:ea typeface="Arial" panose="02040503050406030204" pitchFamily="18" charset="0"/>
                        <a:cs typeface="Arial"/>
                      </a:rPr>
                      <m:t>𝑗</m:t>
                    </m:r>
                  </m:sub>
                  <m:sup>
                    <m:r>
                      <a:rPr lang="en-US" altLang="zh-CN" sz="1600" b="0" i="1" smtClean="0">
                        <a:solidFill>
                          <a:prstClr val="black"/>
                        </a:solidFill>
                        <a:latin typeface="Arial" panose="02040503050406030204" pitchFamily="18" charset="0"/>
                        <a:ea typeface="Arial" panose="02040503050406030204" pitchFamily="18" charset="0"/>
                        <a:cs typeface="Arial"/>
                      </a:rPr>
                      <m:t>∗</m:t>
                    </m:r>
                  </m:sup>
                </m:sSubSup>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𝐶</m:t>
                </m:r>
              </m:oMath>
            </a14:m>
            <a:r>
              <a:rPr lang="en-US" altLang="zh-CN" sz="1600" dirty="0">
                <a:latin typeface="Arial" panose="020B0604020202020204" pitchFamily="34" charset="0"/>
                <a:ea typeface="Arial" panose="02010609060101010101" pitchFamily="49" charset="-122"/>
                <a:cs typeface="Arial"/>
              </a:rPr>
              <a:t>, </a:t>
            </a:r>
            <a14:m>
              <m:oMath xmlns:m="http://schemas.openxmlformats.org/officeDocument/2006/math">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40503050406030204" pitchFamily="18" charset="0"/>
                        <a:cs typeface="Arial"/>
                      </a:rPr>
                    </m:ctrlPr>
                  </m:sSubSupPr>
                  <m:e>
                    <m:r>
                      <a:rPr lang="en-US" altLang="en-US" sz="1600" i="1">
                        <a:latin typeface="Arial" panose="02040503050406030204" pitchFamily="18" charset="0"/>
                        <a:ea typeface="Arial"/>
                        <a:cs typeface="Arial"/>
                      </a:rPr>
                      <m:t>𝜉</m:t>
                    </m:r>
                  </m:e>
                  <m:sub>
                    <m:r>
                      <a:rPr lang="en-US" altLang="zh-CN" sz="1600" i="1">
                        <a:solidFill>
                          <a:prstClr val="black"/>
                        </a:solidFill>
                        <a:latin typeface="Arial" panose="02040503050406030204" pitchFamily="18" charset="0"/>
                        <a:ea typeface="Arial" panose="02040503050406030204" pitchFamily="18" charset="0"/>
                        <a:cs typeface="Arial"/>
                      </a:rPr>
                      <m:t>𝑗</m:t>
                    </m:r>
                  </m:sub>
                  <m:sup>
                    <m:r>
                      <a:rPr lang="en-US" altLang="zh-CN" sz="1600" i="1">
                        <a:solidFill>
                          <a:prstClr val="black"/>
                        </a:solidFill>
                        <a:latin typeface="Arial" panose="02040503050406030204" pitchFamily="18" charset="0"/>
                        <a:ea typeface="Arial" panose="02040503050406030204" pitchFamily="18" charset="0"/>
                        <a:cs typeface="Arial"/>
                      </a:rPr>
                      <m:t>∗</m:t>
                    </m:r>
                  </m:sup>
                </m:sSubSup>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0</m:t>
                </m:r>
              </m:oMath>
            </a14:m>
            <a:endParaRPr lang="en-US" altLang="zh-CN" sz="1600" dirty="0">
              <a:latin typeface="Arial" panose="020B0604020202020204" pitchFamily="34" charset="0"/>
              <a:ea typeface="Arial" panose="02010609060101010101" pitchFamily="49" charset="-122"/>
              <a:cs typeface="Arial"/>
            </a:endParaRPr>
          </a:p>
          <a:p>
            <a:r>
              <a:rPr kumimoji="0" lang="en-US" altLang="zh-CN" sz="1600" b="0" u="none" strike="noStrike" kern="1200" cap="none" spc="0" normalizeH="0" baseline="0" noProof="0" dirty="0">
                <a:ln>
                  <a:noFill/>
                </a:ln>
                <a:solidFill>
                  <a:prstClr val="black"/>
                </a:solidFill>
                <a:effectLst/>
                <a:uLnTx/>
                <a:uFillTx/>
                <a:ea typeface="Arial" panose="02040503050406030204" pitchFamily="18" charset="0"/>
                <a:cs typeface="Arial"/>
                <a:latin typeface="Arial"/>
              </a:rPr>
              <a:t> </a:t>
            </a: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Arial" panose="02040503050406030204" pitchFamily="18" charset="0"/>
                    <a:ea typeface="Arial" panose="02040503050406030204" pitchFamily="18" charset="0"/>
                    <a:cs typeface="Arial"/>
                  </a:rPr>
                  <m:t>⇒</m:t>
                </m:r>
                <m:r>
                  <a:rPr lang="en-US" altLang="zh-CN" sz="160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m:t>
                </m:r>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i="1" smtClean="0">
                    <a:solidFill>
                      <a:prstClr val="black"/>
                    </a:solidFill>
                    <a:latin typeface="Arial" panose="02040503050406030204" pitchFamily="18" charset="0"/>
                    <a:ea typeface="Arial" panose="02040503050406030204" pitchFamily="18" charset="0"/>
                    <a:cs typeface="Arial"/>
                  </a:rPr>
                  <m:t>0</m:t>
                </m:r>
              </m:oMath>
            </a14:m>
            <a:r>
              <a:rPr lang="en-US" altLang="zh-CN" sz="1600" dirty="0">
                <a:latin typeface="Arial"/>
                <a:ea typeface="Arial"/>
                <a:cs typeface="Arial"/>
              </a:rPr>
              <a:t>)</a:t>
            </a:r>
          </a:p>
          <a:p>
            <a:pPr lvl="0">
              <a:defRPr sz="1600" lang="en-US">
                <a:latin typeface="Arial"/>
                <a:ea typeface="Arial"/>
                <a:cs typeface="Arial"/>
              </a:defRPr>
            </a:pPr>
            <a14:m>
              <m:oMath xmlns:m="http://schemas.openxmlformats.org/officeDocument/2006/math">
                <m:r>
                  <a:rPr kumimoji="0" lang="en-US" altLang="zh-CN" sz="1600" b="0" i="1" u="none" strike="noStrike" kern="1200" cap="none" spc="0" normalizeH="0" baseline="0" noProof="0" dirty="0" smtClean="0">
                    <a:ln>
                      <a:noFill/>
                    </a:ln>
                    <a:solidFill>
                      <a:prstClr val="black"/>
                    </a:solidFill>
                    <a:effectLst/>
                    <a:uLnTx/>
                    <a:uFillTx/>
                    <a:latin typeface="Arial" panose="02040503050406030204" pitchFamily="18" charset="0"/>
                    <a:ea typeface="Arial" panose="02040503050406030204" pitchFamily="18" charset="0"/>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 </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lang="en-US" altLang="zh-CN" sz="1600" i="1">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i="1">
                    <a:solidFill>
                      <a:prstClr val="black"/>
                    </a:solidFill>
                    <a:latin typeface="Arial" panose="02040503050406030204" pitchFamily="18" charset="0"/>
                    <a:ea typeface="Arial" panose="02040503050406030204" pitchFamily="18" charset="0"/>
                    <a:cs typeface="Arial"/>
                  </a:rPr>
                  <m:t>1</m:t>
                </m:r>
              </m:oMath>
            </a14:m>
            <a:r>
              <a:rPr kumimoji="0" lang="en-US" altLang="zh-CN" sz="1600" b="0" u="none" strike="noStrike" kern="1200" cap="none" spc="0" normalizeH="0" baseline="0" noProof="0" dirty="0">
                <a:ln>
                  <a:noFill/>
                </a:ln>
                <a:solidFill>
                  <a:prstClr val="black"/>
                </a:solidFill>
                <a:effectLst/>
                <a:uLnTx/>
                <a:uFillTx/>
                <a:ea typeface="Arial" panose="02040503050406030204" pitchFamily="18" charset="0"/>
                <a:cs typeface="Arial"/>
                <a:latin typeface="Arial"/>
              </a:rPr>
              <a:t> — a contradiction.</a:t>
            </a:r>
          </a:p>
        </p:txBody>
      </p:sp>
      <p:sp xmlns:a14="http://schemas.microsoft.com/office/drawing/2010/main">
        <p:nvSpPr>
          <p:cNvPr id="2" name="文本框 1">
            <a:extLst>
              <a:ext uri="{FF2B5EF4-FFF2-40B4-BE49-F238E27FC236}">
                <a16:creationId xmlns:a16="http://schemas.microsoft.com/office/drawing/2014/main" id="{91E48475-D2C8-0DF6-C7B4-58AEEC30DABF}"/>
              </a:ext>
            </a:extLst>
          </p:cNvPr>
          <p:cNvSpPr txBox="1"/>
          <p:nvPr/>
        </p:nvSpPr>
        <p:spPr>
          <a:xfrm>
            <a:off x="182263" y="2245475"/>
            <a:ext cx="3904595" cy="2015342"/>
          </a:xfrm>
          <a:prstGeom prst="rect">
            <a:avLst/>
          </a:prstGeom>
          <a:noFill/>
        </p:spPr>
        <p:txBody>
          <a:bodyPr wrap="none" lIns="0" tIns="0" rIns="0" bIns="0" rtlCol="0">
            <a:noAutofit/>
          </a:bodyPr>
          <a:lstStyle/>
          <a:p>
            <a:pPr/>
            <a14:m>
              <m:oMathPara xmlns:m="http://schemas.openxmlformats.org/officeDocument/2006/math">
                <m:oMathParaPr>
                  <m:jc m:val="left"/>
                </m:oMathParaPr>
                <m:oMath>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𝛼</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d>
                    <m:dPr>
                      <m:ctrlPr>
                        <a:rPr lang="en-US" altLang="zh-CN" sz="1600" i="1" smtClean="0">
                          <a:solidFill>
                            <a:prstClr val="black"/>
                          </a:solidFill>
                          <a:latin typeface="Arial" panose="02040503050406030204" pitchFamily="18" charset="0"/>
                          <a:ea typeface="Arial" panose="02010609060101010101" pitchFamily="49" charset="-122"/>
                          <a:cs typeface="Arial"/>
                        </a:rPr>
                      </m:ctrlPr>
                    </m:dPr>
                    <m:e>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d>
                        <m:dPr>
                          <m:ctrlPr>
                            <a:rPr lang="en-US" altLang="zh-CN" sz="1600" b="0" i="1" smtClean="0">
                              <a:solidFill>
                                <a:prstClr val="black"/>
                              </a:solidFill>
                              <a:latin typeface="Arial" panose="02040503050406030204" pitchFamily="18" charset="0"/>
                              <a:ea typeface="Arial" panose="02010609060101010101" pitchFamily="49" charset="-122"/>
                              <a:cs typeface="Arial"/>
                            </a:rPr>
                          </m:ctrlPr>
                        </m:dPr>
                        <m:e>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b="0" i="0" smtClean="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zh-CN" sz="1600" b="1" i="1" smtClean="0">
                                  <a:latin typeface="Arial" panose="02040503050406030204" pitchFamily="18" charset="0"/>
                                  <a:ea typeface="Arial"/>
                                  <a:cs typeface="Arial"/>
                                </a:rPr>
                                <m:t>𝒙</m:t>
                              </m:r>
                            </m:e>
                            <m:sub>
                              <m:r>
                                <a:rPr lang="en-US" altLang="zh-CN" sz="1600" i="1">
                                  <a:latin typeface="Arial" panose="02040503050406030204" pitchFamily="18" charset="0"/>
                                  <a:ea typeface="Arial"/>
                                  <a:cs typeface="Arial"/>
                                </a:rPr>
                                <m:t>𝑖</m:t>
                              </m:r>
                            </m:sub>
                            <m:sup>
                              <m:r>
                                <a:rPr lang="en-US" altLang="zh-CN" sz="1600" i="1">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b="0" i="1" smtClean="0">
                                  <a:solidFill>
                                    <a:prstClr val="black"/>
                                  </a:solidFill>
                                  <a:latin typeface="Arial" panose="02040503050406030204" pitchFamily="18" charset="0"/>
                                  <a:ea typeface="Arial" panose="02010609060101010101" pitchFamily="49" charset="-122"/>
                                  <a:cs typeface="Arial"/>
                                </a:rPr>
                                <m:t>𝑏</m:t>
                              </m:r>
                            </m:e>
                            <m:sup>
                              <m:r>
                                <a:rPr lang="en-US" altLang="zh-CN" sz="1600" b="0" i="1" smtClean="0">
                                  <a:solidFill>
                                    <a:prstClr val="black"/>
                                  </a:solidFill>
                                  <a:latin typeface="Arial" panose="02040503050406030204" pitchFamily="18" charset="0"/>
                                  <a:ea typeface="Arial" panose="02010609060101010101" pitchFamily="49" charset="-122"/>
                                  <a:cs typeface="Arial"/>
                                </a:rPr>
                                <m:t>∗</m:t>
                              </m:r>
                            </m:sup>
                          </m:sSup>
                        </m:e>
                      </m:d>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𝜉</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e>
                  </m:d>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m:oMathPara>
            </a14:m>
            <a:endParaRPr lang="en-US" altLang="zh-CN" sz="1600" b="0" dirty="0">
              <a:solidFill>
                <a:prstClr val="black"/>
              </a:solidFill>
              <a:ea typeface="Arial" panose="02010609060101010101" pitchFamily="49" charset="-122"/>
              <a:latin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d>
                    <m:dPr>
                      <m:ctrlPr>
                        <a:rPr lang="en-US" altLang="zh-CN" sz="1600" b="0" i="1" smtClean="0">
                          <a:solidFill>
                            <a:prstClr val="black"/>
                          </a:solidFill>
                          <a:latin typeface="Arial" panose="02040503050406030204" pitchFamily="18" charset="0"/>
                          <a:ea typeface="Arial" panose="02010609060101010101" pitchFamily="49" charset="-122"/>
                          <a:cs typeface="Arial"/>
                        </a:rPr>
                      </m:ctrlPr>
                    </m:dPr>
                    <m:e>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b="0" i="0" smtClean="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zh-CN" sz="1600" b="1" i="1" smtClean="0">
                              <a:latin typeface="Arial" panose="02040503050406030204" pitchFamily="18" charset="0"/>
                              <a:ea typeface="Arial"/>
                              <a:cs typeface="Arial"/>
                            </a:rPr>
                            <m:t>𝒙</m:t>
                          </m:r>
                        </m:e>
                        <m:sub>
                          <m:r>
                            <a:rPr lang="en-US" altLang="zh-CN" sz="1600" i="1">
                              <a:latin typeface="Arial" panose="02040503050406030204" pitchFamily="18" charset="0"/>
                              <a:ea typeface="Arial"/>
                              <a:cs typeface="Arial"/>
                            </a:rPr>
                            <m:t>𝑖</m:t>
                          </m:r>
                        </m:sub>
                        <m:sup>
                          <m:r>
                            <a:rPr lang="en-US" altLang="zh-CN" sz="1600" i="1">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b="0" i="1" smtClean="0">
                              <a:solidFill>
                                <a:prstClr val="black"/>
                              </a:solidFill>
                              <a:latin typeface="Arial" panose="02040503050406030204" pitchFamily="18" charset="0"/>
                              <a:ea typeface="Arial" panose="02010609060101010101" pitchFamily="49" charset="-122"/>
                              <a:cs typeface="Arial"/>
                            </a:rPr>
                            <m:t>𝑏</m:t>
                          </m:r>
                        </m:e>
                        <m:sup>
                          <m:r>
                            <a:rPr lang="en-US" altLang="zh-CN" sz="1600" b="0" i="1" smtClean="0">
                              <a:solidFill>
                                <a:prstClr val="black"/>
                              </a:solidFill>
                              <a:latin typeface="Arial" panose="02040503050406030204" pitchFamily="18" charset="0"/>
                              <a:ea typeface="Arial" panose="02010609060101010101" pitchFamily="49" charset="-122"/>
                              <a:cs typeface="Arial"/>
                            </a:rPr>
                            <m:t>∗</m:t>
                          </m:r>
                        </m:sup>
                      </m:sSup>
                    </m:e>
                  </m:d>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r>
                    <a:rPr lang="en-US" altLang="zh-CN" sz="1600" i="1">
                      <a:solidFill>
                        <a:prstClr val="black"/>
                      </a:solidFill>
                      <a:latin typeface="Arial" panose="02040503050406030204" pitchFamily="18" charset="0"/>
                      <a:ea typeface="Arial" panose="02010609060101010101" pitchFamily="49" charset="-122"/>
                      <a:cs typeface="Arial"/>
                    </a:rPr>
                    <m:t>+</m:t>
                  </m:r>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𝜉</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40503050406030204" pitchFamily="18" charset="0"/>
                      <a:cs typeface="Arial"/>
                    </a:rPr>
                    <m:t>≥</m:t>
                  </m:r>
                  <m:r>
                    <a:rPr lang="en-US" altLang="zh-CN" sz="1600" b="0" i="1" smtClean="0">
                      <a:solidFill>
                        <a:prstClr val="black"/>
                      </a:solidFill>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pPr/>
            <a14:m>
              <m:oMathPara xmlns:m="http://schemas.openxmlformats.org/officeDocument/2006/math">
                <m:oMathParaPr>
                  <m:jc m:val="left"/>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𝑖</m:t>
                      </m:r>
                    </m:sub>
                    <m:sup>
                      <m:r>
                        <a:rPr lang="en-US" altLang="zh-CN" sz="1600" b="0" i="1" smtClean="0">
                          <a:latin typeface="Arial" panose="02040503050406030204" pitchFamily="18" charset="0"/>
                          <a:ea typeface="Arial"/>
                          <a:cs typeface="Arial"/>
                        </a:rPr>
                        <m:t>∗</m:t>
                      </m:r>
                    </m:sup>
                  </m:sSubSup>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0</m:t>
                  </m:r>
                </m:oMath>
              </m:oMathPara>
            </a14:m>
            <a:endParaRPr lang="en-US" altLang="zh-CN" sz="1600" dirty="0">
              <a:latin typeface="Arial"/>
              <a:ea typeface="Arial"/>
              <a:cs typeface="Arial"/>
            </a:endParaRPr>
          </a:p>
          <a:p>
            <a:endParaRPr lang="en-US" altLang="en-US" sz="1600" dirty="0">
              <a:latin typeface="Arial"/>
              <a:ea typeface="Arial"/>
              <a:cs typeface="Arial"/>
            </a:endParaRPr>
          </a:p>
        </p:txBody>
      </p:sp>
      <p:sp xmlns:a14="http://schemas.microsoft.com/office/drawing/2010/main">
        <p:nvSpPr>
          <p:cNvPr id="3" name="文本框 2">
            <a:extLst>
              <a:ext uri="{FF2B5EF4-FFF2-40B4-BE49-F238E27FC236}">
                <a16:creationId xmlns:a16="http://schemas.microsoft.com/office/drawing/2014/main" id="{7C6CCC6A-3E38-CE5C-9207-0E946C314A8B}"/>
              </a:ext>
            </a:extLst>
          </p:cNvPr>
          <p:cNvSpPr txBox="1"/>
          <p:nvPr/>
        </p:nvSpPr>
        <p:spPr>
          <a:xfrm>
            <a:off x="5007738" y="3259805"/>
            <a:ext cx="4067448" cy="3309945"/>
          </a:xfrm>
          <a:prstGeom prst="rect">
            <a:avLst/>
          </a:prstGeom>
          <a:noFill/>
        </p:spPr>
        <p:txBody>
          <a:bodyPr wrap="square" lIns="0" tIns="0" rIns="0" bIns="0" rtlCol="0">
            <a:noAutofit/>
          </a:bodyPr>
          <a:lstStyle/>
          <a:p>
            <a:r>
              <a:rPr lang="en-US" altLang="en-US" sz="1600" dirty="0">
                <a:latin typeface="Arial" panose="020B0604020202020204" pitchFamily="34" charset="0"/>
                <a:ea typeface="Arial" panose="02010609060101010101" pitchFamily="49" charset="-122"/>
                <a:cs typeface="Arial"/>
              </a:rPr>
              <a:t>When </a:t>
            </a:r>
            <a14:m>
              <m:oMath xmlns:m="http://schemas.openxmlformats.org/officeDocument/2006/math">
                <m:r>
                  <a:rPr lang="en-US" altLang="zh-CN" sz="1600" b="0" i="0" smtClean="0">
                    <a:solidFill>
                      <a:prstClr val="black"/>
                    </a:solidFill>
                    <a:latin typeface="Arial" panose="02040503050406030204" pitchFamily="18" charset="0"/>
                    <a:ea typeface="Arial" panose="02040503050406030204" pitchFamily="18" charset="0"/>
                    <a:cs typeface="Arial"/>
                  </a:rPr>
                  <m:t>0</m:t>
                </m:r>
                <m:r>
                  <a:rPr lang="en-US" altLang="zh-CN" sz="1600" i="1" smtClean="0">
                    <a:solidFill>
                      <a:prstClr val="black"/>
                    </a:solidFill>
                    <a:latin typeface="Arial" panose="02040503050406030204" pitchFamily="18" charset="0"/>
                    <a:ea typeface="Arial" panose="02040503050406030204" pitchFamily="18" charset="0"/>
                    <a:cs typeface="Arial"/>
                  </a:rPr>
                  <m:t>&lt;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𝑗</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r>
                  <a:rPr lang="en-US" altLang="zh-CN" sz="1600" i="1" smtClean="0">
                    <a:solidFill>
                      <a:prstClr val="black"/>
                    </a:solidFill>
                    <a:latin typeface="Arial" panose="02040503050406030204" pitchFamily="18" charset="0"/>
                    <a:ea typeface="Arial" panose="02010609060101010101" pitchFamily="49" charset="-122"/>
                    <a:cs typeface="Arial"/>
                  </a:rPr>
                  <m:t>&lt;</m:t>
                </m:r>
                <m:r>
                  <a:rPr lang="en-US" altLang="zh-CN" sz="1600" b="0" i="1" smtClean="0">
                    <a:solidFill>
                      <a:prstClr val="black"/>
                    </a:solidFill>
                    <a:latin typeface="Arial" panose="02040503050406030204" pitchFamily="18" charset="0"/>
                    <a:ea typeface="Arial" panose="02010609060101010101" pitchFamily="49" charset="-122"/>
                    <a:cs typeface="Arial"/>
                  </a:rPr>
                  <m:t>𝐶</m:t>
                </m:r>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𝜇</m:t>
                    </m:r>
                  </m:e>
                  <m:sub>
                    <m:r>
                      <a:rPr lang="en-US" altLang="zh-CN" sz="1600" b="0" i="1" smtClean="0">
                        <a:latin typeface="Arial" panose="02040503050406030204" pitchFamily="18" charset="0"/>
                        <a:ea typeface="Arial"/>
                        <a:cs typeface="Arial"/>
                      </a:rPr>
                      <m:t>𝑗</m:t>
                    </m:r>
                  </m:sub>
                  <m:sup>
                    <m:r>
                      <a:rPr lang="en-US" altLang="zh-CN" sz="1600" b="0" i="1" smtClean="0">
                        <a:latin typeface="Arial" panose="02040503050406030204" pitchFamily="18" charset="0"/>
                        <a:ea typeface="Arial"/>
                        <a:cs typeface="Arial"/>
                      </a:rPr>
                      <m:t>∗</m:t>
                    </m:r>
                  </m:sup>
                </m:sSubSup>
                <m:r>
                  <a:rPr lang="en-US" altLang="zh-CN" sz="1600" i="1">
                    <a:latin typeface="Arial" panose="02040503050406030204" pitchFamily="18" charset="0"/>
                    <a:ea typeface="Arial" panose="02040503050406030204" pitchFamily="18" charset="0"/>
                    <a:cs typeface="Arial"/>
                  </a:rPr>
                  <m:t>&gt;</m:t>
                </m:r>
                <m:r>
                  <a:rPr lang="en-US" altLang="zh-CN" sz="1600" b="0" i="1" smtClean="0">
                    <a:latin typeface="Arial" panose="02040503050406030204" pitchFamily="18" charset="0"/>
                    <a:ea typeface="Arial" panose="02040503050406030204" pitchFamily="18" charset="0"/>
                    <a:cs typeface="Arial"/>
                  </a:rPr>
                  <m:t>0</m:t>
                </m:r>
                <m:r>
                  <a:rPr lang="en-US" altLang="zh-CN" sz="1600" b="0" i="0" smtClean="0">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𝜉</m:t>
                    </m:r>
                  </m:e>
                  <m:sub>
                    <m:r>
                      <a:rPr lang="en-US" altLang="zh-CN" sz="1600" b="0" i="1" smtClean="0">
                        <a:latin typeface="Arial" panose="02040503050406030204" pitchFamily="18" charset="0"/>
                        <a:ea typeface="Arial"/>
                        <a:cs typeface="Arial"/>
                      </a:rPr>
                      <m:t>𝑗</m:t>
                    </m:r>
                  </m:sub>
                  <m:sup>
                    <m:r>
                      <a:rPr lang="en-US" altLang="zh-CN" sz="1600" i="1">
                        <a:latin typeface="Arial" panose="02040503050406030204" pitchFamily="18" charset="0"/>
                        <a:ea typeface="Arial"/>
                        <a:cs typeface="Arial"/>
                      </a:rPr>
                      <m:t>∗</m:t>
                    </m:r>
                  </m:sup>
                </m:sSubSup>
                <m:r>
                  <a:rPr lang="en-US" altLang="zh-CN" sz="1600" b="0" i="1" smtClean="0">
                    <a:latin typeface="Arial" panose="02040503050406030204" pitchFamily="18" charset="0"/>
                    <a:ea typeface="Arial"/>
                    <a:cs typeface="Arial"/>
                  </a:rPr>
                  <m:t>=</m:t>
                </m:r>
                <m:r>
                  <a:rPr lang="en-US" altLang="zh-CN" sz="1600" i="1">
                    <a:latin typeface="Arial" panose="02040503050406030204" pitchFamily="18" charset="0"/>
                    <a:ea typeface="Arial" panose="02040503050406030204" pitchFamily="18" charset="0"/>
                    <a:cs typeface="Arial"/>
                  </a:rPr>
                  <m:t>0</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i="1">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lang="en-US" altLang="en-US" sz="1600" dirty="0">
                <a:latin typeface="Arial"/>
                <a:ea typeface="Arial"/>
                <a:cs typeface="Arial"/>
              </a:rPr>
              <a:t>.</a:t>
            </a:r>
          </a:p>
          <a:p>
            <a:r>
              <a:rPr lang="en-US" altLang="en-US" sz="1600" dirty="0">
                <a:solidFill>
                  <a:srgbClr val="9900FF"/>
                </a:solidFill>
                <a:latin typeface="Arial"/>
                <a:ea typeface="Arial"/>
                <a:cs typeface="Arial"/>
              </a:rPr>
              <a:t>The sample lies exactly on the margin: a support vector.</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When </a:t>
            </a:r>
            <a14:m>
              <m:oMath xmlns:m="http://schemas.openxmlformats.org/officeDocument/2006/math">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𝜇</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𝐶</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0"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lang="en-US" altLang="zh-CN" sz="1600" i="1">
                    <a:solidFill>
                      <a:prstClr val="black"/>
                    </a:solidFill>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lang="en-US" altLang="en-US" sz="1600" dirty="0">
                <a:solidFill>
                  <a:prstClr val="black"/>
                </a:solidFill>
                <a:latin typeface="Arial"/>
                <a:ea typeface="Arial"/>
                <a:cs typeface="Arial"/>
              </a:rPr>
              <a:t>The sample lies on or outside the margin boundary.</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When </a:t>
            </a:r>
            <a14:m>
              <m:oMath xmlns:m="http://schemas.openxmlformats.org/officeDocument/2006/math">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𝐶</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𝜇</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0</m:t>
                </m:r>
                <m:r>
                  <a:rPr kumimoji="0" lang="en-US" altLang="zh-CN" sz="1600" b="0" i="0" u="none" strike="noStrike" kern="1200" cap="none" spc="0" normalizeH="0" baseline="0" noProof="0" smtClean="0">
                    <a:ln>
                      <a:noFill/>
                    </a:ln>
                    <a:solidFill>
                      <a:prstClr val="black"/>
                    </a:solidFill>
                    <a:effectLst/>
                    <a:uLnTx/>
                    <a:uFillTx/>
                    <a:latin typeface="Arial" panose="02040503050406030204" pitchFamily="18" charset="0"/>
                    <a:ea typeface="Arial" panose="02040503050406030204" pitchFamily="18" charset="0"/>
                    <a:cs typeface="Arial"/>
                  </a:rPr>
                  <m:t>, </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lang="en-US" altLang="zh-CN" sz="1600" i="1">
                    <a:solidFill>
                      <a:prstClr val="black"/>
                    </a:solidFill>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and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dPr>
                  <m:e>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0"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a:rPr>
                      <m:t>⋅</m:t>
                    </m:r>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𝑗</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𝑏</m:t>
                        </m:r>
                      </m:e>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up>
                    </m:sSup>
                  </m:e>
                </m:d>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1</m:t>
                </m:r>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𝜉</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0</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a:t>
            </a:r>
          </a:p>
          <a:p>
            <a:r>
              <a:rPr lang="en-US" altLang="en-US" sz="1600" dirty="0">
                <a:latin typeface="Arial" panose="020B0604020202020204" pitchFamily="34" charset="0"/>
                <a:ea typeface="Arial" panose="02010609060101010101" pitchFamily="49" charset="-122"/>
                <a:cs typeface="Arial"/>
              </a:rPr>
              <a:t>The sample lies inside the margin and may be misclassified.</a:t>
            </a:r>
          </a:p>
        </p:txBody>
      </p:sp>
      <p:sp xmlns:a14="http://schemas.microsoft.com/office/drawing/2010/main">
        <p:nvSpPr>
          <p:cNvPr id="7" name="文本框 6">
            <a:extLst>
              <a:ext uri="{FF2B5EF4-FFF2-40B4-BE49-F238E27FC236}">
                <a16:creationId xmlns:a16="http://schemas.microsoft.com/office/drawing/2014/main" id="{CF0E42CC-6CB6-47A8-44E9-EB2B67C15F7D}"/>
              </a:ext>
            </a:extLst>
          </p:cNvPr>
          <p:cNvSpPr txBox="1"/>
          <p:nvPr/>
        </p:nvSpPr>
        <p:spPr>
          <a:xfrm>
            <a:off x="113591" y="5745254"/>
            <a:ext cx="4727417" cy="865493"/>
          </a:xfrm>
          <a:prstGeom prst="rect">
            <a:avLst/>
          </a:prstGeom>
          <a:noFill/>
        </p:spPr>
        <p:txBody>
          <a:bodyPr wrap="square" lIns="0" tIns="0" rIns="0" bIns="0">
            <a:noAutofit/>
          </a:bodyPr>
          <a:lstStyle/>
          <a:p>
            <a:pPr lvl="0">
              <a:defRPr sz="1600" lang="en-US">
                <a:latin typeface="Arial"/>
                <a:ea typeface="Arial"/>
                <a:cs typeface="Arial"/>
              </a:defRPr>
            </a:pPr>
            <a14:m>
              <m:oMathPara xmlns:m="http://schemas.openxmlformats.org/officeDocument/2006/math">
                <m:oMathParaPr>
                  <m:jc m:val="left"/>
                </m:oMathParaPr>
                <m:oMath>
                  <m:sSup>
                    <m:sSupPr>
                      <m:ctrlPr>
                        <a:rPr lang="en-US" altLang="zh-CN" sz="1600" i="1" smtClean="0">
                          <a:solidFill>
                            <a:prstClr val="black"/>
                          </a:solidFill>
                          <a:latin typeface="Arial" panose="02040503050406030204" pitchFamily="18" charset="0"/>
                          <a:ea typeface="Arial" panose="02010609060101010101" pitchFamily="49" charset="-122"/>
                          <a:cs typeface="Arial"/>
                        </a:rPr>
                      </m:ctrlPr>
                    </m:sSupPr>
                    <m:e>
                      <m:r>
                        <a:rPr lang="en-US" altLang="zh-CN" sz="1600" i="1">
                          <a:solidFill>
                            <a:prstClr val="black"/>
                          </a:solidFill>
                          <a:latin typeface="Arial" panose="02040503050406030204" pitchFamily="18" charset="0"/>
                          <a:ea typeface="Arial" panose="02010609060101010101" pitchFamily="49" charset="-122"/>
                          <a:cs typeface="Arial"/>
                        </a:rPr>
                        <m:t>𝑏</m:t>
                      </m:r>
                    </m:e>
                    <m:sup>
                      <m:r>
                        <a:rPr lang="en-US" altLang="zh-CN" sz="1600" i="1">
                          <a:solidFill>
                            <a:prstClr val="black"/>
                          </a:solidFill>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b="0" i="1" smtClean="0">
                      <a:solidFill>
                        <a:prstClr val="black"/>
                      </a:solidFill>
                      <a:latin typeface="Arial" panose="02040503050406030204" pitchFamily="18" charset="0"/>
                      <a:ea typeface="Arial"/>
                      <a:cs typeface="Arial"/>
                    </a:rPr>
                    <m:t>=</m:t>
                  </m:r>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b="0" i="1" smtClean="0">
                          <a:solidFill>
                            <a:prstClr val="black"/>
                          </a:solidFill>
                          <a:latin typeface="Arial" panose="02040503050406030204" pitchFamily="18" charset="0"/>
                          <a:ea typeface="Arial" panose="02010609060101010101" pitchFamily="49" charset="-122"/>
                          <a:cs typeface="Arial"/>
                        </a:rPr>
                        <m:t>𝑗</m:t>
                      </m:r>
                    </m:sub>
                  </m:sSub>
                  <m:r>
                    <a:rPr lang="en-US" altLang="zh-CN" sz="1600" i="1">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smtClean="0">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b="0" i="1" smtClean="0">
                          <a:solidFill>
                            <a:prstClr val="black"/>
                          </a:solidFill>
                          <a:latin typeface="Arial" panose="02040503050406030204" pitchFamily="18" charset="0"/>
                          <a:ea typeface="Arial" panose="02010609060101010101" pitchFamily="49" charset="-122"/>
                          <a:cs typeface="Arial"/>
                        </a:rPr>
                        <m:t>𝑖</m:t>
                      </m:r>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1</m:t>
                      </m:r>
                    </m:sub>
                    <m:sup>
                      <m:r>
                        <a:rPr lang="en-US" altLang="zh-CN" sz="1600" b="0" i="1" smtClean="0">
                          <a:solidFill>
                            <a:prstClr val="black"/>
                          </a:solidFill>
                          <a:latin typeface="Arial" panose="02040503050406030204" pitchFamily="18" charset="0"/>
                          <a:ea typeface="Arial" panose="02010609060101010101" pitchFamily="49" charset="-122"/>
                          <a:cs typeface="Arial"/>
                        </a:rPr>
                        <m:t>𝑁</m:t>
                      </m:r>
                    </m:sup>
                    <m:e>
                      <m:sSub>
                        <m:sSubPr>
                          <m:ctrlPr>
                            <a:rPr lang="en-US" altLang="zh-CN" sz="1600" i="1" smtClean="0">
                              <a:solidFill>
                                <a:prstClr val="black"/>
                              </a:solidFill>
                              <a:latin typeface="Arial" panose="02040503050406030204" pitchFamily="18" charset="0"/>
                              <a:ea typeface="Arial" panose="02010609060101010101" pitchFamily="49" charset="-122"/>
                              <a:cs typeface="Arial"/>
                            </a:rPr>
                          </m:ctrlPr>
                        </m:sSubPr>
                        <m:e>
                          <m:r>
                            <a:rPr lang="en-US" altLang="zh-CN" sz="1600" b="0" i="1" smtClean="0">
                              <a:solidFill>
                                <a:prstClr val="black"/>
                              </a:solidFill>
                              <a:latin typeface="Arial" panose="02040503050406030204" pitchFamily="18" charset="0"/>
                              <a:ea typeface="Arial" panose="02010609060101010101" pitchFamily="49" charset="-122"/>
                              <a:cs typeface="Arial"/>
                            </a:rPr>
                            <m:t>𝑦</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Sub>
                      <m:sSubSup>
                        <m:sSubSupPr>
                          <m:ctrlPr>
                            <a:rPr lang="en-US" altLang="zh-CN" sz="1600" i="1" smtClean="0">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𝛼</m:t>
                          </m:r>
                        </m:e>
                        <m:sub>
                          <m:r>
                            <a:rPr lang="en-US" altLang="zh-CN" sz="1600" b="0" i="1" smtClean="0">
                              <a:solidFill>
                                <a:prstClr val="black"/>
                              </a:solidFill>
                              <a:latin typeface="Arial" panose="02040503050406030204" pitchFamily="18" charset="0"/>
                              <a:ea typeface="Arial" panose="02010609060101010101" pitchFamily="49" charset="-122"/>
                              <a:cs typeface="Arial"/>
                            </a:rPr>
                            <m:t>𝑖</m:t>
                          </m:r>
                        </m:sub>
                        <m:sup>
                          <m:r>
                            <a:rPr lang="en-US" altLang="zh-CN" sz="1600" b="0" i="1" smtClean="0">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𝑖</m:t>
                          </m:r>
                        </m:sub>
                        <m:sup>
                          <m:r>
                            <a:rPr lang="en-US" altLang="zh-CN" sz="1600" i="1">
                              <a:solidFill>
                                <a:prstClr val="black"/>
                              </a:solidFill>
                              <a:latin typeface="Arial" panose="02040503050406030204" pitchFamily="18" charset="0"/>
                              <a:ea typeface="Arial"/>
                              <a:cs typeface="Arial"/>
                            </a:rPr>
                            <m:t>∗</m:t>
                          </m:r>
                        </m:sup>
                      </m:sSubSup>
                      <m:r>
                        <a:rPr lang="en-US" altLang="zh-CN" sz="1600" i="1" smtClean="0">
                          <a:solidFill>
                            <a:prstClr val="black"/>
                          </a:solidFill>
                          <a:latin typeface="Arial" panose="02040503050406030204" pitchFamily="18" charset="0"/>
                          <a:ea typeface="Arial" panose="02040503050406030204" pitchFamily="18" charset="0"/>
                          <a:cs typeface="Arial"/>
                        </a:rPr>
                        <m:t>⋅</m:t>
                      </m:r>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b="0" i="1" smtClean="0">
                              <a:solidFill>
                                <a:prstClr val="black"/>
                              </a:solidFill>
                              <a:latin typeface="Arial" panose="02040503050406030204" pitchFamily="18" charset="0"/>
                              <a:ea typeface="Arial"/>
                              <a:cs typeface="Arial"/>
                            </a:rPr>
                            <m:t>𝑗</m:t>
                          </m:r>
                        </m:sub>
                        <m:sup>
                          <m:r>
                            <a:rPr lang="en-US" altLang="zh-CN" sz="1600" i="1">
                              <a:solidFill>
                                <a:prstClr val="black"/>
                              </a:solidFill>
                              <a:latin typeface="Arial" panose="02040503050406030204" pitchFamily="18" charset="0"/>
                              <a:ea typeface="Arial"/>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e>
                  </m:nary>
                </m:oMath>
              </m:oMathPara>
            </a14:m>
            <a:endParaRPr kumimoji="0" lang="en-US" altLang="zh-CN" sz="1600" b="0" i="0" u="none" strike="noStrike" kern="1200" cap="none" spc="0" normalizeH="0" baseline="0" noProof="0" dirty="0">
              <a:ln>
                <a:noFill/>
              </a:ln>
              <a:solidFill>
                <a:prstClr val="black"/>
              </a:solidFill>
              <a:effectLst/>
              <a:uLnTx/>
              <a:uFillTx/>
              <a:latin typeface="Arial"/>
              <a:ea typeface="Arial"/>
              <a:cs typeface="Arial"/>
            </a:endParaRPr>
          </a:p>
        </p:txBody>
      </p:sp>
      <p:sp xmlns:a14="http://schemas.microsoft.com/office/drawing/2010/main">
        <p:nvSpPr>
          <p:cNvPr id="9" name="文本框 8">
            <a:extLst>
              <a:ext uri="{FF2B5EF4-FFF2-40B4-BE49-F238E27FC236}">
                <a16:creationId xmlns:a16="http://schemas.microsoft.com/office/drawing/2014/main" id="{B75BCEA1-10C7-A29B-F215-6D810397C3C8}"/>
              </a:ext>
            </a:extLst>
          </p:cNvPr>
          <p:cNvSpPr txBox="1"/>
          <p:nvPr/>
        </p:nvSpPr>
        <p:spPr>
          <a:xfrm>
            <a:off x="5223186" y="1193966"/>
            <a:ext cx="2972031" cy="324641"/>
          </a:xfrm>
          <a:prstGeom prst="rect">
            <a:avLst/>
          </a:prstGeom>
          <a:noFill/>
        </p:spPr>
        <p:txBody>
          <a:bodyPr wrap="square" lIns="0" tIns="0" rIns="0" bIns="0">
            <a:noAutofit/>
          </a:bodyPr>
          <a:lstStyle/>
          <a:p>
            <a:r>
              <a:rPr kumimoji="0" lang="en-US" altLang="zh-CN" sz="1600" b="0" u="none" strike="noStrike" kern="1200" cap="none" spc="0" normalizeH="0" baseline="0" noProof="0" dirty="0">
                <a:ln>
                  <a:noFill/>
                </a:ln>
                <a:solidFill>
                  <a:prstClr val="black"/>
                </a:solidFill>
                <a:effectLst/>
                <a:uLnTx/>
                <a:uFillTx/>
                <a:ea typeface="Arial" panose="02010609060101010101" pitchFamily="49" charset="-122"/>
                <a:cs typeface="Arial"/>
                <a:latin typeface="Arial"/>
              </a:rPr>
              <a:t> </a:t>
            </a:r>
            <a14:m>
              <m:oMath xmlns:m="http://schemas.openxmlformats.org/officeDocument/2006/math">
                <m:sSup>
                  <m:s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p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𝒘</m:t>
                    </m:r>
                  </m:e>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sSubSup>
                      <m:sSubSup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SupPr>
                      <m:e>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up>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up>
                    </m:sSubSup>
                    <m:sSubSup>
                      <m:sSubSup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ctrlPr>
                      </m:sSubSupPr>
                      <m:e>
                        <m:r>
                          <a:rPr kumimoji="0" lang="en-US" altLang="zh-CN" sz="1600" b="1" i="1" u="none" strike="noStrike" kern="1200" cap="none" spc="0" normalizeH="0" baseline="0" noProof="0">
                            <a:ln>
                              <a:noFill/>
                            </a:ln>
                            <a:solidFill>
                              <a:prstClr val="black"/>
                            </a:solidFill>
                            <a:effectLst/>
                            <a:uLnTx/>
                            <a:uFillTx/>
                            <a:latin typeface="Arial" panose="02040503050406030204" pitchFamily="18" charset="0"/>
                            <a:cs typeface="Arial"/>
                            <a:ea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𝑖</m:t>
                        </m:r>
                      </m:sub>
                      <m:sup>
                        <m: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cs typeface="Arial"/>
                            <a:ea typeface="Arial"/>
                          </a:rPr>
                          <m:t>∗</m:t>
                        </m:r>
                      </m:sup>
                    </m:sSubSup>
                  </m:e>
                </m:nary>
              </m:oMath>
            </a14:m>
            <a:endParaRPr lang="en-US" altLang="en-US" dirty="0" sz="1600">
              <a:latin typeface="Arial"/>
              <a:ea typeface="Arial"/>
              <a:cs typeface="Arial"/>
            </a:endParaRPr>
          </a:p>
        </p:txBody>
      </p:sp>
      <p:sp>
        <p:nvSpPr>
          <p:cNvPr id="12" name="箭头: 右 11">
            <a:extLst>
              <a:ext uri="{FF2B5EF4-FFF2-40B4-BE49-F238E27FC236}">
                <a16:creationId xmlns:a16="http://schemas.microsoft.com/office/drawing/2014/main" id="{4B0DA3FA-B3E7-9184-F1AD-692EC2FDABDC}"/>
              </a:ext>
            </a:extLst>
          </p:cNvPr>
          <p:cNvSpPr/>
          <p:nvPr/>
        </p:nvSpPr>
        <p:spPr>
          <a:xfrm>
            <a:off x="4527529" y="1920573"/>
            <a:ext cx="388883" cy="394138"/>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algn="ctr"/>
            <a:endParaRPr lang="en-US" altLang="en-US" sz="1600">
              <a:latin typeface="Arial"/>
              <a:ea typeface="Arial"/>
              <a:cs typeface="Arial"/>
            </a:endParaRPr>
          </a:p>
        </p:txBody>
      </p:sp>
      <p:sp xmlns:a14="http://schemas.microsoft.com/office/drawing/2010/main">
        <p:nvSpPr>
          <p:cNvPr id="10" name="文本框 9">
            <a:extLst>
              <a:ext uri="{FF2B5EF4-FFF2-40B4-BE49-F238E27FC236}">
                <a16:creationId xmlns:a16="http://schemas.microsoft.com/office/drawing/2014/main" id="{A853E155-83F1-0868-E51A-13CDDD874C36}"/>
              </a:ext>
            </a:extLst>
          </p:cNvPr>
          <p:cNvSpPr txBox="1"/>
          <p:nvPr/>
        </p:nvSpPr>
        <p:spPr>
          <a:xfrm>
            <a:off x="123653" y="1210324"/>
            <a:ext cx="4597284" cy="1017651"/>
          </a:xfrm>
          <a:prstGeom prst="rect">
            <a:avLst/>
          </a:prstGeom>
          <a:noFill/>
        </p:spPr>
        <p:txBody>
          <a:bodyPr wrap="none" lIns="0" tIns="0" rIns="0" bIns="0" rtlCol="0">
            <a:noAutofit/>
          </a:bodyPr>
          <a:lstStyle/>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zh-CN" sz="1600" b="1" i="1" smtClean="0">
                        <a:latin typeface="Arial" panose="02040503050406030204" pitchFamily="18" charset="0"/>
                        <a:ea typeface="Arial"/>
                        <a:cs typeface="Arial"/>
                      </a:rPr>
                      <m:t>𝒘</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sSup>
                  <m:sSupPr>
                    <m:ctrlPr>
                      <a:rPr lang="en-US" altLang="zh-CN" sz="1600" i="1">
                        <a:solidFill>
                          <a:prstClr val="black"/>
                        </a:solidFill>
                        <a:latin typeface="Arial" panose="02040503050406030204" pitchFamily="18" charset="0"/>
                        <a:ea typeface="Arial" panose="02010609060101010101" pitchFamily="49" charset="-122"/>
                        <a:cs typeface="Arial"/>
                      </a:rPr>
                    </m:ctrlPr>
                  </m:sSupPr>
                  <m:e>
                    <m:r>
                      <a:rPr lang="en-US" altLang="zh-CN" sz="1600" b="1" i="1">
                        <a:solidFill>
                          <a:prstClr val="black"/>
                        </a:solidFill>
                        <a:latin typeface="Arial" panose="02040503050406030204" pitchFamily="18" charset="0"/>
                        <a:ea typeface="Arial" panose="02010609060101010101" pitchFamily="49" charset="-122"/>
                        <a:cs typeface="Arial"/>
                      </a:rPr>
                      <m:t>𝒘</m:t>
                    </m:r>
                  </m:e>
                  <m:sup>
                    <m:r>
                      <a:rPr lang="en-US" altLang="zh-CN" sz="1600">
                        <a:solidFill>
                          <a:prstClr val="black"/>
                        </a:solidFill>
                        <a:latin typeface="Arial" panose="02040503050406030204" pitchFamily="18" charset="0"/>
                        <a:ea typeface="Arial" panose="02010609060101010101" pitchFamily="49" charset="-122"/>
                        <a:cs typeface="Arial"/>
                      </a:rPr>
                      <m:t>∗</m:t>
                    </m:r>
                  </m:sup>
                </m:sSup>
                <m:r>
                  <a:rPr lang="en-US" altLang="zh-CN" sz="1600" b="0" i="1" smtClean="0">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i="1">
                        <a:solidFill>
                          <a:prstClr val="black"/>
                        </a:solidFill>
                        <a:latin typeface="Arial" panose="02040503050406030204" pitchFamily="18" charset="0"/>
                        <a:ea typeface="Arial" panose="02010609060101010101" pitchFamily="49" charset="-122"/>
                        <a:cs typeface="Arial"/>
                      </a:rPr>
                      <m:t>𝑖</m:t>
                    </m:r>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sub>
                  <m:sup>
                    <m:r>
                      <a:rPr lang="en-US" altLang="zh-CN" sz="1600" i="1">
                        <a:solidFill>
                          <a:prstClr val="black"/>
                        </a:solidFill>
                        <a:latin typeface="Arial" panose="02040503050406030204" pitchFamily="18" charset="0"/>
                        <a:ea typeface="Arial" panose="02010609060101010101" pitchFamily="49" charset="-122"/>
                        <a:cs typeface="Arial"/>
                      </a:rPr>
                      <m:t>𝑁</m:t>
                    </m:r>
                  </m:sup>
                  <m:e>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sSubSup>
                      <m:sSubSupPr>
                        <m:ctrlPr>
                          <a:rPr lang="en-US" altLang="zh-CN" sz="1600" i="1">
                            <a:solidFill>
                              <a:prstClr val="black"/>
                            </a:solidFill>
                            <a:latin typeface="Arial" panose="02040503050406030204" pitchFamily="18" charset="0"/>
                            <a:ea typeface="Arial"/>
                            <a:cs typeface="Arial"/>
                          </a:rPr>
                        </m:ctrlPr>
                      </m:sSubSupPr>
                      <m:e>
                        <m:r>
                          <a:rPr lang="en-US" altLang="zh-CN" sz="1600" b="1" i="1">
                            <a:solidFill>
                              <a:prstClr val="black"/>
                            </a:solidFill>
                            <a:latin typeface="Arial" panose="02040503050406030204" pitchFamily="18" charset="0"/>
                            <a:ea typeface="Arial"/>
                            <a:cs typeface="Arial"/>
                          </a:rPr>
                          <m:t>𝒙</m:t>
                        </m:r>
                      </m:e>
                      <m:sub>
                        <m:r>
                          <a:rPr lang="en-US" altLang="zh-CN" sz="1600" i="1">
                            <a:solidFill>
                              <a:prstClr val="black"/>
                            </a:solidFill>
                            <a:latin typeface="Arial" panose="02040503050406030204" pitchFamily="18" charset="0"/>
                            <a:ea typeface="Arial"/>
                            <a:cs typeface="Arial"/>
                          </a:rPr>
                          <m:t>𝑖</m:t>
                        </m:r>
                      </m:sub>
                      <m:sup>
                        <m:r>
                          <a:rPr lang="en-US" altLang="zh-CN" sz="1600" i="1">
                            <a:solidFill>
                              <a:prstClr val="black"/>
                            </a:solidFill>
                            <a:latin typeface="Arial" panose="02040503050406030204" pitchFamily="18" charset="0"/>
                            <a:ea typeface="Arial"/>
                            <a:cs typeface="Arial"/>
                          </a:rPr>
                          <m:t>∗</m:t>
                        </m:r>
                      </m:sup>
                    </m:sSubSup>
                  </m:e>
                </m:nary>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a14:m>
            <a:endParaRPr lang="en-US" altLang="zh-CN" sz="1600" dirty="0">
              <a:latin typeface="Arial" panose="020B0604020202020204" pitchFamily="34" charset="0"/>
              <a:ea typeface="Arial" panose="02010609060101010101" pitchFamily="49" charset="-122"/>
              <a:cs typeface="Arial"/>
            </a:endParaRPr>
          </a:p>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zh-CN" sz="1600" b="0" i="1" smtClean="0">
                        <a:latin typeface="Arial" panose="02040503050406030204" pitchFamily="18" charset="0"/>
                        <a:ea typeface="Arial" panose="02040503050406030204" pitchFamily="18" charset="0"/>
                        <a:cs typeface="Arial"/>
                      </a:rPr>
                      <m:t>𝑏</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m:t>
                </m:r>
                <m:nary>
                  <m:naryPr>
                    <m:chr m:val="∑"/>
                    <m:ctrlPr>
                      <a:rPr lang="en-US" altLang="zh-CN" sz="1600" i="1">
                        <a:solidFill>
                          <a:prstClr val="black"/>
                        </a:solidFill>
                        <a:latin typeface="Arial" panose="02040503050406030204" pitchFamily="18" charset="0"/>
                        <a:ea typeface="Arial" panose="02010609060101010101" pitchFamily="49" charset="-122"/>
                        <a:cs typeface="Arial"/>
                      </a:rPr>
                    </m:ctrlPr>
                  </m:naryPr>
                  <m:sub>
                    <m:r>
                      <m:rPr>
                        <m:brk m:alnAt="23"/>
                      </m:rPr>
                      <a:rPr lang="en-US" altLang="zh-CN" sz="1600" i="1">
                        <a:solidFill>
                          <a:prstClr val="black"/>
                        </a:solidFill>
                        <a:latin typeface="Arial" panose="02040503050406030204" pitchFamily="18" charset="0"/>
                        <a:ea typeface="Arial" panose="02010609060101010101" pitchFamily="49" charset="-122"/>
                        <a:cs typeface="Arial"/>
                      </a:rPr>
                      <m:t>𝑖</m:t>
                    </m:r>
                    <m:r>
                      <a:rPr lang="en-US" altLang="zh-CN" sz="1600" i="1">
                        <a:solidFill>
                          <a:prstClr val="black"/>
                        </a:solidFill>
                        <a:latin typeface="Arial" panose="02040503050406030204" pitchFamily="18" charset="0"/>
                        <a:ea typeface="Arial" panose="02010609060101010101" pitchFamily="49" charset="-122"/>
                        <a:cs typeface="Arial"/>
                      </a:rPr>
                      <m:t>=</m:t>
                    </m:r>
                    <m:r>
                      <a:rPr lang="en-US" altLang="zh-CN" sz="1600" i="1">
                        <a:solidFill>
                          <a:prstClr val="black"/>
                        </a:solidFill>
                        <a:latin typeface="Arial" panose="02040503050406030204" pitchFamily="18" charset="0"/>
                        <a:ea typeface="Arial" panose="02010609060101010101" pitchFamily="49" charset="-122"/>
                        <a:cs typeface="Arial"/>
                      </a:rPr>
                      <m:t>1</m:t>
                    </m:r>
                  </m:sub>
                  <m:sup>
                    <m:r>
                      <a:rPr lang="en-US" altLang="zh-CN" sz="1600" i="1">
                        <a:solidFill>
                          <a:prstClr val="black"/>
                        </a:solidFill>
                        <a:latin typeface="Arial" panose="02040503050406030204" pitchFamily="18" charset="0"/>
                        <a:ea typeface="Arial" panose="02010609060101010101" pitchFamily="49" charset="-122"/>
                        <a:cs typeface="Arial"/>
                      </a:rPr>
                      <m:t>𝑁</m:t>
                    </m:r>
                  </m:sup>
                  <m:e>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sSub>
                      <m:sSubPr>
                        <m:ctrlPr>
                          <a:rPr lang="en-US" altLang="zh-CN" sz="1600" i="1">
                            <a:solidFill>
                              <a:prstClr val="black"/>
                            </a:solidFill>
                            <a:latin typeface="Arial" panose="02040503050406030204" pitchFamily="18" charset="0"/>
                            <a:ea typeface="Arial" panose="02010609060101010101" pitchFamily="49" charset="-122"/>
                            <a:cs typeface="Arial"/>
                          </a:rPr>
                        </m:ctrlPr>
                      </m:sSubPr>
                      <m:e>
                        <m:r>
                          <a:rPr lang="en-US" altLang="zh-CN" sz="1600" i="1">
                            <a:solidFill>
                              <a:prstClr val="black"/>
                            </a:solidFill>
                            <a:latin typeface="Arial" panose="02040503050406030204" pitchFamily="18" charset="0"/>
                            <a:ea typeface="Arial" panose="02010609060101010101" pitchFamily="49" charset="-122"/>
                            <a:cs typeface="Arial"/>
                          </a:rPr>
                          <m:t>𝑦</m:t>
                        </m:r>
                      </m:e>
                      <m:sub>
                        <m:r>
                          <a:rPr lang="en-US" altLang="zh-CN" sz="1600" i="1">
                            <a:solidFill>
                              <a:prstClr val="black"/>
                            </a:solidFill>
                            <a:latin typeface="Arial" panose="02040503050406030204" pitchFamily="18" charset="0"/>
                            <a:ea typeface="Arial" panose="02010609060101010101" pitchFamily="49" charset="-122"/>
                            <a:cs typeface="Arial"/>
                          </a:rPr>
                          <m:t>𝑖</m:t>
                        </m:r>
                      </m:sub>
                    </m:sSub>
                  </m:e>
                </m:nary>
                <m:r>
                  <a:rPr lang="en-US" altLang="zh-CN" sz="1600" b="0" i="1" smtClean="0">
                    <a:solidFill>
                      <a:prstClr val="black"/>
                    </a:solidFill>
                    <a:latin typeface="Arial" panose="02040503050406030204" pitchFamily="18" charset="0"/>
                    <a:ea typeface="Arial" panose="02010609060101010101" pitchFamily="49" charset="-122"/>
                    <a:cs typeface="Arial"/>
                  </a:rPr>
                  <m:t>=</m:t>
                </m:r>
                <m:r>
                  <a:rPr lang="en-US" altLang="zh-CN" sz="1600" b="0" i="1" smtClean="0">
                    <a:solidFill>
                      <a:prstClr val="black"/>
                    </a:solidFill>
                    <a:latin typeface="Arial" panose="02040503050406030204" pitchFamily="18" charset="0"/>
                    <a:ea typeface="Arial" panose="02010609060101010101" pitchFamily="49" charset="-122"/>
                    <a:cs typeface="Arial"/>
                  </a:rPr>
                  <m:t>0</m:t>
                </m:r>
              </m:oMath>
            </a14:m>
            <a:endParaRPr lang="en-US" altLang="zh-CN" sz="1600" dirty="0">
              <a:latin typeface="Arial" panose="020B0604020202020204" pitchFamily="34" charset="0"/>
              <a:ea typeface="Arial" panose="02010609060101010101" pitchFamily="49" charset="-122"/>
              <a:cs typeface="Arial"/>
            </a:endParaRPr>
          </a:p>
          <a:p>
            <a:r>
              <a:rPr lang="en-US" altLang="zh-CN" sz="1600" dirty="0">
                <a:latin typeface="Arial"/>
                <a:ea typeface="Arial"/>
                <a:cs typeface="Arial"/>
              </a:rPr>
              <a:t> </a:t>
            </a:r>
            <a14:m>
              <m:oMath xmlns:m="http://schemas.openxmlformats.org/officeDocument/2006/math">
                <m:sSub>
                  <m:sSubPr>
                    <m:ctrlPr>
                      <a:rPr lang="en-US" altLang="zh-CN" sz="1600" i="1" smtClean="0">
                        <a:latin typeface="Arial" panose="02040503050406030204" pitchFamily="18" charset="0"/>
                        <a:ea typeface="Arial"/>
                        <a:cs typeface="Arial"/>
                      </a:rPr>
                    </m:ctrlPr>
                  </m:sSubPr>
                  <m:e>
                    <m:r>
                      <m:rPr>
                        <m:sty m:val="p"/>
                      </m:rPr>
                      <a:rPr lang="en-US" altLang="zh-CN" sz="1600" i="1" smtClean="0">
                        <a:latin typeface="Arial" panose="02040503050406030204" pitchFamily="18" charset="0"/>
                        <a:ea typeface="Arial" panose="02040503050406030204" pitchFamily="18" charset="0"/>
                        <a:cs typeface="Arial"/>
                      </a:rPr>
                      <m:t>∇</m:t>
                    </m:r>
                  </m:e>
                  <m:sub>
                    <m:r>
                      <a:rPr lang="en-US" altLang="en-US" sz="1600" i="1">
                        <a:latin typeface="Arial" panose="02040503050406030204" pitchFamily="18" charset="0"/>
                        <a:ea typeface="Arial"/>
                        <a:cs typeface="Arial"/>
                      </a:rPr>
                      <m:t>𝜉</m:t>
                    </m:r>
                  </m:sub>
                </m:sSub>
                <m:r>
                  <a:rPr lang="en-US" altLang="zh-CN" sz="1600" i="1">
                    <a:latin typeface="Arial" panose="02040503050406030204" pitchFamily="18" charset="0"/>
                    <a:ea typeface="Arial"/>
                    <a:cs typeface="Arial"/>
                  </a:rPr>
                  <m:t>𝐿</m:t>
                </m:r>
                <m:d>
                  <m:dPr>
                    <m:ctrlPr>
                      <a:rPr lang="en-US" altLang="zh-CN" sz="1600" i="1">
                        <a:latin typeface="Arial" panose="02040503050406030204" pitchFamily="18" charset="0"/>
                        <a:ea typeface="Arial"/>
                        <a:cs typeface="Arial"/>
                      </a:rPr>
                    </m:ctrlPr>
                  </m:dPr>
                  <m:e>
                    <m:r>
                      <a:rPr lang="en-US" altLang="zh-CN" sz="1600" b="1" i="1">
                        <a:latin typeface="Arial" panose="02040503050406030204" pitchFamily="18" charset="0"/>
                        <a:ea typeface="Arial"/>
                        <a:cs typeface="Arial"/>
                      </a:rPr>
                      <m:t>𝒘</m:t>
                    </m:r>
                    <m:r>
                      <a:rPr lang="en-US" altLang="zh-CN" sz="1600" i="1">
                        <a:latin typeface="Arial" panose="02040503050406030204" pitchFamily="18" charset="0"/>
                        <a:ea typeface="Arial"/>
                        <a:cs typeface="Arial"/>
                      </a:rPr>
                      <m:t>,</m:t>
                    </m:r>
                    <m:r>
                      <a:rPr lang="en-US" altLang="zh-CN" sz="1600" i="1">
                        <a:latin typeface="Arial" panose="02040503050406030204" pitchFamily="18" charset="0"/>
                        <a:ea typeface="Arial"/>
                        <a:cs typeface="Arial"/>
                      </a:rPr>
                      <m:t>𝑏</m:t>
                    </m:r>
                    <m:r>
                      <a:rPr lang="en-US" altLang="zh-CN" sz="160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𝜉</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𝛼</m:t>
                    </m:r>
                    <m:r>
                      <a:rPr lang="en-US" altLang="zh-CN" sz="1600" b="0" i="1">
                        <a:latin typeface="Arial" panose="02040503050406030204" pitchFamily="18" charset="0"/>
                        <a:ea typeface="Arial"/>
                        <a:cs typeface="Arial"/>
                      </a:rPr>
                      <m:t>,</m:t>
                    </m:r>
                    <m:r>
                      <a:rPr lang="en-US" altLang="en-US" sz="1600" b="0" i="1">
                        <a:latin typeface="Arial" panose="02040503050406030204" pitchFamily="18" charset="0"/>
                        <a:ea typeface="Arial"/>
                        <a:cs typeface="Arial"/>
                      </a:rPr>
                      <m:t>𝜇</m:t>
                    </m:r>
                  </m:e>
                </m:d>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a:solidFill>
                          <a:prstClr val="black"/>
                        </a:solidFill>
                        <a:latin typeface="Arial" panose="02040503050406030204" pitchFamily="18" charset="0"/>
                        <a:ea typeface="Arial" panose="02010609060101010101" pitchFamily="49" charset="-122"/>
                        <a:cs typeface="Arial"/>
                      </a:rPr>
                      <m:t>𝛼</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r>
                  <a:rPr lang="en-US" altLang="zh-CN" sz="1600" b="0" i="1" smtClean="0">
                    <a:solidFill>
                      <a:prstClr val="black"/>
                    </a:solidFill>
                    <a:latin typeface="Arial" panose="02040503050406030204" pitchFamily="18" charset="0"/>
                    <a:ea typeface="Arial" panose="02010609060101010101" pitchFamily="49" charset="-122"/>
                    <a:cs typeface="Arial"/>
                  </a:rPr>
                  <m:t>−</m:t>
                </m:r>
                <m:sSubSup>
                  <m:sSubSupPr>
                    <m:ctrlPr>
                      <a:rPr lang="en-US" altLang="zh-CN" sz="1600" i="1">
                        <a:solidFill>
                          <a:prstClr val="black"/>
                        </a:solidFill>
                        <a:latin typeface="Arial" panose="02040503050406030204" pitchFamily="18" charset="0"/>
                        <a:ea typeface="Arial" panose="02010609060101010101" pitchFamily="49" charset="-122"/>
                        <a:cs typeface="Arial"/>
                      </a:rPr>
                    </m:ctrlPr>
                  </m:sSubSupPr>
                  <m:e>
                    <m:r>
                      <a:rPr lang="en-US" altLang="en-US" sz="1600" i="1" smtClean="0">
                        <a:solidFill>
                          <a:prstClr val="black"/>
                        </a:solidFill>
                        <a:latin typeface="Arial" panose="02040503050406030204" pitchFamily="18" charset="0"/>
                        <a:ea typeface="Arial" panose="02010609060101010101" pitchFamily="49" charset="-122"/>
                        <a:cs typeface="Arial"/>
                      </a:rPr>
                      <m:t>𝜇</m:t>
                    </m:r>
                  </m:e>
                  <m:sub>
                    <m:r>
                      <a:rPr lang="en-US" altLang="zh-CN" sz="1600" i="1">
                        <a:solidFill>
                          <a:prstClr val="black"/>
                        </a:solidFill>
                        <a:latin typeface="Arial" panose="02040503050406030204" pitchFamily="18" charset="0"/>
                        <a:ea typeface="Arial" panose="02010609060101010101" pitchFamily="49" charset="-122"/>
                        <a:cs typeface="Arial"/>
                      </a:rPr>
                      <m:t>𝑖</m:t>
                    </m:r>
                  </m:sub>
                  <m:sup>
                    <m:r>
                      <a:rPr lang="en-US" altLang="zh-CN" sz="1600" i="1">
                        <a:solidFill>
                          <a:prstClr val="black"/>
                        </a:solidFill>
                        <a:latin typeface="Arial" panose="02040503050406030204" pitchFamily="18" charset="0"/>
                        <a:ea typeface="Arial" panose="02010609060101010101" pitchFamily="49" charset="-122"/>
                        <a:cs typeface="Arial"/>
                      </a:rPr>
                      <m:t>∗</m:t>
                    </m:r>
                  </m:sup>
                </m:sSubSup>
              </m:oMath>
            </a14:m>
            <a:endParaRPr lang="en-US" altLang="en-US" sz="1600" dirty="0">
              <a:latin typeface="Arial" panose="020B0604020202020204" pitchFamily="34" charset="0"/>
              <a:ea typeface="Arial" panose="02010609060101010101" pitchFamily="49" charset="-122"/>
              <a:cs typeface="Arial"/>
            </a:endParaRPr>
          </a:p>
        </p:txBody>
      </p:sp>
      <p:grpSp>
        <p:nvGrpSpPr>
          <p:cNvPr id="243" name="组合 242">
            <a:extLst>
              <a:ext uri="{FF2B5EF4-FFF2-40B4-BE49-F238E27FC236}">
                <a16:creationId xmlns:a16="http://schemas.microsoft.com/office/drawing/2014/main" id="{E2EFEADA-180E-E455-1A7A-9322DCE956D3}"/>
              </a:ext>
            </a:extLst>
          </p:cNvPr>
          <p:cNvGrpSpPr>
            <a:grpSpLocks noChangeAspect="1"/>
          </p:cNvGrpSpPr>
          <p:nvPr/>
        </p:nvGrpSpPr>
        <p:grpSpPr>
          <a:xfrm>
            <a:off x="944287" y="3253322"/>
            <a:ext cx="3896721" cy="2684673"/>
            <a:chOff x="1059495" y="3303037"/>
            <a:chExt cx="3986109" cy="2746258"/>
          </a:xfrm>
        </p:grpSpPr>
        <p:cxnSp>
          <p:nvCxnSpPr>
            <p:cNvPr id="160" name="直接连接符 159">
              <a:extLst>
                <a:ext uri="{FF2B5EF4-FFF2-40B4-BE49-F238E27FC236}">
                  <a16:creationId xmlns:a16="http://schemas.microsoft.com/office/drawing/2014/main" id="{6F78305F-AF41-DD46-27A6-5288C52BBA80}"/>
                </a:ext>
              </a:extLst>
            </p:cNvPr>
            <p:cNvCxnSpPr/>
            <p:nvPr/>
          </p:nvCxnSpPr>
          <p:spPr>
            <a:xfrm flipV="1">
              <a:off x="2081741" y="3866599"/>
              <a:ext cx="1954213" cy="1914525"/>
            </a:xfrm>
            <a:prstGeom prst="line">
              <a:avLst/>
            </a:prstGeom>
            <a:noFill/>
            <a:ln w="9525" cap="flat" cmpd="sng" algn="ctr">
              <a:solidFill>
                <a:sysClr val="windowText" lastClr="000000"/>
              </a:solidFill>
              <a:prstDash val="dash"/>
              <a:miter lim="800000"/>
            </a:ln>
            <a:effectLst/>
          </p:spPr>
        </p:cxnSp>
        <p:cxnSp>
          <p:nvCxnSpPr>
            <p:cNvPr id="161" name="直接连接符 160">
              <a:extLst>
                <a:ext uri="{FF2B5EF4-FFF2-40B4-BE49-F238E27FC236}">
                  <a16:creationId xmlns:a16="http://schemas.microsoft.com/office/drawing/2014/main" id="{ACAAB6D9-8874-E1BF-A756-7B43F82B65F8}"/>
                </a:ext>
              </a:extLst>
            </p:cNvPr>
            <p:cNvCxnSpPr/>
            <p:nvPr/>
          </p:nvCxnSpPr>
          <p:spPr>
            <a:xfrm flipV="1">
              <a:off x="1694391" y="3501474"/>
              <a:ext cx="1954213" cy="1914525"/>
            </a:xfrm>
            <a:prstGeom prst="line">
              <a:avLst/>
            </a:prstGeom>
            <a:noFill/>
            <a:ln w="9525" cap="flat" cmpd="sng" algn="ctr">
              <a:solidFill>
                <a:sysClr val="windowText" lastClr="000000"/>
              </a:solidFill>
              <a:prstDash val="dash"/>
              <a:miter lim="800000"/>
            </a:ln>
            <a:effectLst/>
          </p:spPr>
        </p:cxnSp>
        <p:graphicFrame>
          <p:nvGraphicFramePr>
            <p:cNvPr id="162" name="Object 757">
              <a:extLst>
                <a:ext uri="{FF2B5EF4-FFF2-40B4-BE49-F238E27FC236}">
                  <a16:creationId xmlns:a16="http://schemas.microsoft.com/office/drawing/2014/main" id="{4D7AE0D6-BC3A-D59A-9FEE-9F41916BC3B8}"/>
                </a:ext>
              </a:extLst>
            </p:cNvPr>
            <p:cNvGraphicFramePr>
              <a:graphicFrameLocks noChangeAspect="1"/>
            </p:cNvGraphicFramePr>
            <p:nvPr>
              <p:extLst>
                <p:ext uri="{D42A27DB-BD31-4B8C-83A1-F6EECF244321}">
                  <p14:modId xmlns:p14="http://schemas.microsoft.com/office/powerpoint/2010/main" val="592001703"/>
                </p:ext>
              </p:extLst>
            </p:nvPr>
          </p:nvGraphicFramePr>
          <p:xfrm>
            <a:off x="3839104" y="4604787"/>
            <a:ext cx="1206500" cy="247650"/>
          </p:xfrm>
          <a:graphic>
            <a:graphicData uri="http://schemas.openxmlformats.org/presentationml/2006/ole">
              <p:oleObj name="Formula" r:id="rId9" imgW="955040" imgH="195580" progId="">
                <p:embed/>
              </p:oleObj>
            </a:graphicData>
          </a:graphic>
        </p:graphicFrame>
        <p:graphicFrame>
          <p:nvGraphicFramePr>
            <p:cNvPr id="163" name="Object 758">
              <a:extLst>
                <a:ext uri="{FF2B5EF4-FFF2-40B4-BE49-F238E27FC236}">
                  <a16:creationId xmlns:a16="http://schemas.microsoft.com/office/drawing/2014/main" id="{DE34AE9F-87A3-08B9-96FB-C362D155ABCD}"/>
                </a:ext>
              </a:extLst>
            </p:cNvPr>
            <p:cNvGraphicFramePr>
              <a:graphicFrameLocks noChangeAspect="1"/>
            </p:cNvGraphicFramePr>
            <p:nvPr>
              <p:extLst>
                <p:ext uri="{D42A27DB-BD31-4B8C-83A1-F6EECF244321}">
                  <p14:modId xmlns:p14="http://schemas.microsoft.com/office/powerpoint/2010/main" val="25865140"/>
                </p:ext>
              </p:extLst>
            </p:nvPr>
          </p:nvGraphicFramePr>
          <p:xfrm>
            <a:off x="2354791" y="3312562"/>
            <a:ext cx="1055688" cy="247650"/>
          </p:xfrm>
          <a:graphic>
            <a:graphicData uri="http://schemas.openxmlformats.org/presentationml/2006/ole">
              <p:oleObj name="Formula" r:id="rId11" imgW="836930" imgH="195580" progId="">
                <p:embed/>
              </p:oleObj>
            </a:graphicData>
          </a:graphic>
        </p:graphicFrame>
        <p:sp>
          <p:nvSpPr>
            <p:cNvPr id="164" name="任意多边形 66">
              <a:extLst>
                <a:ext uri="{FF2B5EF4-FFF2-40B4-BE49-F238E27FC236}">
                  <a16:creationId xmlns:a16="http://schemas.microsoft.com/office/drawing/2014/main" id="{76F7A55B-D809-25E6-F3E7-98FD5FBD62F3}"/>
                </a:ext>
              </a:extLst>
            </p:cNvPr>
            <p:cNvSpPr/>
            <p:nvPr/>
          </p:nvSpPr>
          <p:spPr>
            <a:xfrm>
              <a:off x="3034241" y="3534812"/>
              <a:ext cx="185738" cy="371475"/>
            </a:xfrm>
            <a:custGeom>
              <a:avLst/>
              <a:gdLst>
                <a:gd name="connsiteX0" fmla="*/ 0 w 185738"/>
                <a:gd name="connsiteY0" fmla="*/ 0 h 371475"/>
                <a:gd name="connsiteX1" fmla="*/ 33338 w 185738"/>
                <a:gd name="connsiteY1" fmla="*/ 204787 h 371475"/>
                <a:gd name="connsiteX2" fmla="*/ 185738 w 185738"/>
                <a:gd name="connsiteY2" fmla="*/ 371475 h 371475"/>
              </a:gdLst>
              <a:ahLst/>
              <a:cxnLst>
                <a:cxn ang="0">
                  <a:pos x="connsiteX0" y="connsiteY0"/>
                </a:cxn>
                <a:cxn ang="0">
                  <a:pos x="connsiteX1" y="connsiteY1"/>
                </a:cxn>
                <a:cxn ang="0">
                  <a:pos x="connsiteX2" y="connsiteY2"/>
                </a:cxn>
              </a:cxnLst>
              <a:rect l="l" t="t" r="r" b="b"/>
              <a:pathLst>
                <a:path w="185738" h="371475">
                  <a:moveTo>
                    <a:pt x="0" y="0"/>
                  </a:moveTo>
                  <a:cubicBezTo>
                    <a:pt x="1191" y="71437"/>
                    <a:pt x="2382" y="142875"/>
                    <a:pt x="33338" y="204787"/>
                  </a:cubicBezTo>
                  <a:cubicBezTo>
                    <a:pt x="64294" y="266699"/>
                    <a:pt x="125016" y="319087"/>
                    <a:pt x="185738" y="371475"/>
                  </a:cubicBezTo>
                </a:path>
              </a:pathLst>
            </a:custGeom>
            <a:noFill/>
            <a:ln w="12700" cap="flat" cmpd="sng" algn="ctr">
              <a:solidFill>
                <a:sysClr val="windowText" lastClr="00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165" name="任意多边形 67">
              <a:extLst>
                <a:ext uri="{FF2B5EF4-FFF2-40B4-BE49-F238E27FC236}">
                  <a16:creationId xmlns:a16="http://schemas.microsoft.com/office/drawing/2014/main" id="{6D998BF3-9AFB-BDD6-EF66-B644A51C0B49}"/>
                </a:ext>
              </a:extLst>
            </p:cNvPr>
            <p:cNvSpPr/>
            <p:nvPr/>
          </p:nvSpPr>
          <p:spPr>
            <a:xfrm>
              <a:off x="3434291" y="4500012"/>
              <a:ext cx="374650" cy="249237"/>
            </a:xfrm>
            <a:custGeom>
              <a:avLst/>
              <a:gdLst>
                <a:gd name="connsiteX0" fmla="*/ 374650 w 374650"/>
                <a:gd name="connsiteY0" fmla="*/ 247650 h 248260"/>
                <a:gd name="connsiteX1" fmla="*/ 209550 w 374650"/>
                <a:gd name="connsiteY1" fmla="*/ 209550 h 248260"/>
                <a:gd name="connsiteX2" fmla="*/ 0 w 374650"/>
                <a:gd name="connsiteY2" fmla="*/ 0 h 248260"/>
              </a:gdLst>
              <a:ahLst/>
              <a:cxnLst>
                <a:cxn ang="0">
                  <a:pos x="connsiteX0" y="connsiteY0"/>
                </a:cxn>
                <a:cxn ang="0">
                  <a:pos x="connsiteX1" y="connsiteY1"/>
                </a:cxn>
                <a:cxn ang="0">
                  <a:pos x="connsiteX2" y="connsiteY2"/>
                </a:cxn>
              </a:cxnLst>
              <a:rect l="l" t="t" r="r" b="b"/>
              <a:pathLst>
                <a:path w="374650" h="248260">
                  <a:moveTo>
                    <a:pt x="374650" y="247650"/>
                  </a:moveTo>
                  <a:cubicBezTo>
                    <a:pt x="323321" y="249237"/>
                    <a:pt x="271992" y="250825"/>
                    <a:pt x="209550" y="209550"/>
                  </a:cubicBezTo>
                  <a:cubicBezTo>
                    <a:pt x="147108" y="168275"/>
                    <a:pt x="73554" y="84137"/>
                    <a:pt x="0" y="0"/>
                  </a:cubicBezTo>
                </a:path>
              </a:pathLst>
            </a:custGeom>
            <a:noFill/>
            <a:ln w="12700" cap="flat" cmpd="sng" algn="ctr">
              <a:solidFill>
                <a:sysClr val="windowText" lastClr="00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nvGrpSpPr>
            <p:cNvPr id="166" name="组合 85">
              <a:extLst>
                <a:ext uri="{FF2B5EF4-FFF2-40B4-BE49-F238E27FC236}">
                  <a16:creationId xmlns:a16="http://schemas.microsoft.com/office/drawing/2014/main" id="{4EDBB774-6346-94DB-7964-2B230216FBC5}"/>
                </a:ext>
              </a:extLst>
            </p:cNvPr>
            <p:cNvGrpSpPr>
              <a:grpSpLocks/>
            </p:cNvGrpSpPr>
            <p:nvPr/>
          </p:nvGrpSpPr>
          <p:grpSpPr bwMode="auto">
            <a:xfrm>
              <a:off x="1853141" y="3714199"/>
              <a:ext cx="3167063" cy="1914525"/>
              <a:chOff x="3527106" y="3469632"/>
              <a:chExt cx="3166926" cy="1915691"/>
            </a:xfrm>
          </p:grpSpPr>
          <p:cxnSp>
            <p:nvCxnSpPr>
              <p:cNvPr id="167" name="直接连接符 166">
                <a:extLst>
                  <a:ext uri="{FF2B5EF4-FFF2-40B4-BE49-F238E27FC236}">
                    <a16:creationId xmlns:a16="http://schemas.microsoft.com/office/drawing/2014/main" id="{2136A826-7A23-8079-31CA-C833319F9869}"/>
                  </a:ext>
                </a:extLst>
              </p:cNvPr>
              <p:cNvCxnSpPr/>
              <p:nvPr/>
            </p:nvCxnSpPr>
            <p:spPr>
              <a:xfrm flipV="1">
                <a:off x="3527106" y="3469632"/>
                <a:ext cx="1954128" cy="1915691"/>
              </a:xfrm>
              <a:prstGeom prst="line">
                <a:avLst/>
              </a:prstGeom>
              <a:noFill/>
              <a:ln w="28575" cap="flat" cmpd="sng" algn="ctr">
                <a:solidFill>
                  <a:srgbClr val="FF0000"/>
                </a:solidFill>
                <a:prstDash val="solid"/>
                <a:miter lim="800000"/>
              </a:ln>
              <a:effectLst/>
            </p:spPr>
          </p:cxnSp>
          <p:graphicFrame>
            <p:nvGraphicFramePr>
              <p:cNvPr id="168" name="Object 759">
                <a:extLst>
                  <a:ext uri="{FF2B5EF4-FFF2-40B4-BE49-F238E27FC236}">
                    <a16:creationId xmlns:a16="http://schemas.microsoft.com/office/drawing/2014/main" id="{EE88228C-93D2-F8C1-8ACC-B5956FCC74AA}"/>
                  </a:ext>
                </a:extLst>
              </p:cNvPr>
              <p:cNvGraphicFramePr>
                <a:graphicFrameLocks noChangeAspect="1"/>
              </p:cNvGraphicFramePr>
              <p:nvPr/>
            </p:nvGraphicFramePr>
            <p:xfrm>
              <a:off x="5631995" y="3884291"/>
              <a:ext cx="1062037" cy="247650"/>
            </p:xfrm>
            <a:graphic>
              <a:graphicData uri="http://schemas.openxmlformats.org/presentationml/2006/ole">
                <p:oleObj name="Formula" r:id="rId13" imgW="842010" imgH="195580" progId="">
                  <p:embed/>
                </p:oleObj>
              </a:graphicData>
            </a:graphic>
          </p:graphicFrame>
          <p:sp>
            <p:nvSpPr>
              <p:cNvPr id="169" name="任意多边形 68">
                <a:extLst>
                  <a:ext uri="{FF2B5EF4-FFF2-40B4-BE49-F238E27FC236}">
                    <a16:creationId xmlns:a16="http://schemas.microsoft.com/office/drawing/2014/main" id="{FED1E11A-411E-E5D6-0435-C25E193FAFFF}"/>
                  </a:ext>
                </a:extLst>
              </p:cNvPr>
              <p:cNvSpPr/>
              <p:nvPr/>
            </p:nvSpPr>
            <p:spPr>
              <a:xfrm>
                <a:off x="5198672" y="3774618"/>
                <a:ext cx="374634" cy="243036"/>
              </a:xfrm>
              <a:custGeom>
                <a:avLst/>
                <a:gdLst>
                  <a:gd name="connsiteX0" fmla="*/ 368300 w 368300"/>
                  <a:gd name="connsiteY0" fmla="*/ 228600 h 241300"/>
                  <a:gd name="connsiteX1" fmla="*/ 209550 w 368300"/>
                  <a:gd name="connsiteY1" fmla="*/ 215900 h 241300"/>
                  <a:gd name="connsiteX2" fmla="*/ 0 w 368300"/>
                  <a:gd name="connsiteY2" fmla="*/ 0 h 241300"/>
                  <a:gd name="connsiteX0" fmla="*/ 349250 w 349250"/>
                  <a:gd name="connsiteY0" fmla="*/ 247650 h 254239"/>
                  <a:gd name="connsiteX1" fmla="*/ 209550 w 349250"/>
                  <a:gd name="connsiteY1" fmla="*/ 215900 h 254239"/>
                  <a:gd name="connsiteX2" fmla="*/ 0 w 349250"/>
                  <a:gd name="connsiteY2" fmla="*/ 0 h 254239"/>
                  <a:gd name="connsiteX0" fmla="*/ 374650 w 374650"/>
                  <a:gd name="connsiteY0" fmla="*/ 254000 h 259411"/>
                  <a:gd name="connsiteX1" fmla="*/ 209550 w 374650"/>
                  <a:gd name="connsiteY1" fmla="*/ 215900 h 259411"/>
                  <a:gd name="connsiteX2" fmla="*/ 0 w 374650"/>
                  <a:gd name="connsiteY2" fmla="*/ 0 h 259411"/>
                  <a:gd name="connsiteX0" fmla="*/ 374650 w 374650"/>
                  <a:gd name="connsiteY0" fmla="*/ 254000 h 254671"/>
                  <a:gd name="connsiteX1" fmla="*/ 209550 w 374650"/>
                  <a:gd name="connsiteY1" fmla="*/ 215900 h 254671"/>
                  <a:gd name="connsiteX2" fmla="*/ 0 w 374650"/>
                  <a:gd name="connsiteY2" fmla="*/ 0 h 254671"/>
                  <a:gd name="connsiteX0" fmla="*/ 374650 w 374650"/>
                  <a:gd name="connsiteY0" fmla="*/ 254000 h 254033"/>
                  <a:gd name="connsiteX1" fmla="*/ 175891 w 374650"/>
                  <a:gd name="connsiteY1" fmla="*/ 165412 h 254033"/>
                  <a:gd name="connsiteX2" fmla="*/ 0 w 374650"/>
                  <a:gd name="connsiteY2" fmla="*/ 0 h 254033"/>
                  <a:gd name="connsiteX0" fmla="*/ 374650 w 374650"/>
                  <a:gd name="connsiteY0" fmla="*/ 242781 h 242822"/>
                  <a:gd name="connsiteX1" fmla="*/ 175891 w 374650"/>
                  <a:gd name="connsiteY1" fmla="*/ 165412 h 242822"/>
                  <a:gd name="connsiteX2" fmla="*/ 0 w 374650"/>
                  <a:gd name="connsiteY2" fmla="*/ 0 h 242822"/>
                  <a:gd name="connsiteX0" fmla="*/ 374650 w 374650"/>
                  <a:gd name="connsiteY0" fmla="*/ 242781 h 243284"/>
                  <a:gd name="connsiteX1" fmla="*/ 198330 w 374650"/>
                  <a:gd name="connsiteY1" fmla="*/ 204681 h 243284"/>
                  <a:gd name="connsiteX2" fmla="*/ 0 w 374650"/>
                  <a:gd name="connsiteY2" fmla="*/ 0 h 243284"/>
                </a:gdLst>
                <a:ahLst/>
                <a:cxnLst>
                  <a:cxn ang="0">
                    <a:pos x="connsiteX0" y="connsiteY0"/>
                  </a:cxn>
                  <a:cxn ang="0">
                    <a:pos x="connsiteX1" y="connsiteY1"/>
                  </a:cxn>
                  <a:cxn ang="0">
                    <a:pos x="connsiteX2" y="connsiteY2"/>
                  </a:cxn>
                </a:cxnLst>
                <a:rect l="l" t="t" r="r" b="b"/>
                <a:pathLst>
                  <a:path w="374650" h="243284">
                    <a:moveTo>
                      <a:pt x="374650" y="242781"/>
                    </a:moveTo>
                    <a:cubicBezTo>
                      <a:pt x="314746" y="244261"/>
                      <a:pt x="260772" y="245144"/>
                      <a:pt x="198330" y="204681"/>
                    </a:cubicBezTo>
                    <a:cubicBezTo>
                      <a:pt x="135888" y="164218"/>
                      <a:pt x="74083" y="88900"/>
                      <a:pt x="0" y="0"/>
                    </a:cubicBezTo>
                  </a:path>
                </a:pathLst>
              </a:custGeom>
              <a:noFill/>
              <a:ln w="12700" cap="flat" cmpd="sng" algn="ctr">
                <a:solidFill>
                  <a:srgbClr val="FF0000"/>
                </a:solidFill>
                <a:prstDash val="solid"/>
                <a:miter lim="800000"/>
                <a:headEnd type="none" w="med" len="med"/>
                <a:tailEnd type="triangle" w="med" len="med"/>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grpSp>
          <p:nvGrpSpPr>
            <p:cNvPr id="170" name="组合 83">
              <a:extLst>
                <a:ext uri="{FF2B5EF4-FFF2-40B4-BE49-F238E27FC236}">
                  <a16:creationId xmlns:a16="http://schemas.microsoft.com/office/drawing/2014/main" id="{0422782A-7835-23D1-7053-944F2FCA6B0A}"/>
                </a:ext>
              </a:extLst>
            </p:cNvPr>
            <p:cNvGrpSpPr>
              <a:grpSpLocks/>
            </p:cNvGrpSpPr>
            <p:nvPr/>
          </p:nvGrpSpPr>
          <p:grpSpPr bwMode="auto">
            <a:xfrm>
              <a:off x="1059495" y="3303037"/>
              <a:ext cx="3206645" cy="2746258"/>
              <a:chOff x="2734252" y="3059452"/>
              <a:chExt cx="3205899" cy="2746310"/>
            </a:xfrm>
          </p:grpSpPr>
          <p:cxnSp>
            <p:nvCxnSpPr>
              <p:cNvPr id="171" name="直接箭头连接符 170">
                <a:extLst>
                  <a:ext uri="{FF2B5EF4-FFF2-40B4-BE49-F238E27FC236}">
                    <a16:creationId xmlns:a16="http://schemas.microsoft.com/office/drawing/2014/main" id="{04B16C77-DAE1-B092-1B0D-389F31A0689F}"/>
                  </a:ext>
                </a:extLst>
              </p:cNvPr>
              <p:cNvCxnSpPr/>
              <p:nvPr/>
            </p:nvCxnSpPr>
            <p:spPr>
              <a:xfrm flipH="1" flipV="1">
                <a:off x="2924603" y="3059452"/>
                <a:ext cx="0" cy="251941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172" name="直接箭头连接符 171">
                <a:extLst>
                  <a:ext uri="{FF2B5EF4-FFF2-40B4-BE49-F238E27FC236}">
                    <a16:creationId xmlns:a16="http://schemas.microsoft.com/office/drawing/2014/main" id="{5DDEDF17-65B0-0C09-A942-B366158B6996}"/>
                  </a:ext>
                </a:extLst>
              </p:cNvPr>
              <p:cNvCxnSpPr/>
              <p:nvPr/>
            </p:nvCxnSpPr>
            <p:spPr>
              <a:xfrm>
                <a:off x="2916668" y="5578862"/>
                <a:ext cx="3023483"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sp>
            <p:nvSpPr>
              <p:cNvPr id="173" name="文本框 5">
                <a:extLst>
                  <a:ext uri="{FF2B5EF4-FFF2-40B4-BE49-F238E27FC236}">
                    <a16:creationId xmlns:a16="http://schemas.microsoft.com/office/drawing/2014/main" id="{89C0C93A-C22D-7569-B70B-20C4D4C932CB}"/>
                  </a:ext>
                </a:extLst>
              </p:cNvPr>
              <p:cNvSpPr txBox="1">
                <a:spLocks noChangeArrowheads="1"/>
              </p:cNvSpPr>
              <p:nvPr/>
            </p:nvSpPr>
            <p:spPr bwMode="auto">
              <a:xfrm>
                <a:off x="2734252" y="5497985"/>
                <a:ext cx="274434"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marL="0" marR="0" lvl="0" indent="0" defTabSz="914400" eaLnBrk="1" fontAlgn="base" latinLnBrk="0" hangingPunct="1">
                  <a:lnSpc>
                    <a:spcPct val="100000"/>
                  </a:lnSpc>
                  <a:spcBef>
                    <a:spcPct val="0"/>
                  </a:spcBef>
                  <a:spcAft>
                    <a:spcPct val="0"/>
                  </a:spcAft>
                  <a:buClrTx/>
                  <a:buSzTx/>
                  <a:buFontTx/>
                  <a:buNone/>
                  <a:tabLst/>
                  <a:defRPr sz="1600" lang="en-US">
                    <a:latin typeface="Arial"/>
                    <a:ea typeface="Arial"/>
                    <a:cs typeface="Arial"/>
                  </a:defRPr>
                </a:pPr>
                <a:r>
                  <a:rPr kumimoji="0" lang="en-US" altLang="zh-CN" sz="1600" b="0" i="0" u="none" strike="noStrike" kern="0" cap="none" spc="0" normalizeH="0" baseline="0" noProof="0">
                    <a:ln>
                      <a:noFill/>
                    </a:ln>
                    <a:solidFill>
                      <a:prstClr val="black"/>
                    </a:solidFill>
                    <a:effectLst/>
                    <a:uLnTx/>
                    <a:uFillTx/>
                    <a:latin typeface="Arial"/>
                    <a:ea typeface="Arial" panose="02010509060101010101" pitchFamily="49" charset="-122"/>
                    <a:cs typeface="Arial"/>
                  </a:rPr>
                  <a:t>0</a:t>
                </a:r>
                <a:endParaRPr kumimoji="0" lang="en-US" altLang="en-US" sz="1600" b="0" i="0" u="none" strike="noStrike" kern="0" cap="none" spc="0" normalizeH="0" baseline="0" noProof="0">
                  <a:ln>
                    <a:noFill/>
                  </a:ln>
                  <a:solidFill>
                    <a:prstClr val="black"/>
                  </a:solidFill>
                  <a:effectLst/>
                  <a:uLnTx/>
                  <a:uFillTx/>
                  <a:latin typeface="Arial"/>
                  <a:ea typeface="Arial" panose="02010509060101010101" pitchFamily="49" charset="-122"/>
                  <a:cs typeface="Arial"/>
                </a:endParaRPr>
              </a:p>
            </p:txBody>
          </p:sp>
          <p:grpSp>
            <p:nvGrpSpPr>
              <p:cNvPr id="174" name="组合 6">
                <a:extLst>
                  <a:ext uri="{FF2B5EF4-FFF2-40B4-BE49-F238E27FC236}">
                    <a16:creationId xmlns:a16="http://schemas.microsoft.com/office/drawing/2014/main" id="{1BD9B510-EC43-0021-7571-E5AD6CE439DF}"/>
                  </a:ext>
                </a:extLst>
              </p:cNvPr>
              <p:cNvGrpSpPr>
                <a:grpSpLocks/>
              </p:cNvGrpSpPr>
              <p:nvPr/>
            </p:nvGrpSpPr>
            <p:grpSpPr bwMode="auto">
              <a:xfrm>
                <a:off x="4027407" y="3654783"/>
                <a:ext cx="108000" cy="108000"/>
                <a:chOff x="5476803" y="2392530"/>
                <a:chExt cx="108000" cy="108000"/>
              </a:xfrm>
            </p:grpSpPr>
            <p:cxnSp>
              <p:nvCxnSpPr>
                <p:cNvPr id="232" name="直接连接符 231">
                  <a:extLst>
                    <a:ext uri="{FF2B5EF4-FFF2-40B4-BE49-F238E27FC236}">
                      <a16:creationId xmlns:a16="http://schemas.microsoft.com/office/drawing/2014/main" id="{0BAAF10F-9AD9-E659-9AB6-E7E0A78AAA09}"/>
                    </a:ext>
                  </a:extLst>
                </p:cNvPr>
                <p:cNvCxnSpPr/>
                <p:nvPr/>
              </p:nvCxnSpPr>
              <p:spPr>
                <a:xfrm>
                  <a:off x="5477055" y="2446498"/>
                  <a:ext cx="107925" cy="0"/>
                </a:xfrm>
                <a:prstGeom prst="line">
                  <a:avLst/>
                </a:prstGeom>
                <a:noFill/>
                <a:ln w="19050" cap="flat" cmpd="sng" algn="ctr">
                  <a:solidFill>
                    <a:sysClr val="windowText" lastClr="000000"/>
                  </a:solidFill>
                  <a:prstDash val="solid"/>
                  <a:miter lim="800000"/>
                </a:ln>
                <a:effectLst/>
              </p:spPr>
            </p:cxnSp>
            <p:cxnSp>
              <p:nvCxnSpPr>
                <p:cNvPr id="233" name="直接连接符 232">
                  <a:extLst>
                    <a:ext uri="{FF2B5EF4-FFF2-40B4-BE49-F238E27FC236}">
                      <a16:creationId xmlns:a16="http://schemas.microsoft.com/office/drawing/2014/main" id="{42C0E6BE-AFB7-258A-58A3-CCA25BE849B7}"/>
                    </a:ext>
                  </a:extLst>
                </p:cNvPr>
                <p:cNvCxnSpPr/>
                <p:nvPr/>
              </p:nvCxnSpPr>
              <p:spPr>
                <a:xfrm rot="5400000">
                  <a:off x="5477041" y="2446498"/>
                  <a:ext cx="107952" cy="0"/>
                </a:xfrm>
                <a:prstGeom prst="line">
                  <a:avLst/>
                </a:prstGeom>
                <a:noFill/>
                <a:ln w="19050" cap="flat" cmpd="sng" algn="ctr">
                  <a:solidFill>
                    <a:sysClr val="windowText" lastClr="000000"/>
                  </a:solidFill>
                  <a:prstDash val="solid"/>
                  <a:miter lim="800000"/>
                </a:ln>
                <a:effectLst/>
              </p:spPr>
            </p:cxnSp>
          </p:grpSp>
          <p:grpSp>
            <p:nvGrpSpPr>
              <p:cNvPr id="175" name="组合 9">
                <a:extLst>
                  <a:ext uri="{FF2B5EF4-FFF2-40B4-BE49-F238E27FC236}">
                    <a16:creationId xmlns:a16="http://schemas.microsoft.com/office/drawing/2014/main" id="{51B3DC5F-CDFA-CC67-CB8C-0FD063258D75}"/>
                  </a:ext>
                </a:extLst>
              </p:cNvPr>
              <p:cNvGrpSpPr>
                <a:grpSpLocks/>
              </p:cNvGrpSpPr>
              <p:nvPr/>
            </p:nvGrpSpPr>
            <p:grpSpPr bwMode="auto">
              <a:xfrm>
                <a:off x="3900607" y="4304632"/>
                <a:ext cx="108000" cy="108000"/>
                <a:chOff x="5476803" y="2392530"/>
                <a:chExt cx="108000" cy="108000"/>
              </a:xfrm>
            </p:grpSpPr>
            <p:cxnSp>
              <p:nvCxnSpPr>
                <p:cNvPr id="230" name="直接连接符 229">
                  <a:extLst>
                    <a:ext uri="{FF2B5EF4-FFF2-40B4-BE49-F238E27FC236}">
                      <a16:creationId xmlns:a16="http://schemas.microsoft.com/office/drawing/2014/main" id="{BA3F2259-4A62-F9A9-D272-76429098FB23}"/>
                    </a:ext>
                  </a:extLst>
                </p:cNvPr>
                <p:cNvCxnSpPr/>
                <p:nvPr/>
              </p:nvCxnSpPr>
              <p:spPr>
                <a:xfrm>
                  <a:off x="5476885" y="2445950"/>
                  <a:ext cx="107925" cy="0"/>
                </a:xfrm>
                <a:prstGeom prst="line">
                  <a:avLst/>
                </a:prstGeom>
                <a:noFill/>
                <a:ln w="19050" cap="flat" cmpd="sng" algn="ctr">
                  <a:solidFill>
                    <a:sysClr val="windowText" lastClr="000000"/>
                  </a:solidFill>
                  <a:prstDash val="solid"/>
                  <a:miter lim="800000"/>
                </a:ln>
                <a:effectLst/>
              </p:spPr>
            </p:cxnSp>
            <p:cxnSp>
              <p:nvCxnSpPr>
                <p:cNvPr id="231" name="直接连接符 230">
                  <a:extLst>
                    <a:ext uri="{FF2B5EF4-FFF2-40B4-BE49-F238E27FC236}">
                      <a16:creationId xmlns:a16="http://schemas.microsoft.com/office/drawing/2014/main" id="{77BBAD58-1062-2D2C-A8FB-72158BF4BAF9}"/>
                    </a:ext>
                  </a:extLst>
                </p:cNvPr>
                <p:cNvCxnSpPr/>
                <p:nvPr/>
              </p:nvCxnSpPr>
              <p:spPr>
                <a:xfrm rot="5400000">
                  <a:off x="5476871" y="2445950"/>
                  <a:ext cx="107952" cy="0"/>
                </a:xfrm>
                <a:prstGeom prst="line">
                  <a:avLst/>
                </a:prstGeom>
                <a:noFill/>
                <a:ln w="19050" cap="flat" cmpd="sng" algn="ctr">
                  <a:solidFill>
                    <a:sysClr val="windowText" lastClr="000000"/>
                  </a:solidFill>
                  <a:prstDash val="solid"/>
                  <a:miter lim="800000"/>
                </a:ln>
                <a:effectLst/>
              </p:spPr>
            </p:cxnSp>
          </p:grpSp>
          <p:grpSp>
            <p:nvGrpSpPr>
              <p:cNvPr id="176" name="组合 12">
                <a:extLst>
                  <a:ext uri="{FF2B5EF4-FFF2-40B4-BE49-F238E27FC236}">
                    <a16:creationId xmlns:a16="http://schemas.microsoft.com/office/drawing/2014/main" id="{A4A827FF-8A7D-D492-95AC-B9E98F2C9145}"/>
                  </a:ext>
                </a:extLst>
              </p:cNvPr>
              <p:cNvGrpSpPr>
                <a:grpSpLocks/>
              </p:cNvGrpSpPr>
              <p:nvPr/>
            </p:nvGrpSpPr>
            <p:grpSpPr bwMode="auto">
              <a:xfrm>
                <a:off x="3726033" y="4146728"/>
                <a:ext cx="108000" cy="108000"/>
                <a:chOff x="5476803" y="2392530"/>
                <a:chExt cx="108000" cy="108000"/>
              </a:xfrm>
            </p:grpSpPr>
            <p:cxnSp>
              <p:nvCxnSpPr>
                <p:cNvPr id="228" name="直接连接符 227">
                  <a:extLst>
                    <a:ext uri="{FF2B5EF4-FFF2-40B4-BE49-F238E27FC236}">
                      <a16:creationId xmlns:a16="http://schemas.microsoft.com/office/drawing/2014/main" id="{FE369FEC-0F08-9FA6-41B2-7C144D70E4E0}"/>
                    </a:ext>
                  </a:extLst>
                </p:cNvPr>
                <p:cNvCxnSpPr/>
                <p:nvPr/>
              </p:nvCxnSpPr>
              <p:spPr>
                <a:xfrm>
                  <a:off x="5476874" y="2446688"/>
                  <a:ext cx="107925" cy="0"/>
                </a:xfrm>
                <a:prstGeom prst="line">
                  <a:avLst/>
                </a:prstGeom>
                <a:noFill/>
                <a:ln w="19050" cap="flat" cmpd="sng" algn="ctr">
                  <a:solidFill>
                    <a:sysClr val="windowText" lastClr="000000"/>
                  </a:solidFill>
                  <a:prstDash val="solid"/>
                  <a:miter lim="800000"/>
                </a:ln>
                <a:effectLst/>
              </p:spPr>
            </p:cxnSp>
            <p:cxnSp>
              <p:nvCxnSpPr>
                <p:cNvPr id="229" name="直接连接符 228">
                  <a:extLst>
                    <a:ext uri="{FF2B5EF4-FFF2-40B4-BE49-F238E27FC236}">
                      <a16:creationId xmlns:a16="http://schemas.microsoft.com/office/drawing/2014/main" id="{68E0B8DA-BE5D-50BF-CB10-2B4BB515BA2F}"/>
                    </a:ext>
                  </a:extLst>
                </p:cNvPr>
                <p:cNvCxnSpPr/>
                <p:nvPr/>
              </p:nvCxnSpPr>
              <p:spPr>
                <a:xfrm rot="5400000">
                  <a:off x="5476860" y="2446688"/>
                  <a:ext cx="107952" cy="0"/>
                </a:xfrm>
                <a:prstGeom prst="line">
                  <a:avLst/>
                </a:prstGeom>
                <a:noFill/>
                <a:ln w="19050" cap="flat" cmpd="sng" algn="ctr">
                  <a:solidFill>
                    <a:sysClr val="windowText" lastClr="000000"/>
                  </a:solidFill>
                  <a:prstDash val="solid"/>
                  <a:miter lim="800000"/>
                </a:ln>
                <a:effectLst/>
              </p:spPr>
            </p:cxnSp>
          </p:grpSp>
          <p:grpSp>
            <p:nvGrpSpPr>
              <p:cNvPr id="177" name="组合 15">
                <a:extLst>
                  <a:ext uri="{FF2B5EF4-FFF2-40B4-BE49-F238E27FC236}">
                    <a16:creationId xmlns:a16="http://schemas.microsoft.com/office/drawing/2014/main" id="{EF5C3FE7-AD44-F800-8D9C-9DBB681CC404}"/>
                  </a:ext>
                </a:extLst>
              </p:cNvPr>
              <p:cNvGrpSpPr>
                <a:grpSpLocks/>
              </p:cNvGrpSpPr>
              <p:nvPr/>
            </p:nvGrpSpPr>
            <p:grpSpPr bwMode="auto">
              <a:xfrm>
                <a:off x="3365106" y="4373175"/>
                <a:ext cx="108000" cy="108000"/>
                <a:chOff x="5476803" y="2392530"/>
                <a:chExt cx="108000" cy="108000"/>
              </a:xfrm>
            </p:grpSpPr>
            <p:cxnSp>
              <p:nvCxnSpPr>
                <p:cNvPr id="226" name="直接连接符 225">
                  <a:extLst>
                    <a:ext uri="{FF2B5EF4-FFF2-40B4-BE49-F238E27FC236}">
                      <a16:creationId xmlns:a16="http://schemas.microsoft.com/office/drawing/2014/main" id="{DF1C4E3E-55BA-2DB0-0056-86A198F89DC9}"/>
                    </a:ext>
                  </a:extLst>
                </p:cNvPr>
                <p:cNvCxnSpPr/>
                <p:nvPr/>
              </p:nvCxnSpPr>
              <p:spPr>
                <a:xfrm>
                  <a:off x="5471173" y="2447258"/>
                  <a:ext cx="114274" cy="0"/>
                </a:xfrm>
                <a:prstGeom prst="line">
                  <a:avLst/>
                </a:prstGeom>
                <a:noFill/>
                <a:ln w="19050" cap="flat" cmpd="sng" algn="ctr">
                  <a:solidFill>
                    <a:sysClr val="windowText" lastClr="000000"/>
                  </a:solidFill>
                  <a:prstDash val="solid"/>
                  <a:miter lim="800000"/>
                </a:ln>
                <a:effectLst/>
              </p:spPr>
            </p:cxnSp>
            <p:cxnSp>
              <p:nvCxnSpPr>
                <p:cNvPr id="227" name="直接连接符 226">
                  <a:extLst>
                    <a:ext uri="{FF2B5EF4-FFF2-40B4-BE49-F238E27FC236}">
                      <a16:creationId xmlns:a16="http://schemas.microsoft.com/office/drawing/2014/main" id="{489ABF04-D49E-E676-7F65-658DF1601CDA}"/>
                    </a:ext>
                  </a:extLst>
                </p:cNvPr>
                <p:cNvCxnSpPr/>
                <p:nvPr/>
              </p:nvCxnSpPr>
              <p:spPr>
                <a:xfrm rot="5400000">
                  <a:off x="5477508" y="2447258"/>
                  <a:ext cx="107952" cy="0"/>
                </a:xfrm>
                <a:prstGeom prst="line">
                  <a:avLst/>
                </a:prstGeom>
                <a:noFill/>
                <a:ln w="19050" cap="flat" cmpd="sng" algn="ctr">
                  <a:solidFill>
                    <a:sysClr val="windowText" lastClr="000000"/>
                  </a:solidFill>
                  <a:prstDash val="solid"/>
                  <a:miter lim="800000"/>
                </a:ln>
                <a:effectLst/>
              </p:spPr>
            </p:cxnSp>
          </p:grpSp>
          <p:grpSp>
            <p:nvGrpSpPr>
              <p:cNvPr id="178" name="组合 18">
                <a:extLst>
                  <a:ext uri="{FF2B5EF4-FFF2-40B4-BE49-F238E27FC236}">
                    <a16:creationId xmlns:a16="http://schemas.microsoft.com/office/drawing/2014/main" id="{DFDC31EB-D7B5-BDB5-9B3D-A479DB7CF24D}"/>
                  </a:ext>
                </a:extLst>
              </p:cNvPr>
              <p:cNvGrpSpPr>
                <a:grpSpLocks/>
              </p:cNvGrpSpPr>
              <p:nvPr/>
            </p:nvGrpSpPr>
            <p:grpSpPr bwMode="auto">
              <a:xfrm>
                <a:off x="3544128" y="4549669"/>
                <a:ext cx="108000" cy="108000"/>
                <a:chOff x="5476803" y="2392530"/>
                <a:chExt cx="108000" cy="108000"/>
              </a:xfrm>
            </p:grpSpPr>
            <p:cxnSp>
              <p:nvCxnSpPr>
                <p:cNvPr id="224" name="直接连接符 223">
                  <a:extLst>
                    <a:ext uri="{FF2B5EF4-FFF2-40B4-BE49-F238E27FC236}">
                      <a16:creationId xmlns:a16="http://schemas.microsoft.com/office/drawing/2014/main" id="{65AA6711-5351-45A4-7094-0B6543A8F2B2}"/>
                    </a:ext>
                  </a:extLst>
                </p:cNvPr>
                <p:cNvCxnSpPr/>
                <p:nvPr/>
              </p:nvCxnSpPr>
              <p:spPr>
                <a:xfrm>
                  <a:off x="5476259" y="2446979"/>
                  <a:ext cx="107925" cy="0"/>
                </a:xfrm>
                <a:prstGeom prst="line">
                  <a:avLst/>
                </a:prstGeom>
                <a:noFill/>
                <a:ln w="19050" cap="flat" cmpd="sng" algn="ctr">
                  <a:solidFill>
                    <a:sysClr val="windowText" lastClr="000000"/>
                  </a:solidFill>
                  <a:prstDash val="solid"/>
                  <a:miter lim="800000"/>
                </a:ln>
                <a:effectLst/>
              </p:spPr>
            </p:cxnSp>
            <p:cxnSp>
              <p:nvCxnSpPr>
                <p:cNvPr id="225" name="直接连接符 224">
                  <a:extLst>
                    <a:ext uri="{FF2B5EF4-FFF2-40B4-BE49-F238E27FC236}">
                      <a16:creationId xmlns:a16="http://schemas.microsoft.com/office/drawing/2014/main" id="{9D893E82-25FB-ADA8-05B1-5B7B7DA1A10A}"/>
                    </a:ext>
                  </a:extLst>
                </p:cNvPr>
                <p:cNvCxnSpPr/>
                <p:nvPr/>
              </p:nvCxnSpPr>
              <p:spPr>
                <a:xfrm rot="5400000">
                  <a:off x="5476246" y="2446979"/>
                  <a:ext cx="107952" cy="0"/>
                </a:xfrm>
                <a:prstGeom prst="line">
                  <a:avLst/>
                </a:prstGeom>
                <a:noFill/>
                <a:ln w="19050" cap="flat" cmpd="sng" algn="ctr">
                  <a:solidFill>
                    <a:sysClr val="windowText" lastClr="000000"/>
                  </a:solidFill>
                  <a:prstDash val="solid"/>
                  <a:miter lim="800000"/>
                </a:ln>
                <a:effectLst/>
              </p:spPr>
            </p:cxnSp>
          </p:grpSp>
          <p:grpSp>
            <p:nvGrpSpPr>
              <p:cNvPr id="179" name="组合 21">
                <a:extLst>
                  <a:ext uri="{FF2B5EF4-FFF2-40B4-BE49-F238E27FC236}">
                    <a16:creationId xmlns:a16="http://schemas.microsoft.com/office/drawing/2014/main" id="{071A2C00-89F4-B8EC-8EAE-72740292568E}"/>
                  </a:ext>
                </a:extLst>
              </p:cNvPr>
              <p:cNvGrpSpPr>
                <a:grpSpLocks/>
              </p:cNvGrpSpPr>
              <p:nvPr/>
            </p:nvGrpSpPr>
            <p:grpSpPr bwMode="auto">
              <a:xfrm>
                <a:off x="3893982" y="4543792"/>
                <a:ext cx="108000" cy="108000"/>
                <a:chOff x="5476803" y="2392530"/>
                <a:chExt cx="108000" cy="108000"/>
              </a:xfrm>
            </p:grpSpPr>
            <p:cxnSp>
              <p:nvCxnSpPr>
                <p:cNvPr id="222" name="直接连接符 221">
                  <a:extLst>
                    <a:ext uri="{FF2B5EF4-FFF2-40B4-BE49-F238E27FC236}">
                      <a16:creationId xmlns:a16="http://schemas.microsoft.com/office/drawing/2014/main" id="{914548A2-04B7-6CC8-63CD-A6BEF01F441A}"/>
                    </a:ext>
                  </a:extLst>
                </p:cNvPr>
                <p:cNvCxnSpPr/>
                <p:nvPr/>
              </p:nvCxnSpPr>
              <p:spPr>
                <a:xfrm>
                  <a:off x="5477161" y="2446506"/>
                  <a:ext cx="107925" cy="0"/>
                </a:xfrm>
                <a:prstGeom prst="line">
                  <a:avLst/>
                </a:prstGeom>
                <a:noFill/>
                <a:ln w="19050" cap="flat" cmpd="sng" algn="ctr">
                  <a:solidFill>
                    <a:sysClr val="windowText" lastClr="000000"/>
                  </a:solidFill>
                  <a:prstDash val="solid"/>
                  <a:miter lim="800000"/>
                </a:ln>
                <a:effectLst/>
              </p:spPr>
            </p:cxnSp>
            <p:cxnSp>
              <p:nvCxnSpPr>
                <p:cNvPr id="223" name="直接连接符 222">
                  <a:extLst>
                    <a:ext uri="{FF2B5EF4-FFF2-40B4-BE49-F238E27FC236}">
                      <a16:creationId xmlns:a16="http://schemas.microsoft.com/office/drawing/2014/main" id="{2F720994-CCFF-7781-CD4C-7CBBA805A2F6}"/>
                    </a:ext>
                  </a:extLst>
                </p:cNvPr>
                <p:cNvCxnSpPr/>
                <p:nvPr/>
              </p:nvCxnSpPr>
              <p:spPr>
                <a:xfrm rot="5400000">
                  <a:off x="5477147" y="2446506"/>
                  <a:ext cx="107952" cy="0"/>
                </a:xfrm>
                <a:prstGeom prst="line">
                  <a:avLst/>
                </a:prstGeom>
                <a:noFill/>
                <a:ln w="19050" cap="flat" cmpd="sng" algn="ctr">
                  <a:solidFill>
                    <a:sysClr val="windowText" lastClr="000000"/>
                  </a:solidFill>
                  <a:prstDash val="solid"/>
                  <a:miter lim="800000"/>
                </a:ln>
                <a:effectLst/>
              </p:spPr>
            </p:cxnSp>
          </p:grpSp>
          <p:grpSp>
            <p:nvGrpSpPr>
              <p:cNvPr id="180" name="组合 24">
                <a:extLst>
                  <a:ext uri="{FF2B5EF4-FFF2-40B4-BE49-F238E27FC236}">
                    <a16:creationId xmlns:a16="http://schemas.microsoft.com/office/drawing/2014/main" id="{7CBFA1AE-B053-9E9B-33DB-3AB38BDC06B8}"/>
                  </a:ext>
                </a:extLst>
              </p:cNvPr>
              <p:cNvGrpSpPr>
                <a:grpSpLocks/>
              </p:cNvGrpSpPr>
              <p:nvPr/>
            </p:nvGrpSpPr>
            <p:grpSpPr bwMode="auto">
              <a:xfrm>
                <a:off x="3458057" y="3696603"/>
                <a:ext cx="108000" cy="108000"/>
                <a:chOff x="5476803" y="2392530"/>
                <a:chExt cx="108000" cy="108000"/>
              </a:xfrm>
            </p:grpSpPr>
            <p:cxnSp>
              <p:nvCxnSpPr>
                <p:cNvPr id="220" name="直接连接符 219">
                  <a:extLst>
                    <a:ext uri="{FF2B5EF4-FFF2-40B4-BE49-F238E27FC236}">
                      <a16:creationId xmlns:a16="http://schemas.microsoft.com/office/drawing/2014/main" id="{E657561A-CE4C-913F-79BE-515A39F22E4C}"/>
                    </a:ext>
                  </a:extLst>
                </p:cNvPr>
                <p:cNvCxnSpPr/>
                <p:nvPr/>
              </p:nvCxnSpPr>
              <p:spPr>
                <a:xfrm>
                  <a:off x="5476625" y="2445954"/>
                  <a:ext cx="107925" cy="0"/>
                </a:xfrm>
                <a:prstGeom prst="line">
                  <a:avLst/>
                </a:prstGeom>
                <a:noFill/>
                <a:ln w="19050" cap="flat" cmpd="sng" algn="ctr">
                  <a:solidFill>
                    <a:sysClr val="windowText" lastClr="000000"/>
                  </a:solidFill>
                  <a:prstDash val="solid"/>
                  <a:miter lim="800000"/>
                </a:ln>
                <a:effectLst/>
              </p:spPr>
            </p:cxnSp>
            <p:cxnSp>
              <p:nvCxnSpPr>
                <p:cNvPr id="221" name="直接连接符 220">
                  <a:extLst>
                    <a:ext uri="{FF2B5EF4-FFF2-40B4-BE49-F238E27FC236}">
                      <a16:creationId xmlns:a16="http://schemas.microsoft.com/office/drawing/2014/main" id="{C900A3E0-144F-1078-26D3-EC38EEC6C1FE}"/>
                    </a:ext>
                  </a:extLst>
                </p:cNvPr>
                <p:cNvCxnSpPr/>
                <p:nvPr/>
              </p:nvCxnSpPr>
              <p:spPr>
                <a:xfrm rot="5400000">
                  <a:off x="5476612" y="2445954"/>
                  <a:ext cx="107952" cy="0"/>
                </a:xfrm>
                <a:prstGeom prst="line">
                  <a:avLst/>
                </a:prstGeom>
                <a:noFill/>
                <a:ln w="19050" cap="flat" cmpd="sng" algn="ctr">
                  <a:solidFill>
                    <a:sysClr val="windowText" lastClr="000000"/>
                  </a:solidFill>
                  <a:prstDash val="solid"/>
                  <a:miter lim="800000"/>
                </a:ln>
                <a:effectLst/>
              </p:spPr>
            </p:cxnSp>
          </p:grpSp>
          <p:cxnSp>
            <p:nvCxnSpPr>
              <p:cNvPr id="181" name="直接连接符 180">
                <a:extLst>
                  <a:ext uri="{FF2B5EF4-FFF2-40B4-BE49-F238E27FC236}">
                    <a16:creationId xmlns:a16="http://schemas.microsoft.com/office/drawing/2014/main" id="{F217719D-DF3B-0FF6-5F9A-BECA905DADBC}"/>
                  </a:ext>
                </a:extLst>
              </p:cNvPr>
              <p:cNvCxnSpPr/>
              <p:nvPr/>
            </p:nvCxnSpPr>
            <p:spPr>
              <a:xfrm>
                <a:off x="5083101" y="4802560"/>
                <a:ext cx="107925" cy="0"/>
              </a:xfrm>
              <a:prstGeom prst="line">
                <a:avLst/>
              </a:prstGeom>
              <a:noFill/>
              <a:ln w="19050" cap="flat" cmpd="sng" algn="ctr">
                <a:solidFill>
                  <a:sysClr val="windowText" lastClr="000000"/>
                </a:solidFill>
                <a:prstDash val="solid"/>
                <a:miter lim="800000"/>
              </a:ln>
              <a:effectLst/>
            </p:spPr>
          </p:cxnSp>
          <p:cxnSp>
            <p:nvCxnSpPr>
              <p:cNvPr id="182" name="直接连接符 181">
                <a:extLst>
                  <a:ext uri="{FF2B5EF4-FFF2-40B4-BE49-F238E27FC236}">
                    <a16:creationId xmlns:a16="http://schemas.microsoft.com/office/drawing/2014/main" id="{417D933F-C403-14B8-5266-154EF6AD1F32}"/>
                  </a:ext>
                </a:extLst>
              </p:cNvPr>
              <p:cNvCxnSpPr/>
              <p:nvPr/>
            </p:nvCxnSpPr>
            <p:spPr>
              <a:xfrm>
                <a:off x="4570458" y="4686670"/>
                <a:ext cx="107925" cy="0"/>
              </a:xfrm>
              <a:prstGeom prst="line">
                <a:avLst/>
              </a:prstGeom>
              <a:noFill/>
              <a:ln w="19050" cap="flat" cmpd="sng" algn="ctr">
                <a:solidFill>
                  <a:sysClr val="windowText" lastClr="000000"/>
                </a:solidFill>
                <a:prstDash val="solid"/>
                <a:miter lim="800000"/>
              </a:ln>
              <a:effectLst/>
            </p:spPr>
          </p:cxnSp>
          <p:cxnSp>
            <p:nvCxnSpPr>
              <p:cNvPr id="183" name="直接连接符 182">
                <a:extLst>
                  <a:ext uri="{FF2B5EF4-FFF2-40B4-BE49-F238E27FC236}">
                    <a16:creationId xmlns:a16="http://schemas.microsoft.com/office/drawing/2014/main" id="{85C5386E-72DE-D2BC-A7DB-4259EA0BA4FD}"/>
                  </a:ext>
                </a:extLst>
              </p:cNvPr>
              <p:cNvCxnSpPr/>
              <p:nvPr/>
            </p:nvCxnSpPr>
            <p:spPr>
              <a:xfrm>
                <a:off x="4446662" y="5242305"/>
                <a:ext cx="107925" cy="0"/>
              </a:xfrm>
              <a:prstGeom prst="line">
                <a:avLst/>
              </a:prstGeom>
              <a:noFill/>
              <a:ln w="19050" cap="flat" cmpd="sng" algn="ctr">
                <a:solidFill>
                  <a:sysClr val="windowText" lastClr="000000"/>
                </a:solidFill>
                <a:prstDash val="solid"/>
                <a:miter lim="800000"/>
              </a:ln>
              <a:effectLst/>
            </p:spPr>
          </p:cxnSp>
          <p:cxnSp>
            <p:nvCxnSpPr>
              <p:cNvPr id="184" name="直接连接符 183">
                <a:extLst>
                  <a:ext uri="{FF2B5EF4-FFF2-40B4-BE49-F238E27FC236}">
                    <a16:creationId xmlns:a16="http://schemas.microsoft.com/office/drawing/2014/main" id="{F428AE90-03C8-A95C-1BCE-7D9B10F47E20}"/>
                  </a:ext>
                </a:extLst>
              </p:cNvPr>
              <p:cNvCxnSpPr/>
              <p:nvPr/>
            </p:nvCxnSpPr>
            <p:spPr>
              <a:xfrm>
                <a:off x="4110190" y="5139116"/>
                <a:ext cx="107925" cy="0"/>
              </a:xfrm>
              <a:prstGeom prst="line">
                <a:avLst/>
              </a:prstGeom>
              <a:noFill/>
              <a:ln w="19050" cap="flat" cmpd="sng" algn="ctr">
                <a:solidFill>
                  <a:sysClr val="windowText" lastClr="000000"/>
                </a:solidFill>
                <a:prstDash val="solid"/>
                <a:miter lim="800000"/>
              </a:ln>
              <a:effectLst/>
            </p:spPr>
          </p:cxnSp>
          <p:cxnSp>
            <p:nvCxnSpPr>
              <p:cNvPr id="185" name="直接连接符 184">
                <a:extLst>
                  <a:ext uri="{FF2B5EF4-FFF2-40B4-BE49-F238E27FC236}">
                    <a16:creationId xmlns:a16="http://schemas.microsoft.com/office/drawing/2014/main" id="{226EADD8-4C7B-39F0-DA7F-8891426A6FED}"/>
                  </a:ext>
                </a:extLst>
              </p:cNvPr>
              <p:cNvCxnSpPr/>
              <p:nvPr/>
            </p:nvCxnSpPr>
            <p:spPr>
              <a:xfrm>
                <a:off x="4916452" y="5097841"/>
                <a:ext cx="107925" cy="0"/>
              </a:xfrm>
              <a:prstGeom prst="line">
                <a:avLst/>
              </a:prstGeom>
              <a:noFill/>
              <a:ln w="19050" cap="flat" cmpd="sng" algn="ctr">
                <a:solidFill>
                  <a:sysClr val="windowText" lastClr="000000"/>
                </a:solidFill>
                <a:prstDash val="solid"/>
                <a:miter lim="800000"/>
              </a:ln>
              <a:effectLst/>
            </p:spPr>
          </p:cxnSp>
          <p:cxnSp>
            <p:nvCxnSpPr>
              <p:cNvPr id="186" name="直接连接符 185">
                <a:extLst>
                  <a:ext uri="{FF2B5EF4-FFF2-40B4-BE49-F238E27FC236}">
                    <a16:creationId xmlns:a16="http://schemas.microsoft.com/office/drawing/2014/main" id="{A6E87A66-E7E5-FD3D-DEC1-6BEB9EAFBEF2}"/>
                  </a:ext>
                </a:extLst>
              </p:cNvPr>
              <p:cNvCxnSpPr/>
              <p:nvPr/>
            </p:nvCxnSpPr>
            <p:spPr>
              <a:xfrm>
                <a:off x="4962479" y="4967663"/>
                <a:ext cx="107925" cy="0"/>
              </a:xfrm>
              <a:prstGeom prst="line">
                <a:avLst/>
              </a:prstGeom>
              <a:noFill/>
              <a:ln w="19050" cap="flat" cmpd="sng" algn="ctr">
                <a:solidFill>
                  <a:sysClr val="windowText" lastClr="000000"/>
                </a:solidFill>
                <a:prstDash val="solid"/>
                <a:miter lim="800000"/>
              </a:ln>
              <a:effectLst/>
            </p:spPr>
          </p:cxnSp>
          <p:cxnSp>
            <p:nvCxnSpPr>
              <p:cNvPr id="187" name="直接连接符 186">
                <a:extLst>
                  <a:ext uri="{FF2B5EF4-FFF2-40B4-BE49-F238E27FC236}">
                    <a16:creationId xmlns:a16="http://schemas.microsoft.com/office/drawing/2014/main" id="{786F848E-577B-97CD-32C5-3A2DB88AE7BD}"/>
                  </a:ext>
                </a:extLst>
              </p:cNvPr>
              <p:cNvCxnSpPr/>
              <p:nvPr/>
            </p:nvCxnSpPr>
            <p:spPr>
              <a:xfrm>
                <a:off x="4384763" y="5024814"/>
                <a:ext cx="107925" cy="0"/>
              </a:xfrm>
              <a:prstGeom prst="line">
                <a:avLst/>
              </a:prstGeom>
              <a:noFill/>
              <a:ln w="19050" cap="flat" cmpd="sng" algn="ctr">
                <a:solidFill>
                  <a:sysClr val="windowText" lastClr="000000"/>
                </a:solidFill>
                <a:prstDash val="solid"/>
                <a:miter lim="800000"/>
              </a:ln>
              <a:effectLst/>
            </p:spPr>
          </p:cxnSp>
          <p:cxnSp>
            <p:nvCxnSpPr>
              <p:cNvPr id="188" name="直接连接符 187">
                <a:extLst>
                  <a:ext uri="{FF2B5EF4-FFF2-40B4-BE49-F238E27FC236}">
                    <a16:creationId xmlns:a16="http://schemas.microsoft.com/office/drawing/2014/main" id="{1E58B491-87A8-3D75-2205-7C450EB3D5E4}"/>
                  </a:ext>
                </a:extLst>
              </p:cNvPr>
              <p:cNvCxnSpPr/>
              <p:nvPr/>
            </p:nvCxnSpPr>
            <p:spPr>
              <a:xfrm>
                <a:off x="5137063" y="4604118"/>
                <a:ext cx="107925" cy="0"/>
              </a:xfrm>
              <a:prstGeom prst="line">
                <a:avLst/>
              </a:prstGeom>
              <a:noFill/>
              <a:ln w="19050" cap="flat" cmpd="sng" algn="ctr">
                <a:solidFill>
                  <a:sysClr val="windowText" lastClr="000000"/>
                </a:solidFill>
                <a:prstDash val="solid"/>
                <a:miter lim="800000"/>
              </a:ln>
              <a:effectLst/>
            </p:spPr>
          </p:cxnSp>
          <p:cxnSp>
            <p:nvCxnSpPr>
              <p:cNvPr id="189" name="直接连接符 188">
                <a:extLst>
                  <a:ext uri="{FF2B5EF4-FFF2-40B4-BE49-F238E27FC236}">
                    <a16:creationId xmlns:a16="http://schemas.microsoft.com/office/drawing/2014/main" id="{64734B51-6B27-F52B-D673-9FF97203296C}"/>
                  </a:ext>
                </a:extLst>
              </p:cNvPr>
              <p:cNvCxnSpPr/>
              <p:nvPr/>
            </p:nvCxnSpPr>
            <p:spPr>
              <a:xfrm>
                <a:off x="4624420" y="4967663"/>
                <a:ext cx="107925" cy="0"/>
              </a:xfrm>
              <a:prstGeom prst="line">
                <a:avLst/>
              </a:prstGeom>
              <a:noFill/>
              <a:ln w="19050" cap="flat" cmpd="sng" algn="ctr">
                <a:solidFill>
                  <a:sysClr val="windowText" lastClr="000000"/>
                </a:solidFill>
                <a:prstDash val="solid"/>
                <a:miter lim="800000"/>
              </a:ln>
              <a:effectLst/>
            </p:spPr>
          </p:cxnSp>
          <p:grpSp>
            <p:nvGrpSpPr>
              <p:cNvPr id="190" name="组合 37">
                <a:extLst>
                  <a:ext uri="{FF2B5EF4-FFF2-40B4-BE49-F238E27FC236}">
                    <a16:creationId xmlns:a16="http://schemas.microsoft.com/office/drawing/2014/main" id="{EA0E2703-E259-EDB9-632C-ED6103327A22}"/>
                  </a:ext>
                </a:extLst>
              </p:cNvPr>
              <p:cNvGrpSpPr>
                <a:grpSpLocks/>
              </p:cNvGrpSpPr>
              <p:nvPr/>
            </p:nvGrpSpPr>
            <p:grpSpPr bwMode="auto">
              <a:xfrm>
                <a:off x="4462403" y="3537055"/>
                <a:ext cx="108000" cy="108000"/>
                <a:chOff x="5476803" y="2392530"/>
                <a:chExt cx="108000" cy="108000"/>
              </a:xfrm>
            </p:grpSpPr>
            <p:cxnSp>
              <p:nvCxnSpPr>
                <p:cNvPr id="218" name="直接连接符 217">
                  <a:extLst>
                    <a:ext uri="{FF2B5EF4-FFF2-40B4-BE49-F238E27FC236}">
                      <a16:creationId xmlns:a16="http://schemas.microsoft.com/office/drawing/2014/main" id="{3A461716-3087-95CD-16D5-05C833086A4F}"/>
                    </a:ext>
                  </a:extLst>
                </p:cNvPr>
                <p:cNvCxnSpPr/>
                <p:nvPr/>
              </p:nvCxnSpPr>
              <p:spPr>
                <a:xfrm>
                  <a:off x="5476933" y="2446749"/>
                  <a:ext cx="107925" cy="0"/>
                </a:xfrm>
                <a:prstGeom prst="line">
                  <a:avLst/>
                </a:prstGeom>
                <a:noFill/>
                <a:ln w="19050" cap="flat" cmpd="sng" algn="ctr">
                  <a:solidFill>
                    <a:sysClr val="windowText" lastClr="000000"/>
                  </a:solidFill>
                  <a:prstDash val="solid"/>
                  <a:miter lim="800000"/>
                </a:ln>
                <a:effectLst/>
              </p:spPr>
            </p:cxnSp>
            <p:cxnSp>
              <p:nvCxnSpPr>
                <p:cNvPr id="219" name="直接连接符 218">
                  <a:extLst>
                    <a:ext uri="{FF2B5EF4-FFF2-40B4-BE49-F238E27FC236}">
                      <a16:creationId xmlns:a16="http://schemas.microsoft.com/office/drawing/2014/main" id="{9DD3E8FA-3BE5-46A1-3B45-7788FA7149D0}"/>
                    </a:ext>
                  </a:extLst>
                </p:cNvPr>
                <p:cNvCxnSpPr/>
                <p:nvPr/>
              </p:nvCxnSpPr>
              <p:spPr>
                <a:xfrm rot="5400000">
                  <a:off x="5476919" y="2446749"/>
                  <a:ext cx="107952" cy="0"/>
                </a:xfrm>
                <a:prstGeom prst="line">
                  <a:avLst/>
                </a:prstGeom>
                <a:noFill/>
                <a:ln w="19050" cap="flat" cmpd="sng" algn="ctr">
                  <a:solidFill>
                    <a:sysClr val="windowText" lastClr="000000"/>
                  </a:solidFill>
                  <a:prstDash val="solid"/>
                  <a:miter lim="800000"/>
                </a:ln>
                <a:effectLst/>
              </p:spPr>
            </p:cxnSp>
          </p:grpSp>
          <p:grpSp>
            <p:nvGrpSpPr>
              <p:cNvPr id="191" name="组合 40">
                <a:extLst>
                  <a:ext uri="{FF2B5EF4-FFF2-40B4-BE49-F238E27FC236}">
                    <a16:creationId xmlns:a16="http://schemas.microsoft.com/office/drawing/2014/main" id="{7A077699-59F2-FD3E-4098-DFC9BEEF8EC0}"/>
                  </a:ext>
                </a:extLst>
              </p:cNvPr>
              <p:cNvGrpSpPr>
                <a:grpSpLocks/>
              </p:cNvGrpSpPr>
              <p:nvPr/>
            </p:nvGrpSpPr>
            <p:grpSpPr bwMode="auto">
              <a:xfrm>
                <a:off x="4236299" y="3750603"/>
                <a:ext cx="108000" cy="108000"/>
                <a:chOff x="5476803" y="2392530"/>
                <a:chExt cx="108000" cy="108000"/>
              </a:xfrm>
            </p:grpSpPr>
            <p:cxnSp>
              <p:nvCxnSpPr>
                <p:cNvPr id="216" name="直接连接符 215">
                  <a:extLst>
                    <a:ext uri="{FF2B5EF4-FFF2-40B4-BE49-F238E27FC236}">
                      <a16:creationId xmlns:a16="http://schemas.microsoft.com/office/drawing/2014/main" id="{76A7E218-B09D-07CA-1F69-7E23E971660D}"/>
                    </a:ext>
                  </a:extLst>
                </p:cNvPr>
                <p:cNvCxnSpPr/>
                <p:nvPr/>
              </p:nvCxnSpPr>
              <p:spPr>
                <a:xfrm>
                  <a:off x="5476077" y="2445930"/>
                  <a:ext cx="103164" cy="0"/>
                </a:xfrm>
                <a:prstGeom prst="line">
                  <a:avLst/>
                </a:prstGeom>
                <a:noFill/>
                <a:ln w="19050" cap="flat" cmpd="sng" algn="ctr">
                  <a:solidFill>
                    <a:sysClr val="windowText" lastClr="000000"/>
                  </a:solidFill>
                  <a:prstDash val="solid"/>
                  <a:miter lim="800000"/>
                </a:ln>
                <a:effectLst/>
              </p:spPr>
            </p:cxnSp>
            <p:cxnSp>
              <p:nvCxnSpPr>
                <p:cNvPr id="217" name="直接连接符 216">
                  <a:extLst>
                    <a:ext uri="{FF2B5EF4-FFF2-40B4-BE49-F238E27FC236}">
                      <a16:creationId xmlns:a16="http://schemas.microsoft.com/office/drawing/2014/main" id="{DF17C922-7D1C-E1B3-330A-85EE04546257}"/>
                    </a:ext>
                  </a:extLst>
                </p:cNvPr>
                <p:cNvCxnSpPr/>
                <p:nvPr/>
              </p:nvCxnSpPr>
              <p:spPr>
                <a:xfrm rot="5400000">
                  <a:off x="5476064" y="2445930"/>
                  <a:ext cx="107952" cy="0"/>
                </a:xfrm>
                <a:prstGeom prst="line">
                  <a:avLst/>
                </a:prstGeom>
                <a:noFill/>
                <a:ln w="19050" cap="flat" cmpd="sng" algn="ctr">
                  <a:solidFill>
                    <a:sysClr val="windowText" lastClr="000000"/>
                  </a:solidFill>
                  <a:prstDash val="solid"/>
                  <a:miter lim="800000"/>
                </a:ln>
                <a:effectLst/>
              </p:spPr>
            </p:cxnSp>
          </p:grpSp>
          <p:grpSp>
            <p:nvGrpSpPr>
              <p:cNvPr id="192" name="组合 43">
                <a:extLst>
                  <a:ext uri="{FF2B5EF4-FFF2-40B4-BE49-F238E27FC236}">
                    <a16:creationId xmlns:a16="http://schemas.microsoft.com/office/drawing/2014/main" id="{6A09DD0E-8F83-80A1-EB73-BF6C1FD5F9D3}"/>
                  </a:ext>
                </a:extLst>
              </p:cNvPr>
              <p:cNvGrpSpPr>
                <a:grpSpLocks/>
              </p:cNvGrpSpPr>
              <p:nvPr/>
            </p:nvGrpSpPr>
            <p:grpSpPr bwMode="auto">
              <a:xfrm>
                <a:off x="3280142" y="4694046"/>
                <a:ext cx="108000" cy="108000"/>
                <a:chOff x="5476803" y="2392530"/>
                <a:chExt cx="108000" cy="108000"/>
              </a:xfrm>
            </p:grpSpPr>
            <p:cxnSp>
              <p:nvCxnSpPr>
                <p:cNvPr id="214" name="直接连接符 213">
                  <a:extLst>
                    <a:ext uri="{FF2B5EF4-FFF2-40B4-BE49-F238E27FC236}">
                      <a16:creationId xmlns:a16="http://schemas.microsoft.com/office/drawing/2014/main" id="{F18654E9-E968-A4A8-3F20-2326556CA29C}"/>
                    </a:ext>
                  </a:extLst>
                </p:cNvPr>
                <p:cNvCxnSpPr/>
                <p:nvPr/>
              </p:nvCxnSpPr>
              <p:spPr>
                <a:xfrm>
                  <a:off x="5476781" y="2447068"/>
                  <a:ext cx="107925" cy="0"/>
                </a:xfrm>
                <a:prstGeom prst="line">
                  <a:avLst/>
                </a:prstGeom>
                <a:noFill/>
                <a:ln w="19050" cap="flat" cmpd="sng" algn="ctr">
                  <a:solidFill>
                    <a:sysClr val="windowText" lastClr="000000"/>
                  </a:solidFill>
                  <a:prstDash val="solid"/>
                  <a:miter lim="800000"/>
                </a:ln>
                <a:effectLst/>
              </p:spPr>
            </p:cxnSp>
            <p:cxnSp>
              <p:nvCxnSpPr>
                <p:cNvPr id="215" name="直接连接符 214">
                  <a:extLst>
                    <a:ext uri="{FF2B5EF4-FFF2-40B4-BE49-F238E27FC236}">
                      <a16:creationId xmlns:a16="http://schemas.microsoft.com/office/drawing/2014/main" id="{476C9019-16C6-1A8F-7446-F87727BA4A29}"/>
                    </a:ext>
                  </a:extLst>
                </p:cNvPr>
                <p:cNvCxnSpPr/>
                <p:nvPr/>
              </p:nvCxnSpPr>
              <p:spPr>
                <a:xfrm rot="5400000">
                  <a:off x="5476768" y="2447068"/>
                  <a:ext cx="107952" cy="0"/>
                </a:xfrm>
                <a:prstGeom prst="line">
                  <a:avLst/>
                </a:prstGeom>
                <a:noFill/>
                <a:ln w="19050" cap="flat" cmpd="sng" algn="ctr">
                  <a:solidFill>
                    <a:sysClr val="windowText" lastClr="000000"/>
                  </a:solidFill>
                  <a:prstDash val="solid"/>
                  <a:miter lim="800000"/>
                </a:ln>
                <a:effectLst/>
              </p:spPr>
            </p:cxnSp>
          </p:grpSp>
          <p:grpSp>
            <p:nvGrpSpPr>
              <p:cNvPr id="193" name="组合 46">
                <a:extLst>
                  <a:ext uri="{FF2B5EF4-FFF2-40B4-BE49-F238E27FC236}">
                    <a16:creationId xmlns:a16="http://schemas.microsoft.com/office/drawing/2014/main" id="{E775A36D-9324-4C4D-BF7B-C880EDB4582A}"/>
                  </a:ext>
                </a:extLst>
              </p:cNvPr>
              <p:cNvGrpSpPr>
                <a:grpSpLocks/>
              </p:cNvGrpSpPr>
              <p:nvPr/>
            </p:nvGrpSpPr>
            <p:grpSpPr bwMode="auto">
              <a:xfrm>
                <a:off x="3744425" y="3880598"/>
                <a:ext cx="108000" cy="108000"/>
                <a:chOff x="5476803" y="2392530"/>
                <a:chExt cx="108000" cy="108000"/>
              </a:xfrm>
            </p:grpSpPr>
            <p:cxnSp>
              <p:nvCxnSpPr>
                <p:cNvPr id="212" name="直接连接符 211">
                  <a:extLst>
                    <a:ext uri="{FF2B5EF4-FFF2-40B4-BE49-F238E27FC236}">
                      <a16:creationId xmlns:a16="http://schemas.microsoft.com/office/drawing/2014/main" id="{503BA137-2BC3-EA5C-367D-A6A59D4B0EA1}"/>
                    </a:ext>
                  </a:extLst>
                </p:cNvPr>
                <p:cNvCxnSpPr/>
                <p:nvPr/>
              </p:nvCxnSpPr>
              <p:spPr>
                <a:xfrm>
                  <a:off x="5471179" y="2446113"/>
                  <a:ext cx="114274" cy="0"/>
                </a:xfrm>
                <a:prstGeom prst="line">
                  <a:avLst/>
                </a:prstGeom>
                <a:noFill/>
                <a:ln w="19050" cap="flat" cmpd="sng" algn="ctr">
                  <a:solidFill>
                    <a:sysClr val="windowText" lastClr="000000"/>
                  </a:solidFill>
                  <a:prstDash val="solid"/>
                  <a:miter lim="800000"/>
                </a:ln>
                <a:effectLst/>
              </p:spPr>
            </p:cxnSp>
            <p:cxnSp>
              <p:nvCxnSpPr>
                <p:cNvPr id="213" name="直接连接符 212">
                  <a:extLst>
                    <a:ext uri="{FF2B5EF4-FFF2-40B4-BE49-F238E27FC236}">
                      <a16:creationId xmlns:a16="http://schemas.microsoft.com/office/drawing/2014/main" id="{9255AC7E-1C25-A65D-A422-76B3D68E6D14}"/>
                    </a:ext>
                  </a:extLst>
                </p:cNvPr>
                <p:cNvCxnSpPr/>
                <p:nvPr/>
              </p:nvCxnSpPr>
              <p:spPr>
                <a:xfrm rot="5400000">
                  <a:off x="5477514" y="2446113"/>
                  <a:ext cx="107952" cy="0"/>
                </a:xfrm>
                <a:prstGeom prst="line">
                  <a:avLst/>
                </a:prstGeom>
                <a:noFill/>
                <a:ln w="19050" cap="flat" cmpd="sng" algn="ctr">
                  <a:solidFill>
                    <a:sysClr val="windowText" lastClr="000000"/>
                  </a:solidFill>
                  <a:prstDash val="solid"/>
                  <a:miter lim="800000"/>
                </a:ln>
                <a:effectLst/>
              </p:spPr>
            </p:cxnSp>
          </p:grpSp>
          <p:grpSp>
            <p:nvGrpSpPr>
              <p:cNvPr id="194" name="组合 49">
                <a:extLst>
                  <a:ext uri="{FF2B5EF4-FFF2-40B4-BE49-F238E27FC236}">
                    <a16:creationId xmlns:a16="http://schemas.microsoft.com/office/drawing/2014/main" id="{0EAF1133-5CF2-4AD1-25AE-D40D5F45AA7C}"/>
                  </a:ext>
                </a:extLst>
              </p:cNvPr>
              <p:cNvGrpSpPr>
                <a:grpSpLocks/>
              </p:cNvGrpSpPr>
              <p:nvPr/>
            </p:nvGrpSpPr>
            <p:grpSpPr bwMode="auto">
              <a:xfrm>
                <a:off x="3383498" y="4107045"/>
                <a:ext cx="108000" cy="108000"/>
                <a:chOff x="5476803" y="2392530"/>
                <a:chExt cx="108000" cy="108000"/>
              </a:xfrm>
            </p:grpSpPr>
            <p:cxnSp>
              <p:nvCxnSpPr>
                <p:cNvPr id="210" name="直接连接符 209">
                  <a:extLst>
                    <a:ext uri="{FF2B5EF4-FFF2-40B4-BE49-F238E27FC236}">
                      <a16:creationId xmlns:a16="http://schemas.microsoft.com/office/drawing/2014/main" id="{AD268EEE-CEBE-9BA5-170C-C578B2CC6AD1}"/>
                    </a:ext>
                  </a:extLst>
                </p:cNvPr>
                <p:cNvCxnSpPr/>
                <p:nvPr/>
              </p:nvCxnSpPr>
              <p:spPr>
                <a:xfrm>
                  <a:off x="5476589" y="2446683"/>
                  <a:ext cx="107925" cy="0"/>
                </a:xfrm>
                <a:prstGeom prst="line">
                  <a:avLst/>
                </a:prstGeom>
                <a:noFill/>
                <a:ln w="19050" cap="flat" cmpd="sng" algn="ctr">
                  <a:solidFill>
                    <a:sysClr val="windowText" lastClr="000000"/>
                  </a:solidFill>
                  <a:prstDash val="solid"/>
                  <a:miter lim="800000"/>
                </a:ln>
                <a:effectLst/>
              </p:spPr>
            </p:cxnSp>
            <p:cxnSp>
              <p:nvCxnSpPr>
                <p:cNvPr id="211" name="直接连接符 210">
                  <a:extLst>
                    <a:ext uri="{FF2B5EF4-FFF2-40B4-BE49-F238E27FC236}">
                      <a16:creationId xmlns:a16="http://schemas.microsoft.com/office/drawing/2014/main" id="{09BC4D9C-5B56-F256-CB44-393391FEA054}"/>
                    </a:ext>
                  </a:extLst>
                </p:cNvPr>
                <p:cNvCxnSpPr/>
                <p:nvPr/>
              </p:nvCxnSpPr>
              <p:spPr>
                <a:xfrm rot="5400000">
                  <a:off x="5476576" y="2446683"/>
                  <a:ext cx="107952" cy="0"/>
                </a:xfrm>
                <a:prstGeom prst="line">
                  <a:avLst/>
                </a:prstGeom>
                <a:noFill/>
                <a:ln w="19050" cap="flat" cmpd="sng" algn="ctr">
                  <a:solidFill>
                    <a:sysClr val="windowText" lastClr="000000"/>
                  </a:solidFill>
                  <a:prstDash val="solid"/>
                  <a:miter lim="800000"/>
                </a:ln>
                <a:effectLst/>
              </p:spPr>
            </p:cxnSp>
          </p:grpSp>
          <p:cxnSp>
            <p:nvCxnSpPr>
              <p:cNvPr id="195" name="直接连接符 194">
                <a:extLst>
                  <a:ext uri="{FF2B5EF4-FFF2-40B4-BE49-F238E27FC236}">
                    <a16:creationId xmlns:a16="http://schemas.microsoft.com/office/drawing/2014/main" id="{071E112A-478B-3B09-612C-CB97F639BC86}"/>
                  </a:ext>
                </a:extLst>
              </p:cNvPr>
              <p:cNvCxnSpPr/>
              <p:nvPr/>
            </p:nvCxnSpPr>
            <p:spPr>
              <a:xfrm>
                <a:off x="4743455" y="5226430"/>
                <a:ext cx="107925" cy="0"/>
              </a:xfrm>
              <a:prstGeom prst="line">
                <a:avLst/>
              </a:prstGeom>
              <a:noFill/>
              <a:ln w="19050" cap="flat" cmpd="sng" algn="ctr">
                <a:solidFill>
                  <a:sysClr val="windowText" lastClr="000000"/>
                </a:solidFill>
                <a:prstDash val="solid"/>
                <a:miter lim="800000"/>
              </a:ln>
              <a:effectLst/>
            </p:spPr>
          </p:cxnSp>
          <p:cxnSp>
            <p:nvCxnSpPr>
              <p:cNvPr id="196" name="直接连接符 195">
                <a:extLst>
                  <a:ext uri="{FF2B5EF4-FFF2-40B4-BE49-F238E27FC236}">
                    <a16:creationId xmlns:a16="http://schemas.microsoft.com/office/drawing/2014/main" id="{29AE5A9C-6F03-2390-5264-CB7FE3C4A537}"/>
                  </a:ext>
                </a:extLst>
              </p:cNvPr>
              <p:cNvCxnSpPr/>
              <p:nvPr/>
            </p:nvCxnSpPr>
            <p:spPr>
              <a:xfrm>
                <a:off x="4851379" y="4748584"/>
                <a:ext cx="107925" cy="0"/>
              </a:xfrm>
              <a:prstGeom prst="line">
                <a:avLst/>
              </a:prstGeom>
              <a:noFill/>
              <a:ln w="19050" cap="flat" cmpd="sng" algn="ctr">
                <a:solidFill>
                  <a:sysClr val="windowText" lastClr="000000"/>
                </a:solidFill>
                <a:prstDash val="solid"/>
                <a:miter lim="800000"/>
              </a:ln>
              <a:effectLst/>
            </p:spPr>
          </p:cxnSp>
          <p:cxnSp>
            <p:nvCxnSpPr>
              <p:cNvPr id="197" name="直接连接符 196">
                <a:extLst>
                  <a:ext uri="{FF2B5EF4-FFF2-40B4-BE49-F238E27FC236}">
                    <a16:creationId xmlns:a16="http://schemas.microsoft.com/office/drawing/2014/main" id="{0E511077-B248-DE63-9905-0BA849BFA864}"/>
                  </a:ext>
                </a:extLst>
              </p:cNvPr>
              <p:cNvCxnSpPr/>
              <p:nvPr/>
            </p:nvCxnSpPr>
            <p:spPr>
              <a:xfrm>
                <a:off x="4962479" y="4427903"/>
                <a:ext cx="107925" cy="0"/>
              </a:xfrm>
              <a:prstGeom prst="line">
                <a:avLst/>
              </a:prstGeom>
              <a:noFill/>
              <a:ln w="19050" cap="flat" cmpd="sng" algn="ctr">
                <a:solidFill>
                  <a:sysClr val="windowText" lastClr="000000"/>
                </a:solidFill>
                <a:prstDash val="solid"/>
                <a:miter lim="800000"/>
              </a:ln>
              <a:effectLst/>
            </p:spPr>
          </p:cxnSp>
          <p:cxnSp>
            <p:nvCxnSpPr>
              <p:cNvPr id="198" name="直接连接符 197">
                <a:extLst>
                  <a:ext uri="{FF2B5EF4-FFF2-40B4-BE49-F238E27FC236}">
                    <a16:creationId xmlns:a16="http://schemas.microsoft.com/office/drawing/2014/main" id="{FDECBCFD-330F-390D-AC8E-169E435124C5}"/>
                  </a:ext>
                </a:extLst>
              </p:cNvPr>
              <p:cNvCxnSpPr/>
              <p:nvPr/>
            </p:nvCxnSpPr>
            <p:spPr>
              <a:xfrm>
                <a:off x="5319583" y="4199299"/>
                <a:ext cx="107925" cy="0"/>
              </a:xfrm>
              <a:prstGeom prst="line">
                <a:avLst/>
              </a:prstGeom>
              <a:noFill/>
              <a:ln w="19050" cap="flat" cmpd="sng" algn="ctr">
                <a:solidFill>
                  <a:sysClr val="windowText" lastClr="000000"/>
                </a:solidFill>
                <a:prstDash val="solid"/>
                <a:miter lim="800000"/>
              </a:ln>
              <a:effectLst/>
            </p:spPr>
          </p:cxnSp>
          <p:graphicFrame>
            <p:nvGraphicFramePr>
              <p:cNvPr id="199" name="Object 760">
                <a:extLst>
                  <a:ext uri="{FF2B5EF4-FFF2-40B4-BE49-F238E27FC236}">
                    <a16:creationId xmlns:a16="http://schemas.microsoft.com/office/drawing/2014/main" id="{788C7432-5EF7-A552-27EA-4760A0BD1C7B}"/>
                  </a:ext>
                </a:extLst>
              </p:cNvPr>
              <p:cNvGraphicFramePr>
                <a:graphicFrameLocks noChangeAspect="1"/>
              </p:cNvGraphicFramePr>
              <p:nvPr>
                <p:extLst>
                  <p:ext uri="{D42A27DB-BD31-4B8C-83A1-F6EECF244321}">
                    <p14:modId xmlns:p14="http://schemas.microsoft.com/office/powerpoint/2010/main" val="3201275437"/>
                  </p:ext>
                </p:extLst>
              </p:nvPr>
            </p:nvGraphicFramePr>
            <p:xfrm>
              <a:off x="5509868" y="5309161"/>
              <a:ext cx="222546" cy="216000"/>
            </p:xfrm>
            <a:graphic>
              <a:graphicData uri="http://schemas.openxmlformats.org/presentationml/2006/ole">
                <p:oleObj name="Formula" r:id="rId15" imgW="137351" imgH="130992" progId="">
                  <p:embed/>
                </p:oleObj>
              </a:graphicData>
            </a:graphic>
          </p:graphicFrame>
          <p:graphicFrame>
            <p:nvGraphicFramePr>
              <p:cNvPr id="200" name="Object 761">
                <a:extLst>
                  <a:ext uri="{FF2B5EF4-FFF2-40B4-BE49-F238E27FC236}">
                    <a16:creationId xmlns:a16="http://schemas.microsoft.com/office/drawing/2014/main" id="{E545B57E-0B07-92E1-FA7A-AFF7459E5B22}"/>
                  </a:ext>
                </a:extLst>
              </p:cNvPr>
              <p:cNvGraphicFramePr>
                <a:graphicFrameLocks noChangeAspect="1"/>
              </p:cNvGraphicFramePr>
              <p:nvPr>
                <p:extLst>
                  <p:ext uri="{D42A27DB-BD31-4B8C-83A1-F6EECF244321}">
                    <p14:modId xmlns:p14="http://schemas.microsoft.com/office/powerpoint/2010/main" val="3840928002"/>
                  </p:ext>
                </p:extLst>
              </p:nvPr>
            </p:nvGraphicFramePr>
            <p:xfrm>
              <a:off x="2968779" y="3276232"/>
              <a:ext cx="230399" cy="216000"/>
            </p:xfrm>
            <a:graphic>
              <a:graphicData uri="http://schemas.openxmlformats.org/presentationml/2006/ole">
                <p:oleObj name="Formula" r:id="rId17" imgW="141166" imgH="130992" progId="">
                  <p:embed/>
                </p:oleObj>
              </a:graphicData>
            </a:graphic>
          </p:graphicFrame>
          <p:cxnSp>
            <p:nvCxnSpPr>
              <p:cNvPr id="201" name="直接连接符 200">
                <a:extLst>
                  <a:ext uri="{FF2B5EF4-FFF2-40B4-BE49-F238E27FC236}">
                    <a16:creationId xmlns:a16="http://schemas.microsoft.com/office/drawing/2014/main" id="{61D0E5A2-2265-19C1-9C93-D1E47285ABAE}"/>
                  </a:ext>
                </a:extLst>
              </p:cNvPr>
              <p:cNvCxnSpPr/>
              <p:nvPr/>
            </p:nvCxnSpPr>
            <p:spPr>
              <a:xfrm>
                <a:off x="4570458" y="4116747"/>
                <a:ext cx="107925" cy="0"/>
              </a:xfrm>
              <a:prstGeom prst="line">
                <a:avLst/>
              </a:prstGeom>
              <a:noFill/>
              <a:ln w="19050" cap="flat" cmpd="sng" algn="ctr">
                <a:solidFill>
                  <a:sysClr val="windowText" lastClr="000000"/>
                </a:solidFill>
                <a:prstDash val="solid"/>
                <a:miter lim="800000"/>
              </a:ln>
              <a:effectLst/>
            </p:spPr>
          </p:cxnSp>
          <p:grpSp>
            <p:nvGrpSpPr>
              <p:cNvPr id="202" name="组合 70">
                <a:extLst>
                  <a:ext uri="{FF2B5EF4-FFF2-40B4-BE49-F238E27FC236}">
                    <a16:creationId xmlns:a16="http://schemas.microsoft.com/office/drawing/2014/main" id="{BFB3481B-57DB-C86F-AAEE-DFCE8D1A1705}"/>
                  </a:ext>
                </a:extLst>
              </p:cNvPr>
              <p:cNvGrpSpPr>
                <a:grpSpLocks/>
              </p:cNvGrpSpPr>
              <p:nvPr/>
            </p:nvGrpSpPr>
            <p:grpSpPr bwMode="auto">
              <a:xfrm>
                <a:off x="4272093" y="4684632"/>
                <a:ext cx="108000" cy="108000"/>
                <a:chOff x="5476803" y="2392530"/>
                <a:chExt cx="108000" cy="108000"/>
              </a:xfrm>
            </p:grpSpPr>
            <p:cxnSp>
              <p:nvCxnSpPr>
                <p:cNvPr id="208" name="直接连接符 207">
                  <a:extLst>
                    <a:ext uri="{FF2B5EF4-FFF2-40B4-BE49-F238E27FC236}">
                      <a16:creationId xmlns:a16="http://schemas.microsoft.com/office/drawing/2014/main" id="{CB41B676-A872-8932-65A8-3BBE5BB47D57}"/>
                    </a:ext>
                  </a:extLst>
                </p:cNvPr>
                <p:cNvCxnSpPr/>
                <p:nvPr/>
              </p:nvCxnSpPr>
              <p:spPr>
                <a:xfrm>
                  <a:off x="5476787" y="2446957"/>
                  <a:ext cx="107925" cy="0"/>
                </a:xfrm>
                <a:prstGeom prst="line">
                  <a:avLst/>
                </a:prstGeom>
                <a:noFill/>
                <a:ln w="19050" cap="flat" cmpd="sng" algn="ctr">
                  <a:solidFill>
                    <a:sysClr val="windowText" lastClr="000000"/>
                  </a:solidFill>
                  <a:prstDash val="solid"/>
                  <a:miter lim="800000"/>
                </a:ln>
                <a:effectLst/>
              </p:spPr>
            </p:cxnSp>
            <p:cxnSp>
              <p:nvCxnSpPr>
                <p:cNvPr id="209" name="直接连接符 208">
                  <a:extLst>
                    <a:ext uri="{FF2B5EF4-FFF2-40B4-BE49-F238E27FC236}">
                      <a16:creationId xmlns:a16="http://schemas.microsoft.com/office/drawing/2014/main" id="{4A77F4E5-77AA-557E-51E4-D69A823623AD}"/>
                    </a:ext>
                  </a:extLst>
                </p:cNvPr>
                <p:cNvCxnSpPr/>
                <p:nvPr/>
              </p:nvCxnSpPr>
              <p:spPr>
                <a:xfrm rot="5400000">
                  <a:off x="5476774" y="2446957"/>
                  <a:ext cx="107952" cy="0"/>
                </a:xfrm>
                <a:prstGeom prst="line">
                  <a:avLst/>
                </a:prstGeom>
                <a:noFill/>
                <a:ln w="19050" cap="flat" cmpd="sng" algn="ctr">
                  <a:solidFill>
                    <a:sysClr val="windowText" lastClr="000000"/>
                  </a:solidFill>
                  <a:prstDash val="solid"/>
                  <a:miter lim="800000"/>
                </a:ln>
                <a:effectLst/>
              </p:spPr>
            </p:cxnSp>
          </p:grpSp>
          <p:grpSp>
            <p:nvGrpSpPr>
              <p:cNvPr id="203" name="组合 73">
                <a:extLst>
                  <a:ext uri="{FF2B5EF4-FFF2-40B4-BE49-F238E27FC236}">
                    <a16:creationId xmlns:a16="http://schemas.microsoft.com/office/drawing/2014/main" id="{705AD0E1-9DBA-8495-5CA8-50B19BDCFA56}"/>
                  </a:ext>
                </a:extLst>
              </p:cNvPr>
              <p:cNvGrpSpPr>
                <a:grpSpLocks/>
              </p:cNvGrpSpPr>
              <p:nvPr/>
            </p:nvGrpSpPr>
            <p:grpSpPr bwMode="auto">
              <a:xfrm>
                <a:off x="5505122" y="3820344"/>
                <a:ext cx="108000" cy="108000"/>
                <a:chOff x="5476803" y="2392530"/>
                <a:chExt cx="108000" cy="108000"/>
              </a:xfrm>
            </p:grpSpPr>
            <p:cxnSp>
              <p:nvCxnSpPr>
                <p:cNvPr id="206" name="直接连接符 205">
                  <a:extLst>
                    <a:ext uri="{FF2B5EF4-FFF2-40B4-BE49-F238E27FC236}">
                      <a16:creationId xmlns:a16="http://schemas.microsoft.com/office/drawing/2014/main" id="{FF9C4A5C-E1CC-1136-5F83-266663939C28}"/>
                    </a:ext>
                  </a:extLst>
                </p:cNvPr>
                <p:cNvCxnSpPr/>
                <p:nvPr/>
              </p:nvCxnSpPr>
              <p:spPr>
                <a:xfrm>
                  <a:off x="5476958" y="2446040"/>
                  <a:ext cx="107925" cy="0"/>
                </a:xfrm>
                <a:prstGeom prst="line">
                  <a:avLst/>
                </a:prstGeom>
                <a:noFill/>
                <a:ln w="19050" cap="flat" cmpd="sng" algn="ctr">
                  <a:solidFill>
                    <a:sysClr val="windowText" lastClr="000000"/>
                  </a:solidFill>
                  <a:prstDash val="solid"/>
                  <a:miter lim="800000"/>
                </a:ln>
                <a:effectLst/>
              </p:spPr>
            </p:cxnSp>
            <p:cxnSp>
              <p:nvCxnSpPr>
                <p:cNvPr id="207" name="直接连接符 206">
                  <a:extLst>
                    <a:ext uri="{FF2B5EF4-FFF2-40B4-BE49-F238E27FC236}">
                      <a16:creationId xmlns:a16="http://schemas.microsoft.com/office/drawing/2014/main" id="{238A4A51-0C8F-4F64-B069-2326ED416B43}"/>
                    </a:ext>
                  </a:extLst>
                </p:cNvPr>
                <p:cNvCxnSpPr/>
                <p:nvPr/>
              </p:nvCxnSpPr>
              <p:spPr>
                <a:xfrm rot="5400000">
                  <a:off x="5476944" y="2446040"/>
                  <a:ext cx="107952" cy="0"/>
                </a:xfrm>
                <a:prstGeom prst="line">
                  <a:avLst/>
                </a:prstGeom>
                <a:noFill/>
                <a:ln w="19050" cap="flat" cmpd="sng" algn="ctr">
                  <a:solidFill>
                    <a:sysClr val="windowText" lastClr="000000"/>
                  </a:solidFill>
                  <a:prstDash val="solid"/>
                  <a:miter lim="800000"/>
                </a:ln>
                <a:effectLst/>
              </p:spPr>
            </p:cxnSp>
          </p:grpSp>
          <p:cxnSp>
            <p:nvCxnSpPr>
              <p:cNvPr id="204" name="直接连接符 203">
                <a:extLst>
                  <a:ext uri="{FF2B5EF4-FFF2-40B4-BE49-F238E27FC236}">
                    <a16:creationId xmlns:a16="http://schemas.microsoft.com/office/drawing/2014/main" id="{D0B17B24-5661-1F5A-7006-AC4EB434C41E}"/>
                  </a:ext>
                </a:extLst>
              </p:cNvPr>
              <p:cNvCxnSpPr/>
              <p:nvPr/>
            </p:nvCxnSpPr>
            <p:spPr>
              <a:xfrm>
                <a:off x="4319691" y="4358052"/>
                <a:ext cx="107925" cy="0"/>
              </a:xfrm>
              <a:prstGeom prst="line">
                <a:avLst/>
              </a:prstGeom>
              <a:noFill/>
              <a:ln w="19050" cap="flat" cmpd="sng" algn="ctr">
                <a:solidFill>
                  <a:sysClr val="windowText" lastClr="000000"/>
                </a:solidFill>
                <a:prstDash val="solid"/>
                <a:miter lim="800000"/>
              </a:ln>
              <a:effectLst/>
            </p:spPr>
          </p:cxnSp>
          <p:cxnSp>
            <p:nvCxnSpPr>
              <p:cNvPr id="205" name="直接连接符 204">
                <a:extLst>
                  <a:ext uri="{FF2B5EF4-FFF2-40B4-BE49-F238E27FC236}">
                    <a16:creationId xmlns:a16="http://schemas.microsoft.com/office/drawing/2014/main" id="{91FD9B36-9C31-8CD0-FE1E-75864998EB6A}"/>
                  </a:ext>
                </a:extLst>
              </p:cNvPr>
              <p:cNvCxnSpPr/>
              <p:nvPr/>
            </p:nvCxnSpPr>
            <p:spPr>
              <a:xfrm>
                <a:off x="4405396" y="3962756"/>
                <a:ext cx="107925" cy="0"/>
              </a:xfrm>
              <a:prstGeom prst="line">
                <a:avLst/>
              </a:prstGeom>
              <a:noFill/>
              <a:ln w="19050" cap="flat" cmpd="sng" algn="ctr">
                <a:solidFill>
                  <a:sysClr val="windowText" lastClr="000000"/>
                </a:solidFill>
                <a:prstDash val="solid"/>
                <a:miter lim="800000"/>
              </a:ln>
              <a:effectLst/>
            </p:spPr>
          </p:cxnSp>
        </p:grpSp>
        <p:grpSp>
          <p:nvGrpSpPr>
            <p:cNvPr id="234" name="组合 84">
              <a:extLst>
                <a:ext uri="{FF2B5EF4-FFF2-40B4-BE49-F238E27FC236}">
                  <a16:creationId xmlns:a16="http://schemas.microsoft.com/office/drawing/2014/main" id="{B3681EF0-0DD3-4AA1-E2DE-BACACCFA34E8}"/>
                </a:ext>
              </a:extLst>
            </p:cNvPr>
            <p:cNvGrpSpPr>
              <a:grpSpLocks/>
            </p:cNvGrpSpPr>
            <p:nvPr/>
          </p:nvGrpSpPr>
          <p:grpSpPr bwMode="auto">
            <a:xfrm>
              <a:off x="2172229" y="4020587"/>
              <a:ext cx="1804987" cy="1449387"/>
              <a:chOff x="3846393" y="3776431"/>
              <a:chExt cx="1804550" cy="1449351"/>
            </a:xfrm>
          </p:grpSpPr>
          <p:sp>
            <p:nvSpPr>
              <p:cNvPr id="235" name="椭圆 234">
                <a:extLst>
                  <a:ext uri="{FF2B5EF4-FFF2-40B4-BE49-F238E27FC236}">
                    <a16:creationId xmlns:a16="http://schemas.microsoft.com/office/drawing/2014/main" id="{7F345EFF-BA54-E04E-F5E3-B209DC66B3ED}"/>
                  </a:ext>
                </a:extLst>
              </p:cNvPr>
              <p:cNvSpPr/>
              <p:nvPr/>
            </p:nvSpPr>
            <p:spPr>
              <a:xfrm>
                <a:off x="3846393" y="4516188"/>
                <a:ext cx="179344" cy="180971"/>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6" name="椭圆 235">
                <a:extLst>
                  <a:ext uri="{FF2B5EF4-FFF2-40B4-BE49-F238E27FC236}">
                    <a16:creationId xmlns:a16="http://schemas.microsoft.com/office/drawing/2014/main" id="{A3A03CA4-F4C0-BFB9-F52C-7B42A4231B49}"/>
                  </a:ext>
                </a:extLst>
              </p:cNvPr>
              <p:cNvSpPr/>
              <p:nvPr/>
            </p:nvSpPr>
            <p:spPr>
              <a:xfrm>
                <a:off x="5471599" y="3776431"/>
                <a:ext cx="179344" cy="179383"/>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7" name="椭圆 236">
                <a:extLst>
                  <a:ext uri="{FF2B5EF4-FFF2-40B4-BE49-F238E27FC236}">
                    <a16:creationId xmlns:a16="http://schemas.microsoft.com/office/drawing/2014/main" id="{8C981CD6-085E-243A-2C0B-0606B3D1F249}"/>
                  </a:ext>
                </a:extLst>
              </p:cNvPr>
              <p:cNvSpPr/>
              <p:nvPr/>
            </p:nvSpPr>
            <p:spPr>
              <a:xfrm>
                <a:off x="4235236" y="4647946"/>
                <a:ext cx="180931" cy="180971"/>
              </a:xfrm>
              <a:prstGeom prst="ellipse">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8" name="椭圆 237">
                <a:extLst>
                  <a:ext uri="{FF2B5EF4-FFF2-40B4-BE49-F238E27FC236}">
                    <a16:creationId xmlns:a16="http://schemas.microsoft.com/office/drawing/2014/main" id="{BE03F381-65DF-6DB4-4627-478081E693B1}"/>
                  </a:ext>
                </a:extLst>
              </p:cNvPr>
              <p:cNvSpPr/>
              <p:nvPr/>
            </p:nvSpPr>
            <p:spPr>
              <a:xfrm>
                <a:off x="4536788" y="4590798"/>
                <a:ext cx="179345"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39" name="椭圆 238">
                <a:extLst>
                  <a:ext uri="{FF2B5EF4-FFF2-40B4-BE49-F238E27FC236}">
                    <a16:creationId xmlns:a16="http://schemas.microsoft.com/office/drawing/2014/main" id="{4CD536C1-8A26-9FB7-2520-6C5A9E8F2D5F}"/>
                  </a:ext>
                </a:extLst>
              </p:cNvPr>
              <p:cNvSpPr/>
              <p:nvPr/>
            </p:nvSpPr>
            <p:spPr>
              <a:xfrm>
                <a:off x="4539962" y="4024075"/>
                <a:ext cx="179345" cy="179383"/>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0" name="椭圆 239">
                <a:extLst>
                  <a:ext uri="{FF2B5EF4-FFF2-40B4-BE49-F238E27FC236}">
                    <a16:creationId xmlns:a16="http://schemas.microsoft.com/office/drawing/2014/main" id="{7514BC47-2C44-2A89-D3D7-8D4D0C64481A}"/>
                  </a:ext>
                </a:extLst>
              </p:cNvPr>
              <p:cNvSpPr/>
              <p:nvPr/>
            </p:nvSpPr>
            <p:spPr>
              <a:xfrm>
                <a:off x="4281263" y="4255844"/>
                <a:ext cx="179344"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1" name="椭圆 240">
                <a:extLst>
                  <a:ext uri="{FF2B5EF4-FFF2-40B4-BE49-F238E27FC236}">
                    <a16:creationId xmlns:a16="http://schemas.microsoft.com/office/drawing/2014/main" id="{7E78F442-3AE1-F0CA-F172-6F5FAD5BDFB3}"/>
                  </a:ext>
                </a:extLst>
              </p:cNvPr>
              <p:cNvSpPr/>
              <p:nvPr/>
            </p:nvSpPr>
            <p:spPr>
              <a:xfrm>
                <a:off x="4060653" y="5046399"/>
                <a:ext cx="179345" cy="179383"/>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sp>
            <p:nvSpPr>
              <p:cNvPr id="242" name="椭圆 241">
                <a:extLst>
                  <a:ext uri="{FF2B5EF4-FFF2-40B4-BE49-F238E27FC236}">
                    <a16:creationId xmlns:a16="http://schemas.microsoft.com/office/drawing/2014/main" id="{08A2E17C-58EB-FD5E-DC17-FBADF3E03C34}"/>
                  </a:ext>
                </a:extLst>
              </p:cNvPr>
              <p:cNvSpPr/>
              <p:nvPr/>
            </p:nvSpPr>
            <p:spPr>
              <a:xfrm>
                <a:off x="4374902" y="3863741"/>
                <a:ext cx="179345" cy="180971"/>
              </a:xfrm>
              <a:prstGeom prst="ellipse">
                <a:avLst/>
              </a:prstGeom>
              <a:solidFill>
                <a:srgbClr val="FF0000">
                  <a:alpha val="20000"/>
                </a:srgbClr>
              </a:solidFill>
              <a:ln w="1270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baseline="0" noProof="0">
                  <a:ln>
                    <a:noFill/>
                  </a:ln>
                  <a:solidFill>
                    <a:prstClr val="white"/>
                  </a:solidFill>
                  <a:effectLst/>
                  <a:uLnTx/>
                  <a:uFillTx/>
                  <a:latin typeface="Arial"/>
                  <a:ea typeface="Arial"/>
                  <a:cs typeface="Arial"/>
                </a:endParaRPr>
              </a:p>
            </p:txBody>
          </p:sp>
        </p:grpSp>
      </p:grpSp>
      <p:cxnSp>
        <p:nvCxnSpPr>
          <p:cNvPr id="245" name="直接箭头连接符 244">
            <a:extLst>
              <a:ext uri="{FF2B5EF4-FFF2-40B4-BE49-F238E27FC236}">
                <a16:creationId xmlns:a16="http://schemas.microsoft.com/office/drawing/2014/main" id="{FDF52E4F-D328-3612-0BA5-7EDF4EFFE98D}"/>
              </a:ext>
            </a:extLst>
          </p:cNvPr>
          <p:cNvCxnSpPr/>
          <p:nvPr/>
        </p:nvCxnSpPr>
        <p:spPr>
          <a:xfrm flipH="1">
            <a:off x="4309100" y="3776704"/>
            <a:ext cx="653579" cy="2312933"/>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247" name="直接连接符 246">
            <a:extLst>
              <a:ext uri="{FF2B5EF4-FFF2-40B4-BE49-F238E27FC236}">
                <a16:creationId xmlns:a16="http://schemas.microsoft.com/office/drawing/2014/main" id="{E905D38F-3945-6B9E-753E-A25C2A629F7E}"/>
              </a:ext>
            </a:extLst>
          </p:cNvPr>
          <p:cNvCxnSpPr/>
          <p:nvPr/>
        </p:nvCxnSpPr>
        <p:spPr>
          <a:xfrm>
            <a:off x="5043737" y="4241238"/>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cxnSp>
        <p:nvCxnSpPr>
          <p:cNvPr id="248" name="直接连接符 247">
            <a:extLst>
              <a:ext uri="{FF2B5EF4-FFF2-40B4-BE49-F238E27FC236}">
                <a16:creationId xmlns:a16="http://schemas.microsoft.com/office/drawing/2014/main" id="{CF0A5966-3FDB-AE45-FE27-92618CF7556F}"/>
              </a:ext>
            </a:extLst>
          </p:cNvPr>
          <p:cNvCxnSpPr/>
          <p:nvPr/>
        </p:nvCxnSpPr>
        <p:spPr>
          <a:xfrm>
            <a:off x="5007737" y="5538007"/>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sp xmlns:a14="http://schemas.microsoft.com/office/drawing/2010/main">
        <p:nvSpPr>
          <p:cNvPr id="249" name="文本框 248">
            <a:extLst>
              <a:ext uri="{FF2B5EF4-FFF2-40B4-BE49-F238E27FC236}">
                <a16:creationId xmlns:a16="http://schemas.microsoft.com/office/drawing/2014/main" id="{7FBAD9F7-6D7B-4DF9-FE7E-0703B2A2E830}"/>
              </a:ext>
            </a:extLst>
          </p:cNvPr>
          <p:cNvSpPr txBox="1"/>
          <p:nvPr/>
        </p:nvSpPr>
        <p:spPr>
          <a:xfrm>
            <a:off x="3142587" y="859010"/>
            <a:ext cx="1550681" cy="307777"/>
          </a:xfrm>
          <a:prstGeom prst="rect">
            <a:avLst/>
          </a:prstGeom>
          <a:noFill/>
        </p:spPr>
        <p:txBody>
          <a:bodyPr wrap="none" lIns="0" tIns="0" rIns="0" bIns="0" rtlCol="0">
            <a:noAutofit/>
          </a:bodyPr>
          <a:lstStyle/>
          <a:p>
            <a:pPr/>
            <a14:m>
              <m:oMathPara xmlns:m="http://schemas.openxmlformats.org/officeDocument/2006/math">
                <m:oMathParaPr>
                  <m:jc m:val="centerGroup"/>
                </m:oMathParaPr>
                <m:o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1</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1</m:t>
                  </m:r>
                  <m:r>
                    <a:rPr lang="en-US" altLang="zh-CN" sz="1600" b="0" i="1" smtClean="0">
                      <a:latin typeface="Arial" panose="02040503050406030204" pitchFamily="18" charset="0"/>
                      <a:ea typeface="Arial" panose="02040503050406030204" pitchFamily="18" charset="0"/>
                      <a:cs typeface="Arial"/>
                    </a:rPr>
                    <m:t>}</m:t>
                  </m:r>
                </m:oMath>
              </m:oMathPara>
            </a14:m>
            <a:endParaRPr lang="en-US" altLang="en-US" sz="1600" dirty="0">
              <a:latin typeface="Arial"/>
              <a:ea typeface="Arial"/>
              <a:cs typeface="Arial"/>
            </a:endParaRPr>
          </a:p>
        </p:txBody>
      </p:sp>
      <p:cxnSp>
        <p:nvCxnSpPr>
          <p:cNvPr id="5" name="直接箭头连接符 4">
            <a:extLst>
              <a:ext uri="{FF2B5EF4-FFF2-40B4-BE49-F238E27FC236}">
                <a16:creationId xmlns:a16="http://schemas.microsoft.com/office/drawing/2014/main" id="{7697E00A-0884-57EE-62F6-28C59370139F}"/>
              </a:ext>
            </a:extLst>
          </p:cNvPr>
          <p:cNvCxnSpPr>
            <a:cxnSpLocks/>
          </p:cNvCxnSpPr>
          <p:nvPr/>
        </p:nvCxnSpPr>
        <p:spPr>
          <a:xfrm flipV="1">
            <a:off x="3412765" y="2783407"/>
            <a:ext cx="1802330" cy="224990"/>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11" name="直接箭头连接符 10">
            <a:extLst>
              <a:ext uri="{FF2B5EF4-FFF2-40B4-BE49-F238E27FC236}">
                <a16:creationId xmlns:a16="http://schemas.microsoft.com/office/drawing/2014/main" id="{1BD01503-EC40-21D0-4A7C-C08BBACACB4C}"/>
              </a:ext>
            </a:extLst>
          </p:cNvPr>
          <p:cNvCxnSpPr>
            <a:cxnSpLocks/>
          </p:cNvCxnSpPr>
          <p:nvPr/>
        </p:nvCxnSpPr>
        <p:spPr>
          <a:xfrm>
            <a:off x="4767943" y="1366576"/>
            <a:ext cx="447152" cy="15072"/>
          </a:xfrm>
          <a:prstGeom prst="straightConnector1">
            <a:avLst/>
          </a:prstGeom>
          <a:ln w="22225">
            <a:solidFill>
              <a:srgbClr val="669900"/>
            </a:solidFill>
            <a:tailEnd type="triangle"/>
          </a:ln>
        </p:spPr>
        <p:style>
          <a:lnRef idx="1">
            <a:schemeClr val="accent1"/>
          </a:lnRef>
          <a:fillRef idx="0">
            <a:schemeClr val="accent1"/>
          </a:fillRef>
          <a:effectRef idx="0">
            <a:schemeClr val="accent1"/>
          </a:effectRef>
          <a:fontRef idx="minor">
            <a:schemeClr val="tx1"/>
          </a:fontRef>
        </p:style>
      </p:cxnSp>
      <p:cxnSp>
        <p:nvCxnSpPr>
          <p:cNvPr id="14" name="直接连接符 13">
            <a:extLst>
              <a:ext uri="{FF2B5EF4-FFF2-40B4-BE49-F238E27FC236}">
                <a16:creationId xmlns:a16="http://schemas.microsoft.com/office/drawing/2014/main" id="{4A3BB05F-A27A-BE09-1AA0-46B2E2759E28}"/>
              </a:ext>
            </a:extLst>
          </p:cNvPr>
          <p:cNvCxnSpPr/>
          <p:nvPr/>
        </p:nvCxnSpPr>
        <p:spPr>
          <a:xfrm>
            <a:off x="5007737" y="3253322"/>
            <a:ext cx="3852000" cy="0"/>
          </a:xfrm>
          <a:prstGeom prst="line">
            <a:avLst/>
          </a:prstGeom>
          <a:ln w="22225">
            <a:solidFill>
              <a:srgbClr val="669900"/>
            </a:solidFill>
            <a:prstDash val="dash"/>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44767350"/>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a:extLst>
              <a:ext uri="{FF2B5EF4-FFF2-40B4-BE49-F238E27FC236}">
                <a16:creationId xmlns:a16="http://schemas.microsoft.com/office/drawing/2014/main" id="{EFDEDE21-3889-F6BC-EDED-9FC085DB519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254" y="4557508"/>
            <a:ext cx="3978014" cy="2282635"/>
          </a:xfrm>
          <a:prstGeom prst="rect">
            <a:avLst/>
          </a:prstGeom>
          <a:noFill/>
          <a:extLst>
            <a:ext uri="{909E8E84-426E-40DD-AFC4-6F175D3DCCD1}">
              <a14:hiddenFill xmlns:a14="http://schemas.microsoft.com/office/drawing/2010/main">
                <a:solidFill>
                  <a:srgbClr val="FFFFFF"/>
                </a:solidFill>
              </a14:hiddenFill>
            </a:ext>
          </a:extLst>
        </p:spPr>
      </p:pic>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fld id="{5AD84F5B-1672-4D3F-9FEC-5DF89A7B7912}" type="slidenum">
              <a:rPr lang="en-US" altLang="en-US" smtClean="0" sz="1600">
                <a:latin typeface="Arial"/>
                <a:ea typeface="Arial"/>
                <a:cs typeface="Arial"/>
              </a:rPr>
              <a:t>87</a:t>
            </a:fld>
            <a:endParaRPr lang="en-US" altLang="en-US" sz="1600">
              <a:latin typeface="Arial"/>
              <a:ea typeface="Arial"/>
              <a:cs typeface="Arial"/>
            </a:endParaRPr>
          </a:p>
        </p:txBody>
      </p:sp>
      <p:sp>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255969" y="1205449"/>
            <a:ext cx="8788894" cy="9689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Q: What if no hyperplane separates the two classes correctly (linear inseparability)?</a:t>
            </a:r>
          </a:p>
          <a:p>
            <a:pPr marL="0" marR="0" lvl="0" indent="0" algn="l" defTabSz="914400" rtl="0" eaLnBrk="1" fontAlgn="base" latinLnBrk="0" hangingPunct="1">
              <a:lnSpc>
                <a:spcPct val="100000"/>
              </a:lnSpc>
              <a:spcBef>
                <a:spcPts val="0"/>
              </a:spcBef>
              <a:spcAft>
                <a:spcPct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A: Map the samples into a higher-dimensional feature space where they become linearly separable.</a:t>
            </a:r>
          </a:p>
          <a:p>
            <a:pPr marL="0" marR="0" lvl="0" indent="0" algn="l" defTabSz="914400" rtl="0" eaLnBrk="1" fontAlgn="base" latinLnBrk="0" hangingPunct="1">
              <a:lnSpc>
                <a:spcPct val="90000"/>
              </a:lnSpc>
              <a:spcBef>
                <a:spcPts val="1000"/>
              </a:spcBef>
              <a:spcAft>
                <a:spcPct val="0"/>
              </a:spcAft>
              <a:buClr>
                <a:srgbClr val="16754D"/>
              </a:buClr>
              <a:buSzPct val="100000"/>
              <a:buFont typeface="Wingdings" panose="05000000000000000000" pitchFamily="2" charset="2"/>
              <a:buNone/>
              <a:tabLst/>
              <a:defRPr sz="1600" lang="en-US">
                <a:latin typeface="Arial"/>
                <a:ea typeface="Arial"/>
                <a:cs typeface="Arial"/>
              </a:defRPr>
            </a:pPr>
            <a:endParaRPr kumimoji="0" lang="en-US" altLang="en-US" sz="160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cxnSp>
        <p:nvCxnSpPr>
          <p:cNvPr id="7" name="直接箭头连接符 6">
            <a:extLst>
              <a:ext uri="{FF2B5EF4-FFF2-40B4-BE49-F238E27FC236}">
                <a16:creationId xmlns:a16="http://schemas.microsoft.com/office/drawing/2014/main" id="{CEEA1FB2-A0E8-5C81-FCDE-15258343187C}"/>
              </a:ext>
            </a:extLst>
          </p:cNvPr>
          <p:cNvCxnSpPr/>
          <p:nvPr/>
        </p:nvCxnSpPr>
        <p:spPr>
          <a:xfrm flipH="1" flipV="1">
            <a:off x="464440" y="2106686"/>
            <a:ext cx="0" cy="2160588"/>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8" name="直接箭头连接符 7">
            <a:extLst>
              <a:ext uri="{FF2B5EF4-FFF2-40B4-BE49-F238E27FC236}">
                <a16:creationId xmlns:a16="http://schemas.microsoft.com/office/drawing/2014/main" id="{3D876353-CE2A-147F-CFA1-AE27AF328EFD}"/>
              </a:ext>
            </a:extLst>
          </p:cNvPr>
          <p:cNvCxnSpPr/>
          <p:nvPr/>
        </p:nvCxnSpPr>
        <p:spPr>
          <a:xfrm>
            <a:off x="464440" y="4241874"/>
            <a:ext cx="2159000"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grpSp>
        <p:nvGrpSpPr>
          <p:cNvPr id="9" name="组合 5">
            <a:extLst>
              <a:ext uri="{FF2B5EF4-FFF2-40B4-BE49-F238E27FC236}">
                <a16:creationId xmlns:a16="http://schemas.microsoft.com/office/drawing/2014/main" id="{AA238104-ACA8-90C6-D2CB-A4F3152D2C19}"/>
              </a:ext>
            </a:extLst>
          </p:cNvPr>
          <p:cNvGrpSpPr>
            <a:grpSpLocks/>
          </p:cNvGrpSpPr>
          <p:nvPr/>
        </p:nvGrpSpPr>
        <p:grpSpPr bwMode="auto">
          <a:xfrm>
            <a:off x="842265" y="2654374"/>
            <a:ext cx="1260475" cy="1239837"/>
            <a:chOff x="1772741" y="1770345"/>
            <a:chExt cx="1259870" cy="1238551"/>
          </a:xfrm>
        </p:grpSpPr>
        <p:grpSp>
          <p:nvGrpSpPr>
            <p:cNvPr id="10" name="组合 6">
              <a:extLst>
                <a:ext uri="{FF2B5EF4-FFF2-40B4-BE49-F238E27FC236}">
                  <a16:creationId xmlns:a16="http://schemas.microsoft.com/office/drawing/2014/main" id="{92B74B7C-DCAE-33E8-A655-E3D601658B76}"/>
                </a:ext>
              </a:extLst>
            </p:cNvPr>
            <p:cNvGrpSpPr>
              <a:grpSpLocks/>
            </p:cNvGrpSpPr>
            <p:nvPr/>
          </p:nvGrpSpPr>
          <p:grpSpPr bwMode="auto">
            <a:xfrm>
              <a:off x="2924611" y="2900896"/>
              <a:ext cx="108000" cy="108000"/>
              <a:chOff x="5476803" y="2392530"/>
              <a:chExt cx="108000" cy="108000"/>
            </a:xfrm>
          </p:grpSpPr>
          <p:cxnSp>
            <p:nvCxnSpPr>
              <p:cNvPr id="16" name="直接连接符 15">
                <a:extLst>
                  <a:ext uri="{FF2B5EF4-FFF2-40B4-BE49-F238E27FC236}">
                    <a16:creationId xmlns:a16="http://schemas.microsoft.com/office/drawing/2014/main" id="{000C685C-6238-1D9A-4773-16A8BBA0C1DF}"/>
                  </a:ext>
                </a:extLst>
              </p:cNvPr>
              <p:cNvCxnSpPr/>
              <p:nvPr/>
            </p:nvCxnSpPr>
            <p:spPr>
              <a:xfrm>
                <a:off x="5476905" y="2446611"/>
                <a:ext cx="107898" cy="0"/>
              </a:xfrm>
              <a:prstGeom prst="line">
                <a:avLst/>
              </a:prstGeom>
              <a:noFill/>
              <a:ln w="19050" cap="flat" cmpd="sng" algn="ctr">
                <a:solidFill>
                  <a:sysClr val="windowText" lastClr="000000"/>
                </a:solidFill>
                <a:prstDash val="solid"/>
                <a:miter lim="800000"/>
              </a:ln>
              <a:effectLst/>
            </p:spPr>
          </p:cxnSp>
          <p:cxnSp>
            <p:nvCxnSpPr>
              <p:cNvPr id="17" name="直接连接符 16">
                <a:extLst>
                  <a:ext uri="{FF2B5EF4-FFF2-40B4-BE49-F238E27FC236}">
                    <a16:creationId xmlns:a16="http://schemas.microsoft.com/office/drawing/2014/main" id="{80451CE6-47A7-F87B-E75C-91552304F9FF}"/>
                  </a:ext>
                </a:extLst>
              </p:cNvPr>
              <p:cNvCxnSpPr/>
              <p:nvPr/>
            </p:nvCxnSpPr>
            <p:spPr>
              <a:xfrm rot="5400000">
                <a:off x="5476935" y="2446611"/>
                <a:ext cx="107838" cy="0"/>
              </a:xfrm>
              <a:prstGeom prst="line">
                <a:avLst/>
              </a:prstGeom>
              <a:noFill/>
              <a:ln w="19050" cap="flat" cmpd="sng" algn="ctr">
                <a:solidFill>
                  <a:sysClr val="windowText" lastClr="000000"/>
                </a:solidFill>
                <a:prstDash val="solid"/>
                <a:miter lim="800000"/>
              </a:ln>
              <a:effectLst/>
            </p:spPr>
          </p:cxnSp>
        </p:grpSp>
        <p:grpSp>
          <p:nvGrpSpPr>
            <p:cNvPr id="11" name="组合 7">
              <a:extLst>
                <a:ext uri="{FF2B5EF4-FFF2-40B4-BE49-F238E27FC236}">
                  <a16:creationId xmlns:a16="http://schemas.microsoft.com/office/drawing/2014/main" id="{0FD71DDC-9477-397F-1597-3C2F0EF28FD3}"/>
                </a:ext>
              </a:extLst>
            </p:cNvPr>
            <p:cNvGrpSpPr>
              <a:grpSpLocks/>
            </p:cNvGrpSpPr>
            <p:nvPr/>
          </p:nvGrpSpPr>
          <p:grpSpPr bwMode="auto">
            <a:xfrm>
              <a:off x="1772741" y="1770345"/>
              <a:ext cx="108000" cy="108000"/>
              <a:chOff x="5476803" y="2392530"/>
              <a:chExt cx="108000" cy="108000"/>
            </a:xfrm>
          </p:grpSpPr>
          <p:cxnSp>
            <p:nvCxnSpPr>
              <p:cNvPr id="14" name="直接连接符 13">
                <a:extLst>
                  <a:ext uri="{FF2B5EF4-FFF2-40B4-BE49-F238E27FC236}">
                    <a16:creationId xmlns:a16="http://schemas.microsoft.com/office/drawing/2014/main" id="{9A8B9BD2-AC29-D8BD-4E8D-2B9EAEAE995C}"/>
                  </a:ext>
                </a:extLst>
              </p:cNvPr>
              <p:cNvCxnSpPr/>
              <p:nvPr/>
            </p:nvCxnSpPr>
            <p:spPr>
              <a:xfrm>
                <a:off x="5476803" y="2446449"/>
                <a:ext cx="107898" cy="0"/>
              </a:xfrm>
              <a:prstGeom prst="line">
                <a:avLst/>
              </a:prstGeom>
              <a:noFill/>
              <a:ln w="19050" cap="flat" cmpd="sng" algn="ctr">
                <a:solidFill>
                  <a:sysClr val="windowText" lastClr="000000"/>
                </a:solidFill>
                <a:prstDash val="solid"/>
                <a:miter lim="800000"/>
              </a:ln>
              <a:effectLst/>
            </p:spPr>
          </p:cxnSp>
          <p:cxnSp>
            <p:nvCxnSpPr>
              <p:cNvPr id="15" name="直接连接符 14">
                <a:extLst>
                  <a:ext uri="{FF2B5EF4-FFF2-40B4-BE49-F238E27FC236}">
                    <a16:creationId xmlns:a16="http://schemas.microsoft.com/office/drawing/2014/main" id="{C995EF24-DFA9-228D-AF49-9D21B702C2CB}"/>
                  </a:ext>
                </a:extLst>
              </p:cNvPr>
              <p:cNvCxnSpPr/>
              <p:nvPr/>
            </p:nvCxnSpPr>
            <p:spPr>
              <a:xfrm rot="5400000">
                <a:off x="5476833" y="2446449"/>
                <a:ext cx="107838" cy="0"/>
              </a:xfrm>
              <a:prstGeom prst="line">
                <a:avLst/>
              </a:prstGeom>
              <a:noFill/>
              <a:ln w="19050" cap="flat" cmpd="sng" algn="ctr">
                <a:solidFill>
                  <a:sysClr val="windowText" lastClr="000000"/>
                </a:solidFill>
                <a:prstDash val="solid"/>
                <a:miter lim="800000"/>
              </a:ln>
              <a:effectLst/>
            </p:spPr>
          </p:cxnSp>
        </p:grpSp>
        <p:cxnSp>
          <p:nvCxnSpPr>
            <p:cNvPr id="12" name="直接连接符 11">
              <a:extLst>
                <a:ext uri="{FF2B5EF4-FFF2-40B4-BE49-F238E27FC236}">
                  <a16:creationId xmlns:a16="http://schemas.microsoft.com/office/drawing/2014/main" id="{9A9B8EF7-4F01-7C22-DB0F-3A58F5C4082D}"/>
                </a:ext>
              </a:extLst>
            </p:cNvPr>
            <p:cNvCxnSpPr/>
            <p:nvPr/>
          </p:nvCxnSpPr>
          <p:spPr>
            <a:xfrm>
              <a:off x="2924713" y="1824264"/>
              <a:ext cx="107898" cy="0"/>
            </a:xfrm>
            <a:prstGeom prst="line">
              <a:avLst/>
            </a:prstGeom>
            <a:noFill/>
            <a:ln w="19050" cap="flat" cmpd="sng" algn="ctr">
              <a:solidFill>
                <a:sysClr val="windowText" lastClr="000000"/>
              </a:solidFill>
              <a:prstDash val="solid"/>
              <a:miter lim="800000"/>
            </a:ln>
            <a:effectLst/>
          </p:spPr>
        </p:cxnSp>
        <p:cxnSp>
          <p:nvCxnSpPr>
            <p:cNvPr id="13" name="直接连接符 12">
              <a:extLst>
                <a:ext uri="{FF2B5EF4-FFF2-40B4-BE49-F238E27FC236}">
                  <a16:creationId xmlns:a16="http://schemas.microsoft.com/office/drawing/2014/main" id="{760485CF-C996-0160-DB23-11D96B4854B2}"/>
                </a:ext>
              </a:extLst>
            </p:cNvPr>
            <p:cNvCxnSpPr/>
            <p:nvPr/>
          </p:nvCxnSpPr>
          <p:spPr>
            <a:xfrm>
              <a:off x="1772741" y="2970836"/>
              <a:ext cx="107898" cy="0"/>
            </a:xfrm>
            <a:prstGeom prst="line">
              <a:avLst/>
            </a:prstGeom>
            <a:noFill/>
            <a:ln w="19050" cap="flat" cmpd="sng" algn="ctr">
              <a:solidFill>
                <a:sysClr val="windowText" lastClr="000000"/>
              </a:solidFill>
              <a:prstDash val="solid"/>
              <a:miter lim="800000"/>
            </a:ln>
            <a:effectLst/>
          </p:spPr>
        </p:cxnSp>
      </p:grpSp>
      <p:sp>
        <p:nvSpPr>
          <p:cNvPr id="18" name="任意多边形 14">
            <a:extLst>
              <a:ext uri="{FF2B5EF4-FFF2-40B4-BE49-F238E27FC236}">
                <a16:creationId xmlns:a16="http://schemas.microsoft.com/office/drawing/2014/main" id="{D3D3B2F9-1249-B236-9DA1-E359B60146DF}"/>
              </a:ext>
            </a:extLst>
          </p:cNvPr>
          <p:cNvSpPr/>
          <p:nvPr/>
        </p:nvSpPr>
        <p:spPr>
          <a:xfrm rot="1472675">
            <a:off x="729553" y="2578174"/>
            <a:ext cx="1870075" cy="1287462"/>
          </a:xfrm>
          <a:custGeom>
            <a:avLst/>
            <a:gdLst>
              <a:gd name="connsiteX0" fmla="*/ 440266 w 1856405"/>
              <a:gd name="connsiteY0" fmla="*/ 0 h 1821971"/>
              <a:gd name="connsiteX1" fmla="*/ 1851378 w 1856405"/>
              <a:gd name="connsiteY1" fmla="*/ 1749778 h 1821971"/>
              <a:gd name="connsiteX2" fmla="*/ 0 w 1856405"/>
              <a:gd name="connsiteY2" fmla="*/ 1512711 h 1821971"/>
              <a:gd name="connsiteX3" fmla="*/ 0 w 1856405"/>
              <a:gd name="connsiteY3" fmla="*/ 1512711 h 1821971"/>
            </a:gdLst>
            <a:ahLst/>
            <a:cxnLst>
              <a:cxn ang="0">
                <a:pos x="connsiteX0" y="connsiteY0"/>
              </a:cxn>
              <a:cxn ang="0">
                <a:pos x="connsiteX1" y="connsiteY1"/>
              </a:cxn>
              <a:cxn ang="0">
                <a:pos x="connsiteX2" y="connsiteY2"/>
              </a:cxn>
              <a:cxn ang="0">
                <a:pos x="connsiteX3" y="connsiteY3"/>
              </a:cxn>
            </a:cxnLst>
            <a:rect l="l" t="t" r="r" b="b"/>
            <a:pathLst>
              <a:path w="1856405" h="1821971">
                <a:moveTo>
                  <a:pt x="440266" y="0"/>
                </a:moveTo>
                <a:cubicBezTo>
                  <a:pt x="1182511" y="748830"/>
                  <a:pt x="1924756" y="1497660"/>
                  <a:pt x="1851378" y="1749778"/>
                </a:cubicBezTo>
                <a:cubicBezTo>
                  <a:pt x="1778000" y="2001896"/>
                  <a:pt x="0" y="1512711"/>
                  <a:pt x="0" y="1512711"/>
                </a:cubicBezTo>
                <a:lnTo>
                  <a:pt x="0" y="1512711"/>
                </a:lnTo>
              </a:path>
            </a:pathLst>
          </a:custGeom>
          <a:noFill/>
          <a:ln w="19050" cap="flat" cmpd="sng" algn="ctr">
            <a:solidFill>
              <a:srgbClr val="FF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19" name="组合 15">
            <a:extLst>
              <a:ext uri="{FF2B5EF4-FFF2-40B4-BE49-F238E27FC236}">
                <a16:creationId xmlns:a16="http://schemas.microsoft.com/office/drawing/2014/main" id="{A514AB6F-0571-46FE-FA0B-88BCC19897BB}"/>
              </a:ext>
            </a:extLst>
          </p:cNvPr>
          <p:cNvGrpSpPr>
            <a:grpSpLocks/>
          </p:cNvGrpSpPr>
          <p:nvPr/>
        </p:nvGrpSpPr>
        <p:grpSpPr bwMode="auto">
          <a:xfrm>
            <a:off x="3913816" y="1965399"/>
            <a:ext cx="2589212" cy="2646362"/>
            <a:chOff x="4882943" y="976705"/>
            <a:chExt cx="2589902" cy="2647028"/>
          </a:xfrm>
        </p:grpSpPr>
        <p:cxnSp>
          <p:nvCxnSpPr>
            <p:cNvPr id="20" name="直接箭头连接符 19">
              <a:extLst>
                <a:ext uri="{FF2B5EF4-FFF2-40B4-BE49-F238E27FC236}">
                  <a16:creationId xmlns:a16="http://schemas.microsoft.com/office/drawing/2014/main" id="{7F02A207-C33F-AD43-003D-CE4562458E5F}"/>
                </a:ext>
              </a:extLst>
            </p:cNvPr>
            <p:cNvCxnSpPr/>
            <p:nvPr/>
          </p:nvCxnSpPr>
          <p:spPr>
            <a:xfrm flipH="1" flipV="1">
              <a:off x="5681668" y="976705"/>
              <a:ext cx="0" cy="1800678"/>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21" name="直接箭头连接符 20">
              <a:extLst>
                <a:ext uri="{FF2B5EF4-FFF2-40B4-BE49-F238E27FC236}">
                  <a16:creationId xmlns:a16="http://schemas.microsoft.com/office/drawing/2014/main" id="{18A53A52-9D1E-D841-FD90-420FCBC2C1A5}"/>
                </a:ext>
              </a:extLst>
            </p:cNvPr>
            <p:cNvCxnSpPr/>
            <p:nvPr/>
          </p:nvCxnSpPr>
          <p:spPr>
            <a:xfrm>
              <a:off x="5672140" y="2774207"/>
              <a:ext cx="1800705" cy="0"/>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cxnSp>
          <p:nvCxnSpPr>
            <p:cNvPr id="22" name="直接箭头连接符 21">
              <a:extLst>
                <a:ext uri="{FF2B5EF4-FFF2-40B4-BE49-F238E27FC236}">
                  <a16:creationId xmlns:a16="http://schemas.microsoft.com/office/drawing/2014/main" id="{A8EA2486-9520-0D56-4849-98386678E9C9}"/>
                </a:ext>
              </a:extLst>
            </p:cNvPr>
            <p:cNvCxnSpPr/>
            <p:nvPr/>
          </p:nvCxnSpPr>
          <p:spPr>
            <a:xfrm flipH="1">
              <a:off x="4882943" y="2774207"/>
              <a:ext cx="801901" cy="849526"/>
            </a:xfrm>
            <a:prstGeom prst="straightConnector1">
              <a:avLst/>
            </a:prstGeom>
            <a:noFill/>
            <a:ln w="19050" cap="flat" cmpd="sng" algn="ctr">
              <a:solidFill>
                <a:sysClr val="windowText" lastClr="000000"/>
              </a:solidFill>
              <a:prstDash val="solid"/>
              <a:miter lim="800000"/>
              <a:headEnd type="none" w="med" len="lg"/>
              <a:tailEnd type="triangle" w="lg" len="lg"/>
            </a:ln>
            <a:effectLst/>
          </p:spPr>
        </p:cxnSp>
        <p:grpSp>
          <p:nvGrpSpPr>
            <p:cNvPr id="23" name="组合 19">
              <a:extLst>
                <a:ext uri="{FF2B5EF4-FFF2-40B4-BE49-F238E27FC236}">
                  <a16:creationId xmlns:a16="http://schemas.microsoft.com/office/drawing/2014/main" id="{5BED1E7B-E79D-9F04-25DE-62E5D8B2C4D3}"/>
                </a:ext>
              </a:extLst>
            </p:cNvPr>
            <p:cNvGrpSpPr>
              <a:grpSpLocks/>
            </p:cNvGrpSpPr>
            <p:nvPr/>
          </p:nvGrpSpPr>
          <p:grpSpPr bwMode="auto">
            <a:xfrm>
              <a:off x="5183915" y="3189965"/>
              <a:ext cx="144000" cy="144000"/>
              <a:chOff x="7101657" y="1465531"/>
              <a:chExt cx="144000" cy="144000"/>
            </a:xfrm>
          </p:grpSpPr>
          <p:sp>
            <p:nvSpPr>
              <p:cNvPr id="44" name="椭圆 43">
                <a:extLst>
                  <a:ext uri="{FF2B5EF4-FFF2-40B4-BE49-F238E27FC236}">
                    <a16:creationId xmlns:a16="http://schemas.microsoft.com/office/drawing/2014/main" id="{9724559C-E553-9AE4-4ED0-17E42A27B704}"/>
                  </a:ext>
                </a:extLst>
              </p:cNvPr>
              <p:cNvSpPr/>
              <p:nvPr/>
            </p:nvSpPr>
            <p:spPr>
              <a:xfrm>
                <a:off x="7102390" y="1465803"/>
                <a:ext cx="142913" cy="144498"/>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45" name="组合 41">
                <a:extLst>
                  <a:ext uri="{FF2B5EF4-FFF2-40B4-BE49-F238E27FC236}">
                    <a16:creationId xmlns:a16="http://schemas.microsoft.com/office/drawing/2014/main" id="{9F95AD7A-1A06-AB5E-3FD9-CE9DA5204411}"/>
                  </a:ext>
                </a:extLst>
              </p:cNvPr>
              <p:cNvGrpSpPr>
                <a:grpSpLocks/>
              </p:cNvGrpSpPr>
              <p:nvPr/>
            </p:nvGrpSpPr>
            <p:grpSpPr bwMode="auto">
              <a:xfrm>
                <a:off x="7120045" y="1481721"/>
                <a:ext cx="108000" cy="108000"/>
                <a:chOff x="5476803" y="2392530"/>
                <a:chExt cx="108000" cy="108000"/>
              </a:xfrm>
            </p:grpSpPr>
            <p:cxnSp>
              <p:nvCxnSpPr>
                <p:cNvPr id="46" name="直接连接符 45">
                  <a:extLst>
                    <a:ext uri="{FF2B5EF4-FFF2-40B4-BE49-F238E27FC236}">
                      <a16:creationId xmlns:a16="http://schemas.microsoft.com/office/drawing/2014/main" id="{3CCDC7C5-5033-13A0-3022-E4F82FA6D686}"/>
                    </a:ext>
                  </a:extLst>
                </p:cNvPr>
                <p:cNvCxnSpPr/>
                <p:nvPr/>
              </p:nvCxnSpPr>
              <p:spPr>
                <a:xfrm>
                  <a:off x="5476615" y="2446479"/>
                  <a:ext cx="107978" cy="0"/>
                </a:xfrm>
                <a:prstGeom prst="line">
                  <a:avLst/>
                </a:prstGeom>
                <a:noFill/>
                <a:ln w="19050" cap="flat" cmpd="sng" algn="ctr">
                  <a:solidFill>
                    <a:sysClr val="windowText" lastClr="000000"/>
                  </a:solidFill>
                  <a:prstDash val="solid"/>
                  <a:miter lim="800000"/>
                </a:ln>
                <a:effectLst/>
              </p:spPr>
            </p:cxnSp>
            <p:cxnSp>
              <p:nvCxnSpPr>
                <p:cNvPr id="47" name="直接连接符 46">
                  <a:extLst>
                    <a:ext uri="{FF2B5EF4-FFF2-40B4-BE49-F238E27FC236}">
                      <a16:creationId xmlns:a16="http://schemas.microsoft.com/office/drawing/2014/main" id="{8465E9E3-3E11-6634-8B95-0645E2C7BE05}"/>
                    </a:ext>
                  </a:extLst>
                </p:cNvPr>
                <p:cNvCxnSpPr/>
                <p:nvPr/>
              </p:nvCxnSpPr>
              <p:spPr>
                <a:xfrm rot="5400000">
                  <a:off x="5476615" y="2446479"/>
                  <a:ext cx="107977" cy="0"/>
                </a:xfrm>
                <a:prstGeom prst="line">
                  <a:avLst/>
                </a:prstGeom>
                <a:noFill/>
                <a:ln w="19050" cap="flat" cmpd="sng" algn="ctr">
                  <a:solidFill>
                    <a:sysClr val="windowText" lastClr="000000"/>
                  </a:solidFill>
                  <a:prstDash val="solid"/>
                  <a:miter lim="800000"/>
                </a:ln>
                <a:effectLst/>
              </p:spPr>
            </p:cxnSp>
          </p:grpSp>
        </p:grpSp>
        <p:cxnSp>
          <p:nvCxnSpPr>
            <p:cNvPr id="24" name="直接箭头连接符 23">
              <a:extLst>
                <a:ext uri="{FF2B5EF4-FFF2-40B4-BE49-F238E27FC236}">
                  <a16:creationId xmlns:a16="http://schemas.microsoft.com/office/drawing/2014/main" id="{DD0054B4-7BB2-BEC6-FC7C-3AEAB6953B2D}"/>
                </a:ext>
              </a:extLst>
            </p:cNvPr>
            <p:cNvCxnSpPr/>
            <p:nvPr/>
          </p:nvCxnSpPr>
          <p:spPr>
            <a:xfrm flipH="1">
              <a:off x="5249753" y="1769066"/>
              <a:ext cx="454146" cy="48907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5" name="直接箭头连接符 24">
              <a:extLst>
                <a:ext uri="{FF2B5EF4-FFF2-40B4-BE49-F238E27FC236}">
                  <a16:creationId xmlns:a16="http://schemas.microsoft.com/office/drawing/2014/main" id="{7D1A115D-55B8-3611-BC41-7AB9C57599EE}"/>
                </a:ext>
              </a:extLst>
            </p:cNvPr>
            <p:cNvCxnSpPr/>
            <p:nvPr/>
          </p:nvCxnSpPr>
          <p:spPr>
            <a:xfrm>
              <a:off x="5249753" y="2274018"/>
              <a:ext cx="6352" cy="886048"/>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6" name="直接箭头连接符 25">
              <a:extLst>
                <a:ext uri="{FF2B5EF4-FFF2-40B4-BE49-F238E27FC236}">
                  <a16:creationId xmlns:a16="http://schemas.microsoft.com/office/drawing/2014/main" id="{6AF13DAB-2602-7912-B8CB-6D0B7CF3C0AC}"/>
                </a:ext>
              </a:extLst>
            </p:cNvPr>
            <p:cNvCxnSpPr/>
            <p:nvPr/>
          </p:nvCxnSpPr>
          <p:spPr>
            <a:xfrm>
              <a:off x="6645538" y="1816703"/>
              <a:ext cx="7939" cy="97179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27" name="直接箭头连接符 26">
              <a:extLst>
                <a:ext uri="{FF2B5EF4-FFF2-40B4-BE49-F238E27FC236}">
                  <a16:creationId xmlns:a16="http://schemas.microsoft.com/office/drawing/2014/main" id="{A0DBFD25-0E67-7758-2C31-F06B49667978}"/>
                </a:ext>
              </a:extLst>
            </p:cNvPr>
            <p:cNvCxnSpPr/>
            <p:nvPr/>
          </p:nvCxnSpPr>
          <p:spPr>
            <a:xfrm flipH="1" flipV="1">
              <a:off x="5694371" y="1789710"/>
              <a:ext cx="935287" cy="476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grpSp>
          <p:nvGrpSpPr>
            <p:cNvPr id="28" name="组合 24">
              <a:extLst>
                <a:ext uri="{FF2B5EF4-FFF2-40B4-BE49-F238E27FC236}">
                  <a16:creationId xmlns:a16="http://schemas.microsoft.com/office/drawing/2014/main" id="{F7FAC614-85C7-01A6-86E2-F1C0055B5526}"/>
                </a:ext>
              </a:extLst>
            </p:cNvPr>
            <p:cNvGrpSpPr>
              <a:grpSpLocks/>
            </p:cNvGrpSpPr>
            <p:nvPr/>
          </p:nvGrpSpPr>
          <p:grpSpPr bwMode="auto">
            <a:xfrm>
              <a:off x="5619505" y="1712961"/>
              <a:ext cx="144000" cy="144000"/>
              <a:chOff x="7101657" y="1465531"/>
              <a:chExt cx="144000" cy="144000"/>
            </a:xfrm>
          </p:grpSpPr>
          <p:sp>
            <p:nvSpPr>
              <p:cNvPr id="40" name="椭圆 39">
                <a:extLst>
                  <a:ext uri="{FF2B5EF4-FFF2-40B4-BE49-F238E27FC236}">
                    <a16:creationId xmlns:a16="http://schemas.microsoft.com/office/drawing/2014/main" id="{A2F1F8BC-3517-FDC9-0F33-8EB85470730A}"/>
                  </a:ext>
                </a:extLst>
              </p:cNvPr>
              <p:cNvSpPr/>
              <p:nvPr/>
            </p:nvSpPr>
            <p:spPr>
              <a:xfrm>
                <a:off x="7101891" y="1466060"/>
                <a:ext cx="144500" cy="142911"/>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pSp>
            <p:nvGrpSpPr>
              <p:cNvPr id="41" name="组合 37">
                <a:extLst>
                  <a:ext uri="{FF2B5EF4-FFF2-40B4-BE49-F238E27FC236}">
                    <a16:creationId xmlns:a16="http://schemas.microsoft.com/office/drawing/2014/main" id="{5E3F2FA2-6A84-2EEC-C7C3-3F005DBE5255}"/>
                  </a:ext>
                </a:extLst>
              </p:cNvPr>
              <p:cNvGrpSpPr>
                <a:grpSpLocks/>
              </p:cNvGrpSpPr>
              <p:nvPr/>
            </p:nvGrpSpPr>
            <p:grpSpPr bwMode="auto">
              <a:xfrm>
                <a:off x="7120045" y="1481721"/>
                <a:ext cx="108000" cy="108000"/>
                <a:chOff x="5476803" y="2392530"/>
                <a:chExt cx="108000" cy="108000"/>
              </a:xfrm>
            </p:grpSpPr>
            <p:cxnSp>
              <p:nvCxnSpPr>
                <p:cNvPr id="42" name="直接连接符 41">
                  <a:extLst>
                    <a:ext uri="{FF2B5EF4-FFF2-40B4-BE49-F238E27FC236}">
                      <a16:creationId xmlns:a16="http://schemas.microsoft.com/office/drawing/2014/main" id="{316A05F1-FAB7-5189-DE25-59D40409F4DC}"/>
                    </a:ext>
                  </a:extLst>
                </p:cNvPr>
                <p:cNvCxnSpPr/>
                <p:nvPr/>
              </p:nvCxnSpPr>
              <p:spPr>
                <a:xfrm>
                  <a:off x="5490408" y="2446737"/>
                  <a:ext cx="107978" cy="0"/>
                </a:xfrm>
                <a:prstGeom prst="line">
                  <a:avLst/>
                </a:prstGeom>
                <a:noFill/>
                <a:ln w="19050" cap="flat" cmpd="sng" algn="ctr">
                  <a:solidFill>
                    <a:sysClr val="windowText" lastClr="000000"/>
                  </a:solidFill>
                  <a:prstDash val="solid"/>
                  <a:miter lim="800000"/>
                </a:ln>
                <a:effectLst/>
              </p:spPr>
            </p:cxnSp>
            <p:cxnSp>
              <p:nvCxnSpPr>
                <p:cNvPr id="43" name="直接连接符 42">
                  <a:extLst>
                    <a:ext uri="{FF2B5EF4-FFF2-40B4-BE49-F238E27FC236}">
                      <a16:creationId xmlns:a16="http://schemas.microsoft.com/office/drawing/2014/main" id="{CE597FA8-3363-9258-766F-12F749CECC17}"/>
                    </a:ext>
                  </a:extLst>
                </p:cNvPr>
                <p:cNvCxnSpPr/>
                <p:nvPr/>
              </p:nvCxnSpPr>
              <p:spPr>
                <a:xfrm rot="5400000">
                  <a:off x="5490408" y="2446737"/>
                  <a:ext cx="107977" cy="0"/>
                </a:xfrm>
                <a:prstGeom prst="line">
                  <a:avLst/>
                </a:prstGeom>
                <a:noFill/>
                <a:ln w="19050" cap="flat" cmpd="sng" algn="ctr">
                  <a:solidFill>
                    <a:sysClr val="windowText" lastClr="000000"/>
                  </a:solidFill>
                  <a:prstDash val="solid"/>
                  <a:miter lim="800000"/>
                </a:ln>
                <a:effectLst/>
              </p:spPr>
            </p:cxnSp>
          </p:grpSp>
        </p:grpSp>
        <p:cxnSp>
          <p:nvCxnSpPr>
            <p:cNvPr id="29" name="直接箭头连接符 28">
              <a:extLst>
                <a:ext uri="{FF2B5EF4-FFF2-40B4-BE49-F238E27FC236}">
                  <a16:creationId xmlns:a16="http://schemas.microsoft.com/office/drawing/2014/main" id="{A7761DCA-6396-0EAF-7D1D-D808CF8F126E}"/>
                </a:ext>
              </a:extLst>
            </p:cNvPr>
            <p:cNvCxnSpPr/>
            <p:nvPr/>
          </p:nvCxnSpPr>
          <p:spPr>
            <a:xfrm flipH="1" flipV="1">
              <a:off x="5249753" y="3237874"/>
              <a:ext cx="935287" cy="476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0" name="直接箭头连接符 29">
              <a:extLst>
                <a:ext uri="{FF2B5EF4-FFF2-40B4-BE49-F238E27FC236}">
                  <a16:creationId xmlns:a16="http://schemas.microsoft.com/office/drawing/2014/main" id="{2AA926B2-4429-447C-C262-093DB37CDE94}"/>
                </a:ext>
              </a:extLst>
            </p:cNvPr>
            <p:cNvCxnSpPr/>
            <p:nvPr/>
          </p:nvCxnSpPr>
          <p:spPr>
            <a:xfrm flipH="1">
              <a:off x="6192979" y="2751977"/>
              <a:ext cx="454146" cy="48748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1" name="直接箭头连接符 30">
              <a:extLst>
                <a:ext uri="{FF2B5EF4-FFF2-40B4-BE49-F238E27FC236}">
                  <a16:creationId xmlns:a16="http://schemas.microsoft.com/office/drawing/2014/main" id="{4E80F2DA-B47A-7FCD-AB25-D00D2F02A4E0}"/>
                </a:ext>
              </a:extLst>
            </p:cNvPr>
            <p:cNvCxnSpPr/>
            <p:nvPr/>
          </p:nvCxnSpPr>
          <p:spPr>
            <a:xfrm flipH="1" flipV="1">
              <a:off x="5249753" y="2262904"/>
              <a:ext cx="935287" cy="3176"/>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2" name="直接箭头连接符 31">
              <a:extLst>
                <a:ext uri="{FF2B5EF4-FFF2-40B4-BE49-F238E27FC236}">
                  <a16:creationId xmlns:a16="http://schemas.microsoft.com/office/drawing/2014/main" id="{6D47CE58-8090-3841-19B1-8B07899E8C05}"/>
                </a:ext>
              </a:extLst>
            </p:cNvPr>
            <p:cNvCxnSpPr/>
            <p:nvPr/>
          </p:nvCxnSpPr>
          <p:spPr>
            <a:xfrm>
              <a:off x="6196155" y="2266079"/>
              <a:ext cx="6352" cy="971795"/>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cxnSp>
          <p:nvCxnSpPr>
            <p:cNvPr id="33" name="直接箭头连接符 32">
              <a:extLst>
                <a:ext uri="{FF2B5EF4-FFF2-40B4-BE49-F238E27FC236}">
                  <a16:creationId xmlns:a16="http://schemas.microsoft.com/office/drawing/2014/main" id="{3E00E9B6-D238-A371-8482-0D1654C49E94}"/>
                </a:ext>
              </a:extLst>
            </p:cNvPr>
            <p:cNvCxnSpPr/>
            <p:nvPr/>
          </p:nvCxnSpPr>
          <p:spPr>
            <a:xfrm flipH="1">
              <a:off x="6192979" y="1797649"/>
              <a:ext cx="454146" cy="489073"/>
            </a:xfrm>
            <a:prstGeom prst="straightConnector1">
              <a:avLst/>
            </a:prstGeom>
            <a:noFill/>
            <a:ln w="9525" cap="flat" cmpd="sng" algn="ctr">
              <a:solidFill>
                <a:sysClr val="windowText" lastClr="000000"/>
              </a:solidFill>
              <a:prstDash val="dash"/>
              <a:miter lim="800000"/>
              <a:headEnd type="none" w="med" len="med"/>
              <a:tailEnd type="none" w="med" len="med"/>
            </a:ln>
            <a:effectLst/>
          </p:spPr>
        </p:cxnSp>
        <p:grpSp>
          <p:nvGrpSpPr>
            <p:cNvPr id="34" name="组合 30">
              <a:extLst>
                <a:ext uri="{FF2B5EF4-FFF2-40B4-BE49-F238E27FC236}">
                  <a16:creationId xmlns:a16="http://schemas.microsoft.com/office/drawing/2014/main" id="{9F109DF8-7802-2FC8-2B1D-301E28084264}"/>
                </a:ext>
              </a:extLst>
            </p:cNvPr>
            <p:cNvGrpSpPr>
              <a:grpSpLocks/>
            </p:cNvGrpSpPr>
            <p:nvPr/>
          </p:nvGrpSpPr>
          <p:grpSpPr bwMode="auto">
            <a:xfrm>
              <a:off x="6127639" y="2212067"/>
              <a:ext cx="144000" cy="144000"/>
              <a:chOff x="7101657" y="1465531"/>
              <a:chExt cx="144000" cy="144000"/>
            </a:xfrm>
          </p:grpSpPr>
          <p:sp>
            <p:nvSpPr>
              <p:cNvPr id="38" name="椭圆 37">
                <a:extLst>
                  <a:ext uri="{FF2B5EF4-FFF2-40B4-BE49-F238E27FC236}">
                    <a16:creationId xmlns:a16="http://schemas.microsoft.com/office/drawing/2014/main" id="{8161E747-62DD-6572-421C-67947465D714}"/>
                  </a:ext>
                </a:extLst>
              </p:cNvPr>
              <p:cNvSpPr/>
              <p:nvPr/>
            </p:nvSpPr>
            <p:spPr>
              <a:xfrm>
                <a:off x="7101893" y="1465555"/>
                <a:ext cx="144500" cy="144498"/>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cxnSp>
            <p:nvCxnSpPr>
              <p:cNvPr id="39" name="直接连接符 38">
                <a:extLst>
                  <a:ext uri="{FF2B5EF4-FFF2-40B4-BE49-F238E27FC236}">
                    <a16:creationId xmlns:a16="http://schemas.microsoft.com/office/drawing/2014/main" id="{B3B7A372-9DEE-7BBB-3F2F-A3E9287D1DE7}"/>
                  </a:ext>
                </a:extLst>
              </p:cNvPr>
              <p:cNvCxnSpPr/>
              <p:nvPr/>
            </p:nvCxnSpPr>
            <p:spPr>
              <a:xfrm>
                <a:off x="7120948" y="1535422"/>
                <a:ext cx="107978" cy="0"/>
              </a:xfrm>
              <a:prstGeom prst="line">
                <a:avLst/>
              </a:prstGeom>
              <a:noFill/>
              <a:ln w="19050" cap="flat" cmpd="sng" algn="ctr">
                <a:solidFill>
                  <a:sysClr val="windowText" lastClr="000000"/>
                </a:solidFill>
                <a:prstDash val="solid"/>
                <a:miter lim="800000"/>
              </a:ln>
              <a:effectLst/>
            </p:spPr>
          </p:cxnSp>
        </p:grpSp>
        <p:grpSp>
          <p:nvGrpSpPr>
            <p:cNvPr id="35" name="组合 31">
              <a:extLst>
                <a:ext uri="{FF2B5EF4-FFF2-40B4-BE49-F238E27FC236}">
                  <a16:creationId xmlns:a16="http://schemas.microsoft.com/office/drawing/2014/main" id="{88735D67-AD98-5C20-C5E9-AD1D62C6A00D}"/>
                </a:ext>
              </a:extLst>
            </p:cNvPr>
            <p:cNvGrpSpPr>
              <a:grpSpLocks/>
            </p:cNvGrpSpPr>
            <p:nvPr/>
          </p:nvGrpSpPr>
          <p:grpSpPr bwMode="auto">
            <a:xfrm>
              <a:off x="5637893" y="2677645"/>
              <a:ext cx="144000" cy="144000"/>
              <a:chOff x="7101657" y="1465531"/>
              <a:chExt cx="144000" cy="144000"/>
            </a:xfrm>
          </p:grpSpPr>
          <p:sp>
            <p:nvSpPr>
              <p:cNvPr id="36" name="椭圆 35">
                <a:extLst>
                  <a:ext uri="{FF2B5EF4-FFF2-40B4-BE49-F238E27FC236}">
                    <a16:creationId xmlns:a16="http://schemas.microsoft.com/office/drawing/2014/main" id="{F52FE5B4-CC79-59B0-A9EC-5D7BB0C76734}"/>
                  </a:ext>
                </a:extLst>
              </p:cNvPr>
              <p:cNvSpPr/>
              <p:nvPr/>
            </p:nvSpPr>
            <p:spPr>
              <a:xfrm>
                <a:off x="7100970" y="1465231"/>
                <a:ext cx="144501" cy="144499"/>
              </a:xfrm>
              <a:prstGeom prst="ellipse">
                <a:avLst/>
              </a:prstGeom>
              <a:solidFill>
                <a:sysClr val="window" lastClr="FFFFFF"/>
              </a:solidFill>
              <a:ln w="12700" cap="flat" cmpd="sng" algn="ctr">
                <a:solidFill>
                  <a:sysClr val="windowText" lastClr="000000">
                    <a:lumMod val="50000"/>
                    <a:lumOff val="50000"/>
                  </a:sysClr>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cxnSp>
            <p:nvCxnSpPr>
              <p:cNvPr id="37" name="直接连接符 36">
                <a:extLst>
                  <a:ext uri="{FF2B5EF4-FFF2-40B4-BE49-F238E27FC236}">
                    <a16:creationId xmlns:a16="http://schemas.microsoft.com/office/drawing/2014/main" id="{6DB9DB03-8BDD-FB29-9260-77DBAB16E508}"/>
                  </a:ext>
                </a:extLst>
              </p:cNvPr>
              <p:cNvCxnSpPr/>
              <p:nvPr/>
            </p:nvCxnSpPr>
            <p:spPr>
              <a:xfrm>
                <a:off x="7120025" y="1535098"/>
                <a:ext cx="107978" cy="0"/>
              </a:xfrm>
              <a:prstGeom prst="line">
                <a:avLst/>
              </a:prstGeom>
              <a:noFill/>
              <a:ln w="19050" cap="flat" cmpd="sng" algn="ctr">
                <a:solidFill>
                  <a:sysClr val="windowText" lastClr="000000"/>
                </a:solidFill>
                <a:prstDash val="solid"/>
                <a:miter lim="800000"/>
              </a:ln>
              <a:effectLst/>
            </p:spPr>
          </p:cxnSp>
        </p:grpSp>
      </p:grpSp>
      <p:cxnSp>
        <p:nvCxnSpPr>
          <p:cNvPr id="48" name="直接连接符 47">
            <a:extLst>
              <a:ext uri="{FF2B5EF4-FFF2-40B4-BE49-F238E27FC236}">
                <a16:creationId xmlns:a16="http://schemas.microsoft.com/office/drawing/2014/main" id="{78753BB7-C30A-DE0E-3251-06E0530914E8}"/>
              </a:ext>
            </a:extLst>
          </p:cNvPr>
          <p:cNvCxnSpPr/>
          <p:nvPr/>
        </p:nvCxnSpPr>
        <p:spPr>
          <a:xfrm>
            <a:off x="4896478" y="2767086"/>
            <a:ext cx="66675" cy="504825"/>
          </a:xfrm>
          <a:prstGeom prst="line">
            <a:avLst/>
          </a:prstGeom>
          <a:noFill/>
          <a:ln w="6350" cap="flat" cmpd="sng" algn="ctr">
            <a:solidFill>
              <a:srgbClr val="FF0000"/>
            </a:solidFill>
            <a:prstDash val="solid"/>
            <a:miter lim="800000"/>
          </a:ln>
          <a:effectLst/>
        </p:spPr>
      </p:cxnSp>
      <p:cxnSp>
        <p:nvCxnSpPr>
          <p:cNvPr id="49" name="直接连接符 48">
            <a:extLst>
              <a:ext uri="{FF2B5EF4-FFF2-40B4-BE49-F238E27FC236}">
                <a16:creationId xmlns:a16="http://schemas.microsoft.com/office/drawing/2014/main" id="{C550E439-8EEA-102A-65D0-2BAE2A08A9A3}"/>
              </a:ext>
            </a:extLst>
          </p:cNvPr>
          <p:cNvCxnSpPr/>
          <p:nvPr/>
        </p:nvCxnSpPr>
        <p:spPr>
          <a:xfrm flipH="1">
            <a:off x="4448803" y="3268736"/>
            <a:ext cx="517525" cy="947738"/>
          </a:xfrm>
          <a:prstGeom prst="line">
            <a:avLst/>
          </a:prstGeom>
          <a:noFill/>
          <a:ln w="6350" cap="flat" cmpd="sng" algn="ctr">
            <a:solidFill>
              <a:srgbClr val="FF0000"/>
            </a:solidFill>
            <a:prstDash val="solid"/>
            <a:miter lim="800000"/>
          </a:ln>
          <a:effectLst/>
        </p:spPr>
      </p:cxnSp>
      <p:cxnSp>
        <p:nvCxnSpPr>
          <p:cNvPr id="50" name="直接连接符 49">
            <a:extLst>
              <a:ext uri="{FF2B5EF4-FFF2-40B4-BE49-F238E27FC236}">
                <a16:creationId xmlns:a16="http://schemas.microsoft.com/office/drawing/2014/main" id="{1059AD1C-7805-079F-1DBA-57876FF71301}"/>
              </a:ext>
            </a:extLst>
          </p:cNvPr>
          <p:cNvCxnSpPr/>
          <p:nvPr/>
        </p:nvCxnSpPr>
        <p:spPr>
          <a:xfrm flipH="1">
            <a:off x="4710741" y="2786136"/>
            <a:ext cx="177800" cy="293688"/>
          </a:xfrm>
          <a:prstGeom prst="line">
            <a:avLst/>
          </a:prstGeom>
          <a:noFill/>
          <a:ln w="6350" cap="flat" cmpd="sng" algn="ctr">
            <a:solidFill>
              <a:srgbClr val="FF0000"/>
            </a:solidFill>
            <a:prstDash val="dash"/>
            <a:miter lim="800000"/>
          </a:ln>
          <a:effectLst/>
        </p:spPr>
      </p:cxnSp>
      <p:cxnSp>
        <p:nvCxnSpPr>
          <p:cNvPr id="51" name="直接连接符 50">
            <a:extLst>
              <a:ext uri="{FF2B5EF4-FFF2-40B4-BE49-F238E27FC236}">
                <a16:creationId xmlns:a16="http://schemas.microsoft.com/office/drawing/2014/main" id="{4317EC94-8ACA-E91F-671F-E435F8D4F4F9}"/>
              </a:ext>
            </a:extLst>
          </p:cNvPr>
          <p:cNvCxnSpPr/>
          <p:nvPr/>
        </p:nvCxnSpPr>
        <p:spPr>
          <a:xfrm>
            <a:off x="4421816" y="4038674"/>
            <a:ext cx="23812" cy="188912"/>
          </a:xfrm>
          <a:prstGeom prst="line">
            <a:avLst/>
          </a:prstGeom>
          <a:noFill/>
          <a:ln w="6350" cap="flat" cmpd="sng" algn="ctr">
            <a:solidFill>
              <a:srgbClr val="FF0000"/>
            </a:solidFill>
            <a:prstDash val="dash"/>
            <a:miter lim="800000"/>
          </a:ln>
          <a:effectLst/>
        </p:spPr>
      </p:cxnSp>
      <p:cxnSp>
        <p:nvCxnSpPr>
          <p:cNvPr id="52" name="直接连接符 51">
            <a:extLst>
              <a:ext uri="{FF2B5EF4-FFF2-40B4-BE49-F238E27FC236}">
                <a16:creationId xmlns:a16="http://schemas.microsoft.com/office/drawing/2014/main" id="{4EE2A38E-4484-B24F-2D34-D316C8CC2D85}"/>
              </a:ext>
            </a:extLst>
          </p:cNvPr>
          <p:cNvCxnSpPr/>
          <p:nvPr/>
        </p:nvCxnSpPr>
        <p:spPr>
          <a:xfrm flipH="1">
            <a:off x="4415466" y="3090936"/>
            <a:ext cx="288925" cy="969963"/>
          </a:xfrm>
          <a:prstGeom prst="line">
            <a:avLst/>
          </a:prstGeom>
          <a:noFill/>
          <a:ln w="6350" cap="flat" cmpd="sng" algn="ctr">
            <a:solidFill>
              <a:srgbClr val="FF0000"/>
            </a:solidFill>
            <a:prstDash val="dash"/>
            <a:miter lim="800000"/>
          </a:ln>
          <a:effectLst/>
        </p:spPr>
      </p:cxnSp>
      <p:sp>
        <p:nvSpPr>
          <p:cNvPr id="53" name="任意多边形 49">
            <a:extLst>
              <a:ext uri="{FF2B5EF4-FFF2-40B4-BE49-F238E27FC236}">
                <a16:creationId xmlns:a16="http://schemas.microsoft.com/office/drawing/2014/main" id="{F4A86A23-B0C1-4089-8F65-6104A302542E}"/>
              </a:ext>
            </a:extLst>
          </p:cNvPr>
          <p:cNvSpPr/>
          <p:nvPr/>
        </p:nvSpPr>
        <p:spPr>
          <a:xfrm>
            <a:off x="4424991" y="2771849"/>
            <a:ext cx="538162" cy="1452562"/>
          </a:xfrm>
          <a:custGeom>
            <a:avLst/>
            <a:gdLst>
              <a:gd name="connsiteX0" fmla="*/ 466725 w 538163"/>
              <a:gd name="connsiteY0" fmla="*/ 0 h 1452563"/>
              <a:gd name="connsiteX1" fmla="*/ 538163 w 538163"/>
              <a:gd name="connsiteY1" fmla="*/ 490538 h 1452563"/>
              <a:gd name="connsiteX2" fmla="*/ 23813 w 538163"/>
              <a:gd name="connsiteY2" fmla="*/ 1452563 h 1452563"/>
              <a:gd name="connsiteX3" fmla="*/ 0 w 538163"/>
              <a:gd name="connsiteY3" fmla="*/ 1285875 h 1452563"/>
              <a:gd name="connsiteX4" fmla="*/ 285750 w 538163"/>
              <a:gd name="connsiteY4" fmla="*/ 309563 h 1452563"/>
              <a:gd name="connsiteX5" fmla="*/ 466725 w 538163"/>
              <a:gd name="connsiteY5" fmla="*/ 0 h 14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38163" h="1452563">
                <a:moveTo>
                  <a:pt x="466725" y="0"/>
                </a:moveTo>
                <a:lnTo>
                  <a:pt x="538163" y="490538"/>
                </a:lnTo>
                <a:lnTo>
                  <a:pt x="23813" y="1452563"/>
                </a:lnTo>
                <a:lnTo>
                  <a:pt x="0" y="1285875"/>
                </a:lnTo>
                <a:lnTo>
                  <a:pt x="285750" y="309563"/>
                </a:lnTo>
                <a:lnTo>
                  <a:pt x="466725" y="0"/>
                </a:lnTo>
                <a:close/>
              </a:path>
            </a:pathLst>
          </a:custGeom>
          <a:solidFill>
            <a:srgbClr val="FF0000">
              <a:alpha val="30196"/>
            </a:srgbClr>
          </a:solidFill>
          <a:ln w="12700" cap="flat" cmpd="sng" algn="ctr">
            <a:no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graphicFrame>
        <p:nvGraphicFramePr>
          <p:cNvPr id="54" name="Object 153">
            <a:extLst>
              <a:ext uri="{FF2B5EF4-FFF2-40B4-BE49-F238E27FC236}">
                <a16:creationId xmlns:a16="http://schemas.microsoft.com/office/drawing/2014/main" id="{23BCC0AF-0131-9ABD-E9FA-CBFA56555C86}"/>
              </a:ext>
            </a:extLst>
          </p:cNvPr>
          <p:cNvGraphicFramePr>
            <a:graphicFrameLocks noChangeAspect="1"/>
          </p:cNvGraphicFramePr>
          <p:nvPr>
            <p:extLst>
              <p:ext uri="{D42A27DB-BD31-4B8C-83A1-F6EECF244321}">
                <p14:modId xmlns:p14="http://schemas.microsoft.com/office/powerpoint/2010/main" val="1270415926"/>
              </p:ext>
            </p:extLst>
          </p:nvPr>
        </p:nvGraphicFramePr>
        <p:xfrm>
          <a:off x="2781911" y="2795661"/>
          <a:ext cx="1022350" cy="288925"/>
        </p:xfrm>
        <a:graphic>
          <a:graphicData uri="http://schemas.openxmlformats.org/presentationml/2006/ole">
            <p:oleObj name="Formula" r:id="rId3" imgW="631190" imgH="177800" progId="">
              <p:embed/>
            </p:oleObj>
          </a:graphicData>
        </a:graphic>
      </p:graphicFrame>
      <p:sp>
        <p:nvSpPr>
          <p:cNvPr id="55" name="右箭头 51">
            <a:extLst>
              <a:ext uri="{FF2B5EF4-FFF2-40B4-BE49-F238E27FC236}">
                <a16:creationId xmlns:a16="http://schemas.microsoft.com/office/drawing/2014/main" id="{853FCEEA-116F-A101-68BE-6001FB340AD6}"/>
              </a:ext>
            </a:extLst>
          </p:cNvPr>
          <p:cNvSpPr/>
          <p:nvPr/>
        </p:nvSpPr>
        <p:spPr>
          <a:xfrm>
            <a:off x="2635861" y="3170311"/>
            <a:ext cx="1430338" cy="231775"/>
          </a:xfrm>
          <a:prstGeom prst="rightArrow">
            <a:avLst>
              <a:gd name="adj1" fmla="val 26304"/>
              <a:gd name="adj2" fmla="val 79886"/>
            </a:avLst>
          </a:prstGeom>
          <a:noFill/>
          <a:ln w="12700" cap="flat" cmpd="sng" algn="ctr">
            <a:solidFill>
              <a:sysClr val="windowText" lastClr="000000"/>
            </a:solidFill>
            <a:prstDash val="solid"/>
            <a:miter lim="800000"/>
          </a:ln>
          <a:effectLst/>
        </p:spPr>
        <p:txBody>
          <a:bodyPr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56" name="object 5">
            <a:extLst>
              <a:ext uri="{FF2B5EF4-FFF2-40B4-BE49-F238E27FC236}">
                <a16:creationId xmlns:a16="http://schemas.microsoft.com/office/drawing/2014/main" id="{41403CDE-F633-1F2A-BFAA-D38A25340C00}"/>
              </a:ext>
            </a:extLst>
          </p:cNvPr>
          <p:cNvSpPr txBox="1"/>
          <p:nvPr/>
        </p:nvSpPr>
        <p:spPr>
          <a:xfrm>
            <a:off x="6827845" y="2166671"/>
            <a:ext cx="2238733" cy="3693319"/>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R="5080">
              <a:defRPr sz="1600" lang="en-US">
                <a:latin typeface="Arial"/>
                <a:ea typeface="Arial"/>
                <a:cs typeface="Arial"/>
              </a:defRPr>
            </a:pPr>
            <a:r>
              <a:rPr sz="1600" spc="35" dirty="0" lang="en-US">
                <a:solidFill>
                  <a:prstClr val="black"/>
                </a:solidFill>
                <a:latin typeface="Arial" panose="020B0604020202020204" pitchFamily="34" charset="0"/>
                <a:ea typeface="Arial" panose="02010609060101010101" pitchFamily="49" charset="-122"/>
                <a:cs typeface="Arial"/>
              </a:rPr>
              <a:t>Map linearly inseparable samples to a higher-dimensional feature space, where they are likely to become linearly separable. If the original space is finite-dimensional, a higher-dimensional space in which the samples are separable exists [Shawe-Taylor, J., 2004].</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SVM</a:t>
            </a:r>
          </a:p>
        </p:txBody>
      </p:sp>
    </p:spTree>
    <p:extLst>
      <p:ext uri="{BB962C8B-B14F-4D97-AF65-F5344CB8AC3E}">
        <p14:creationId xmlns:p14="http://schemas.microsoft.com/office/powerpoint/2010/main" val="290092712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pic>
        <p:nvPicPr>
          <p:cNvPr id="3" name="图片 2">
            <a:extLst>
              <a:ext uri="{FF2B5EF4-FFF2-40B4-BE49-F238E27FC236}">
                <a16:creationId xmlns:a16="http://schemas.microsoft.com/office/drawing/2014/main" id="{61E7C147-B0F5-9B6E-217B-443AA8416EA2}"/>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738641" y="5297542"/>
            <a:ext cx="5462587" cy="81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8" name="图片 57">
            <a:extLst>
              <a:ext uri="{FF2B5EF4-FFF2-40B4-BE49-F238E27FC236}">
                <a16:creationId xmlns:a16="http://schemas.microsoft.com/office/drawing/2014/main" id="{2D9F1E91-170D-C91B-64C5-0B48520CA554}"/>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738641" y="3197280"/>
            <a:ext cx="5741987" cy="18970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xmlns:a14="http://schemas.microsoft.com/office/drawing/2010/main">
        <p:nvSpPr>
          <p:cNvPr id="59" name="内容占位符 2">
            <a:extLst>
              <a:ext uri="{FF2B5EF4-FFF2-40B4-BE49-F238E27FC236}">
                <a16:creationId xmlns:a16="http://schemas.microsoft.com/office/drawing/2014/main" id="{BF53910E-4CD0-9158-50DD-1C3A736DEF79}"/>
              </a:ext>
            </a:extLst>
          </p:cNvPr>
          <p:cNvSpPr txBox="1">
            <a:spLocks/>
          </p:cNvSpPr>
          <p:nvPr/>
        </p:nvSpPr>
        <p:spPr bwMode="auto">
          <a:xfrm>
            <a:off x="260350" y="1266825"/>
            <a:ext cx="7985016" cy="403225"/>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90000"/>
              </a:lnSpc>
              <a:spcBef>
                <a:spcPts val="1000"/>
              </a:spcBef>
              <a:spcAft>
                <a:spcPct val="0"/>
              </a:spcAft>
              <a:buClr>
                <a:srgbClr val="16754D"/>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Let the sample feature </a:t>
            </a:r>
            <a14:m>
              <m:oMath xmlns:m="http://schemas.openxmlformats.org/officeDocument/2006/math">
                <m:r>
                  <a:rPr kumimoji="0" lang="en-US" altLang="zh-CN" sz="1600" b="1"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be mapped to </a:t>
            </a:r>
            <a14:m>
              <m:oMath xmlns:m="http://schemas.openxmlformats.org/officeDocument/2006/math">
                <m:r>
                  <a:rPr kumimoji="0" lang="en-US" altLang="en-US"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𝜙</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1"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with separating hyperplane </a:t>
            </a:r>
            <a14:m>
              <m:oMath xmlns:m="http://schemas.openxmlformats.org/officeDocument/2006/math">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𝑓</m:t>
                </m:r>
                <m:d>
                  <m:d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d>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p>
                  <m:sSup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𝑤</m:t>
                    </m:r>
                  </m:e>
                  <m:sup>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𝑇</m:t>
                    </m:r>
                  </m:sup>
                </m:sSup>
                <m:r>
                  <a:rPr kumimoji="0" lang="en-US" altLang="en-US"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𝜙</m:t>
                </m:r>
                <m:d>
                  <m:dPr>
                    <m:ctrlP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d>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𝑏</m:t>
                </m:r>
              </m:oMath>
            </a14:m>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a:t>
            </a:r>
          </a:p>
        </p:txBody>
      </p:sp>
      <p:sp>
        <p:nvSpPr>
          <p:cNvPr id="63" name="内容占位符 3">
            <a:extLst>
              <a:ext uri="{FF2B5EF4-FFF2-40B4-BE49-F238E27FC236}">
                <a16:creationId xmlns:a16="http://schemas.microsoft.com/office/drawing/2014/main" id="{76AD1472-A125-65D2-26F5-C3A74DDD15BA}"/>
              </a:ext>
            </a:extLst>
          </p:cNvPr>
          <p:cNvSpPr txBox="1">
            <a:spLocks/>
          </p:cNvSpPr>
          <p:nvPr/>
        </p:nvSpPr>
        <p:spPr bwMode="auto">
          <a:xfrm>
            <a:off x="433388" y="2030153"/>
            <a:ext cx="135255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Primal problem</a:t>
            </a:r>
          </a:p>
        </p:txBody>
      </p:sp>
      <p:sp>
        <p:nvSpPr>
          <p:cNvPr id="64" name="内容占位符 3">
            <a:extLst>
              <a:ext uri="{FF2B5EF4-FFF2-40B4-BE49-F238E27FC236}">
                <a16:creationId xmlns:a16="http://schemas.microsoft.com/office/drawing/2014/main" id="{F42A7672-C338-9000-678A-F7E893E6C0F0}"/>
              </a:ext>
            </a:extLst>
          </p:cNvPr>
          <p:cNvSpPr txBox="1">
            <a:spLocks/>
          </p:cNvSpPr>
          <p:nvPr/>
        </p:nvSpPr>
        <p:spPr bwMode="auto">
          <a:xfrm>
            <a:off x="433388" y="3435296"/>
            <a:ext cx="1027550" cy="317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Dual problem</a:t>
            </a:r>
          </a:p>
        </p:txBody>
      </p:sp>
      <p:sp>
        <p:nvSpPr>
          <p:cNvPr id="65" name="矩形 64">
            <a:extLst>
              <a:ext uri="{FF2B5EF4-FFF2-40B4-BE49-F238E27FC236}">
                <a16:creationId xmlns:a16="http://schemas.microsoft.com/office/drawing/2014/main" id="{099B6916-673B-7F13-16D0-3F8342946FEE}"/>
              </a:ext>
            </a:extLst>
          </p:cNvPr>
          <p:cNvSpPr/>
          <p:nvPr/>
        </p:nvSpPr>
        <p:spPr>
          <a:xfrm>
            <a:off x="4746953" y="3251255"/>
            <a:ext cx="1643063" cy="723900"/>
          </a:xfrm>
          <a:prstGeom prst="rect">
            <a:avLst/>
          </a:prstGeom>
          <a:noFill/>
          <a:ln w="12700" cap="flat" cmpd="sng" algn="ctr">
            <a:solidFill>
              <a:srgbClr val="16754D">
                <a:shade val="50000"/>
              </a:srgbClr>
            </a:solidFill>
            <a:prstDash val="solid"/>
            <a:miter lim="800000"/>
          </a:ln>
          <a:effectLst/>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66" name="内容占位符 3">
            <a:extLst>
              <a:ext uri="{FF2B5EF4-FFF2-40B4-BE49-F238E27FC236}">
                <a16:creationId xmlns:a16="http://schemas.microsoft.com/office/drawing/2014/main" id="{94C54ED1-CC80-AE3E-CC9E-55ADE677D834}"/>
              </a:ext>
            </a:extLst>
          </p:cNvPr>
          <p:cNvSpPr txBox="1">
            <a:spLocks/>
          </p:cNvSpPr>
          <p:nvPr/>
        </p:nvSpPr>
        <p:spPr bwMode="auto">
          <a:xfrm>
            <a:off x="256032" y="5533024"/>
            <a:ext cx="1234440" cy="59436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lvl1pPr eaLnBrk="0" hangingPunct="0">
              <a:defRPr sz="1600" lang="en-US">
                <a:solidFill>
                  <a:schemeClr val="tx1"/>
                </a:solidFill>
                <a:latin typeface="Arial" panose="020B0604020202020204" pitchFamily="34" charset="0"/>
                <a:ea typeface="Arial" panose="02010600030101010101" pitchFamily="2" charset="-122"/>
                <a:cs typeface="Arial"/>
              </a:defRPr>
            </a:lvl1pPr>
            <a:lvl2pPr marL="742950" indent="-285750" eaLnBrk="0" hangingPunct="0">
              <a:defRPr sz="1600" lang="en-US">
                <a:solidFill>
                  <a:schemeClr val="tx1"/>
                </a:solidFill>
                <a:latin typeface="Arial" panose="020B0604020202020204" pitchFamily="34" charset="0"/>
                <a:ea typeface="Arial" panose="02010600030101010101" pitchFamily="2" charset="-122"/>
                <a:cs typeface="Arial"/>
              </a:defRPr>
            </a:lvl2pPr>
            <a:lvl3pPr marL="1143000" indent="-228600" eaLnBrk="0" hangingPunct="0">
              <a:defRPr sz="1600" lang="en-US">
                <a:solidFill>
                  <a:schemeClr val="tx1"/>
                </a:solidFill>
                <a:latin typeface="Arial" panose="020B0604020202020204" pitchFamily="34" charset="0"/>
                <a:ea typeface="Arial" panose="02010600030101010101" pitchFamily="2" charset="-122"/>
                <a:cs typeface="Arial"/>
              </a:defRPr>
            </a:lvl3pPr>
            <a:lvl4pPr marL="1600200" indent="-228600" eaLnBrk="0" hangingPunct="0">
              <a:defRPr sz="1600" lang="en-US">
                <a:solidFill>
                  <a:schemeClr val="tx1"/>
                </a:solidFill>
                <a:latin typeface="Arial" panose="020B0604020202020204" pitchFamily="34" charset="0"/>
                <a:ea typeface="Arial" panose="02010600030101010101" pitchFamily="2" charset="-122"/>
                <a:cs typeface="Arial"/>
              </a:defRPr>
            </a:lvl4pPr>
            <a:lvl5pPr marL="2057400" indent="-228600" eaLnBrk="0" hangingPunct="0">
              <a:defRPr sz="1600" lang="en-US">
                <a:solidFill>
                  <a:schemeClr val="tx1"/>
                </a:solidFill>
                <a:latin typeface="Arial" panose="020B0604020202020204" pitchFamily="34" charset="0"/>
                <a:ea typeface="Arial" panose="02010600030101010101" pitchFamily="2" charset="-122"/>
                <a:cs typeface="Arial"/>
              </a:defRPr>
            </a:lvl5pPr>
            <a:lvl6pPr marL="25146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6pPr>
            <a:lvl7pPr marL="29718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7pPr>
            <a:lvl8pPr marL="34290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8pPr>
            <a:lvl9pPr marL="3886200" indent="-228600" eaLnBrk="0" fontAlgn="base" hangingPunct="0">
              <a:spcBef>
                <a:spcPct val="0"/>
              </a:spcBef>
              <a:spcAft>
                <a:spcPct val="0"/>
              </a:spcAft>
              <a:defRPr sz="1600" lang="en-US">
                <a:solidFill>
                  <a:schemeClr val="tx1"/>
                </a:solidFill>
                <a:latin typeface="Arial" panose="020B0604020202020204" pitchFamily="34" charset="0"/>
                <a:ea typeface="Arial" panose="02010600030101010101" pitchFamily="2" charset="-122"/>
                <a:cs typeface="Arial"/>
              </a:defRPr>
            </a:lvl9pPr>
          </a:lstStyle>
          <a:p>
            <a:pPr eaLnBrk="1" fontAlgn="base" hangingPunct="1">
              <a:lnSpc>
                <a:spcPct val="90000"/>
              </a:lnSpc>
              <a:spcBef>
                <a:spcPts val="1000"/>
              </a:spcBef>
              <a:spcAft>
                <a:spcPct val="0"/>
              </a:spcAft>
              <a:buClr>
                <a:srgbClr val="16754D"/>
              </a:buClr>
              <a:buSzPct val="100000"/>
              <a:buFont typeface="Wingdings" panose="05000000000000000000" pitchFamily="2" charset="2"/>
              <a:buNone/>
              <a:defRPr sz="1600" lang="en-US">
                <a:latin typeface="Arial"/>
                <a:ea typeface="Arial"/>
                <a:cs typeface="Arial"/>
              </a:defRPr>
            </a:pPr>
            <a:r>
              <a:rPr lang="en-US" altLang="en-US" sz="1600" dirty="0">
                <a:solidFill>
                  <a:prstClr val="black"/>
                </a:solidFill>
                <a:ea typeface="Arial" panose="02010609060101010101" pitchFamily="49" charset="-122"/>
                <a:latin typeface="Arial"/>
                <a:cs typeface="Arial"/>
              </a:rPr>
              <a:t>Prediction</a:t>
            </a:r>
          </a:p>
        </p:txBody>
      </p:sp>
      <p:sp>
        <p:nvSpPr>
          <p:cNvPr id="67" name="矩形 66">
            <a:extLst>
              <a:ext uri="{FF2B5EF4-FFF2-40B4-BE49-F238E27FC236}">
                <a16:creationId xmlns:a16="http://schemas.microsoft.com/office/drawing/2014/main" id="{FA10DB50-544F-37F8-B249-AE8860E27C3C}"/>
              </a:ext>
            </a:extLst>
          </p:cNvPr>
          <p:cNvSpPr/>
          <p:nvPr/>
        </p:nvSpPr>
        <p:spPr>
          <a:xfrm>
            <a:off x="5377191" y="5341992"/>
            <a:ext cx="1381125" cy="722313"/>
          </a:xfrm>
          <a:prstGeom prst="rect">
            <a:avLst/>
          </a:prstGeom>
          <a:noFill/>
          <a:ln w="12700" cap="flat" cmpd="sng" algn="ctr">
            <a:solidFill>
              <a:srgbClr val="16754D">
                <a:shade val="50000"/>
              </a:srgbClr>
            </a:solidFill>
            <a:prstDash val="solid"/>
            <a:miter lim="800000"/>
          </a:ln>
          <a:effectLst/>
        </p:spPr>
        <p:txBody>
          <a:bodyPr lIns="0" tIns="0" rIns="0" bIns="0" anchor="ctr">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0" cap="none" spc="0" normalizeH="0" noProof="0">
              <a:ln>
                <a:noFill/>
              </a:ln>
              <a:solidFill>
                <a:prstClr val="white"/>
              </a:solidFill>
              <a:effectLst/>
              <a:uLnTx/>
              <a:uFillTx/>
              <a:latin typeface="Arial" panose="020B0604020202020204" pitchFamily="34" charset="0"/>
              <a:ea typeface="Arial" panose="02010609060101010101" pitchFamily="49" charset="-122"/>
              <a:cs typeface="Arial"/>
            </a:endParaRPr>
          </a:p>
        </p:txBody>
      </p:sp>
      <p:sp>
        <p:nvSpPr>
          <p:cNvPr id="68" name="矩形 67">
            <a:extLst>
              <a:ext uri="{FF2B5EF4-FFF2-40B4-BE49-F238E27FC236}">
                <a16:creationId xmlns:a16="http://schemas.microsoft.com/office/drawing/2014/main" id="{658D1587-924C-68FE-CE35-A58C20A87E1C}"/>
              </a:ext>
            </a:extLst>
          </p:cNvPr>
          <p:cNvSpPr/>
          <p:nvPr/>
        </p:nvSpPr>
        <p:spPr>
          <a:xfrm>
            <a:off x="5120640" y="6153205"/>
            <a:ext cx="3703320" cy="594360"/>
          </a:xfrm>
          <a:prstGeom prst="rect">
            <a:avLst/>
          </a:prstGeom>
          <a:gradFill rotWithShape="1">
            <a:gsLst>
              <a:gs pos="0">
                <a:srgbClr val="FFC000">
                  <a:lumMod val="110000"/>
                  <a:satMod val="105000"/>
                  <a:tint val="67000"/>
                </a:srgbClr>
              </a:gs>
              <a:gs pos="50000">
                <a:srgbClr val="FFC000">
                  <a:lumMod val="105000"/>
                  <a:satMod val="103000"/>
                  <a:tint val="73000"/>
                </a:srgbClr>
              </a:gs>
              <a:gs pos="100000">
                <a:srgbClr val="FFC000">
                  <a:lumMod val="105000"/>
                  <a:satMod val="109000"/>
                  <a:tint val="81000"/>
                </a:srgbClr>
              </a:gs>
            </a:gsLst>
            <a:lin ang="5400000" scaled="0"/>
          </a:gradFill>
          <a:ln w="6350" cap="flat" cmpd="sng" algn="ctr">
            <a:solidFill>
              <a:srgbClr val="FFC000"/>
            </a:solidFill>
            <a:prstDash val="solid"/>
            <a:miter lim="800000"/>
          </a:ln>
          <a:effectLst/>
        </p:spPr>
        <p:txBody>
          <a:bodyPr wrap="square" lIns="0" tIns="0" rIns="0" bIns="0">
            <a:noAutofit/>
          </a:bodyPr>
          <a:lstStyle/>
          <a:p>
            <a:pPr marL="0" marR="0" lvl="0" indent="0" algn="ctr" defTabSz="91440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a:rPr>
              <a:t>Appears only through inner products</a:t>
            </a:r>
          </a:p>
        </p:txBody>
      </p:sp>
      <p:pic>
        <p:nvPicPr>
          <p:cNvPr id="69" name="图片 68">
            <a:extLst>
              <a:ext uri="{FF2B5EF4-FFF2-40B4-BE49-F238E27FC236}">
                <a16:creationId xmlns:a16="http://schemas.microsoft.com/office/drawing/2014/main" id="{3742111C-AB5B-27A1-3751-FEC384861035}"/>
              </a:ext>
            </a:extLst>
          </p:cNvPr>
          <p:cNvPicPr>
            <a:picLocks noChangeAspect="1"/>
          </p:cNvPicPr>
          <p:nvPr/>
        </p:nvPicPr>
        <p:blipFill>
          <a:blip r:embed="rId5">
            <a:extLst>
              <a:ext uri="{28A0092B-C50C-407E-A947-70E740481C1C}">
                <a14:useLocalDpi xmlns:a14="http://schemas.microsoft.com/office/drawing/2010/main" val="0"/>
              </a:ext>
            </a:extLst>
          </a:blip>
          <a:srcRect/>
          <a:stretch>
            <a:fillRect/>
          </a:stretch>
        </p:blipFill>
        <p:spPr bwMode="auto">
          <a:xfrm>
            <a:off x="1738641" y="1793930"/>
            <a:ext cx="5516562" cy="11652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4" name="文本框 3">
            <a:extLst>
              <a:ext uri="{FF2B5EF4-FFF2-40B4-BE49-F238E27FC236}">
                <a16:creationId xmlns:a16="http://schemas.microsoft.com/office/drawing/2014/main" id="{138FB244-416C-7898-668A-5FF94E1B4D0D}"/>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SVM</a:t>
            </a:r>
          </a:p>
        </p:txBody>
      </p:sp>
    </p:spTree>
    <p:extLst>
      <p:ext uri="{BB962C8B-B14F-4D97-AF65-F5344CB8AC3E}">
        <p14:creationId xmlns:p14="http://schemas.microsoft.com/office/powerpoint/2010/main" val="1166635622"/>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xmlns:a14="http://schemas.microsoft.com/office/drawing/2010/main">
        <p:nvSpPr>
          <p:cNvPr id="4" name="内容占位符 2">
            <a:extLst>
              <a:ext uri="{FF2B5EF4-FFF2-40B4-BE49-F238E27FC236}">
                <a16:creationId xmlns:a16="http://schemas.microsoft.com/office/drawing/2014/main" id="{10349AF2-1C34-E816-378E-A0A5DED100E1}"/>
              </a:ext>
            </a:extLst>
          </p:cNvPr>
          <p:cNvSpPr txBox="1">
            <a:spLocks/>
          </p:cNvSpPr>
          <p:nvPr/>
        </p:nvSpPr>
        <p:spPr bwMode="auto">
          <a:xfrm>
            <a:off x="263524" y="1247010"/>
            <a:ext cx="8616950" cy="1025262"/>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6800" rIns="91440" bIns="4572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600"/>
              </a:spcBef>
              <a:spcAft>
                <a:spcPct val="0"/>
              </a:spcAft>
              <a:buClr>
                <a:srgbClr val="16754D"/>
              </a:buClr>
              <a:buSzPct val="100000"/>
              <a:buNone/>
              <a:tabLst/>
              <a:defRPr sz="1600" lang="en-US">
                <a:latin typeface="Arial"/>
                <a:ea typeface="Arial"/>
                <a:cs typeface="Arial"/>
              </a:defRPr>
            </a:pPr>
            <a:r>
              <a:rPr kumimoji="0" lang="en-US" altLang="en-US" b="0" i="0" u="none" strike="noStrike" kern="1200" cap="none" spc="0" normalizeH="0" noProof="0" dirty="0" sz="1600">
                <a:ln>
                  <a:noFill/>
                </a:ln>
                <a:solidFill>
                  <a:sysClr val="windowText" lastClr="000000"/>
                </a:solidFill>
                <a:effectLst/>
                <a:uLnTx/>
                <a:uFillTx/>
                <a:latin typeface="Arial" panose="020B0604020202020204" pitchFamily="34" charset="0"/>
                <a:ea typeface="Arial" panose="02010609060101010101" pitchFamily="49" charset="-122"/>
                <a:cs typeface="Arial"/>
              </a:rPr>
              <a:t>Key idea: rather than explicitly constructing the feature map </a:t>
            </a:r>
            <a14:m>
              <m:oMath xmlns:m="http://schemas.openxmlformats.org/officeDocument/2006/math">
                <m:r>
                  <a:rPr lang="en-US" altLang="zh-CN" b="0" i="0" smtClean="0" sz="1600">
                    <a:solidFill>
                      <a:sysClr val="windowText" lastClr="000000"/>
                    </a:solidFill>
                    <a:latin typeface="Arial" panose="02040503050406030204" pitchFamily="18" charset="0"/>
                    <a:ea typeface="Arial" panose="02010609060101010101" pitchFamily="49" charset="-122"/>
                    <a:cs typeface="Arial"/>
                  </a:rPr>
                  <m:t> </m:t>
                </m:r>
                <m:r>
                  <a:rPr lang="en-US" altLang="en-US" i="1" smtClean="0"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r>
                  <a:rPr lang="en-US" altLang="zh-CN" i="1" smtClean="0" sz="1600">
                    <a:solidFill>
                      <a:sysClr val="windowText" lastClr="000000"/>
                    </a:solidFill>
                    <a:latin typeface="Arial" panose="02040503050406030204" pitchFamily="18" charset="0"/>
                    <a:ea typeface="Arial" panose="02040503050406030204" pitchFamily="18" charset="0"/>
                    <a:cs typeface="Arial"/>
                  </a:rPr>
                  <m:t>∙</m:t>
                </m:r>
                <m:r>
                  <a:rPr lang="en-US" altLang="zh-CN" i="1" sz="1600">
                    <a:solidFill>
                      <a:sysClr val="windowText" lastClr="000000"/>
                    </a:solidFill>
                    <a:latin typeface="Arial" panose="02040503050406030204" pitchFamily="18" charset="0"/>
                    <a:ea typeface="Arial" panose="02010609060101010101" pitchFamily="49" charset="-122"/>
                    <a:cs typeface="Arial"/>
                  </a:rPr>
                  <m:t>)</m:t>
                </m:r>
              </m:oMath>
            </a14:m>
            <a:r>
              <a:rPr kumimoji="0" lang="en-US" altLang="en-US" b="0" i="0" u="none" strike="noStrike" kern="1200" cap="none" spc="0" normalizeH="0" noProof="0" dirty="0" sz="1600">
                <a:ln>
                  <a:noFill/>
                </a:ln>
                <a:solidFill>
                  <a:sysClr val="windowText" lastClr="000000"/>
                </a:solidFill>
                <a:effectLst/>
                <a:uLnTx/>
                <a:uFillTx/>
                <a:latin typeface="Arial" panose="020B0604020202020204" pitchFamily="34" charset="0"/>
                <a:ea typeface="Arial" panose="02010609060101010101" pitchFamily="49" charset="-122"/>
                <a:cs typeface="Arial"/>
              </a:rPr>
              <a:t>, design a kernel function:</a:t>
            </a:r>
          </a:p>
          <a:p>
            <a:pPr marL="0" lvl="0" indent="0" eaLnBrk="1" hangingPunct="1">
              <a:lnSpc>
                <a:spcPct val="100000"/>
              </a:lnSpc>
              <a:spcBef>
                <a:spcPts val="600"/>
              </a:spcBef>
              <a:buClr>
                <a:srgbClr val="16754D"/>
              </a:buClr>
              <a:buNone/>
              <a:defRPr sz="1600" lang="en-US">
                <a:latin typeface="Arial"/>
                <a:ea typeface="Arial"/>
                <a:cs typeface="Arial"/>
              </a:defRPr>
            </a:pPr>
            <a14:m>
              <m:oMathPara xmlns:m="http://schemas.openxmlformats.org/officeDocument/2006/math">
                <m:oMathParaPr>
                  <m:jc m:val="centerGroup"/>
                </m:oMathParaPr>
                <m:oMath>
                  <m:r>
                    <a:rPr kumimoji="0" lang="en-US" altLang="en-US"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d>
                    <m:d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dPr>
                    <m:e>
                      <m:sSub>
                        <m:sSub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𝑥</m:t>
                          </m:r>
                        </m:e>
                        <m:sub>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e>
                  </m:d>
                  <m: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m:t>
                  </m:r>
                  <m:sSup>
                    <m:sSupPr>
                      <m:ctrlPr>
                        <a:rPr kumimoji="0" lang="en-US" altLang="zh-CN" b="0" i="1"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ctrlPr>
                    </m:sSupPr>
                    <m:e>
                      <m:r>
                        <a:rPr lang="en-US" altLang="en-US" i="1"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i="1" sz="1600">
                              <a:solidFill>
                                <a:sysClr val="windowText" lastClr="000000"/>
                              </a:solidFill>
                              <a:latin typeface="Arial" panose="02040503050406030204" pitchFamily="18" charset="0"/>
                              <a:ea typeface="Arial" panose="02010609060101010101" pitchFamily="49" charset="-122"/>
                              <a:cs typeface="Arial"/>
                            </a:rPr>
                          </m:ctrlPr>
                        </m:sSubPr>
                        <m:e>
                          <m:r>
                            <a:rPr lang="en-US" altLang="zh-CN" i="1" sz="1600">
                              <a:solidFill>
                                <a:sysClr val="windowText" lastClr="000000"/>
                              </a:solidFill>
                              <a:latin typeface="Arial" panose="02040503050406030204" pitchFamily="18" charset="0"/>
                              <a:ea typeface="Arial" panose="02010609060101010101" pitchFamily="49" charset="-122"/>
                              <a:cs typeface="Arial"/>
                            </a:rPr>
                            <m:t>𝑥</m:t>
                          </m:r>
                        </m:e>
                        <m:sub>
                          <m:r>
                            <a:rPr lang="en-US" altLang="zh-CN" i="1" sz="1600">
                              <a:solidFill>
                                <a:sysClr val="windowText" lastClr="000000"/>
                              </a:solidFill>
                              <a:latin typeface="Arial" panose="02040503050406030204" pitchFamily="18" charset="0"/>
                              <a:ea typeface="Arial" panose="02010609060101010101" pitchFamily="49" charset="-122"/>
                              <a:cs typeface="Arial"/>
                            </a:rPr>
                            <m:t>𝑖</m:t>
                          </m:r>
                        </m:sub>
                      </m:sSub>
                      <m:r>
                        <a:rPr lang="en-US" altLang="zh-CN" i="1" sz="1600">
                          <a:solidFill>
                            <a:sysClr val="windowText" lastClr="000000"/>
                          </a:solidFill>
                          <a:latin typeface="Arial" panose="02040503050406030204" pitchFamily="18" charset="0"/>
                          <a:ea typeface="Arial" panose="02010609060101010101" pitchFamily="49" charset="-122"/>
                          <a:cs typeface="Arial"/>
                        </a:rPr>
                        <m:t>)</m:t>
                      </m:r>
                    </m:e>
                    <m:sup>
                      <m:r>
                        <m:rPr>
                          <m:sty m:val="p"/>
                        </m:rPr>
                        <a:rPr kumimoji="0" lang="en-US" altLang="zh-CN" b="0" i="0" u="none" strike="noStrike" kern="1200" cap="none" spc="0" normalizeH="0" noProof="0" smtClean="0" sz="1600">
                          <a:ln>
                            <a:noFill/>
                          </a:ln>
                          <a:solidFill>
                            <a:sysClr val="windowText" lastClr="000000"/>
                          </a:solidFill>
                          <a:effectLst/>
                          <a:uLnTx/>
                          <a:uFillTx/>
                          <a:latin typeface="Arial" panose="02040503050406030204" pitchFamily="18" charset="0"/>
                          <a:ea typeface="Arial" panose="02010609060101010101" pitchFamily="49" charset="-122"/>
                          <a:cs typeface="Arial"/>
                        </a:rPr>
                        <m:t>T</m:t>
                      </m:r>
                    </m:sup>
                  </m:sSup>
                  <m:r>
                    <a:rPr lang="en-US" altLang="en-US" i="1" sz="1600">
                      <a:solidFill>
                        <a:sysClr val="windowText" lastClr="000000"/>
                      </a:solidFill>
                      <a:latin typeface="Arial" panose="02040503050406030204" pitchFamily="18" charset="0"/>
                      <a:ea typeface="Arial" panose="02010609060101010101" pitchFamily="49" charset="-122"/>
                      <a:cs typeface="Arial"/>
                    </a:rPr>
                    <m:t>𝜙</m:t>
                  </m:r>
                  <m:r>
                    <a:rPr lang="en-US" altLang="zh-CN" i="1" sz="160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i="1" sz="1600">
                          <a:solidFill>
                            <a:sysClr val="windowText" lastClr="000000"/>
                          </a:solidFill>
                          <a:latin typeface="Arial" panose="02040503050406030204" pitchFamily="18" charset="0"/>
                          <a:ea typeface="Arial" panose="02010609060101010101" pitchFamily="49" charset="-122"/>
                          <a:cs typeface="Arial"/>
                        </a:rPr>
                      </m:ctrlPr>
                    </m:sSubPr>
                    <m:e>
                      <m:r>
                        <a:rPr lang="en-US" altLang="zh-CN" i="1" sz="1600">
                          <a:solidFill>
                            <a:sysClr val="windowText" lastClr="000000"/>
                          </a:solidFill>
                          <a:latin typeface="Arial" panose="02040503050406030204" pitchFamily="18" charset="0"/>
                          <a:ea typeface="Arial" panose="02010609060101010101" pitchFamily="49" charset="-122"/>
                          <a:cs typeface="Arial"/>
                        </a:rPr>
                        <m:t>𝑥</m:t>
                      </m:r>
                    </m:e>
                    <m:sub>
                      <m:r>
                        <a:rPr lang="en-US" altLang="zh-CN" b="0" i="1" smtClean="0" sz="1600">
                          <a:solidFill>
                            <a:sysClr val="windowText" lastClr="000000"/>
                          </a:solidFill>
                          <a:latin typeface="Arial" panose="02040503050406030204" pitchFamily="18" charset="0"/>
                          <a:ea typeface="Arial" panose="02010609060101010101" pitchFamily="49" charset="-122"/>
                          <a:cs typeface="Arial"/>
                        </a:rPr>
                        <m:t>𝑗</m:t>
                      </m:r>
                    </m:sub>
                  </m:sSub>
                  <m:r>
                    <a:rPr lang="en-US" altLang="zh-CN" i="1" sz="1600">
                      <a:solidFill>
                        <a:sysClr val="windowText" lastClr="000000"/>
                      </a:solidFill>
                      <a:latin typeface="Arial" panose="02040503050406030204" pitchFamily="18" charset="0"/>
                      <a:ea typeface="Arial" panose="02010609060101010101" pitchFamily="49" charset="-122"/>
                      <a:cs typeface="Arial"/>
                    </a:rPr>
                    <m:t>)</m:t>
                  </m:r>
                </m:oMath>
              </m:oMathPara>
            </a14:m>
            <a:endParaRPr kumimoji="0" lang="en-US" altLang="en-US" b="0" i="0" u="none" strike="noStrike" kern="1200" cap="none" spc="0" normalizeH="0" noProof="0" dirty="0" sz="1600">
              <a:ln>
                <a:noFill/>
              </a:ln>
              <a:solidFill>
                <a:srgbClr val="16754D"/>
              </a:solidFill>
              <a:effectLst/>
              <a:uLnTx/>
              <a:uFillTx/>
              <a:latin typeface="Arial" panose="020B0604020202020204" pitchFamily="34" charset="0"/>
              <a:ea typeface="Arial" panose="02010609060101010101" pitchFamily="49" charset="-122"/>
              <a:cs typeface="Arial"/>
            </a:endParaRPr>
          </a:p>
          <a:p>
            <a:pPr marL="228600" marR="0" lvl="0" indent="-358775" algn="l" defTabSz="914400" rtl="0" eaLnBrk="1" fontAlgn="base" latinLnBrk="0" hangingPunct="1">
              <a:lnSpc>
                <a:spcPct val="100000"/>
              </a:lnSpc>
              <a:spcBef>
                <a:spcPts val="600"/>
              </a:spcBef>
              <a:spcAft>
                <a:spcPct val="0"/>
              </a:spcAft>
              <a:buClr>
                <a:srgbClr val="16754D"/>
              </a:buClr>
              <a:buSzPct val="100000"/>
              <a:buFont typeface="Wingdings" panose="05000000000000000000" pitchFamily="2" charset="2"/>
              <a:buChar char="p"/>
              <a:tabLst/>
              <a:defRPr sz="1600" lang="en-US">
                <a:latin typeface="Arial"/>
                <a:ea typeface="Arial"/>
                <a:cs typeface="Arial"/>
              </a:defRPr>
            </a:pPr>
            <a:endParaRPr kumimoji="0" lang="en-US" altLang="en-US" sz="1600" b="0" i="0" u="none" strike="noStrike" kern="1200" cap="none" spc="0" normalizeH="0" noProof="0" dirty="0">
              <a:ln>
                <a:noFill/>
              </a:ln>
              <a:solidFill>
                <a:srgbClr val="16754D"/>
              </a:solidFill>
              <a:effectLst/>
              <a:uLnTx/>
              <a:uFillTx/>
              <a:latin typeface="Arial" panose="020B0604020202020204" pitchFamily="34" charset="0"/>
              <a:ea typeface="Arial" panose="02010609060101010101" pitchFamily="49" charset="-122"/>
              <a:cs typeface="Arial"/>
            </a:endParaRPr>
          </a:p>
        </p:txBody>
      </p:sp>
      <p:sp>
        <p:nvSpPr>
          <p:cNvPr id="3" name="文本框 2">
            <a:extLst>
              <a:ext uri="{FF2B5EF4-FFF2-40B4-BE49-F238E27FC236}">
                <a16:creationId xmlns:a16="http://schemas.microsoft.com/office/drawing/2014/main" id="{99289C2C-6CD9-6FD4-D436-218819413E59}"/>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5" name="TextBox 4"/>
          <p:cNvSpPr txBox="1"/>
          <p:nvPr/>
        </p:nvSpPr>
        <p:spPr>
          <a:xfrm>
            <a:off x="274320" y="274320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Definition 7.6 (Kernel function). Let X be the input space (a subset of ℝⁿ).</a:t>
            </a:r>
          </a:p>
        </p:txBody>
      </p:sp>
      <p:sp>
        <p:nvSpPr>
          <p:cNvPr id="6" name="TextBox 5"/>
          <p:cNvSpPr txBox="1"/>
          <p:nvPr/>
        </p:nvSpPr>
        <p:spPr>
          <a:xfrm>
            <a:off x="274320" y="329184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Let H be a feature space (a Hilbert space), with a mapping from X to H:</a:t>
            </a:r>
          </a:p>
        </p:txBody>
      </p:sp>
      <p:sp>
        <p:nvSpPr>
          <p:cNvPr id="7" name="TextBox 6"/>
          <p:cNvSpPr txBox="1"/>
          <p:nvPr/>
        </p:nvSpPr>
        <p:spPr>
          <a:xfrm>
            <a:off x="1828800" y="3840480"/>
            <a:ext cx="667512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φ: X → H                                      (7.65)</a:t>
            </a:r>
          </a:p>
        </p:txBody>
      </p:sp>
      <p:sp>
        <p:nvSpPr>
          <p:cNvPr id="8" name="TextBox 7"/>
          <p:cNvSpPr txBox="1"/>
          <p:nvPr/>
        </p:nvSpPr>
        <p:spPr>
          <a:xfrm>
            <a:off x="274320" y="4389120"/>
            <a:ext cx="8595360" cy="5029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If, for all x, z ∈ X, K(x, z) satisfies</a:t>
            </a:r>
          </a:p>
        </p:txBody>
      </p:sp>
      <p:sp>
        <p:nvSpPr>
          <p:cNvPr id="9" name="TextBox 8"/>
          <p:cNvSpPr txBox="1"/>
          <p:nvPr/>
        </p:nvSpPr>
        <p:spPr>
          <a:xfrm>
            <a:off x="1371600" y="4937760"/>
            <a:ext cx="7315200" cy="3657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K(x, z) = φ(x) · φ(z)                         (7.66)</a:t>
            </a:r>
          </a:p>
        </p:txBody>
      </p:sp>
      <p:sp>
        <p:nvSpPr>
          <p:cNvPr id="10" name="TextBox 9"/>
          <p:cNvSpPr txBox="1"/>
          <p:nvPr/>
        </p:nvSpPr>
        <p:spPr>
          <a:xfrm>
            <a:off x="274320" y="5486400"/>
            <a:ext cx="8595360" cy="5943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then K is a kernel function. Here φ is the feature map, and φ(x) · φ(z) is the inner product of φ(x) and φ(z).</a:t>
            </a:r>
          </a:p>
        </p:txBody>
      </p:sp>
    </p:spTree>
    <p:extLst>
      <p:ext uri="{BB962C8B-B14F-4D97-AF65-F5344CB8AC3E}">
        <p14:creationId xmlns:p14="http://schemas.microsoft.com/office/powerpoint/2010/main" val="2592705158"/>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pic>
        <p:nvPicPr>
          <p:cNvPr id="12" name="图片 11">
            <a:extLst>
              <a:ext uri="{FF2B5EF4-FFF2-40B4-BE49-F238E27FC236}">
                <a16:creationId xmlns:a16="http://schemas.microsoft.com/office/drawing/2014/main" id="{969BE8D3-86FA-94E3-FC70-DF9B5B90FA0B}"/>
              </a:ext>
            </a:extLst>
          </p:cNvPr>
          <p:cNvPicPr>
            <a:picLocks noChangeAspect="1"/>
          </p:cNvPicPr>
          <p:nvPr/>
        </p:nvPicPr>
        <p:blipFill>
          <a:blip r:embed="rId4"/>
          <a:stretch>
            <a:fillRect/>
          </a:stretch>
        </p:blipFill>
        <p:spPr>
          <a:xfrm>
            <a:off x="2246586" y="5022266"/>
            <a:ext cx="4569372" cy="1760706"/>
          </a:xfrm>
          <a:prstGeom prst="rect">
            <a:avLst/>
          </a:prstGeom>
        </p:spPr>
      </p:pic>
      <p:sp>
        <p:nvSpPr>
          <p:cNvPr id="4" name="文本框 3">
            <a:extLst>
              <a:ext uri="{FF2B5EF4-FFF2-40B4-BE49-F238E27FC236}">
                <a16:creationId xmlns:a16="http://schemas.microsoft.com/office/drawing/2014/main" id="{27382928-477D-810E-FCDA-3088D7C70AE8}"/>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13" name="TextBox 12"/>
          <p:cNvSpPr txBox="1"/>
          <p:nvPr/>
        </p:nvSpPr>
        <p:spPr>
          <a:xfrm>
            <a:off x="411480" y="1280160"/>
            <a:ext cx="8321040" cy="73152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Theorem 7.5 (Necessary and sufficient condition). Let K: X × X → ℝ be symmetric. K is a positive-definite kernel if and only if, for every finite set x₁, …, xₘ ∈ X, its Gram matrix is positive semidefinite:</a:t>
            </a:r>
          </a:p>
        </p:txBody>
      </p:sp>
      <p:sp>
        <p:nvSpPr>
          <p:cNvPr id="14" name="TextBox 13"/>
          <p:cNvSpPr txBox="1"/>
          <p:nvPr/>
        </p:nvSpPr>
        <p:spPr>
          <a:xfrm>
            <a:off x="1828800" y="2240280"/>
            <a:ext cx="6858000" cy="45720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 = [K(xᵢ, xⱼ)]ₘ×ₘ                              (7.85)</a:t>
            </a:r>
          </a:p>
        </p:txBody>
      </p:sp>
      <p:sp>
        <p:nvSpPr>
          <p:cNvPr id="15" name="TextBox 14"/>
          <p:cNvSpPr txBox="1"/>
          <p:nvPr/>
        </p:nvSpPr>
        <p:spPr>
          <a:xfrm>
            <a:off x="411480" y="3017520"/>
            <a:ext cx="8321040" cy="82296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Definition 7.7 (Positive-definite kernel). A real-valued symmetric function K(x, z) on X × X, with X ⊆ ℝⁿ, is a positive-definite kernel if its Gram matrix is positive semidefinite for every finite set x₁, …, xₘ ∈ X.</a:t>
            </a:r>
          </a:p>
        </p:txBody>
      </p:sp>
      <p:sp>
        <p:nvSpPr>
          <p:cNvPr id="16" name="TextBox 15"/>
          <p:cNvSpPr txBox="1"/>
          <p:nvPr/>
        </p:nvSpPr>
        <p:spPr>
          <a:xfrm>
            <a:off x="1828800" y="4069080"/>
            <a:ext cx="6858000" cy="45720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K = [K(xᵢ, xⱼ)]ₘ×ₘ                              (7.87)</a:t>
            </a:r>
          </a:p>
        </p:txBody>
      </p:sp>
    </p:spTree>
    <p:extLst>
      <p:ext uri="{BB962C8B-B14F-4D97-AF65-F5344CB8AC3E}">
        <p14:creationId xmlns:p14="http://schemas.microsoft.com/office/powerpoint/2010/main" val="145180448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3" name="内容占位符 2">
            <a:extLst>
              <a:ext uri="{FF2B5EF4-FFF2-40B4-BE49-F238E27FC236}">
                <a16:creationId xmlns:a16="http://schemas.microsoft.com/office/drawing/2014/main" id="{F39909FE-17EB-4EF6-688D-BFF997AD7D9A}"/>
              </a:ext>
            </a:extLst>
          </p:cNvPr>
          <p:cNvSpPr txBox="1">
            <a:spLocks/>
          </p:cNvSpPr>
          <p:nvPr/>
        </p:nvSpPr>
        <p:spPr bwMode="auto">
          <a:xfrm>
            <a:off x="263525" y="2045143"/>
            <a:ext cx="8616950" cy="730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600"/>
              </a:spcBef>
              <a:spcAft>
                <a:spcPct val="0"/>
              </a:spcAft>
              <a:buClr>
                <a:srgbClr val="16754D"/>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Positive-definite kernels (sufficient, not necessary): a symmetric function can serve as a kernel if its Gram matrix is positive semidefinite.</a:t>
            </a:r>
          </a:p>
        </p:txBody>
      </p:sp>
      <p:sp>
        <p:nvSpPr>
          <p:cNvPr id="6" name="文本框 5">
            <a:extLst>
              <a:ext uri="{FF2B5EF4-FFF2-40B4-BE49-F238E27FC236}">
                <a16:creationId xmlns:a16="http://schemas.microsoft.com/office/drawing/2014/main" id="{D0982E87-83AB-32C3-18A8-4AA0065BA574}"/>
              </a:ext>
            </a:extLst>
          </p:cNvPr>
          <p:cNvSpPr txBox="1"/>
          <p:nvPr/>
        </p:nvSpPr>
        <p:spPr>
          <a:xfrm>
            <a:off x="263525" y="3608170"/>
            <a:ext cx="4616668" cy="307777"/>
          </a:xfrm>
          <a:prstGeom prst="rect">
            <a:avLst/>
          </a:prstGeom>
          <a:noFill/>
        </p:spPr>
        <p:txBody>
          <a:bodyPr wrap="square" lIns="0" tIns="0" rIns="0" bIns="0">
            <a:noAutofit/>
          </a:bodyPr>
          <a:lstStyle/>
          <a:p>
            <a:pPr marL="0" marR="0" lvl="0" indent="0" algn="l" defTabSz="914400" rtl="0" eaLnBrk="1" fontAlgn="base" latinLnBrk="0" hangingPunct="1">
              <a:lnSpc>
                <a:spcPct val="100000"/>
              </a:lnSpc>
              <a:spcBef>
                <a:spcPts val="600"/>
              </a:spcBef>
              <a:spcAft>
                <a:spcPct val="0"/>
              </a:spcAft>
              <a:buClr>
                <a:srgbClr val="16754D"/>
              </a:buClr>
              <a:buSzPct val="100000"/>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Common kernel functions:</a:t>
            </a:r>
          </a:p>
        </p:txBody>
      </p:sp>
      <p:sp>
        <p:nvSpPr>
          <p:cNvPr id="8" name="文本框 7">
            <a:extLst>
              <a:ext uri="{FF2B5EF4-FFF2-40B4-BE49-F238E27FC236}">
                <a16:creationId xmlns:a16="http://schemas.microsoft.com/office/drawing/2014/main" id="{29FD9749-8E58-C1F7-7D2B-0B4D2D14672F}"/>
              </a:ext>
            </a:extLst>
          </p:cNvPr>
          <p:cNvSpPr txBox="1"/>
          <p:nvPr/>
        </p:nvSpPr>
        <p:spPr>
          <a:xfrm>
            <a:off x="263525" y="1253007"/>
            <a:ext cx="8822668" cy="615553"/>
          </a:xfrm>
          <a:prstGeom prst="rect">
            <a:avLst/>
          </a:prstGeom>
          <a:noFill/>
        </p:spPr>
        <p:txBody>
          <a:bodyPr wrap="square" lIns="0" tIns="0" rIns="0" bIns="0">
            <a:noAutofit/>
          </a:bodyPr>
          <a:lstStyle/>
          <a:p>
            <a:pPr algn="l"/>
            <a:r>
              <a:rPr lang="en-US" altLang="en-US" sz="1600" b="0" i="0" u="none" strike="noStrike" dirty="0">
                <a:latin typeface="Arial" panose="020B0604020202020204" pitchFamily="34" charset="0"/>
                <a:ea typeface="Arial" panose="02010609060101010101" pitchFamily="49" charset="-122"/>
                <a:cs typeface="Arial"/>
              </a:rPr>
              <a:t>Every kernel implicitly defines a feature space called a reproducing kernel Hilbert space (RKHS).</a:t>
            </a:r>
          </a:p>
        </p:txBody>
      </p:sp>
      <p:sp>
        <p:nvSpPr>
          <p:cNvPr id="5" name="文本框 4">
            <a:extLst>
              <a:ext uri="{FF2B5EF4-FFF2-40B4-BE49-F238E27FC236}">
                <a16:creationId xmlns:a16="http://schemas.microsoft.com/office/drawing/2014/main" id="{2E71AB97-6EE6-64D7-0E99-0B70946DFFBD}"/>
              </a:ext>
            </a:extLst>
          </p:cNvPr>
          <p:cNvSpPr txBox="1"/>
          <p:nvPr/>
        </p:nvSpPr>
        <p:spPr>
          <a:xfrm>
            <a:off x="53621" y="849006"/>
            <a:ext cx="2232379"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graphicFrame>
        <p:nvGraphicFramePr>
          <p:cNvPr id="9" name="Table 8"/>
          <p:cNvGraphicFramePr>
            <a:graphicFrameLocks noGrp="1"/>
          </p:cNvGraphicFramePr>
          <p:nvPr/>
        </p:nvGraphicFramePr>
        <p:xfrm>
          <a:off x="265176" y="3977639"/>
          <a:ext cx="8613648" cy="2468880"/>
        </p:xfrm>
        <a:graphic>
          <a:graphicData uri="http://schemas.openxmlformats.org/drawingml/2006/table">
            <a:tbl>
              <a:tblPr firstRow="1" bandRow="1">
                <a:tableStyleId>{5C22544A-7EE6-4342-B048-85BDC9FD1C3A}</a:tableStyleId>
              </a:tblPr>
              <a:tblGrid>
                <a:gridCol w="1463040"/>
                <a:gridCol w="4297680"/>
                <a:gridCol w="2852928"/>
              </a:tblGrid>
              <a:tr h="411480">
                <a:tc>
                  <a:txBody>
                    <a:bodyPr/>
                    <a:lstStyle/>
                    <a:p>
                      <a:r>
                        <a:rPr sz="1600">
                          <a:latin typeface="Arial"/>
                          <a:ea typeface="Arial"/>
                          <a:cs typeface="Arial"/>
                        </a:rPr>
                        <a:t>Kernel</a:t>
                      </a:r>
                    </a:p>
                  </a:txBody>
                  <a:tcPr marL="27432" marR="27432" marT="0" marB="0"/>
                </a:tc>
                <a:tc>
                  <a:txBody>
                    <a:bodyPr/>
                    <a:lstStyle/>
                    <a:p>
                      <a:r>
                        <a:rPr sz="1600">
                          <a:latin typeface="Arial"/>
                          <a:ea typeface="Arial"/>
                          <a:cs typeface="Arial"/>
                        </a:rPr>
                        <a:t>Expression</a:t>
                      </a:r>
                    </a:p>
                  </a:txBody>
                  <a:tcPr marL="27432" marR="27432" marT="0" marB="0"/>
                </a:tc>
                <a:tc>
                  <a:txBody>
                    <a:bodyPr/>
                    <a:lstStyle/>
                    <a:p>
                      <a:r>
                        <a:rPr sz="1600">
                          <a:latin typeface="Arial"/>
                          <a:ea typeface="Arial"/>
                          <a:cs typeface="Arial"/>
                        </a:rPr>
                        <a:t>Parameters</a:t>
                      </a:r>
                    </a:p>
                  </a:txBody>
                  <a:tcPr marL="27432" marR="27432" marT="0" marB="0"/>
                </a:tc>
              </a:tr>
              <a:tr h="411480">
                <a:tc>
                  <a:txBody>
                    <a:bodyPr/>
                    <a:lstStyle/>
                    <a:p>
                      <a:r>
                        <a:rPr sz="1600">
                          <a:latin typeface="Arial"/>
                          <a:ea typeface="Arial"/>
                          <a:cs typeface="Arial"/>
                        </a:rPr>
                        <a:t>Linear</a:t>
                      </a:r>
                    </a:p>
                  </a:txBody>
                  <a:tcPr marL="27432" marR="27432" marT="0" marB="0"/>
                </a:tc>
                <a:tc>
                  <a:txBody>
                    <a:bodyPr/>
                    <a:lstStyle/>
                    <a:p>
                      <a:r>
                        <a:rPr sz="1600">
                          <a:latin typeface="Arial"/>
                          <a:ea typeface="Arial"/>
                          <a:cs typeface="Arial"/>
                        </a:rPr>
                        <a:t>κ(xᵢ, xⱼ) = xᵢᵀxⱼ</a:t>
                      </a:r>
                    </a:p>
                  </a:txBody>
                  <a:tcPr marL="27432" marR="27432" marT="0" marB="0"/>
                </a:tc>
                <a:tc>
                  <a:txBody>
                    <a:bodyPr/>
                    <a:lstStyle/>
                    <a:p>
                      <a:r>
                        <a:rPr sz="1600">
                          <a:latin typeface="Arial"/>
                          <a:ea typeface="Arial"/>
                          <a:cs typeface="Arial"/>
                        </a:rPr>
                        <a:t>—</a:t>
                      </a:r>
                    </a:p>
                  </a:txBody>
                  <a:tcPr marL="27432" marR="27432" marT="0" marB="0"/>
                </a:tc>
              </a:tr>
              <a:tr h="411480">
                <a:tc>
                  <a:txBody>
                    <a:bodyPr/>
                    <a:lstStyle/>
                    <a:p>
                      <a:r>
                        <a:rPr sz="1600">
                          <a:latin typeface="Arial"/>
                          <a:ea typeface="Arial"/>
                          <a:cs typeface="Arial"/>
                        </a:rPr>
                        <a:t>Polynomial</a:t>
                      </a:r>
                    </a:p>
                  </a:txBody>
                  <a:tcPr marL="27432" marR="27432" marT="0" marB="0"/>
                </a:tc>
                <a:tc>
                  <a:txBody>
                    <a:bodyPr/>
                    <a:lstStyle/>
                    <a:p>
                      <a:r>
                        <a:rPr sz="1600">
                          <a:latin typeface="Arial"/>
                          <a:ea typeface="Arial"/>
                          <a:cs typeface="Arial"/>
                        </a:rPr>
                        <a:t>κ(xᵢ, xⱼ) = (xᵢᵀxⱼ)ᵈ</a:t>
                      </a:r>
                    </a:p>
                  </a:txBody>
                  <a:tcPr marL="27432" marR="27432" marT="0" marB="0"/>
                </a:tc>
                <a:tc>
                  <a:txBody>
                    <a:bodyPr/>
                    <a:lstStyle/>
                    <a:p>
                      <a:r>
                        <a:rPr sz="1600">
                          <a:latin typeface="Arial"/>
                          <a:ea typeface="Arial"/>
                          <a:cs typeface="Arial"/>
                        </a:rPr>
                        <a:t>d ≥ 1: degree</a:t>
                      </a:r>
                    </a:p>
                  </a:txBody>
                  <a:tcPr marL="27432" marR="27432" marT="0" marB="0"/>
                </a:tc>
              </a:tr>
              <a:tr h="411480">
                <a:tc>
                  <a:txBody>
                    <a:bodyPr/>
                    <a:lstStyle/>
                    <a:p>
                      <a:r>
                        <a:rPr sz="1600">
                          <a:latin typeface="Arial"/>
                          <a:ea typeface="Arial"/>
                          <a:cs typeface="Arial"/>
                        </a:rPr>
                        <a:t>Gaussian</a:t>
                      </a:r>
                    </a:p>
                  </a:txBody>
                  <a:tcPr marL="27432" marR="27432" marT="0" marB="0"/>
                </a:tc>
                <a:tc>
                  <a:txBody>
                    <a:bodyPr/>
                    <a:lstStyle/>
                    <a:p>
                      <a:r>
                        <a:rPr sz="1600">
                          <a:latin typeface="Arial"/>
                          <a:ea typeface="Arial"/>
                          <a:cs typeface="Arial"/>
                        </a:rPr>
                        <a:t>κ(xᵢ, xⱼ) = exp(−‖xᵢ − xⱼ‖²/(2δ²))</a:t>
                      </a:r>
                    </a:p>
                  </a:txBody>
                  <a:tcPr marL="27432" marR="27432" marT="0" marB="0"/>
                </a:tc>
                <a:tc>
                  <a:txBody>
                    <a:bodyPr/>
                    <a:lstStyle/>
                    <a:p>
                      <a:r>
                        <a:rPr sz="1600">
                          <a:latin typeface="Arial"/>
                          <a:ea typeface="Arial"/>
                          <a:cs typeface="Arial"/>
                        </a:rPr>
                        <a:t>δ &gt; 0: width</a:t>
                      </a:r>
                    </a:p>
                  </a:txBody>
                  <a:tcPr marL="27432" marR="27432" marT="0" marB="0"/>
                </a:tc>
              </a:tr>
              <a:tr h="411480">
                <a:tc>
                  <a:txBody>
                    <a:bodyPr/>
                    <a:lstStyle/>
                    <a:p>
                      <a:r>
                        <a:rPr sz="1600">
                          <a:latin typeface="Arial"/>
                          <a:ea typeface="Arial"/>
                          <a:cs typeface="Arial"/>
                        </a:rPr>
                        <a:t>Laplacian</a:t>
                      </a:r>
                    </a:p>
                  </a:txBody>
                  <a:tcPr marL="27432" marR="27432" marT="0" marB="0"/>
                </a:tc>
                <a:tc>
                  <a:txBody>
                    <a:bodyPr/>
                    <a:lstStyle/>
                    <a:p>
                      <a:r>
                        <a:rPr sz="1600">
                          <a:latin typeface="Arial"/>
                          <a:ea typeface="Arial"/>
                          <a:cs typeface="Arial"/>
                        </a:rPr>
                        <a:t>κ(xᵢ, xⱼ) = exp(−‖xᵢ − xⱼ‖/δ)</a:t>
                      </a:r>
                    </a:p>
                  </a:txBody>
                  <a:tcPr marL="27432" marR="27432" marT="0" marB="0"/>
                </a:tc>
                <a:tc>
                  <a:txBody>
                    <a:bodyPr/>
                    <a:lstStyle/>
                    <a:p>
                      <a:r>
                        <a:rPr sz="1600">
                          <a:latin typeface="Arial"/>
                          <a:ea typeface="Arial"/>
                          <a:cs typeface="Arial"/>
                        </a:rPr>
                        <a:t>δ &gt; 0</a:t>
                      </a:r>
                    </a:p>
                  </a:txBody>
                  <a:tcPr marL="27432" marR="27432" marT="0" marB="0"/>
                </a:tc>
              </a:tr>
              <a:tr h="411480">
                <a:tc>
                  <a:txBody>
                    <a:bodyPr/>
                    <a:lstStyle/>
                    <a:p>
                      <a:r>
                        <a:rPr sz="1600">
                          <a:latin typeface="Arial"/>
                          <a:ea typeface="Arial"/>
                          <a:cs typeface="Arial"/>
                        </a:rPr>
                        <a:t>Sigmoid</a:t>
                      </a:r>
                    </a:p>
                  </a:txBody>
                  <a:tcPr marL="27432" marR="27432" marT="0" marB="0"/>
                </a:tc>
                <a:tc>
                  <a:txBody>
                    <a:bodyPr/>
                    <a:lstStyle/>
                    <a:p>
                      <a:r>
                        <a:rPr sz="1600">
                          <a:latin typeface="Arial"/>
                          <a:ea typeface="Arial"/>
                          <a:cs typeface="Arial"/>
                        </a:rPr>
                        <a:t>κ(xᵢ, xⱼ) = tanh(βxᵢᵀxⱼ + θ)</a:t>
                      </a:r>
                    </a:p>
                  </a:txBody>
                  <a:tcPr marL="27432" marR="27432" marT="0" marB="0"/>
                </a:tc>
                <a:tc>
                  <a:txBody>
                    <a:bodyPr/>
                    <a:lstStyle/>
                    <a:p>
                      <a:r>
                        <a:rPr sz="1600">
                          <a:latin typeface="Arial"/>
                          <a:ea typeface="Arial"/>
                          <a:cs typeface="Arial"/>
                        </a:rPr>
                        <a:t>β &gt; 0, θ &lt; 0; tanh: hyperbolic tangent</a:t>
                      </a:r>
                    </a:p>
                  </a:txBody>
                  <a:tcPr marL="27432" marR="27432" marT="0" marB="0"/>
                </a:tc>
              </a:tr>
            </a:tbl>
          </a:graphicData>
        </a:graphic>
      </p:graphicFrame>
    </p:spTree>
    <p:extLst>
      <p:ext uri="{BB962C8B-B14F-4D97-AF65-F5344CB8AC3E}">
        <p14:creationId xmlns:p14="http://schemas.microsoft.com/office/powerpoint/2010/main" val="243080306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57" name="文本框 56">
            <a:extLst>
              <a:ext uri="{FF2B5EF4-FFF2-40B4-BE49-F238E27FC236}">
                <a16:creationId xmlns:a16="http://schemas.microsoft.com/office/drawing/2014/main" id="{2BF3B905-D3DA-88D8-4A1C-159CB302DD56}"/>
              </a:ext>
            </a:extLst>
          </p:cNvPr>
          <p:cNvSpPr txBox="1"/>
          <p:nvPr/>
        </p:nvSpPr>
        <p:spPr>
          <a:xfrm>
            <a:off x="53622" y="854030"/>
            <a:ext cx="1454612"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Functions</a:t>
            </a:r>
          </a:p>
        </p:txBody>
      </p:sp>
      <p:sp>
        <p:nvSpPr>
          <p:cNvPr id="5" name="内容占位符 2">
            <a:extLst>
              <a:ext uri="{FF2B5EF4-FFF2-40B4-BE49-F238E27FC236}">
                <a16:creationId xmlns:a16="http://schemas.microsoft.com/office/drawing/2014/main" id="{502D471A-5444-8E80-712F-1385AC0076E9}"/>
              </a:ext>
            </a:extLst>
          </p:cNvPr>
          <p:cNvSpPr txBox="1">
            <a:spLocks/>
          </p:cNvSpPr>
          <p:nvPr/>
        </p:nvSpPr>
        <p:spPr bwMode="auto">
          <a:xfrm>
            <a:off x="527050" y="4026409"/>
            <a:ext cx="7154915" cy="85911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228600" marR="0" lvl="0" indent="-358775" algn="l" defTabSz="914400" rtl="0" eaLnBrk="1" fontAlgn="base" latinLnBrk="0" hangingPunct="1">
              <a:lnSpc>
                <a:spcPct val="90000"/>
              </a:lnSpc>
              <a:spcBef>
                <a:spcPts val="1000"/>
              </a:spcBef>
              <a:spcAft>
                <a:spcPct val="0"/>
              </a:spcAft>
              <a:buClr>
                <a:schemeClr val="accent3">
                  <a:lumMod val="75000"/>
                </a:schemeClr>
              </a:buClr>
              <a:buSzPct val="100000"/>
              <a:buFont typeface="Wingdings" panose="05000000000000000000" pitchFamily="2" charset="2"/>
              <a:buChar char="l"/>
              <a:tabLst/>
              <a:defRPr sz="1600" lang="en-US">
                <a:latin typeface="Arial"/>
                <a:ea typeface="Arial"/>
                <a:cs typeface="Arial"/>
              </a:defRPr>
            </a:pPr>
            <a:r>
              <a:rPr kumimoji="0" lang="en-US" altLang="en-US" sz="1600" b="0" i="0" u="none" strike="noStrike" kern="1200" cap="none" spc="0" normalizeH="0" noProof="0" dirty="0">
                <a:ln>
                  <a:noFill/>
                </a:ln>
                <a:solidFill>
                  <a:srgbClr val="669900"/>
                </a:solidFill>
                <a:effectLst/>
                <a:uLnTx/>
                <a:uFillTx/>
                <a:latin typeface="Arial" panose="020B0604020202020204" pitchFamily="34" charset="0"/>
                <a:ea typeface="Arial" panose="02010609060101010101" pitchFamily="49" charset="-122"/>
                <a:cs typeface="Arial"/>
              </a:rPr>
              <a:t>Kernel choice is a major source of variation in SVMs.</a:t>
            </a:r>
          </a:p>
          <a:p>
            <a:pPr marL="360000" marR="0" lvl="0" indent="0" algn="l" defTabSz="914400" rtl="0" eaLnBrk="1" fontAlgn="base" latinLnBrk="0" hangingPunct="1">
              <a:lnSpc>
                <a:spcPct val="90000"/>
              </a:lnSpc>
              <a:spcBef>
                <a:spcPts val="1000"/>
              </a:spcBef>
              <a:spcAft>
                <a:spcPct val="0"/>
              </a:spcAft>
              <a:buClr>
                <a:schemeClr val="accent3">
                  <a:lumMod val="75000"/>
                </a:schemeClr>
              </a:buClr>
              <a:buSzPct val="100000"/>
              <a:buNone/>
              <a:tabLst/>
              <a:defRPr sz="1600" lang="en-US">
                <a:latin typeface="Arial"/>
                <a:ea typeface="Arial"/>
                <a:cs typeface="Arial"/>
              </a:defRPr>
            </a:pPr>
            <a:r>
              <a:rPr kumimoji="0" lang="en-US" altLang="en-US" sz="1600" b="0" i="0" u="none" strike="noStrike" kern="1200" cap="none" spc="0" normalizeH="0" noProof="0" dirty="0">
                <a:ln>
                  <a:noFill/>
                </a:ln>
                <a:solidFill>
                  <a:schemeClr val="accent6">
                    <a:lumMod val="75000"/>
                  </a:schemeClr>
                </a:solidFill>
                <a:effectLst/>
                <a:uLnTx/>
                <a:uFillTx/>
                <a:latin typeface="Arial" panose="020B0604020202020204" pitchFamily="34" charset="0"/>
                <a:ea typeface="Arial" panose="02010609060101010101" pitchFamily="49" charset="-122"/>
                <a:cs typeface="Arial"/>
              </a:rPr>
              <a:t>Rule of thumb: use a linear kernel for text; use a Gaussian kernel when unsure.</a:t>
            </a:r>
          </a:p>
          <a:p>
            <a:pPr marL="228600" marR="0" lvl="0" indent="-358775" algn="l" defTabSz="914400" rtl="0" eaLnBrk="1" fontAlgn="base" latinLnBrk="0" hangingPunct="1">
              <a:lnSpc>
                <a:spcPct val="90000"/>
              </a:lnSpc>
              <a:spcBef>
                <a:spcPts val="1000"/>
              </a:spcBef>
              <a:spcAft>
                <a:spcPct val="0"/>
              </a:spcAft>
              <a:buClr>
                <a:srgbClr val="16754D"/>
              </a:buClr>
              <a:buSzPct val="100000"/>
              <a:buFont typeface="Wingdings" panose="05000000000000000000" pitchFamily="2" charset="2"/>
              <a:buChar char="p"/>
              <a:tabLst/>
              <a:defRPr sz="1600" lang="en-US">
                <a:latin typeface="Arial"/>
                <a:ea typeface="Arial"/>
                <a:cs typeface="Arial"/>
              </a:defRPr>
            </a:pPr>
            <a:endPar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8" name="文本框 7">
            <a:extLst>
              <a:ext uri="{FF2B5EF4-FFF2-40B4-BE49-F238E27FC236}">
                <a16:creationId xmlns:a16="http://schemas.microsoft.com/office/drawing/2014/main" id="{BF77D7FF-5C7A-FA8B-0396-4615EF3DF2DD}"/>
              </a:ext>
            </a:extLst>
          </p:cNvPr>
          <p:cNvSpPr txBox="1"/>
          <p:nvPr/>
        </p:nvSpPr>
        <p:spPr>
          <a:xfrm>
            <a:off x="422425" y="1351508"/>
            <a:ext cx="8616949" cy="2077492"/>
          </a:xfrm>
          <a:prstGeom prst="rect">
            <a:avLst/>
          </a:prstGeom>
          <a:noFill/>
        </p:spPr>
        <p:txBody>
          <a:bodyPr wrap="square" lIns="0" tIns="0" rIns="0" bIns="0">
            <a:noAutofit/>
          </a:bodyPr>
          <a:lstStyle/>
          <a:p>
            <a:pPr marL="228600" marR="0" lvl="0" indent="-358775" algn="l" defTabSz="914400" rtl="0" fontAlgn="base" latinLnBrk="0">
              <a:spcBef>
                <a:spcPts val="1000"/>
              </a:spcBef>
              <a:spcAft>
                <a:spcPct val="0"/>
              </a:spcAft>
              <a:buClr>
                <a:srgbClr val="9BBB59">
                  <a:lumMod val="75000"/>
                </a:srgbClr>
              </a:buClr>
              <a:buSzPct val="100000"/>
              <a:buFont typeface="Wingdings" panose="05000000000000000000" pitchFamily="2" charset="2"/>
              <a:buChar char="l"/>
              <a:tabLst/>
              <a:defRPr sz="1600" lang="en-US">
                <a:latin typeface="Arial"/>
                <a:ea typeface="Arial"/>
                <a:cs typeface="Arial"/>
              </a:defRPr>
            </a:pPr>
            <a:r>
              <a:rPr kumimoji="0" lang="en-US" altLang="en-US" sz="1600" b="0" i="0" u="none" strike="noStrike" kern="1200" cap="none" spc="0" normalizeH="0" baseline="0" noProof="0" dirty="0">
                <a:ln>
                  <a:noFill/>
                </a:ln>
                <a:solidFill>
                  <a:schemeClr val="accent3">
                    <a:lumMod val="75000"/>
                  </a:schemeClr>
                </a:solidFill>
                <a:effectLst/>
                <a:uLnTx/>
                <a:uFillTx/>
                <a:latin typeface="Arial" panose="020B0604020202020204" pitchFamily="34" charset="0"/>
                <a:ea typeface="Arial" panose="02010609060101010101" pitchFamily="49" charset="-122"/>
                <a:cs typeface="Arial"/>
              </a:rPr>
              <a:t>Properties of kernel functions:</a:t>
            </a:r>
          </a:p>
          <a:p>
            <a:pPr marL="720000" lvl="0" indent="-360000" fontAlgn="base">
              <a:spcBef>
                <a:spcPts val="1000"/>
              </a:spcBef>
              <a:spcAft>
                <a:spcPct val="0"/>
              </a:spcAft>
              <a:buClr>
                <a:srgbClr val="669900"/>
              </a:buClr>
              <a:buSzPct val="100000"/>
              <a:buFont typeface="+mj-lt"/>
              <a:buAutoNum type="arabicPeriod"/>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For any positive coefficients </a:t>
            </a:r>
            <a14:m>
              <m:oMath xmlns:m="http://schemas.openxmlformats.org/officeDocument/2006/math">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2</m:t>
                    </m:r>
                  </m:sub>
                </m:sSub>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the linear combination </a:t>
            </a:r>
            <a14:m>
              <m:oMath xmlns:m="http://schemas.openxmlformats.org/officeDocument/2006/math">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en-US" sz="1600" i="1">
                        <a:solidFill>
                          <a:sysClr val="windowText" lastClr="000000"/>
                        </a:solidFill>
                        <a:latin typeface="Arial" panose="02040503050406030204" pitchFamily="18" charset="0"/>
                        <a:ea typeface="Arial" panose="02010609060101010101" pitchFamily="49" charset="-122"/>
                        <a:cs typeface="Arial"/>
                      </a:rPr>
                      <m:t>𝛾</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of kernels is also a kernel.</a:t>
            </a:r>
          </a:p>
          <a:p>
            <a:pPr marL="720000" indent="-360000" fontAlgn="base">
              <a:spcBef>
                <a:spcPts val="1000"/>
              </a:spcBef>
              <a:spcAft>
                <a:spcPct val="0"/>
              </a:spcAft>
              <a:buClr>
                <a:srgbClr val="669900"/>
              </a:buClr>
              <a:buSzPct val="100000"/>
              <a:buFont typeface="+mj-lt"/>
              <a:buAutoNum type="arabicPeriod"/>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The direct product </a:t>
            </a:r>
            <a14:m>
              <m:oMath xmlns:m="http://schemas.openxmlformats.org/officeDocument/2006/math">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Sub>
                <m:r>
                  <a:rPr lang="en-US" altLang="zh-CN" sz="1600" i="1">
                    <a:solidFill>
                      <a:sysClr val="windowText" lastClr="000000"/>
                    </a:solidFill>
                    <a:latin typeface="Arial" panose="02040503050406030204" pitchFamily="18" charset="0"/>
                    <a:ea typeface="Arial" panose="02040503050406030204" pitchFamily="18" charset="0"/>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d>
                  <m:dPr>
                    <m:ctrlPr>
                      <a:rPr lang="en-US" altLang="zh-CN" sz="1600" b="0" i="1" smtClean="0">
                        <a:solidFill>
                          <a:sysClr val="windowText" lastClr="000000"/>
                        </a:solidFill>
                        <a:latin typeface="Arial" panose="02040503050406030204" pitchFamily="18" charset="0"/>
                        <a:ea typeface="Arial" panose="02010609060101010101" pitchFamily="49" charset="-122"/>
                        <a:cs typeface="Arial"/>
                      </a:rPr>
                    </m:ctrlPr>
                  </m:dPr>
                  <m:e>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𝒙</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1" i="1" smtClean="0">
                        <a:solidFill>
                          <a:sysClr val="windowText" lastClr="000000"/>
                        </a:solidFill>
                        <a:latin typeface="Arial" panose="02040503050406030204" pitchFamily="18" charset="0"/>
                        <a:ea typeface="Arial" panose="02010609060101010101" pitchFamily="49" charset="-122"/>
                        <a:cs typeface="Arial"/>
                      </a:rPr>
                      <m:t>𝒛</m:t>
                    </m:r>
                  </m:e>
                </m:d>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1</m:t>
                    </m:r>
                  </m:sub>
                </m:sSub>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𝒙</m:t>
                </m:r>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𝒛</m:t>
                </m:r>
                <m:r>
                  <a:rPr lang="en-US" altLang="zh-CN" sz="1600" b="0" i="1" smtClean="0">
                    <a:solidFill>
                      <a:sysClr val="windowText" lastClr="000000"/>
                    </a:solidFill>
                    <a:latin typeface="Arial" panose="02040503050406030204" pitchFamily="18" charset="0"/>
                    <a:ea typeface="Arial" panose="02010609060101010101" pitchFamily="49" charset="-122"/>
                    <a:cs typeface="Arial"/>
                  </a:rPr>
                  <m:t>)</m:t>
                </m:r>
                <m:sSub>
                  <m:sSubPr>
                    <m:ctrlPr>
                      <a:rPr lang="en-US" altLang="zh-CN" sz="1600" i="1">
                        <a:solidFill>
                          <a:sysClr val="windowText" lastClr="000000"/>
                        </a:solidFill>
                        <a:latin typeface="Arial" panose="02040503050406030204" pitchFamily="18" charset="0"/>
                        <a:ea typeface="Arial" panose="02010609060101010101" pitchFamily="49" charset="-122"/>
                        <a:cs typeface="Arial"/>
                      </a:rPr>
                    </m:ctrlPr>
                  </m:sSubPr>
                  <m:e>
                    <m:r>
                      <a:rPr lang="en-US" altLang="en-US" sz="1600" i="1">
                        <a:solidFill>
                          <a:sysClr val="windowText" lastClr="000000"/>
                        </a:solidFill>
                        <a:latin typeface="Arial" panose="02040503050406030204" pitchFamily="18" charset="0"/>
                        <a:ea typeface="Arial" panose="02010609060101010101" pitchFamily="49" charset="-122"/>
                        <a:cs typeface="Arial"/>
                      </a:rPr>
                      <m:t>𝜅</m:t>
                    </m:r>
                  </m:e>
                  <m:sub>
                    <m:r>
                      <a:rPr lang="en-US" altLang="zh-CN" sz="1600" i="1">
                        <a:solidFill>
                          <a:sysClr val="windowText" lastClr="000000"/>
                        </a:solidFill>
                        <a:latin typeface="Arial" panose="02040503050406030204" pitchFamily="18" charset="0"/>
                        <a:ea typeface="Arial" panose="02010609060101010101" pitchFamily="49" charset="-122"/>
                        <a:cs typeface="Arial"/>
                      </a:rPr>
                      <m:t>2</m:t>
                    </m:r>
                  </m:sub>
                </m:sSub>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𝒙</m:t>
                </m:r>
                <m:r>
                  <a:rPr lang="en-US" altLang="zh-CN" sz="1600" i="1">
                    <a:solidFill>
                      <a:sysClr val="windowText" lastClr="000000"/>
                    </a:solidFill>
                    <a:latin typeface="Arial" panose="02040503050406030204" pitchFamily="18" charset="0"/>
                    <a:ea typeface="Arial" panose="02010609060101010101" pitchFamily="49" charset="-122"/>
                    <a:cs typeface="Arial"/>
                  </a:rPr>
                  <m:t>,</m:t>
                </m:r>
                <m:r>
                  <a:rPr lang="en-US" altLang="zh-CN" sz="1600" b="1" i="1">
                    <a:solidFill>
                      <a:sysClr val="windowText" lastClr="000000"/>
                    </a:solidFill>
                    <a:latin typeface="Arial" panose="02040503050406030204" pitchFamily="18" charset="0"/>
                    <a:ea typeface="Arial" panose="02010609060101010101" pitchFamily="49" charset="-122"/>
                    <a:cs typeface="Arial"/>
                  </a:rPr>
                  <m:t>𝒛</m:t>
                </m:r>
                <m:r>
                  <a:rPr lang="en-US" altLang="zh-CN" sz="1600" i="1">
                    <a:solidFill>
                      <a:sysClr val="windowText" lastClr="000000"/>
                    </a:solidFill>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of kernels is also a kernel.</a:t>
            </a:r>
          </a:p>
          <a:p>
            <a:pPr marL="720000" marR="0" lvl="0" indent="-360000" algn="l" defTabSz="914400" rtl="0" fontAlgn="base" latinLnBrk="0">
              <a:spcBef>
                <a:spcPts val="1000"/>
              </a:spcBef>
              <a:spcAft>
                <a:spcPct val="0"/>
              </a:spcAft>
              <a:buClr>
                <a:srgbClr val="669900"/>
              </a:buClr>
              <a:buSzPct val="100000"/>
              <a:buFont typeface="+mj-lt"/>
              <a:buAutoNum type="arabicPeriod"/>
              <a:tabLst/>
              <a:defRPr sz="1600" lang="en-US">
                <a:latin typeface="Arial"/>
                <a:ea typeface="Arial"/>
                <a:cs typeface="Arial"/>
              </a:defRPr>
            </a:pPr>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If </a:t>
            </a:r>
            <a14:m>
              <m:oMath xmlns:m="http://schemas.openxmlformats.org/officeDocument/2006/math">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𝜅</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is a kernel, then for any function </a:t>
            </a:r>
            <a14:m>
              <m:oMath xmlns:m="http://schemas.openxmlformats.org/officeDocument/2006/math">
                <m:r>
                  <a:rPr kumimoji="0" lang="en-US" altLang="zh-CN" sz="1600" b="0" i="1" u="none" strike="noStrike" kern="1200" cap="none" spc="0" normalizeH="0" baseline="0" noProof="0" smtClean="0">
                    <a:ln>
                      <a:noFill/>
                    </a:ln>
                    <a:solidFill>
                      <a:schemeClr val="tx1"/>
                    </a:solidFill>
                    <a:effectLst/>
                    <a:uLnTx/>
                    <a:uFillTx/>
                    <a:latin typeface="Arial" panose="02040503050406030204" pitchFamily="18" charset="0"/>
                    <a:ea typeface="Arial" panose="02010609060101010101" pitchFamily="49" charset="-122"/>
                    <a:cs typeface="Arial"/>
                  </a:rPr>
                  <m:t>𝑔</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𝑔</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1</m:t>
                        </m:r>
                      </m:sub>
                    </m:sSub>
                  </m:e>
                </m:d>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𝜅</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1</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2</m:t>
                        </m:r>
                      </m:sub>
                    </m:sSub>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𝑔</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ctrlPr>
                      </m:sSubPr>
                      <m:e>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𝒙</m:t>
                        </m:r>
                      </m:e>
                      <m: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2</m:t>
                        </m:r>
                      </m:sub>
                    </m:sSub>
                  </m:e>
                </m:d>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 </m:t>
                </m:r>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a:cs typeface="Arial"/>
                  </a:rPr>
                  <m:t> remains </m:t>
                </m:r>
                <m:r>
                  <a:rPr kumimoji="0" lang="en-US" altLang="en-US" sz="1600" b="0" i="1" u="none" strike="noStrike" kern="1200" cap="none" spc="0" normalizeH="0" baseline="0" noProof="0" smtClean="0">
                    <a:ln>
                      <a:noFill/>
                    </a:ln>
                    <a:solidFill>
                      <a:prstClr val="black"/>
                    </a:solidFill>
                    <a:effectLst/>
                    <a:uLnTx/>
                    <a:uFillTx/>
                    <a:latin typeface="Arial" panose="02040503050406030204" pitchFamily="18" charset="0"/>
                    <a:ea typeface="Arial"/>
                    <a:cs typeface="Arial"/>
                  </a:rPr>
                  <m:t>a </m:t>
                </m:r>
                <m:r>
                  <a:rPr kumimoji="0" lang="en-US" altLang="en-US" sz="1600" b="0" i="1" u="none" strike="noStrike" kern="1200" cap="none" spc="0" normalizeH="0" baseline="0" noProof="0">
                    <a:ln>
                      <a:noFill/>
                    </a:ln>
                    <a:solidFill>
                      <a:prstClr val="black"/>
                    </a:solidFill>
                    <a:effectLst/>
                    <a:uLnTx/>
                    <a:uFillTx/>
                    <a:latin typeface="Arial" panose="02040503050406030204" pitchFamily="18" charset="0"/>
                    <a:ea typeface="Arial"/>
                    <a:cs typeface="Arial"/>
                  </a:rPr>
                  <m:t>kernel</m:t>
                </m:r>
              </m:oMath>
            </a14:m>
            <a:r>
              <a:rPr kumimoji="0" lang="en-US" altLang="en-US"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rPr>
              <a:t> is also a kernel function.</a:t>
            </a:r>
          </a:p>
        </p:txBody>
      </p:sp>
    </p:spTree>
    <p:extLst>
      <p:ext uri="{BB962C8B-B14F-4D97-AF65-F5344CB8AC3E}">
        <p14:creationId xmlns:p14="http://schemas.microsoft.com/office/powerpoint/2010/main" val="36811003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panose="020B0604020202020204" pitchFamily="34" charset="0"/>
                <a:ea typeface="Arial" panose="02010609060101010101" pitchFamily="49" charset="-122"/>
                <a:cs typeface="Arial"/>
              </a:rPr>
              <a:t>Support Vector Machines</a:t>
            </a:r>
          </a:p>
        </p:txBody>
      </p:sp>
      <p:sp xmlns:a14="http://schemas.microsoft.com/office/drawing/2010/main">
        <p:nvSpPr>
          <p:cNvPr id="3" name="内容占位符 2">
            <a:extLst>
              <a:ext uri="{FF2B5EF4-FFF2-40B4-BE49-F238E27FC236}">
                <a16:creationId xmlns:a16="http://schemas.microsoft.com/office/drawing/2014/main" id="{B7795CA6-E6D5-76B9-CBAD-DEECCDEE5A0E}"/>
              </a:ext>
            </a:extLst>
          </p:cNvPr>
          <p:cNvSpPr>
            <a:spLocks noGrp="1"/>
          </p:cNvSpPr>
          <p:nvPr/>
        </p:nvSpPr>
        <p:spPr bwMode="auto">
          <a:xfrm>
            <a:off x="231200" y="3970660"/>
            <a:ext cx="8753558" cy="2244246"/>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rtlCol="0"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indent="0" eaLnBrk="1" fontAlgn="auto" hangingPunct="1">
              <a:spcAft>
                <a:spcPts val="0"/>
              </a:spcAft>
              <a:buNone/>
              <a:defRPr sz="1600" lang="en-US">
                <a:latin typeface="Arial"/>
                <a:ea typeface="Arial"/>
                <a:cs typeface="Arial"/>
              </a:defRPr>
            </a:pPr>
            <a:r>
              <a:rPr lang="en-US" altLang="en-US" dirty="0" sz="1600">
                <a:latin typeface="Arial" panose="020B0604020202020204" pitchFamily="34" charset="0"/>
                <a:ea typeface="Arial" panose="02010609060101010101" pitchFamily="49" charset="-122"/>
                <a:cs typeface="Arial"/>
              </a:rPr>
              <a:t>A more general result (representer theorem): let </a:t>
            </a:r>
            <a14:m>
              <m:oMath xmlns:m="http://schemas.openxmlformats.org/officeDocument/2006/math">
                <m:r>
                  <a:rPr lang="en-US" altLang="zh-CN" b="0" i="1" smtClean="0" sz="1600">
                    <a:latin typeface="Arial" panose="02040503050406030204" pitchFamily="18" charset="0"/>
                    <a:ea typeface="Arial" panose="02040503050406030204" pitchFamily="18" charset="0"/>
                    <a:cs typeface="Arial"/>
                  </a:rPr>
                  <m:t>ℍ</m:t>
                </m:r>
              </m:oMath>
            </a14:m>
            <a:r>
              <a:rPr lang="en-US" altLang="en-US" dirty="0" sz="1600">
                <a:latin typeface="Arial" panose="020B0604020202020204" pitchFamily="34" charset="0"/>
                <a:ea typeface="Arial" panose="02010609060101010101" pitchFamily="49" charset="-122"/>
                <a:cs typeface="Arial"/>
              </a:rPr>
              <a:t> be the RKHS associated with kernel </a:t>
            </a:r>
            <a14:m>
              <m:oMath xmlns:m="http://schemas.openxmlformats.org/officeDocument/2006/math">
                <m:r>
                  <a:rPr lang="en-US" altLang="en-US" b="0" i="1" smtClean="0" sz="1600">
                    <a:latin typeface="Arial" panose="02040503050406030204" pitchFamily="18" charset="0"/>
                    <a:ea typeface="Arial" panose="02010609060101010101" pitchFamily="49" charset="-122"/>
                    <a:cs typeface="Arial"/>
                  </a:rPr>
                  <m:t>𝜅</m:t>
                </m:r>
              </m:oMath>
            </a14:m>
            <a:r>
              <a:rPr lang="en-US" altLang="en-US" dirty="0" sz="1600">
                <a:latin typeface="Arial" panose="020B0604020202020204" pitchFamily="34" charset="0"/>
                <a:ea typeface="Arial" panose="02010609060101010101" pitchFamily="49" charset="-122"/>
                <a:cs typeface="Arial"/>
              </a:rPr>
              <a:t>. For any monotonically increasing function </a:t>
            </a:r>
            <a14:m>
              <m:oMath xmlns:m="http://schemas.openxmlformats.org/officeDocument/2006/math">
                <m:r>
                  <a:rPr lang="en-US" altLang="zh-CN" b="0" i="1" smtClean="0" sz="1600">
                    <a:solidFill>
                      <a:srgbClr val="669900"/>
                    </a:solidFill>
                    <a:latin typeface="Arial" panose="02040503050406030204" pitchFamily="18" charset="0"/>
                    <a:ea typeface="Arial" panose="02040503050406030204" pitchFamily="18" charset="0"/>
                    <a:cs typeface="Arial"/>
                  </a:rPr>
                  <m:t>𝛺</m:t>
                </m:r>
              </m:oMath>
            </a14:m>
            <a:r>
              <a:rPr lang="en-US" altLang="en-US" dirty="0" sz="1600">
                <a:latin typeface="Arial" panose="020B0604020202020204" pitchFamily="34" charset="0"/>
                <a:ea typeface="Arial" panose="02010609060101010101" pitchFamily="49" charset="-122"/>
                <a:cs typeface="Arial"/>
              </a:rPr>
              <a:t> and nonnegative loss function </a:t>
            </a:r>
            <a14:m>
              <m:oMath xmlns:m="http://schemas.openxmlformats.org/officeDocument/2006/math">
                <m:r>
                  <a:rPr lang="en-US" altLang="zh-CN" b="0" i="1" smtClean="0" sz="1600">
                    <a:solidFill>
                      <a:srgbClr val="669900"/>
                    </a:solidFill>
                    <a:latin typeface="Arial" panose="02040503050406030204" pitchFamily="18" charset="0"/>
                    <a:ea typeface="Arial"/>
                    <a:cs typeface="Arial"/>
                  </a:rPr>
                  <m:t>𝐿</m:t>
                </m:r>
              </m:oMath>
            </a14:m>
            <a:r>
              <a:rPr lang="en-US" altLang="en-US" dirty="0" sz="1600">
                <a:latin typeface="Arial" panose="020B0604020202020204" pitchFamily="34" charset="0"/>
                <a:ea typeface="Arial" panose="02010609060101010101" pitchFamily="49" charset="-122"/>
                <a:cs typeface="Arial"/>
              </a:rPr>
              <a:t>, the optimization problem </a:t>
            </a:r>
            <a14:m>
              <m:oMathPara xmlns:m="http://schemas.openxmlformats.org/officeDocument/2006/math">
                <m:oMathParaPr>
                  <m:jc m:val="centerGroup"/>
                </m:oMathParaPr>
                <m:oMath>
                  <m:func>
                    <m:funcPr>
                      <m:ctrlPr>
                        <a:rPr lang="en-US" altLang="zh-CN" i="1" smtClean="0" sz="1600">
                          <a:latin typeface="Arial" panose="02040503050406030204" pitchFamily="18" charset="0"/>
                          <a:ea typeface="Arial" panose="02010609060101010101" pitchFamily="49" charset="-122"/>
                          <a:cs typeface="Arial"/>
                        </a:rPr>
                      </m:ctrlPr>
                    </m:funcPr>
                    <m:fName>
                      <m:limLow>
                        <m:limLowPr>
                          <m:ctrlPr>
                            <a:rPr lang="en-US" altLang="zh-CN" i="1" smtClean="0" sz="1600">
                              <a:latin typeface="Arial" panose="02040503050406030204" pitchFamily="18" charset="0"/>
                              <a:ea typeface="Arial" panose="02010609060101010101" pitchFamily="49" charset="-122"/>
                              <a:cs typeface="Arial"/>
                            </a:rPr>
                          </m:ctrlPr>
                        </m:limLowPr>
                        <m:e>
                          <m:r>
                            <m:rPr>
                              <m:sty m:val="p"/>
                            </m:rPr>
                            <a:rPr lang="en-US" altLang="zh-CN" i="0" smtClean="0" sz="1600">
                              <a:latin typeface="Arial" panose="02040503050406030204" pitchFamily="18" charset="0"/>
                              <a:ea typeface="Arial" panose="02010609060101010101" pitchFamily="49" charset="-122"/>
                              <a:cs typeface="Arial"/>
                            </a:rPr>
                            <m:t>min</m:t>
                          </m:r>
                        </m:e>
                        <m:lim>
                          <m:r>
                            <a:rPr lang="en-US" altLang="zh-CN" b="0" i="1" smtClean="0" sz="1600">
                              <a:latin typeface="Arial" panose="02040503050406030204" pitchFamily="18" charset="0"/>
                              <a:ea typeface="Arial" panose="02010609060101010101" pitchFamily="49" charset="-122"/>
                              <a:cs typeface="Arial"/>
                            </a:rPr>
                            <m:t>h</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ℍ</m:t>
                          </m:r>
                        </m:lim>
                      </m:limLow>
                    </m:fName>
                    <m:e>
                      <m:r>
                        <a:rPr lang="en-US" altLang="zh-CN" b="0" i="1" smtClean="0" sz="1600">
                          <a:latin typeface="Arial" panose="02040503050406030204" pitchFamily="18" charset="0"/>
                          <a:ea typeface="Arial" panose="02010609060101010101" pitchFamily="49" charset="-122"/>
                          <a:cs typeface="Arial"/>
                        </a:rPr>
                        <m:t> </m:t>
                      </m:r>
                      <m:r>
                        <a:rPr lang="en-US" altLang="zh-CN" b="0" i="1" smtClean="0" sz="1600">
                          <a:latin typeface="Arial" panose="02040503050406030204" pitchFamily="18" charset="0"/>
                          <a:ea typeface="Arial" panose="02010609060101010101" pitchFamily="49" charset="-122"/>
                          <a:cs typeface="Arial"/>
                        </a:rPr>
                        <m:t>𝐹</m:t>
                      </m:r>
                      <m:d>
                        <m:dPr>
                          <m:ctrlPr>
                            <a:rPr lang="en-US" altLang="zh-CN" b="0" i="1" smtClean="0" sz="1600">
                              <a:latin typeface="Arial" panose="02040503050406030204" pitchFamily="18" charset="0"/>
                              <a:ea typeface="Arial" panose="02010609060101010101" pitchFamily="49" charset="-122"/>
                              <a:cs typeface="Arial"/>
                            </a:rPr>
                          </m:ctrlPr>
                        </m:dPr>
                        <m:e>
                          <m:r>
                            <a:rPr lang="en-US" altLang="zh-CN" b="0" i="1" smtClean="0" sz="1600">
                              <a:latin typeface="Arial" panose="02040503050406030204" pitchFamily="18" charset="0"/>
                              <a:ea typeface="Arial" panose="02010609060101010101" pitchFamily="49" charset="-122"/>
                              <a:cs typeface="Arial"/>
                            </a:rPr>
                            <m:t>h</m:t>
                          </m:r>
                        </m:e>
                      </m:d>
                      <m:r>
                        <a:rPr lang="en-US" altLang="zh-CN" b="0" i="1" smtClean="0" sz="1600">
                          <a:latin typeface="Arial" panose="02040503050406030204" pitchFamily="18" charset="0"/>
                          <a:ea typeface="Arial" panose="02010609060101010101" pitchFamily="49" charset="-122"/>
                          <a:cs typeface="Arial"/>
                        </a:rPr>
                        <m:t>=</m:t>
                      </m:r>
                      <m:r>
                        <m:rPr>
                          <m:sty m:val="p"/>
                        </m:rPr>
                        <a:rPr lang="en-US" altLang="zh-CN" b="0" i="1" smtClean="0" sz="1600">
                          <a:latin typeface="Arial" panose="02040503050406030204" pitchFamily="18" charset="0"/>
                          <a:ea typeface="Arial" panose="02040503050406030204" pitchFamily="18" charset="0"/>
                          <a:cs typeface="Arial"/>
                        </a:rPr>
                        <m:t>Ω</m:t>
                      </m:r>
                      <m:d>
                        <m:dPr>
                          <m:ctrlPr>
                            <a:rPr lang="en-US" altLang="zh-CN" b="0" i="1" smtClean="0" sz="1600">
                              <a:latin typeface="Arial" panose="02040503050406030204" pitchFamily="18" charset="0"/>
                              <a:ea typeface="Arial" panose="02040503050406030204" pitchFamily="18" charset="0"/>
                              <a:cs typeface="Arial"/>
                            </a:rPr>
                          </m:ctrlPr>
                        </m:dPr>
                        <m:e>
                          <m:sSub>
                            <m:sSubPr>
                              <m:ctrlPr>
                                <a:rPr lang="en-US" altLang="zh-CN" b="0" i="1" smtClean="0" sz="1600">
                                  <a:latin typeface="Arial" panose="02040503050406030204" pitchFamily="18" charset="0"/>
                                  <a:ea typeface="Arial" panose="02040503050406030204" pitchFamily="18" charset="0"/>
                                  <a:cs typeface="Arial"/>
                                </a:rPr>
                              </m:ctrlPr>
                            </m:sSubPr>
                            <m:e>
                              <m:d>
                                <m:dPr>
                                  <m:begChr m:val="‖"/>
                                  <m:endChr m:val="‖"/>
                                  <m:ctrlPr>
                                    <a:rPr lang="en-US" altLang="zh-CN" b="0" i="1" smtClean="0" sz="1600">
                                      <a:latin typeface="Arial" panose="02040503050406030204" pitchFamily="18" charset="0"/>
                                      <a:ea typeface="Arial" panose="02040503050406030204" pitchFamily="18" charset="0"/>
                                      <a:cs typeface="Arial"/>
                                    </a:rPr>
                                  </m:ctrlPr>
                                </m:dPr>
                                <m:e>
                                  <m:r>
                                    <a:rPr lang="en-US" altLang="zh-CN" b="0" i="1" smtClean="0" sz="1600">
                                      <a:latin typeface="Arial" panose="02040503050406030204" pitchFamily="18" charset="0"/>
                                      <a:ea typeface="Arial" panose="02040503050406030204" pitchFamily="18" charset="0"/>
                                      <a:cs typeface="Arial"/>
                                    </a:rPr>
                                    <m:t>h</m:t>
                                  </m:r>
                                </m:e>
                              </m:d>
                            </m:e>
                            <m:sub>
                              <m:r>
                                <a:rPr lang="en-US" altLang="zh-CN" i="1" sz="1600">
                                  <a:latin typeface="Arial" panose="02040503050406030204" pitchFamily="18" charset="0"/>
                                  <a:ea typeface="Arial" panose="02040503050406030204" pitchFamily="18" charset="0"/>
                                  <a:cs typeface="Arial"/>
                                </a:rPr>
                                <m:t>ℍ</m:t>
                              </m:r>
                            </m:sub>
                          </m:sSub>
                        </m:e>
                      </m:d>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𝐿</m:t>
                      </m:r>
                      <m:r>
                        <a:rPr lang="en-US" altLang="zh-CN" b="0" i="1" smtClean="0" sz="1600">
                          <a:latin typeface="Arial" panose="02040503050406030204" pitchFamily="18" charset="0"/>
                          <a:ea typeface="Arial" panose="02040503050406030204" pitchFamily="18" charset="0"/>
                          <a:cs typeface="Arial"/>
                        </a:rPr>
                        <m:t>(</m:t>
                      </m:r>
                      <m:r>
                        <a:rPr lang="en-US" altLang="zh-CN" b="0" i="1" smtClean="0" sz="1600">
                          <a:latin typeface="Arial" panose="02040503050406030204" pitchFamily="18" charset="0"/>
                          <a:ea typeface="Arial" panose="02040503050406030204" pitchFamily="18" charset="0"/>
                          <a:cs typeface="Arial"/>
                        </a:rPr>
                        <m:t>h</m:t>
                      </m:r>
                      <m:d>
                        <m:dPr>
                          <m:ctrlPr>
                            <a:rPr lang="en-US" altLang="zh-CN" b="0" i="1" smtClean="0" sz="1600">
                              <a:latin typeface="Arial" panose="02040503050406030204" pitchFamily="18" charset="0"/>
                              <a:ea typeface="Arial" panose="02040503050406030204" pitchFamily="18" charset="0"/>
                              <a:cs typeface="Arial"/>
                            </a:rPr>
                          </m:ctrlPr>
                        </m:dPr>
                        <m:e>
                          <m:sSub>
                            <m:sSubPr>
                              <m:ctrlPr>
                                <a:rPr lang="en-US" altLang="zh-CN" b="0" i="1" smtClean="0" sz="1600">
                                  <a:latin typeface="Arial" panose="02040503050406030204" pitchFamily="18" charset="0"/>
                                  <a:ea typeface="Arial" panose="02040503050406030204" pitchFamily="18" charset="0"/>
                                  <a:cs typeface="Arial"/>
                                </a:rPr>
                              </m:ctrlPr>
                            </m:sSubPr>
                            <m:e>
                              <m:r>
                                <a:rPr lang="en-US" altLang="zh-CN" b="1" i="1" smtClean="0" sz="1600">
                                  <a:latin typeface="Arial" panose="02040503050406030204" pitchFamily="18" charset="0"/>
                                  <a:ea typeface="Arial" panose="02040503050406030204" pitchFamily="18" charset="0"/>
                                  <a:cs typeface="Arial"/>
                                </a:rPr>
                                <m:t>𝒙</m:t>
                              </m:r>
                            </m:e>
                            <m:sub>
                              <m:r>
                                <a:rPr lang="en-US" altLang="zh-CN" b="0" i="1" smtClean="0" sz="1600">
                                  <a:latin typeface="Arial" panose="02040503050406030204" pitchFamily="18" charset="0"/>
                                  <a:ea typeface="Arial" panose="02040503050406030204" pitchFamily="18" charset="0"/>
                                  <a:cs typeface="Arial"/>
                                </a:rPr>
                                <m:t>1</m:t>
                              </m:r>
                            </m:sub>
                          </m:sSub>
                        </m:e>
                      </m:d>
                      <m:r>
                        <a:rPr lang="en-US" altLang="zh-CN" i="1" sz="1600">
                          <a:latin typeface="Arial" panose="02040503050406030204" pitchFamily="18" charset="0"/>
                          <a:ea typeface="Arial" panose="02040503050406030204" pitchFamily="18" charset="0"/>
                          <a:cs typeface="Arial"/>
                        </a:rPr>
                        <m:t>,</m:t>
                      </m:r>
                      <m:r>
                        <a:rPr lang="en-US" altLang="zh-CN" i="1" smtClean="0" sz="1600">
                          <a:latin typeface="Arial" panose="02040503050406030204" pitchFamily="18" charset="0"/>
                          <a:ea typeface="Arial" panose="02040503050406030204" pitchFamily="18" charset="0"/>
                          <a:cs typeface="Arial"/>
                        </a:rPr>
                        <m:t>⋯</m:t>
                      </m:r>
                      <m:r>
                        <a:rPr lang="en-US" altLang="zh-CN" i="1" sz="1600">
                          <a:latin typeface="Arial" panose="02040503050406030204" pitchFamily="18" charset="0"/>
                          <a:ea typeface="Arial" panose="02040503050406030204" pitchFamily="18" charset="0"/>
                          <a:cs typeface="Arial"/>
                        </a:rPr>
                        <m:t>,</m:t>
                      </m:r>
                      <m:r>
                        <a:rPr lang="en-US" altLang="zh-CN" i="1" sz="1600">
                          <a:latin typeface="Arial" panose="02040503050406030204" pitchFamily="18" charset="0"/>
                          <a:ea typeface="Arial" panose="02040503050406030204" pitchFamily="18" charset="0"/>
                          <a:cs typeface="Arial"/>
                        </a:rPr>
                        <m:t>h</m:t>
                      </m:r>
                      <m:d>
                        <m:dPr>
                          <m:ctrlPr>
                            <a:rPr lang="en-US" altLang="zh-CN" i="1" sz="1600">
                              <a:latin typeface="Arial" panose="02040503050406030204" pitchFamily="18" charset="0"/>
                              <a:ea typeface="Arial" panose="02040503050406030204" pitchFamily="18" charset="0"/>
                              <a:cs typeface="Arial"/>
                            </a:rPr>
                          </m:ctrlPr>
                        </m:dPr>
                        <m:e>
                          <m:sSub>
                            <m:sSubPr>
                              <m:ctrlPr>
                                <a:rPr lang="en-US" altLang="zh-CN" i="1" sz="1600">
                                  <a:latin typeface="Arial" panose="02040503050406030204" pitchFamily="18" charset="0"/>
                                  <a:ea typeface="Arial" panose="02040503050406030204" pitchFamily="18" charset="0"/>
                                  <a:cs typeface="Arial"/>
                                </a:rPr>
                              </m:ctrlPr>
                            </m:sSubPr>
                            <m:e>
                              <m:r>
                                <a:rPr lang="en-US" altLang="zh-CN" b="1" i="1" sz="1600">
                                  <a:latin typeface="Arial" panose="02040503050406030204" pitchFamily="18" charset="0"/>
                                  <a:ea typeface="Arial" panose="02040503050406030204" pitchFamily="18" charset="0"/>
                                  <a:cs typeface="Arial"/>
                                </a:rPr>
                                <m:t>𝒙</m:t>
                              </m:r>
                            </m:e>
                            <m:sub>
                              <m:r>
                                <a:rPr lang="en-US" altLang="zh-CN" b="0" i="1" smtClean="0" sz="1600">
                                  <a:latin typeface="Arial" panose="02040503050406030204" pitchFamily="18" charset="0"/>
                                  <a:ea typeface="Arial" panose="02040503050406030204" pitchFamily="18" charset="0"/>
                                  <a:cs typeface="Arial"/>
                                </a:rPr>
                                <m:t>𝑚</m:t>
                              </m:r>
                            </m:sub>
                          </m:sSub>
                        </m:e>
                      </m:d>
                      <m:r>
                        <a:rPr lang="en-US" altLang="zh-CN" b="0" i="1" smtClean="0" sz="1600">
                          <a:latin typeface="Arial" panose="02040503050406030204" pitchFamily="18" charset="0"/>
                          <a:ea typeface="Arial" panose="02040503050406030204" pitchFamily="18" charset="0"/>
                          <a:cs typeface="Arial"/>
                        </a:rPr>
                        <m:t>)</m:t>
                      </m:r>
                    </m:e>
                  </m:func>
                </m:oMath>
              </m:oMathPara>
            </a14:m>
          </a:p>
          <a:p>
            <a:pPr marL="0" indent="0" eaLnBrk="1" fontAlgn="auto" hangingPunct="1">
              <a:spcAft>
                <a:spcPts val="0"/>
              </a:spcAft>
              <a:buNone/>
              <a:defRPr sz="1600" lang="en-US">
                <a:latin typeface="Arial"/>
                <a:ea typeface="Arial"/>
                <a:cs typeface="Arial"/>
              </a:defRPr>
            </a:pPr>
            <a:r>
              <a:rPr lang="en-US" altLang="en-US" dirty="0" sz="1600">
                <a:latin typeface="Arial" panose="020B0604020202020204" pitchFamily="34" charset="0"/>
                <a:ea typeface="Arial" panose="02010609060101010101" pitchFamily="49" charset="-122"/>
                <a:cs typeface="Arial"/>
              </a:rPr>
              <a:t>always has a solution of the form </a:t>
            </a:r>
            <a14:m>
              <m:oMath xmlns:m="http://schemas.openxmlformats.org/officeDocument/2006/math">
                <m:sSup>
                  <m:sSupPr>
                    <m:ctrlPr>
                      <a:rPr lang="en-US" altLang="zh-CN" i="1" sz="1600">
                        <a:latin typeface="Arial" panose="02040503050406030204" pitchFamily="18" charset="0"/>
                        <a:ea typeface="Arial" panose="02010609060101010101" pitchFamily="49" charset="-122"/>
                        <a:cs typeface="Arial"/>
                      </a:rPr>
                    </m:ctrlPr>
                  </m:sSupPr>
                  <m:e>
                    <m:r>
                      <a:rPr lang="en-US" altLang="zh-CN" i="1" sz="1600">
                        <a:latin typeface="Arial" panose="02040503050406030204" pitchFamily="18" charset="0"/>
                        <a:ea typeface="Arial" panose="02010609060101010101" pitchFamily="49" charset="-122"/>
                        <a:cs typeface="Arial"/>
                      </a:rPr>
                      <m:t>h</m:t>
                    </m:r>
                  </m:e>
                  <m:sup>
                    <m:r>
                      <a:rPr lang="en-US" altLang="zh-CN" i="1" sz="1600">
                        <a:latin typeface="Arial" panose="02040503050406030204" pitchFamily="18" charset="0"/>
                        <a:ea typeface="Arial" panose="02010609060101010101" pitchFamily="49" charset="-122"/>
                        <a:cs typeface="Arial"/>
                      </a:rPr>
                      <m:t>∗</m:t>
                    </m:r>
                  </m:sup>
                </m:sSup>
                <m:r>
                  <a:rPr lang="en-US" altLang="zh-CN" i="1" sz="1600">
                    <a:latin typeface="Arial" panose="02040503050406030204" pitchFamily="18" charset="0"/>
                    <a:ea typeface="Arial" panose="02010609060101010101" pitchFamily="49" charset="-122"/>
                    <a:cs typeface="Arial"/>
                  </a:rPr>
                  <m:t>(</m:t>
                </m:r>
                <m:r>
                  <a:rPr lang="en-US" altLang="zh-CN" b="1" i="1" sz="1600">
                    <a:latin typeface="Arial" panose="02040503050406030204" pitchFamily="18" charset="0"/>
                    <a:ea typeface="Arial" panose="02010609060101010101" pitchFamily="49" charset="-122"/>
                    <a:cs typeface="Arial"/>
                  </a:rPr>
                  <m:t>𝒙</m:t>
                </m:r>
                <m:r>
                  <a:rPr lang="en-US" altLang="zh-CN" i="1" sz="1600">
                    <a:latin typeface="Arial" panose="02040503050406030204" pitchFamily="18" charset="0"/>
                    <a:ea typeface="Arial" panose="02010609060101010101" pitchFamily="49" charset="-122"/>
                    <a:cs typeface="Arial"/>
                  </a:rPr>
                  <m:t>)=</m:t>
                </m:r>
                <m:nary>
                  <m:naryPr>
                    <m:chr m:val="∑"/>
                    <m:ctrlPr>
                      <a:rPr lang="en-US" altLang="zh-CN" i="1" sz="1600">
                        <a:latin typeface="Arial" panose="02040503050406030204" pitchFamily="18" charset="0"/>
                        <a:ea typeface="Arial" panose="02010609060101010101" pitchFamily="49" charset="-122"/>
                        <a:cs typeface="Arial"/>
                      </a:rPr>
                    </m:ctrlPr>
                  </m:naryPr>
                  <m:sub>
                    <m:r>
                      <m:rPr>
                        <m:brk m:alnAt="23"/>
                      </m:rPr>
                      <a:rPr lang="en-US" altLang="zh-CN" i="1" sz="1600">
                        <a:latin typeface="Arial" panose="02040503050406030204" pitchFamily="18" charset="0"/>
                        <a:ea typeface="Arial" panose="02010609060101010101" pitchFamily="49" charset="-122"/>
                        <a:cs typeface="Arial"/>
                      </a:rPr>
                      <m:t>𝑖</m:t>
                    </m:r>
                    <m:r>
                      <a:rPr lang="en-US" altLang="zh-CN" i="1" sz="1600">
                        <a:latin typeface="Arial" panose="02040503050406030204" pitchFamily="18" charset="0"/>
                        <a:ea typeface="Arial" panose="02010609060101010101" pitchFamily="49" charset="-122"/>
                        <a:cs typeface="Arial"/>
                      </a:rPr>
                      <m:t>=1</m:t>
                    </m:r>
                  </m:sub>
                  <m:sup>
                    <m:r>
                      <a:rPr lang="en-US" altLang="zh-CN" i="1" sz="1600">
                        <a:latin typeface="Arial" panose="02040503050406030204" pitchFamily="18" charset="0"/>
                        <a:ea typeface="Arial" panose="02010609060101010101" pitchFamily="49" charset="-122"/>
                        <a:cs typeface="Arial"/>
                      </a:rPr>
                      <m:t>𝑚</m:t>
                    </m:r>
                  </m:sup>
                  <m:e>
                    <m:sSub>
                      <m:sSubPr>
                        <m:ctrlPr>
                          <a:rPr lang="en-US" altLang="zh-CN" i="1" sz="1600">
                            <a:latin typeface="Arial" panose="02040503050406030204" pitchFamily="18" charset="0"/>
                            <a:ea typeface="Arial" panose="02010609060101010101" pitchFamily="49" charset="-122"/>
                            <a:cs typeface="Arial"/>
                          </a:rPr>
                        </m:ctrlPr>
                      </m:sSubPr>
                      <m:e>
                        <m:r>
                          <a:rPr lang="en-US" altLang="en-US" i="1" sz="1600">
                            <a:latin typeface="Arial" panose="02040503050406030204" pitchFamily="18" charset="0"/>
                            <a:ea typeface="Arial" panose="02010609060101010101" pitchFamily="49" charset="-122"/>
                            <a:cs typeface="Arial"/>
                          </a:rPr>
                          <m:t>𝛼</m:t>
                        </m:r>
                      </m:e>
                      <m:sub>
                        <m:r>
                          <a:rPr lang="en-US" altLang="zh-CN" i="1" sz="1600">
                            <a:latin typeface="Arial" panose="02040503050406030204" pitchFamily="18" charset="0"/>
                            <a:ea typeface="Arial" panose="02010609060101010101" pitchFamily="49" charset="-122"/>
                            <a:cs typeface="Arial"/>
                          </a:rPr>
                          <m:t>𝑖</m:t>
                        </m:r>
                      </m:sub>
                    </m:sSub>
                    <m:r>
                      <a:rPr lang="en-US" altLang="en-US" i="1" sz="1600">
                        <a:latin typeface="Arial" panose="02040503050406030204" pitchFamily="18" charset="0"/>
                        <a:ea typeface="Arial" panose="02010609060101010101" pitchFamily="49" charset="-122"/>
                        <a:cs typeface="Arial"/>
                      </a:rPr>
                      <m:t>𝜅</m:t>
                    </m:r>
                    <m:r>
                      <a:rPr lang="en-US" altLang="zh-CN" i="1" sz="1600">
                        <a:latin typeface="Arial" panose="02040503050406030204" pitchFamily="18" charset="0"/>
                        <a:ea typeface="Arial" panose="02010609060101010101" pitchFamily="49" charset="-122"/>
                        <a:cs typeface="Arial"/>
                      </a:rPr>
                      <m:t>(</m:t>
                    </m:r>
                    <m:r>
                      <a:rPr lang="en-US" altLang="zh-CN" b="1" i="1" sz="1600">
                        <a:latin typeface="Arial" panose="02040503050406030204" pitchFamily="18" charset="0"/>
                        <a:ea typeface="Arial" panose="02010609060101010101" pitchFamily="49" charset="-122"/>
                        <a:cs typeface="Arial"/>
                      </a:rPr>
                      <m:t>𝒙</m:t>
                    </m:r>
                    <m:r>
                      <a:rPr lang="en-US" altLang="zh-CN" i="1" sz="1600">
                        <a:latin typeface="Arial" panose="02040503050406030204" pitchFamily="18" charset="0"/>
                        <a:ea typeface="Arial" panose="02010609060101010101" pitchFamily="49" charset="-122"/>
                        <a:cs typeface="Arial"/>
                      </a:rPr>
                      <m:t>,</m:t>
                    </m:r>
                    <m:sSub>
                      <m:sSubPr>
                        <m:ctrlPr>
                          <a:rPr lang="en-US" altLang="zh-CN" i="1" sz="1600">
                            <a:latin typeface="Arial" panose="02040503050406030204" pitchFamily="18" charset="0"/>
                            <a:ea typeface="Arial" panose="02010609060101010101" pitchFamily="49" charset="-122"/>
                            <a:cs typeface="Arial"/>
                          </a:rPr>
                        </m:ctrlPr>
                      </m:sSubPr>
                      <m:e>
                        <m:r>
                          <a:rPr lang="en-US" altLang="zh-CN" b="1" i="1" sz="1600">
                            <a:latin typeface="Arial" panose="02040503050406030204" pitchFamily="18" charset="0"/>
                            <a:ea typeface="Arial" panose="02010609060101010101" pitchFamily="49" charset="-122"/>
                            <a:cs typeface="Arial"/>
                          </a:rPr>
                          <m:t>𝒙</m:t>
                        </m:r>
                      </m:e>
                      <m:sub>
                        <m:r>
                          <a:rPr lang="en-US" altLang="zh-CN" i="1" sz="1600">
                            <a:latin typeface="Arial" panose="02040503050406030204" pitchFamily="18" charset="0"/>
                            <a:ea typeface="Arial" panose="02010609060101010101" pitchFamily="49" charset="-122"/>
                            <a:cs typeface="Arial"/>
                          </a:rPr>
                          <m:t>𝑖</m:t>
                        </m:r>
                      </m:sub>
                    </m:sSub>
                    <m:r>
                      <a:rPr lang="en-US" altLang="zh-CN" i="1" sz="1600">
                        <a:latin typeface="Arial" panose="02040503050406030204" pitchFamily="18" charset="0"/>
                        <a:ea typeface="Arial" panose="02010609060101010101" pitchFamily="49" charset="-122"/>
                        <a:cs typeface="Arial"/>
                      </a:rPr>
                      <m:t>)</m:t>
                    </m:r>
                  </m:e>
                </m:nary>
              </m:oMath>
            </a14:m>
            <a:r>
              <a:rPr lang="en-US" altLang="en-US" dirty="0" sz="1600">
                <a:latin typeface="Arial" panose="020B0604020202020204" pitchFamily="34" charset="0"/>
                <a:ea typeface="Arial" panose="02010609060101010101" pitchFamily="49" charset="-122"/>
                <a:cs typeface="Arial"/>
              </a:rPr>
              <a:t>.</a:t>
            </a:r>
          </a:p>
          <a:p>
            <a:pPr marL="0" indent="0" eaLnBrk="1" fontAlgn="auto" hangingPunct="1">
              <a:spcAft>
                <a:spcPts val="0"/>
              </a:spcAft>
              <a:buNone/>
              <a:defRPr sz="1600" lang="en-US">
                <a:latin typeface="Arial"/>
                <a:ea typeface="Arial"/>
                <a:cs typeface="Arial"/>
              </a:defRPr>
            </a:pPr>
            <a14:m>
              <m:oMath xmlns:m="http://schemas.openxmlformats.org/officeDocument/2006/math">
                <m:r>
                  <a:rPr lang="en-US" altLang="zh-CN" b="0" i="1" smtClean="0" sz="1600">
                    <a:solidFill>
                      <a:prstClr val="black"/>
                    </a:solidFill>
                    <a:latin typeface="Arial" panose="02040503050406030204" pitchFamily="18" charset="0"/>
                    <a:ea typeface="Arial" panose="02010609060101010101" pitchFamily="49" charset="-122"/>
                    <a:cs typeface="Arial"/>
                  </a:rPr>
                  <m:t>h</m:t>
                </m:r>
                <m:r>
                  <a:rPr lang="en-US" altLang="zh-CN" b="0" i="1" smtClean="0" sz="1600">
                    <a:solidFill>
                      <a:prstClr val="black"/>
                    </a:solidFill>
                    <a:latin typeface="Arial" panose="02040503050406030204" pitchFamily="18" charset="0"/>
                    <a:ea typeface="Arial" panose="02010609060101010101" pitchFamily="49" charset="-122"/>
                    <a:cs typeface="Arial"/>
                  </a:rPr>
                  <m:t>(∙)</m:t>
                </m:r>
              </m:oMath>
            </a14:m>
            <a:r>
              <a:rPr lang="en-US" altLang="en-US" dirty="0" sz="1600">
                <a:solidFill>
                  <a:prstClr val="black"/>
                </a:solidFill>
                <a:latin typeface="Arial" panose="020B0604020202020204" pitchFamily="34" charset="0"/>
                <a:ea typeface="Arial" panose="02010609060101010101" pitchFamily="49" charset="-122"/>
                <a:cs typeface="Arial"/>
              </a:rPr>
              <a:t> maps the original feature space into the RKHS.</a:t>
            </a:r>
          </a:p>
        </p:txBody>
      </p:sp>
      <p:sp>
        <p:nvSpPr>
          <p:cNvPr id="11" name="内容占位符 3">
            <a:extLst>
              <a:ext uri="{FF2B5EF4-FFF2-40B4-BE49-F238E27FC236}">
                <a16:creationId xmlns:a16="http://schemas.microsoft.com/office/drawing/2014/main" id="{0FCB3C49-5DEF-BC12-AFFA-6D12B6A84E28}"/>
              </a:ext>
            </a:extLst>
          </p:cNvPr>
          <p:cNvSpPr txBox="1">
            <a:spLocks/>
          </p:cNvSpPr>
          <p:nvPr/>
        </p:nvSpPr>
        <p:spPr bwMode="auto">
          <a:xfrm>
            <a:off x="226086" y="1452022"/>
            <a:ext cx="100584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defPPr>
              <a:defRPr lang="en-US" sz="1600">
                <a:latin typeface="Arial"/>
                <a:ea typeface="Arial"/>
                <a:cs typeface="Arial"/>
              </a:defRPr>
            </a:defPPr>
            <a:lvl1pPr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1pPr>
            <a:lvl2pPr marL="4572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2pPr>
            <a:lvl3pPr marL="9144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3pPr>
            <a:lvl4pPr marL="13716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4pPr>
            <a:lvl5pPr marL="18288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5pPr>
            <a:lvl6pPr marL="22860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6pPr>
            <a:lvl7pPr marL="27432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7pPr>
            <a:lvl8pPr marL="32004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8pPr>
            <a:lvl9pPr marL="36576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9pPr>
          </a:lstStyle>
          <a:p>
            <a:r>
              <a:rPr sz="1600">
                <a:latin typeface="Arial"/>
                <a:ea typeface="Arial"/>
                <a:cs typeface="Arial"/>
              </a:rPr>
              <a:t>SVM</a:t>
            </a:r>
          </a:p>
        </p:txBody>
      </p:sp>
      <p:sp>
        <p:nvSpPr>
          <p:cNvPr id="12" name="内容占位符 3">
            <a:extLst>
              <a:ext uri="{FF2B5EF4-FFF2-40B4-BE49-F238E27FC236}">
                <a16:creationId xmlns:a16="http://schemas.microsoft.com/office/drawing/2014/main" id="{4D4E1EB7-1F30-C6EA-7CD5-999A5CCD848E}"/>
              </a:ext>
            </a:extLst>
          </p:cNvPr>
          <p:cNvSpPr txBox="1">
            <a:spLocks/>
          </p:cNvSpPr>
          <p:nvPr/>
        </p:nvSpPr>
        <p:spPr bwMode="auto">
          <a:xfrm>
            <a:off x="226086" y="2302302"/>
            <a:ext cx="1005840" cy="450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0" tIns="0" rIns="0" bIns="0">
            <a:noAutofit/>
          </a:bodyPr>
          <a:lstStyle>
            <a:defPPr>
              <a:defRPr lang="en-US" sz="1600">
                <a:latin typeface="Arial"/>
                <a:ea typeface="Arial"/>
                <a:cs typeface="Arial"/>
              </a:defRPr>
            </a:defPPr>
            <a:lvl1pPr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1pPr>
            <a:lvl2pPr marL="4572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2pPr>
            <a:lvl3pPr marL="9144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3pPr>
            <a:lvl4pPr marL="13716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4pPr>
            <a:lvl5pPr marL="1828800" algn="l" rtl="0" fontAlgn="base">
              <a:spcBef>
                <a:spcPct val="0"/>
              </a:spcBef>
              <a:spcAft>
                <a:spcPct val="0"/>
              </a:spcAft>
              <a:defRPr kern="1200" sz="1600" lang="en-US">
                <a:solidFill>
                  <a:schemeClr val="tx1"/>
                </a:solidFill>
                <a:latin typeface="Arial" panose="020B0604020202020204" pitchFamily="34" charset="0"/>
                <a:ea typeface="Arial" panose="02010600030101010101" pitchFamily="2" charset="-122"/>
                <a:cs typeface="Arial"/>
              </a:defRPr>
            </a:lvl5pPr>
            <a:lvl6pPr marL="22860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6pPr>
            <a:lvl7pPr marL="27432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7pPr>
            <a:lvl8pPr marL="32004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8pPr>
            <a:lvl9pPr marL="3657600" algn="l" defTabSz="914400" rtl="0" eaLnBrk="1" latinLnBrk="0" hangingPunct="1">
              <a:defRPr kern="1200" sz="1600" lang="en-US">
                <a:solidFill>
                  <a:schemeClr val="tx1"/>
                </a:solidFill>
                <a:latin typeface="Arial" panose="020B0604020202020204" pitchFamily="34" charset="0"/>
                <a:ea typeface="Arial" panose="02010600030101010101" pitchFamily="2" charset="-122"/>
                <a:cs typeface="Arial"/>
              </a:defRPr>
            </a:lvl9pPr>
          </a:lstStyle>
          <a:p>
            <a:r>
              <a:rPr sz="1600">
                <a:latin typeface="Arial"/>
                <a:ea typeface="Arial"/>
                <a:cs typeface="Arial"/>
              </a:rPr>
              <a:t>SVR</a:t>
            </a:r>
          </a:p>
        </p:txBody>
      </p:sp>
      <p:sp>
        <p:nvSpPr>
          <p:cNvPr id="4" name="文本框 3">
            <a:extLst>
              <a:ext uri="{FF2B5EF4-FFF2-40B4-BE49-F238E27FC236}">
                <a16:creationId xmlns:a16="http://schemas.microsoft.com/office/drawing/2014/main" id="{8921D5D4-65CF-48F3-85F5-2AE23465C700}"/>
              </a:ext>
            </a:extLst>
          </p:cNvPr>
          <p:cNvSpPr txBox="1"/>
          <p:nvPr/>
        </p:nvSpPr>
        <p:spPr>
          <a:xfrm>
            <a:off x="53622" y="854030"/>
            <a:ext cx="1454612"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Kernel Methods</a:t>
            </a:r>
          </a:p>
        </p:txBody>
      </p:sp>
      <p:sp xmlns:a14="http://schemas.microsoft.com/office/drawing/2010/main">
        <p:nvSpPr>
          <p:cNvPr id="9" name="文本框 8">
            <a:extLst>
              <a:ext uri="{FF2B5EF4-FFF2-40B4-BE49-F238E27FC236}">
                <a16:creationId xmlns:a16="http://schemas.microsoft.com/office/drawing/2014/main" id="{682CB793-2FCB-7718-EEED-4204BFCEA4CA}"/>
              </a:ext>
            </a:extLst>
          </p:cNvPr>
          <p:cNvSpPr txBox="1"/>
          <p:nvPr/>
        </p:nvSpPr>
        <p:spPr>
          <a:xfrm>
            <a:off x="2405323" y="1231054"/>
            <a:ext cx="5186205" cy="756297"/>
          </a:xfrm>
          <a:prstGeom prst="rect">
            <a:avLst/>
          </a:prstGeom>
          <a:noFill/>
        </p:spPr>
        <p:txBody>
          <a:bodyPr wrap="square" lIns="0" tIns="0" rIns="0" bIns="0">
            <a:noAutofit/>
          </a:bodyPr>
          <a:lstStyle/>
          <a:p>
            <a:pPr marL="0" marR="0" lvl="0" indent="0" algn="l" defTabSz="914400" rtl="0" eaLnBrk="1" fontAlgn="auto" latinLnBrk="0" hangingPunct="1">
              <a:lnSpc>
                <a:spcPct val="90000"/>
              </a:lnSpc>
              <a:spcBef>
                <a:spcPts val="1000"/>
              </a:spcBef>
              <a:spcAft>
                <a:spcPts val="0"/>
              </a:spcAft>
              <a:buClr>
                <a:srgbClr val="1F497D"/>
              </a:buClr>
              <a:buSzPct val="100000"/>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𝑓</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p>
                    <m:sSup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𝒘</m:t>
                      </m:r>
                    </m:e>
                    <m:sup>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up>
                  </m:s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𝜙</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nary>
                    <m:naryPr>
                      <m:chr m:val="∑"/>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naryPr>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=1</m:t>
                      </m:r>
                    </m:sub>
                    <m: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𝑚</m:t>
                      </m:r>
                    </m:sup>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m:rPr>
                              <m:sty m:val="p"/>
                            </m:rP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α</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𝑦</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𝜅</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e>
                  </m:nary>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oMath>
              </m:oMathPara>
            </a14:m>
            <a:endParaRPr kumimoji="0" lang="en-US" altLang="zh-CN" sz="1600" b="0" i="0" u="none" strike="noStrike" kern="100" cap="none" spc="0" normalizeH="0" baseline="0" noProof="0" dirty="0">
              <a:ln>
                <a:noFill/>
              </a:ln>
              <a:solidFill>
                <a:prstClr val="black"/>
              </a:solidFill>
              <a:effectLst/>
              <a:uLnTx/>
              <a:uFillTx/>
              <a:latin typeface="Arial" panose="02010600030101010101" pitchFamily="2" charset="-122"/>
              <a:ea typeface="Arial" panose="02010600030101010101" pitchFamily="2" charset="-122"/>
              <a:cs typeface="Arial" panose="02020603050405020304" pitchFamily="18" charset="0"/>
            </a:endParaRPr>
          </a:p>
        </p:txBody>
      </p:sp>
      <p:sp xmlns:a14="http://schemas.microsoft.com/office/drawing/2010/main">
        <p:nvSpPr>
          <p:cNvPr id="15" name="文本框 14">
            <a:extLst>
              <a:ext uri="{FF2B5EF4-FFF2-40B4-BE49-F238E27FC236}">
                <a16:creationId xmlns:a16="http://schemas.microsoft.com/office/drawing/2014/main" id="{987A34A9-393B-5D92-D1A7-85A88A475802}"/>
              </a:ext>
            </a:extLst>
          </p:cNvPr>
          <p:cNvSpPr txBox="1"/>
          <p:nvPr/>
        </p:nvSpPr>
        <p:spPr>
          <a:xfrm>
            <a:off x="2405323" y="2016782"/>
            <a:ext cx="5840902" cy="932628"/>
          </a:xfrm>
          <a:prstGeom prst="rect">
            <a:avLst/>
          </a:prstGeom>
          <a:noFill/>
        </p:spPr>
        <p:txBody>
          <a:bodyPr wrap="square">
            <a:noAutofit/>
          </a:bodyPr>
          <a:lstStyle/>
          <a:p>
            <a:pPr marL="0" marR="0" lvl="0" indent="0" algn="just"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𝑓</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p>
                    <m:sSup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p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𝒘</m:t>
                      </m:r>
                    </m:e>
                    <m:sup>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up>
                  </m:s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𝜙</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nary>
                    <m:naryPr>
                      <m:chr m:val="∑"/>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naryPr>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=1</m:t>
                      </m:r>
                    </m:sub>
                    <m:sup>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𝑚</m:t>
                      </m:r>
                    </m:sup>
                    <m:e>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ctrlPr>
                            </m:sSubPr>
                            <m:e>
                              <m:acc>
                                <m:accPr>
                                  <m:chr m:val="̂"/>
                                  <m:ctrlP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ctrlPr>
                                </m:accPr>
                                <m:e>
                                  <m:r>
                                    <a:rPr kumimoji="0" lang="en-US" altLang="en-US"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𝛼</m:t>
                                  </m:r>
                                </m:e>
                              </m:acc>
                            </m:e>
                            <m:sub>
                              <m:r>
                                <a:rPr kumimoji="0" lang="en-US" altLang="zh-CN" sz="1600" b="0" i="1" u="none" strike="noStrike" kern="100" cap="none" spc="0" normalizeH="0" baseline="0" noProof="0" smtClean="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m:rPr>
                                  <m:sty m:val="p"/>
                                </m:rP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α</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e>
                      </m:d>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𝜅</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𝑖</m:t>
                              </m:r>
                            </m:sub>
                          </m:s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𝒙</m:t>
                          </m:r>
                        </m:e>
                      </m:d>
                    </m:e>
                  </m:nary>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30101010101" pitchFamily="2" charset="-122"/>
                      <a:cs typeface="Arial" panose="02020603050405020304" pitchFamily="18" charset="0"/>
                    </a:rPr>
                    <m:t>𝑏</m:t>
                  </m:r>
                </m:oMath>
              </m:oMathPara>
            </a14:m>
            <a:endParaRPr kumimoji="0" lang="en-US" altLang="zh-CN" sz="1600" b="0" i="0" u="none" strike="noStrike" kern="100" cap="none" spc="0" normalizeH="0" baseline="0" noProof="0" dirty="0">
              <a:ln>
                <a:noFill/>
              </a:ln>
              <a:solidFill>
                <a:prstClr val="black"/>
              </a:solidFill>
              <a:effectLst/>
              <a:uLnTx/>
              <a:uFillTx/>
              <a:latin typeface="Arial" panose="02010600030101010101" pitchFamily="2" charset="-122"/>
              <a:ea typeface="Arial" panose="02010600030101010101" pitchFamily="2" charset="-122"/>
              <a:cs typeface="Arial" panose="02020603050405020304" pitchFamily="18" charset="0"/>
            </a:endParaRPr>
          </a:p>
        </p:txBody>
      </p:sp>
      <p:sp>
        <p:nvSpPr>
          <p:cNvPr id="17" name="文本框 16">
            <a:extLst>
              <a:ext uri="{FF2B5EF4-FFF2-40B4-BE49-F238E27FC236}">
                <a16:creationId xmlns:a16="http://schemas.microsoft.com/office/drawing/2014/main" id="{2EBF72D0-8DC5-B2B5-24F5-9E1445082D7A}"/>
              </a:ext>
            </a:extLst>
          </p:cNvPr>
          <p:cNvSpPr txBox="1"/>
          <p:nvPr/>
        </p:nvSpPr>
        <p:spPr>
          <a:xfrm>
            <a:off x="226086" y="2949410"/>
            <a:ext cx="8906608" cy="677108"/>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 typeface="Wingdings" panose="05000000000000000000" pitchFamily="2" charset="2"/>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Conclusion: in both support vector machines and support vector regression, the learned model can be expressed as a linear combination of kernel functions.</a:t>
            </a:r>
          </a:p>
        </p:txBody>
      </p:sp>
    </p:spTree>
    <p:extLst>
      <p:ext uri="{BB962C8B-B14F-4D97-AF65-F5344CB8AC3E}">
        <p14:creationId xmlns:p14="http://schemas.microsoft.com/office/powerpoint/2010/main" val="1079603235"/>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94</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xmlns:a14="http://schemas.microsoft.com/office/drawing/2010/main">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2342117" y="1543934"/>
            <a:ext cx="5329799" cy="2084784"/>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centerGroup"/>
                </m:oMathParaPr>
                <m:o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𝜶</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𝐾</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72000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14:m>
              <m:oMathPara xmlns:m="http://schemas.openxmlformats.org/officeDocument/2006/math">
                <m:oMathParaPr>
                  <m:jc m:val="left"/>
                </m:oMathParaPr>
                <m:o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m:oMathPara>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p:nvSpPr>
          <p:cNvPr id="56" name="object 5">
            <a:extLst>
              <a:ext uri="{FF2B5EF4-FFF2-40B4-BE49-F238E27FC236}">
                <a16:creationId xmlns:a16="http://schemas.microsoft.com/office/drawing/2014/main" id="{41403CDE-F633-1F2A-BFAA-D38A25340C00}"/>
              </a:ext>
            </a:extLst>
          </p:cNvPr>
          <p:cNvSpPr txBox="1"/>
          <p:nvPr/>
        </p:nvSpPr>
        <p:spPr>
          <a:xfrm>
            <a:off x="301518" y="3858708"/>
            <a:ext cx="8649929" cy="1538883"/>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Sequential minimal optimization (SMO): a heuristic algorithm</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Basic idea:</a:t>
            </a:r>
          </a:p>
          <a:p>
            <a:pPr marL="342900" marR="508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If the solution satisfies the KKT conditions for all variables, optimization is complete.</a:t>
            </a:r>
          </a:p>
          <a:p>
            <a:pPr marL="342900" marR="508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Otherwise, select two variables and fix the rest. Solve the resulting two-variable quadratic subproblem analytically to speed up computation.</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10" y="1205380"/>
            <a:ext cx="2804736"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Dual problem of the soft-margin SVM:</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rPr>
              <a:t>Quadratic programming problem</a:t>
            </a:r>
          </a:p>
        </p:txBody>
      </p:sp>
      <p:sp>
        <p:nvSpPr>
          <p:cNvPr id="3" name="文本框 2">
            <a:extLst>
              <a:ext uri="{FF2B5EF4-FFF2-40B4-BE49-F238E27FC236}">
                <a16:creationId xmlns:a16="http://schemas.microsoft.com/office/drawing/2014/main" id="{A6D32FD5-3E30-08B8-A83D-246A3E90DFC8}"/>
              </a:ext>
            </a:extLst>
          </p:cNvPr>
          <p:cNvSpPr txBox="1"/>
          <p:nvPr/>
        </p:nvSpPr>
        <p:spPr>
          <a:xfrm>
            <a:off x="301519" y="5627582"/>
            <a:ext cx="8741998" cy="923330"/>
          </a:xfrm>
          <a:prstGeom prst="rect">
            <a:avLst/>
          </a:prstGeom>
          <a:noFill/>
        </p:spPr>
        <p:txBody>
          <a:bodyPr wrap="square" lIns="0" tIns="0" rIns="0" bIns="0" rtlCol="0">
            <a:noAutofit/>
          </a:bodyPr>
          <a:lstStyle/>
          <a:p>
            <a:pPr lvl="0"/>
            <a:r>
              <a:rPr lang="en-US" altLang="zh-CN" sz="1600" dirty="0">
                <a:solidFill>
                  <a:prstClr val="black"/>
                </a:solidFill>
                <a:latin typeface="Arial" panose="020B0604020202020204" pitchFamily="34" charset="0"/>
                <a:ea typeface="Arial" panose="02010609060101010101" pitchFamily="49" charset="-122"/>
                <a:cs typeface="Arial"/>
              </a:rPr>
              <a:t>SMO has two components:</a:t>
            </a:r>
          </a:p>
          <a:p>
            <a:pPr marL="342900" lvl="0" indent="-342900">
              <a:buFont typeface="Wingdings" panose="05000000000000000000" pitchFamily="2" charset="2"/>
              <a:buChar char="Ø"/>
            </a:pPr>
            <a:r>
              <a:rPr lang="en-US" altLang="en-US" sz="1600" dirty="0">
                <a:solidFill>
                  <a:prstClr val="black"/>
                </a:solidFill>
                <a:latin typeface="Arial" panose="020B0604020202020204" pitchFamily="34" charset="0"/>
                <a:ea typeface="Arial" panose="02010609060101010101" pitchFamily="49" charset="-122"/>
                <a:cs typeface="Arial"/>
              </a:rPr>
              <a:t>An analytical solution to the two-variable quadratic program</a:t>
            </a:r>
          </a:p>
          <a:p>
            <a:pPr marL="342900" lvl="0" indent="-342900">
              <a:buFont typeface="Wingdings" panose="05000000000000000000" pitchFamily="2" charset="2"/>
              <a:buChar char="Ø"/>
            </a:pPr>
            <a:r>
              <a:rPr lang="en-US" altLang="en-US" sz="1600" dirty="0">
                <a:solidFill>
                  <a:prstClr val="black"/>
                </a:solidFill>
                <a:latin typeface="Arial" panose="020B0604020202020204" pitchFamily="34" charset="0"/>
                <a:ea typeface="Arial" panose="02010609060101010101" pitchFamily="49" charset="-122"/>
                <a:cs typeface="Arial"/>
              </a:rPr>
              <a:t>A heuristic for choosing the variables</a:t>
            </a:r>
          </a:p>
        </p:txBody>
      </p:sp>
    </p:spTree>
    <p:extLst>
      <p:ext uri="{BB962C8B-B14F-4D97-AF65-F5344CB8AC3E}">
        <p14:creationId xmlns:p14="http://schemas.microsoft.com/office/powerpoint/2010/main" val="682673648"/>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95</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09" y="1264686"/>
            <a:ext cx="6601702" cy="30777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Select two variables and fix the rest. The SMO subproblem is:</a:t>
            </a:r>
          </a:p>
        </p:txBody>
      </p:sp>
      <p:pic>
        <p:nvPicPr>
          <p:cNvPr id="7" name="图片 6">
            <a:extLst>
              <a:ext uri="{FF2B5EF4-FFF2-40B4-BE49-F238E27FC236}">
                <a16:creationId xmlns:a16="http://schemas.microsoft.com/office/drawing/2014/main" id="{384F2F8E-1BE0-BFF9-DE1E-D8997C9B72DD}"/>
              </a:ext>
            </a:extLst>
          </p:cNvPr>
          <p:cNvPicPr>
            <a:picLocks noChangeAspect="1"/>
          </p:cNvPicPr>
          <p:nvPr/>
        </p:nvPicPr>
        <p:blipFill rotWithShape="1">
          <a:blip r:embed="rId2"/>
          <a:srcRect l="4449" b="18000"/>
          <a:stretch/>
        </p:blipFill>
        <p:spPr>
          <a:xfrm>
            <a:off x="341709" y="1743149"/>
            <a:ext cx="8744449" cy="1957112"/>
          </a:xfrm>
          <a:prstGeom prst="rect">
            <a:avLst/>
          </a:prstGeom>
        </p:spPr>
      </p:pic>
      <p:sp xmlns:a14="http://schemas.microsoft.com/office/drawing/2010/main">
        <p:nvSpPr>
          <p:cNvPr id="3" name="文本框 2">
            <a:extLst>
              <a:ext uri="{FF2B5EF4-FFF2-40B4-BE49-F238E27FC236}">
                <a16:creationId xmlns:a16="http://schemas.microsoft.com/office/drawing/2014/main" id="{DF81BCC3-A49A-500D-06BE-646CEF26E0EE}"/>
              </a:ext>
            </a:extLst>
          </p:cNvPr>
          <p:cNvSpPr txBox="1"/>
          <p:nvPr/>
        </p:nvSpPr>
        <p:spPr>
          <a:xfrm>
            <a:off x="341709" y="4551904"/>
            <a:ext cx="8551082" cy="662361"/>
          </a:xfrm>
          <a:prstGeom prst="rect">
            <a:avLst/>
          </a:prstGeom>
          <a:noFill/>
        </p:spPr>
        <p:txBody>
          <a:bodyPr wrap="square" lIns="0" tIns="0" rIns="0" bIns="0" rtlCol="0">
            <a:noAutofit/>
          </a:bodyPr>
          <a:lstStyle/>
          <a:p>
            <a:r>
              <a:rPr lang="en-US" altLang="en-US" sz="1600" dirty="0">
                <a:latin typeface="Arial"/>
                <a:ea typeface="Arial"/>
                <a:cs typeface="Arial"/>
              </a:rPr>
              <a:t>Here,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𝑖𝑗</m:t>
                    </m:r>
                  </m:sub>
                </m:sSub>
                <m:r>
                  <a:rPr lang="en-US" altLang="zh-CN" sz="1600" b="0" i="1" smtClean="0">
                    <a:latin typeface="Arial" panose="02040503050406030204" pitchFamily="18" charset="0"/>
                    <a:ea typeface="Arial"/>
                    <a:cs typeface="Arial"/>
                  </a:rPr>
                  <m:t>=</m:t>
                </m:r>
                <m:r>
                  <a:rPr lang="en-US" altLang="en-US" sz="1600" b="0" i="1" smtClean="0">
                    <a:latin typeface="Arial" panose="02040503050406030204" pitchFamily="18" charset="0"/>
                    <a:ea typeface="Arial"/>
                    <a:cs typeface="Arial"/>
                  </a:rPr>
                  <m:t>𝜅</m:t>
                </m:r>
                <m:r>
                  <a:rPr lang="en-US" altLang="zh-CN" sz="1600" b="0" i="1" smtClean="0">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zh-CN" sz="1600" i="1">
                        <a:latin typeface="Arial" panose="02040503050406030204" pitchFamily="18" charset="0"/>
                        <a:ea typeface="Arial"/>
                        <a:cs typeface="Arial"/>
                      </a:rPr>
                      <m:t>𝑥</m:t>
                    </m:r>
                  </m:e>
                  <m:sub>
                    <m:r>
                      <a:rPr lang="en-US" altLang="zh-CN" sz="1600" i="1">
                        <a:latin typeface="Arial" panose="02040503050406030204" pitchFamily="18" charset="0"/>
                        <a:ea typeface="Arial"/>
                        <a:cs typeface="Arial"/>
                      </a:rPr>
                      <m:t>𝑖</m:t>
                    </m:r>
                  </m:sub>
                </m:sSub>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zh-CN" sz="1600" i="1">
                        <a:latin typeface="Arial" panose="02040503050406030204" pitchFamily="18" charset="0"/>
                        <a:ea typeface="Arial"/>
                        <a:cs typeface="Arial"/>
                      </a:rPr>
                      <m:t>𝑥</m:t>
                    </m:r>
                  </m:e>
                  <m:sub>
                    <m:r>
                      <a:rPr lang="en-US" altLang="zh-CN" sz="1600" i="1">
                        <a:latin typeface="Arial" panose="02040503050406030204" pitchFamily="18" charset="0"/>
                        <a:ea typeface="Arial"/>
                        <a:cs typeface="Arial"/>
                      </a:rPr>
                      <m:t>𝑗</m:t>
                    </m:r>
                  </m:sub>
                </m:sSub>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i="1">
                    <a:solidFill>
                      <a:prstClr val="black"/>
                    </a:solidFill>
                    <a:latin typeface="Arial" panose="02040503050406030204" pitchFamily="18" charset="0"/>
                    <a:ea typeface="Arial"/>
                    <a:cs typeface="Arial"/>
                  </a:rPr>
                  <m:t>𝑖</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𝑗</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1</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a:cs typeface="Arial"/>
                  </a:rPr>
                  <m:t>2</m:t>
                </m:r>
                <m:r>
                  <a:rPr lang="en-US" altLang="zh-CN" sz="1600" i="1">
                    <a:solidFill>
                      <a:prstClr val="black"/>
                    </a:solidFill>
                    <a:latin typeface="Arial" panose="02040503050406030204" pitchFamily="18" charset="0"/>
                    <a:ea typeface="Arial"/>
                    <a:cs typeface="Arial"/>
                  </a:rPr>
                  <m:t>,⋯,</m:t>
                </m:r>
                <m:r>
                  <a:rPr lang="en-US" altLang="zh-CN" sz="1600" i="1">
                    <a:solidFill>
                      <a:prstClr val="black"/>
                    </a:solidFill>
                    <a:latin typeface="Arial" panose="02040503050406030204" pitchFamily="18" charset="0"/>
                    <a:ea typeface="Arial" panose="02040503050406030204" pitchFamily="18" charset="0"/>
                    <a:cs typeface="Arial"/>
                  </a:rPr>
                  <m:t>𝑁</m:t>
                </m:r>
              </m:oMath>
            </a14:m>
            <a:r>
              <a:rPr lang="en-US" altLang="en-US" sz="1600" dirty="0">
                <a:latin typeface="Arial"/>
                <a:ea typeface="Arial"/>
                <a:cs typeface="Arial"/>
              </a:rPr>
              <a:t>, and </a:t>
            </a:r>
            <a14:m>
              <m:oMath xmlns:m="http://schemas.openxmlformats.org/officeDocument/2006/math">
                <m:r>
                  <a:rPr lang="en-US" altLang="en-US" sz="1600" i="1" smtClean="0">
                    <a:latin typeface="Arial" panose="02040503050406030204" pitchFamily="18" charset="0"/>
                    <a:ea typeface="Arial"/>
                    <a:cs typeface="Arial"/>
                  </a:rPr>
                  <m:t>𝜍</m:t>
                </m:r>
              </m:oMath>
            </a14:m>
            <a:r>
              <a:rPr lang="en-US" altLang="en-US" sz="1600" dirty="0">
                <a:latin typeface="Arial"/>
                <a:ea typeface="Arial"/>
                <a:cs typeface="Arial"/>
              </a:rPr>
              <a:t> are constants. Constant terms independent of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oMath>
            </a14:m>
            <a:r>
              <a:rPr lang="en-US" altLang="en-US" sz="1600" dirty="0">
                <a:latin typeface="Arial"/>
                <a:ea typeface="Arial"/>
                <a:cs typeface="Arial"/>
              </a:rPr>
              <a:t> are omitted from the objective in (7.101).</a:t>
            </a:r>
          </a:p>
        </p:txBody>
      </p:sp>
      <p:sp>
        <p:nvSpPr>
          <p:cNvPr id="5" name="文本框 4">
            <a:extLst>
              <a:ext uri="{FF2B5EF4-FFF2-40B4-BE49-F238E27FC236}">
                <a16:creationId xmlns:a16="http://schemas.microsoft.com/office/drawing/2014/main" id="{770D2FD0-66D0-712A-A200-7191E57A9076}"/>
              </a:ext>
            </a:extLst>
          </p:cNvPr>
          <p:cNvSpPr txBox="1"/>
          <p:nvPr/>
        </p:nvSpPr>
        <p:spPr>
          <a:xfrm>
            <a:off x="341709" y="5471140"/>
            <a:ext cx="6661992" cy="307777"/>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The two-variable quadratic program can be solved analytically.</a:t>
            </a:r>
          </a:p>
        </p:txBody>
      </p:sp>
    </p:spTree>
    <p:extLst>
      <p:ext uri="{BB962C8B-B14F-4D97-AF65-F5344CB8AC3E}">
        <p14:creationId xmlns:p14="http://schemas.microsoft.com/office/powerpoint/2010/main" val="156570864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96</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59054"/>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pic>
        <p:nvPicPr>
          <p:cNvPr id="8" name="图片 7">
            <a:extLst>
              <a:ext uri="{FF2B5EF4-FFF2-40B4-BE49-F238E27FC236}">
                <a16:creationId xmlns:a16="http://schemas.microsoft.com/office/drawing/2014/main" id="{E8C52871-6293-8082-E207-56CE0D8E09C2}"/>
              </a:ext>
            </a:extLst>
          </p:cNvPr>
          <p:cNvPicPr>
            <a:picLocks noChangeAspect="1"/>
          </p:cNvPicPr>
          <p:nvPr/>
        </p:nvPicPr>
        <p:blipFill>
          <a:blip r:embed="rId2"/>
          <a:stretch>
            <a:fillRect/>
          </a:stretch>
        </p:blipFill>
        <p:spPr>
          <a:xfrm>
            <a:off x="105507" y="1295867"/>
            <a:ext cx="5544178" cy="2933636"/>
          </a:xfrm>
          <a:prstGeom prst="rect">
            <a:avLst/>
          </a:prstGeom>
        </p:spPr>
      </p:pic>
      <p:sp xmlns:a14="http://schemas.microsoft.com/office/drawing/2010/main">
        <p:nvSpPr>
          <p:cNvPr id="10" name="文本框 9">
            <a:extLst>
              <a:ext uri="{FF2B5EF4-FFF2-40B4-BE49-F238E27FC236}">
                <a16:creationId xmlns:a16="http://schemas.microsoft.com/office/drawing/2014/main" id="{14154FE5-5A66-8DB4-B170-14AB662E43F2}"/>
              </a:ext>
            </a:extLst>
          </p:cNvPr>
          <p:cNvSpPr txBox="1"/>
          <p:nvPr/>
        </p:nvSpPr>
        <p:spPr>
          <a:xfrm>
            <a:off x="5863213" y="1028331"/>
            <a:ext cx="3280787" cy="3385542"/>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Constraint (7.103) restricts </a:t>
            </a:r>
            <a14:m>
              <m:oMath xmlns:m="http://schemas.openxmlformats.org/officeDocument/2006/math">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to the box </a:t>
            </a:r>
            <a14:m>
              <m:oMath xmlns:m="http://schemas.openxmlformats.org/officeDocument/2006/math">
                <m:d>
                  <m:dPr>
                    <m:begChr m:val="["/>
                    <m:endChr m:val="]"/>
                    <m:ctrlPr>
                      <a:rPr lang="en-US" altLang="zh-CN" sz="1600" b="0" i="1" smtClean="0">
                        <a:latin typeface="Arial" panose="02040503050406030204" pitchFamily="18" charset="0"/>
                        <a:ea typeface="Arial"/>
                        <a:cs typeface="Arial"/>
                      </a:rPr>
                    </m:ctrlPr>
                  </m:dPr>
                  <m:e>
                    <m:r>
                      <a:rPr lang="en-US" altLang="zh-CN" sz="1600" b="0" i="1" smtClean="0">
                        <a:latin typeface="Arial" panose="02040503050406030204" pitchFamily="18" charset="0"/>
                        <a:ea typeface="Arial"/>
                        <a:cs typeface="Arial"/>
                      </a:rPr>
                      <m:t>0, </m:t>
                    </m:r>
                    <m:r>
                      <a:rPr lang="en-US" altLang="zh-CN" sz="1600" b="0" i="1" smtClean="0">
                        <a:latin typeface="Arial" panose="02040503050406030204" pitchFamily="18" charset="0"/>
                        <a:ea typeface="Arial"/>
                        <a:cs typeface="Arial"/>
                      </a:rPr>
                      <m:t>𝐶</m:t>
                    </m:r>
                  </m:e>
                </m:d>
                <m:r>
                  <a:rPr lang="en-US" altLang="zh-CN" sz="1600" b="0" i="1" smtClean="0">
                    <a:latin typeface="Arial" panose="02040503050406030204" pitchFamily="18" charset="0"/>
                    <a:ea typeface="Arial" panose="02040503050406030204" pitchFamily="18" charset="0"/>
                    <a:cs typeface="Arial"/>
                  </a:rPr>
                  <m:t>×[0,</m:t>
                </m:r>
                <m:r>
                  <a:rPr lang="en-US" altLang="zh-CN" sz="1600" i="1">
                    <a:latin typeface="Arial" panose="02040503050406030204" pitchFamily="18" charset="0"/>
                    <a:ea typeface="Arial"/>
                    <a:cs typeface="Arial"/>
                  </a:rPr>
                  <m:t>𝐶</m:t>
                </m:r>
                <m:r>
                  <a:rPr lang="en-US" altLang="zh-CN" sz="1600" b="0" i="1" smtClean="0">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equality (7.102) restricts </a:t>
            </a:r>
            <a14:m>
              <m:oMath xmlns:m="http://schemas.openxmlformats.org/officeDocument/2006/math">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Sub>
                <m:r>
                  <a:rPr lang="en-US" altLang="zh-CN" sz="1600" i="1">
                    <a:latin typeface="Arial" panose="02040503050406030204" pitchFamily="18" charset="0"/>
                    <a:ea typeface="Arial"/>
                    <a:cs typeface="Arial"/>
                  </a:rPr>
                  <m:t>,</m:t>
                </m:r>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r>
                  <a:rPr lang="en-US" altLang="zh-CN" sz="1600" i="1">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to a line parallel to a diagonal of </a:t>
            </a:r>
            <a14:m>
              <m:oMath xmlns:m="http://schemas.openxmlformats.org/officeDocument/2006/math">
                <m:d>
                  <m:dPr>
                    <m:begChr m:val="["/>
                    <m:endChr m:val="]"/>
                    <m:ctrlPr>
                      <a:rPr lang="en-US" altLang="zh-CN" sz="1600" i="1">
                        <a:latin typeface="Arial" panose="02040503050406030204" pitchFamily="18" charset="0"/>
                        <a:ea typeface="Arial"/>
                        <a:cs typeface="Arial"/>
                      </a:rPr>
                    </m:ctrlPr>
                  </m:dPr>
                  <m:e>
                    <m:r>
                      <a:rPr lang="en-US" altLang="zh-CN" sz="1600" i="1">
                        <a:latin typeface="Arial" panose="02040503050406030204" pitchFamily="18" charset="0"/>
                        <a:ea typeface="Arial"/>
                        <a:cs typeface="Arial"/>
                      </a:rPr>
                      <m:t>0, </m:t>
                    </m:r>
                    <m:r>
                      <a:rPr lang="en-US" altLang="zh-CN" sz="1600" i="1">
                        <a:latin typeface="Arial" panose="02040503050406030204" pitchFamily="18" charset="0"/>
                        <a:ea typeface="Arial"/>
                        <a:cs typeface="Arial"/>
                      </a:rPr>
                      <m:t>𝐶</m:t>
                    </m:r>
                  </m:e>
                </m:d>
                <m:r>
                  <a:rPr lang="en-US" altLang="zh-CN" sz="1600" i="1">
                    <a:latin typeface="Arial" panose="02040503050406030204" pitchFamily="18" charset="0"/>
                    <a:ea typeface="Arial" panose="02040503050406030204" pitchFamily="18" charset="0"/>
                    <a:cs typeface="Arial"/>
                  </a:rPr>
                  <m:t>×[0,</m:t>
                </m:r>
                <m:r>
                  <a:rPr lang="en-US" altLang="zh-CN" sz="1600" i="1">
                    <a:latin typeface="Arial" panose="02040503050406030204" pitchFamily="18" charset="0"/>
                    <a:ea typeface="Arial"/>
                    <a:cs typeface="Arial"/>
                  </a:rPr>
                  <m:t>𝐶</m:t>
                </m:r>
                <m:r>
                  <a:rPr lang="en-US" altLang="zh-CN" sz="1600" i="1">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Optimize the objective along that line segment. Thus, the two-variable problem reduces to a one-variable problem in </a:t>
            </a:r>
            <a14:m>
              <m:oMath xmlns:m="http://schemas.openxmlformats.org/officeDocument/2006/math">
                <m:sSub>
                  <m:sSubPr>
                    <m:ctrlPr>
                      <a:rPr lang="en-US" altLang="zh-CN" sz="1600" i="1">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oMath>
            </a14:m>
            <a:r>
              <a:rPr lang="en-US" altLang="en-US" sz="1600" dirty="0">
                <a:latin typeface="Arial" panose="020B0604020202020204" pitchFamily="34" charset="0"/>
                <a:ea typeface="Arial" panose="02010609060101010101" pitchFamily="49" charset="-122"/>
                <a:cs typeface="Arial"/>
              </a:rPr>
              <a:t>.</a:t>
            </a:r>
          </a:p>
        </p:txBody>
      </p:sp>
      <p:sp xmlns:a14="http://schemas.microsoft.com/office/drawing/2010/main">
        <p:nvSpPr>
          <p:cNvPr id="3" name="文本框 2">
            <a:extLst>
              <a:ext uri="{FF2B5EF4-FFF2-40B4-BE49-F238E27FC236}">
                <a16:creationId xmlns:a16="http://schemas.microsoft.com/office/drawing/2014/main" id="{263150D1-B931-746C-1080-6DFE68FF28AE}"/>
              </a:ext>
            </a:extLst>
          </p:cNvPr>
          <p:cNvSpPr txBox="1"/>
          <p:nvPr/>
        </p:nvSpPr>
        <p:spPr>
          <a:xfrm>
            <a:off x="181623" y="4812456"/>
            <a:ext cx="8791555" cy="1579663"/>
          </a:xfrm>
          <a:prstGeom prst="rect">
            <a:avLst/>
          </a:prstGeom>
          <a:noFill/>
        </p:spPr>
        <p:txBody>
          <a:bodyPr wrap="square" lIns="0" tIns="0" rIns="0" bIns="0" rtlCol="0">
            <a:noAutofit/>
          </a:bodyPr>
          <a:lstStyle/>
          <a:p>
            <a:r>
              <a:rPr lang="en-US" altLang="en-US" sz="1600" dirty="0">
                <a:latin typeface="Arial"/>
                <a:ea typeface="Arial"/>
                <a:cs typeface="Arial"/>
              </a:rPr>
              <a:t>Since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Sub>
              </m:oMath>
            </a14:m>
            <a:r>
              <a:rPr lang="en-US" altLang="en-US" sz="1600" dirty="0">
                <a:latin typeface="Arial"/>
                <a:ea typeface="Arial"/>
                <a:cs typeface="Arial"/>
              </a:rPr>
              <a:t> must satisfy </a:t>
            </a:r>
            <a14:m>
              <m:oMath xmlns:m="http://schemas.openxmlformats.org/officeDocument/2006/math">
                <m:r>
                  <a:rPr lang="en-US" altLang="zh-CN" sz="1600" b="0" i="0" smtClean="0">
                    <a:latin typeface="Arial" panose="02040503050406030204" pitchFamily="18" charset="0"/>
                    <a:ea typeface="Arial"/>
                    <a:cs typeface="Arial"/>
                  </a:rPr>
                  <m:t>0</m:t>
                </m:r>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𝑖</m:t>
                    </m:r>
                  </m:sub>
                </m:sSub>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𝐶</m:t>
                </m:r>
                <m:r>
                  <a:rPr lang="en-US" altLang="zh-CN" sz="1600" b="0" i="1" smtClean="0">
                    <a:latin typeface="Arial" panose="02040503050406030204" pitchFamily="18" charset="0"/>
                    <a:ea typeface="Arial" panose="02040503050406030204" pitchFamily="18" charset="0"/>
                    <a:cs typeface="Arial"/>
                  </a:rPr>
                  <m:t>,  </m:t>
                </m:r>
                <m:r>
                  <a:rPr lang="en-US" altLang="zh-CN" sz="1600" b="0" i="1" smtClean="0">
                    <a:latin typeface="Arial" panose="02040503050406030204" pitchFamily="18" charset="0"/>
                    <a:ea typeface="Arial" panose="02040503050406030204" pitchFamily="18" charset="0"/>
                    <a:cs typeface="Arial"/>
                  </a:rPr>
                  <m:t>𝑖</m:t>
                </m:r>
                <m:r>
                  <a:rPr lang="en-US" altLang="zh-CN" sz="1600" b="0" i="1" smtClean="0">
                    <a:latin typeface="Arial" panose="02040503050406030204" pitchFamily="18" charset="0"/>
                    <a:ea typeface="Arial" panose="02040503050406030204" pitchFamily="18" charset="0"/>
                    <a:cs typeface="Arial"/>
                  </a:rPr>
                  <m:t>=1,2</m:t>
                </m:r>
              </m:oMath>
            </a14:m>
            <a:r>
              <a:rPr lang="en-US" altLang="en-US" sz="1600" dirty="0">
                <a:latin typeface="Arial"/>
                <a:ea typeface="Arial"/>
                <a:cs typeface="Arial"/>
              </a:rPr>
              <a:t> (7.103), the optimum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sup>
                </m:sSubSup>
              </m:oMath>
            </a14:m>
            <a:r>
              <a:rPr lang="en-US" altLang="en-US" sz="1600" dirty="0">
                <a:latin typeface="Arial"/>
                <a:ea typeface="Arial"/>
                <a:cs typeface="Arial"/>
              </a:rPr>
              <a:t> must satisfy </a:t>
            </a:r>
            <a14:m>
              <m:oMath xmlns:m="http://schemas.openxmlformats.org/officeDocument/2006/math">
                <m:r>
                  <a:rPr lang="en-US" altLang="zh-CN" sz="1600" b="0" i="1" smtClean="0">
                    <a:latin typeface="Arial" panose="02040503050406030204" pitchFamily="18" charset="0"/>
                    <a:ea typeface="Arial" panose="02040503050406030204" pitchFamily="18" charset="0"/>
                    <a:cs typeface="Arial"/>
                  </a:rPr>
                  <m:t>𝐿</m:t>
                </m:r>
                <m:r>
                  <a:rPr lang="en-US" altLang="zh-CN" sz="1600" i="1" smtClean="0">
                    <a:latin typeface="Arial" panose="02040503050406030204" pitchFamily="18" charset="0"/>
                    <a:ea typeface="Arial" panose="02040503050406030204" pitchFamily="18" charset="0"/>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new</m:t>
                    </m:r>
                  </m:sup>
                </m:sSubSup>
                <m:r>
                  <a:rPr lang="en-US" altLang="zh-CN" sz="160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𝐻</m:t>
                </m:r>
              </m:oMath>
            </a14:m>
            <a:r>
              <a:rPr lang="en-US" altLang="en-US" sz="1600" dirty="0">
                <a:latin typeface="Arial"/>
                <a:ea typeface="Arial"/>
                <a:cs typeface="Arial"/>
              </a:rPr>
              <a:t>. Here, </a:t>
            </a:r>
            <a14:m>
              <m:oMath xmlns:m="http://schemas.openxmlformats.org/officeDocument/2006/math">
                <m:r>
                  <a:rPr lang="en-US" altLang="zh-CN" sz="1600" i="1">
                    <a:latin typeface="Arial" panose="02040503050406030204" pitchFamily="18" charset="0"/>
                    <a:ea typeface="Arial" panose="02040503050406030204" pitchFamily="18" charset="0"/>
                    <a:cs typeface="Arial"/>
                  </a:rPr>
                  <m:t>𝐿</m:t>
                </m:r>
              </m:oMath>
            </a14:m>
            <a:r>
              <a:rPr lang="en-US" altLang="en-US" sz="1600" dirty="0">
                <a:latin typeface="Arial"/>
                <a:ea typeface="Arial"/>
                <a:cs typeface="Arial"/>
              </a:rPr>
              <a:t> and </a:t>
            </a:r>
            <a14:m>
              <m:oMath xmlns:m="http://schemas.openxmlformats.org/officeDocument/2006/math">
                <m:r>
                  <a:rPr lang="en-US" altLang="zh-CN" sz="1600" b="0" i="1" smtClean="0">
                    <a:latin typeface="Arial" panose="02040503050406030204" pitchFamily="18" charset="0"/>
                    <a:ea typeface="Arial"/>
                    <a:cs typeface="Arial"/>
                  </a:rPr>
                  <m:t>𝐻</m:t>
                </m:r>
              </m:oMath>
            </a14:m>
            <a:r>
              <a:rPr lang="en-US" altLang="en-US" sz="1600" dirty="0">
                <a:latin typeface="Arial"/>
                <a:ea typeface="Arial"/>
                <a:cs typeface="Arial"/>
              </a:rPr>
              <a:t> bound the endpoints of the diagonal segment containing </a:t>
            </a:r>
            <a14:m>
              <m:oMath xmlns:m="http://schemas.openxmlformats.org/officeDocument/2006/math">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new</m:t>
                    </m:r>
                  </m:sup>
                </m:sSubSup>
              </m:oMath>
            </a14:m>
            <a:r>
              <a:rPr lang="en-US" altLang="en-US" sz="1600" dirty="0">
                <a:latin typeface="Arial"/>
                <a:ea typeface="Arial"/>
                <a:cs typeface="Arial"/>
              </a:rPr>
              <a:t>.</a:t>
            </a:r>
          </a:p>
          <a:p>
            <a:r>
              <a:rPr lang="en-US" altLang="en-US" sz="1600" dirty="0">
                <a:latin typeface="Arial"/>
                <a:ea typeface="Arial"/>
                <a:cs typeface="Arial"/>
              </a:rPr>
              <a:t>If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r>
                  <a:rPr lang="en-US" altLang="zh-CN" sz="160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panose="02040503050406030204" pitchFamily="18" charset="0"/>
                        <a:cs typeface="Arial"/>
                      </a:rPr>
                    </m:ctrlPr>
                  </m:sSubPr>
                  <m:e>
                    <m:r>
                      <a:rPr lang="en-US" altLang="zh-CN" sz="1600" b="0" i="1" smtClean="0">
                        <a:latin typeface="Arial" panose="02040503050406030204" pitchFamily="18" charset="0"/>
                        <a:ea typeface="Arial" panose="02040503050406030204" pitchFamily="18" charset="0"/>
                        <a:cs typeface="Arial"/>
                      </a:rPr>
                      <m:t>𝑦</m:t>
                    </m:r>
                  </m:e>
                  <m:sub>
                    <m:r>
                      <a:rPr lang="en-US" altLang="zh-CN" sz="1600" b="0" i="1" smtClean="0">
                        <a:latin typeface="Arial" panose="02040503050406030204" pitchFamily="18" charset="0"/>
                        <a:ea typeface="Arial" panose="02040503050406030204" pitchFamily="18" charset="0"/>
                        <a:cs typeface="Arial"/>
                      </a:rPr>
                      <m:t>2</m:t>
                    </m:r>
                  </m:sub>
                </m:sSub>
              </m:oMath>
            </a14:m>
            <a:r>
              <a:rPr lang="en-US" altLang="en-US" sz="1600" dirty="0">
                <a:latin typeface="Arial"/>
                <a:ea typeface="Arial"/>
                <a:cs typeface="Arial"/>
              </a:rPr>
              <a:t>, then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max</m:t>
                </m:r>
                <m:r>
                  <a:rPr lang="en-US" altLang="zh-CN" sz="1600" b="0" i="1" smtClean="0">
                    <a:latin typeface="Arial" panose="02040503050406030204" pitchFamily="18" charset="0"/>
                    <a:ea typeface="Arial"/>
                    <a:cs typeface="Arial"/>
                  </a:rPr>
                  <m:t>⁡(0,</m:t>
                </m:r>
                <m:sSubSup>
                  <m:sSubSupPr>
                    <m:ctrlPr>
                      <a:rPr lang="en-US" altLang="zh-CN" sz="1600" b="0" i="1" smtClean="0">
                        <a:latin typeface="Arial" panose="02040503050406030204" pitchFamily="18" charset="0"/>
                        <a:ea typeface="Arial"/>
                        <a:cs typeface="Arial"/>
                      </a:rPr>
                    </m:ctrlPr>
                  </m:sSubSup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b="0" i="1" smtClean="0">
                    <a:latin typeface="Arial" panose="02040503050406030204" pitchFamily="18" charset="0"/>
                    <a:ea typeface="Arial"/>
                    <a:cs typeface="Arial"/>
                  </a:rPr>
                  <m:t>𝐻</m:t>
                </m:r>
                <m:r>
                  <a:rPr lang="en-US" altLang="zh-CN" sz="1600" i="1">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min</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oMath>
            </a14:m>
            <a:r>
              <a:rPr lang="en-US" altLang="en-US" sz="1600" dirty="0">
                <a:latin typeface="Arial"/>
                <a:ea typeface="Arial"/>
                <a:cs typeface="Arial"/>
              </a:rPr>
              <a:t>.</a:t>
            </a:r>
          </a:p>
          <a:p>
            <a:r>
              <a:rPr lang="en-US" altLang="en-US" sz="1600" dirty="0">
                <a:latin typeface="Arial"/>
                <a:ea typeface="Arial"/>
                <a:cs typeface="Arial"/>
              </a:rPr>
              <a:t>If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panose="02040503050406030204" pitchFamily="18" charset="0"/>
                    <a:cs typeface="Arial"/>
                  </a:rPr>
                  <m:t>=</m:t>
                </m:r>
                <m:sSub>
                  <m:sSubPr>
                    <m:ctrlPr>
                      <a:rPr lang="en-US" altLang="zh-CN" sz="1600" i="1" smtClean="0">
                        <a:latin typeface="Arial" panose="02040503050406030204" pitchFamily="18" charset="0"/>
                        <a:ea typeface="Arial" panose="02040503050406030204" pitchFamily="18" charset="0"/>
                        <a:cs typeface="Arial"/>
                      </a:rPr>
                    </m:ctrlPr>
                  </m:sSubPr>
                  <m:e>
                    <m:r>
                      <a:rPr lang="en-US" altLang="zh-CN" sz="1600" b="0" i="1" smtClean="0">
                        <a:latin typeface="Arial" panose="02040503050406030204" pitchFamily="18" charset="0"/>
                        <a:ea typeface="Arial" panose="02040503050406030204" pitchFamily="18" charset="0"/>
                        <a:cs typeface="Arial"/>
                      </a:rPr>
                      <m:t>𝑦</m:t>
                    </m:r>
                  </m:e>
                  <m:sub>
                    <m:r>
                      <a:rPr lang="en-US" altLang="zh-CN" sz="1600" b="0" i="1" smtClean="0">
                        <a:latin typeface="Arial" panose="02040503050406030204" pitchFamily="18" charset="0"/>
                        <a:ea typeface="Arial" panose="02040503050406030204" pitchFamily="18" charset="0"/>
                        <a:cs typeface="Arial"/>
                      </a:rPr>
                      <m:t>2</m:t>
                    </m:r>
                  </m:sub>
                </m:sSub>
              </m:oMath>
            </a14:m>
            <a:r>
              <a:rPr lang="en-US" altLang="en-US" sz="1600" dirty="0">
                <a:latin typeface="Arial"/>
                <a:ea typeface="Arial"/>
                <a:cs typeface="Arial"/>
              </a:rPr>
              <a:t>, then </a:t>
            </a:r>
            <a14:m>
              <m:oMath xmlns:m="http://schemas.openxmlformats.org/officeDocument/2006/math">
                <m:r>
                  <a:rPr lang="en-US" altLang="zh-CN" sz="1600" b="0" i="1" smtClean="0">
                    <a:latin typeface="Arial" panose="02040503050406030204" pitchFamily="18" charset="0"/>
                    <a:ea typeface="Arial"/>
                    <a:cs typeface="Arial"/>
                  </a:rPr>
                  <m:t>𝐿</m:t>
                </m:r>
                <m:r>
                  <a:rPr lang="en-US" altLang="zh-CN" sz="1600" b="0" i="1"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max</m:t>
                </m:r>
                <m:r>
                  <a:rPr lang="en-US" altLang="zh-CN" sz="1600" b="0" i="1" smtClean="0">
                    <a:latin typeface="Arial" panose="02040503050406030204" pitchFamily="18" charset="0"/>
                    <a:ea typeface="Arial"/>
                    <a:cs typeface="Arial"/>
                  </a:rPr>
                  <m:t>⁡(0,</m:t>
                </m:r>
                <m:sSubSup>
                  <m:sSubSupPr>
                    <m:ctrlPr>
                      <a:rPr lang="en-US" altLang="zh-CN" sz="1600" b="0" i="1" smtClean="0">
                        <a:latin typeface="Arial" panose="02040503050406030204" pitchFamily="18" charset="0"/>
                        <a:ea typeface="Arial"/>
                        <a:cs typeface="Arial"/>
                      </a:rPr>
                    </m:ctrlPr>
                  </m:sSubSupPr>
                  <m:e>
                    <m:r>
                      <a:rPr lang="en-US" altLang="en-US" sz="1600" b="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b="0" i="1" smtClean="0">
                    <a:latin typeface="Arial" panose="02040503050406030204" pitchFamily="18" charset="0"/>
                    <a:ea typeface="Arial"/>
                    <a:cs typeface="Arial"/>
                  </a:rPr>
                  <m:t>)</m:t>
                </m:r>
              </m:oMath>
            </a14:m>
            <a:r>
              <a:rPr lang="en-US" altLang="en-US" sz="1600" dirty="0">
                <a:latin typeface="Arial"/>
                <a:ea typeface="Arial"/>
                <a:cs typeface="Arial"/>
              </a:rPr>
              <a:t>, </a:t>
            </a:r>
            <a14:m>
              <m:oMath xmlns:m="http://schemas.openxmlformats.org/officeDocument/2006/math">
                <m:r>
                  <a:rPr lang="en-US" altLang="zh-CN" sz="1600" b="0" i="1" smtClean="0">
                    <a:latin typeface="Arial" panose="02040503050406030204" pitchFamily="18" charset="0"/>
                    <a:ea typeface="Arial"/>
                    <a:cs typeface="Arial"/>
                  </a:rPr>
                  <m:t>𝐻</m:t>
                </m:r>
                <m:r>
                  <a:rPr lang="en-US" altLang="zh-CN" sz="1600" i="1">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min</m:t>
                </m:r>
                <m:r>
                  <a:rPr lang="en-US" altLang="zh-CN" sz="1600" i="1">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𝐶</m:t>
                </m:r>
                <m:r>
                  <a:rPr lang="en-US" altLang="zh-CN" sz="1600" i="1">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i="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i="0">
                        <a:latin typeface="Arial" panose="02040503050406030204" pitchFamily="18" charset="0"/>
                        <a:ea typeface="Arial"/>
                        <a:cs typeface="Arial"/>
                      </a:rPr>
                      <m:t>old</m:t>
                    </m:r>
                  </m:sup>
                </m:sSubSup>
                <m:r>
                  <a:rPr lang="en-US" altLang="zh-CN" sz="1600" i="1">
                    <a:latin typeface="Arial" panose="02040503050406030204" pitchFamily="18" charset="0"/>
                    <a:ea typeface="Arial"/>
                    <a:cs typeface="Arial"/>
                  </a:rPr>
                  <m:t>)</m:t>
                </m:r>
              </m:oMath>
            </a14:m>
            <a:r>
              <a:rPr lang="en-US" altLang="en-US" sz="1600" dirty="0">
                <a:latin typeface="Arial"/>
                <a:ea typeface="Arial"/>
                <a:cs typeface="Arial"/>
              </a:rPr>
              <a:t>.</a:t>
            </a:r>
          </a:p>
        </p:txBody>
      </p:sp>
    </p:spTree>
    <p:extLst>
      <p:ext uri="{BB962C8B-B14F-4D97-AF65-F5344CB8AC3E}">
        <p14:creationId xmlns:p14="http://schemas.microsoft.com/office/powerpoint/2010/main" val="54160380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97</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4900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xmlns:a14="http://schemas.microsoft.com/office/drawing/2010/main">
        <p:nvSpPr>
          <p:cNvPr id="10" name="文本框 9">
            <a:extLst>
              <a:ext uri="{FF2B5EF4-FFF2-40B4-BE49-F238E27FC236}">
                <a16:creationId xmlns:a16="http://schemas.microsoft.com/office/drawing/2014/main" id="{14154FE5-5A66-8DB4-B170-14AB662E43F2}"/>
              </a:ext>
            </a:extLst>
          </p:cNvPr>
          <p:cNvSpPr txBox="1"/>
          <p:nvPr/>
        </p:nvSpPr>
        <p:spPr>
          <a:xfrm>
            <a:off x="277585" y="1197608"/>
            <a:ext cx="8675496" cy="1079334"/>
          </a:xfrm>
          <a:prstGeom prst="rect">
            <a:avLst/>
          </a:prstGeom>
          <a:noFill/>
        </p:spPr>
        <p:txBody>
          <a:bodyPr wrap="square">
            <a:noAutofit/>
          </a:bodyPr>
          <a:lstStyle/>
          <a:p>
            <a:r>
              <a:rPr lang="en-US" altLang="en-US" sz="1600" dirty="0">
                <a:latin typeface="Arial" panose="020B0604020202020204" pitchFamily="34" charset="0"/>
                <a:ea typeface="Arial" panose="02010609060101010101" pitchFamily="49" charset="-122"/>
                <a:cs typeface="Arial"/>
              </a:rPr>
              <a:t>Write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𝑔</m:t>
                </m:r>
                <m:d>
                  <m:dPr>
                    <m:ctrlPr>
                      <a:rPr lang="en-US" altLang="zh-CN" sz="1600" b="0" i="1" smtClean="0">
                        <a:latin typeface="Arial" panose="02040503050406030204" pitchFamily="18" charset="0"/>
                        <a:ea typeface="Arial" panose="02010609060101010101" pitchFamily="49" charset="-122"/>
                        <a:cs typeface="Arial"/>
                      </a:rPr>
                    </m:ctrlPr>
                  </m:dPr>
                  <m:e>
                    <m:r>
                      <a:rPr lang="en-US" altLang="zh-CN" sz="1600" b="1" i="1" smtClean="0">
                        <a:latin typeface="Arial" panose="02040503050406030204" pitchFamily="18" charset="0"/>
                        <a:ea typeface="Arial" panose="02010609060101010101" pitchFamily="49" charset="-122"/>
                        <a:cs typeface="Arial"/>
                      </a:rPr>
                      <m:t>𝒙</m:t>
                    </m:r>
                  </m:e>
                </m:d>
                <m:r>
                  <a:rPr lang="en-US" altLang="zh-CN" sz="1600" b="0" i="1" smtClean="0">
                    <a:latin typeface="Arial" panose="02040503050406030204" pitchFamily="18" charset="0"/>
                    <a:ea typeface="Arial" panose="02010609060101010101" pitchFamily="49" charset="-122"/>
                    <a:cs typeface="Arial"/>
                  </a:rPr>
                  <m:t>=</m:t>
                </m:r>
                <m:nary>
                  <m:naryPr>
                    <m:chr m:val="∑"/>
                    <m:ctrlPr>
                      <a:rPr lang="en-US" altLang="zh-CN" sz="1600" b="0" i="1" smtClean="0">
                        <a:latin typeface="Arial" panose="02040503050406030204" pitchFamily="18" charset="0"/>
                        <a:ea typeface="Arial" panose="02010609060101010101" pitchFamily="49" charset="-122"/>
                        <a:cs typeface="Arial"/>
                      </a:rPr>
                    </m:ctrlPr>
                  </m:naryPr>
                  <m:sub>
                    <m:r>
                      <m:rPr>
                        <m:brk m:alnAt="23"/>
                      </m:rP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m:t>
                    </m:r>
                  </m:sub>
                  <m:sup>
                    <m:r>
                      <a:rPr lang="en-US" altLang="zh-CN" sz="1600" b="0" i="1" smtClean="0">
                        <a:latin typeface="Arial" panose="02040503050406030204" pitchFamily="18" charset="0"/>
                        <a:ea typeface="Arial" panose="02010609060101010101" pitchFamily="49" charset="-122"/>
                        <a:cs typeface="Arial"/>
                      </a:rPr>
                      <m:t>𝑁</m:t>
                    </m:r>
                  </m:sup>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en-US" sz="1600" b="0" i="1" smtClean="0">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𝑖</m:t>
                        </m:r>
                      </m:sub>
                    </m:sSub>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𝐾</m:t>
                    </m:r>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1" i="1" smtClean="0">
                            <a:latin typeface="Arial" panose="02040503050406030204" pitchFamily="18" charset="0"/>
                            <a:ea typeface="Arial" panose="02010609060101010101" pitchFamily="49" charset="-122"/>
                            <a:cs typeface="Arial"/>
                          </a:rPr>
                          <m:t>𝒙</m:t>
                        </m:r>
                      </m:e>
                    </m:d>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𝑏</m:t>
                    </m:r>
                  </m:e>
                </m:nary>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Let </a:t>
            </a:r>
            <a14:m>
              <m:oMath xmlns:m="http://schemas.openxmlformats.org/officeDocument/2006/math">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𝐸</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r>
                  <a:rPr lang="en-US" altLang="zh-CN" sz="1600" b="0" i="1" smtClean="0">
                    <a:latin typeface="Arial" panose="02040503050406030204" pitchFamily="18" charset="0"/>
                    <a:ea typeface="Arial" panose="02010609060101010101" pitchFamily="49" charset="-122"/>
                    <a:cs typeface="Arial"/>
                  </a:rPr>
                  <m:t>𝑔</m:t>
                </m:r>
                <m:d>
                  <m:dPr>
                    <m:ctrlPr>
                      <a:rPr lang="en-US" altLang="zh-CN" sz="1600" b="0" i="1" smtClean="0">
                        <a:latin typeface="Arial" panose="02040503050406030204" pitchFamily="18" charset="0"/>
                        <a:ea typeface="Arial" panose="02010609060101010101" pitchFamily="49" charset="-122"/>
                        <a:cs typeface="Arial"/>
                      </a:rPr>
                    </m:ctrlPr>
                  </m:dPr>
                  <m:e>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e>
                </m:d>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r>
                  <a:rPr lang="en-US" altLang="zh-CN" sz="1600" b="0" i="1" smtClean="0">
                    <a:latin typeface="Arial" panose="02040503050406030204" pitchFamily="18" charset="0"/>
                    <a:ea typeface="Arial" panose="02010609060101010101" pitchFamily="49" charset="-122"/>
                    <a:cs typeface="Arial"/>
                  </a:rPr>
                  <m:t>=</m:t>
                </m:r>
                <m:d>
                  <m:dPr>
                    <m:ctrlPr>
                      <a:rPr lang="en-US" altLang="zh-CN" sz="1600" b="0" i="1" smtClean="0">
                        <a:latin typeface="Arial" panose="02040503050406030204" pitchFamily="18" charset="0"/>
                        <a:ea typeface="Arial" panose="02010609060101010101" pitchFamily="49" charset="-122"/>
                        <a:cs typeface="Arial"/>
                      </a:rPr>
                    </m:ctrlPr>
                  </m:dPr>
                  <m:e>
                    <m:nary>
                      <m:naryPr>
                        <m:chr m:val="∑"/>
                        <m:ctrlPr>
                          <a:rPr lang="en-US" altLang="zh-CN" sz="1600" i="1">
                            <a:latin typeface="Arial" panose="02040503050406030204" pitchFamily="18" charset="0"/>
                            <a:ea typeface="Arial" panose="02010609060101010101" pitchFamily="49" charset="-122"/>
                            <a:cs typeface="Arial"/>
                          </a:rPr>
                        </m:ctrlPr>
                      </m:naryPr>
                      <m:sub>
                        <m:r>
                          <m:rPr>
                            <m:brk m:alnAt="23"/>
                          </m:rPr>
                          <a:rPr lang="en-US" altLang="zh-CN" sz="1600" i="1">
                            <a:latin typeface="Arial" panose="02040503050406030204" pitchFamily="18" charset="0"/>
                            <a:ea typeface="Arial" panose="02010609060101010101" pitchFamily="49" charset="-122"/>
                            <a:cs typeface="Arial"/>
                          </a:rPr>
                          <m:t>𝑖</m:t>
                        </m:r>
                        <m:r>
                          <a:rPr lang="en-US" altLang="zh-CN" sz="1600" i="1">
                            <a:latin typeface="Arial" panose="02040503050406030204" pitchFamily="18" charset="0"/>
                            <a:ea typeface="Arial" panose="02010609060101010101" pitchFamily="49" charset="-122"/>
                            <a:cs typeface="Arial"/>
                          </a:rPr>
                          <m:t>=1</m:t>
                        </m:r>
                      </m:sub>
                      <m:sup>
                        <m:r>
                          <a:rPr lang="en-US" altLang="zh-CN" sz="1600" i="1">
                            <a:latin typeface="Arial" panose="02040503050406030204" pitchFamily="18" charset="0"/>
                            <a:ea typeface="Arial" panose="02010609060101010101" pitchFamily="49" charset="-122"/>
                            <a:cs typeface="Arial"/>
                          </a:rPr>
                          <m:t>𝑁</m:t>
                        </m:r>
                      </m:sup>
                      <m:e>
                        <m:sSub>
                          <m:sSubPr>
                            <m:ctrlPr>
                              <a:rPr lang="en-US" altLang="zh-CN" sz="1600" i="1">
                                <a:latin typeface="Arial" panose="02040503050406030204" pitchFamily="18" charset="0"/>
                                <a:ea typeface="Arial" panose="02010609060101010101" pitchFamily="49" charset="-122"/>
                                <a:cs typeface="Arial"/>
                              </a:rPr>
                            </m:ctrlPr>
                          </m:sSubPr>
                          <m:e>
                            <m:r>
                              <a:rPr lang="en-US" altLang="en-US" sz="1600" i="1">
                                <a:latin typeface="Arial" panose="02040503050406030204" pitchFamily="18" charset="0"/>
                                <a:ea typeface="Arial" panose="02010609060101010101" pitchFamily="49" charset="-122"/>
                                <a:cs typeface="Arial"/>
                              </a:rPr>
                              <m:t>𝛼</m:t>
                            </m:r>
                          </m:e>
                          <m:sub>
                            <m:r>
                              <a:rPr lang="en-US" altLang="zh-CN" sz="1600" b="0" i="1" smtClean="0">
                                <a:latin typeface="Arial" panose="02040503050406030204" pitchFamily="18" charset="0"/>
                                <a:ea typeface="Arial" panose="02010609060101010101" pitchFamily="49" charset="-122"/>
                                <a:cs typeface="Arial"/>
                              </a:rPr>
                              <m:t>𝑗</m:t>
                            </m:r>
                          </m:sub>
                        </m:sSub>
                        <m:sSub>
                          <m:sSubPr>
                            <m:ctrlPr>
                              <a:rPr lang="en-US" altLang="zh-CN" sz="1600" i="1">
                                <a:latin typeface="Arial" panose="02040503050406030204" pitchFamily="18" charset="0"/>
                                <a:ea typeface="Arial" panose="02010609060101010101" pitchFamily="49" charset="-122"/>
                                <a:cs typeface="Arial"/>
                              </a:rPr>
                            </m:ctrlPr>
                          </m:sSubPr>
                          <m:e>
                            <m:r>
                              <a:rPr lang="en-US" altLang="zh-CN" sz="1600" i="1">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𝑗</m:t>
                            </m:r>
                          </m:sub>
                        </m:sSub>
                        <m:r>
                          <a:rPr lang="en-US" altLang="zh-CN" sz="1600" i="1">
                            <a:latin typeface="Arial" panose="02040503050406030204" pitchFamily="18" charset="0"/>
                            <a:ea typeface="Arial" panose="02010609060101010101" pitchFamily="49" charset="-122"/>
                            <a:cs typeface="Arial"/>
                          </a:rPr>
                          <m:t>𝐾</m:t>
                        </m:r>
                        <m:d>
                          <m:dPr>
                            <m:ctrlPr>
                              <a:rPr lang="en-US" altLang="zh-CN" sz="1600" i="1">
                                <a:latin typeface="Arial" panose="02040503050406030204" pitchFamily="18" charset="0"/>
                                <a:ea typeface="Arial" panose="02010609060101010101" pitchFamily="49" charset="-122"/>
                                <a:cs typeface="Arial"/>
                              </a:rPr>
                            </m:ctrlPr>
                          </m:dPr>
                          <m:e>
                            <m:sSub>
                              <m:sSubPr>
                                <m:ctrlPr>
                                  <a:rPr lang="en-US" altLang="zh-CN" sz="1600" i="1">
                                    <a:latin typeface="Arial" panose="02040503050406030204" pitchFamily="18" charset="0"/>
                                    <a:ea typeface="Arial" panose="02010609060101010101" pitchFamily="49" charset="-122"/>
                                    <a:cs typeface="Arial"/>
                                  </a:rPr>
                                </m:ctrlPr>
                              </m:sSubPr>
                              <m:e>
                                <m:r>
                                  <a:rPr lang="en-US" altLang="zh-CN" sz="1600" b="1" i="1">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𝑗</m:t>
                                </m:r>
                              </m:sub>
                            </m:sSub>
                            <m:r>
                              <a:rPr lang="en-US" altLang="zh-CN" sz="1600" i="1">
                                <a:latin typeface="Arial" panose="02040503050406030204" pitchFamily="18" charset="0"/>
                                <a:ea typeface="Arial" panose="02010609060101010101" pitchFamily="49" charset="-122"/>
                                <a:cs typeface="Arial"/>
                              </a:rPr>
                              <m:t>,</m:t>
                            </m:r>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1" i="1" smtClean="0">
                                    <a:latin typeface="Arial" panose="02040503050406030204" pitchFamily="18" charset="0"/>
                                    <a:ea typeface="Arial" panose="02010609060101010101" pitchFamily="49" charset="-122"/>
                                    <a:cs typeface="Arial"/>
                                  </a:rPr>
                                  <m:t>𝒙</m:t>
                                </m:r>
                              </m:e>
                              <m:sub>
                                <m:r>
                                  <a:rPr lang="en-US" altLang="zh-CN" sz="1600" b="0" i="1" smtClean="0">
                                    <a:latin typeface="Arial" panose="02040503050406030204" pitchFamily="18" charset="0"/>
                                    <a:ea typeface="Arial" panose="02010609060101010101" pitchFamily="49" charset="-122"/>
                                    <a:cs typeface="Arial"/>
                                  </a:rPr>
                                  <m:t>𝑖</m:t>
                                </m:r>
                              </m:sub>
                            </m:sSub>
                          </m:e>
                        </m:d>
                        <m:r>
                          <a:rPr lang="en-US" altLang="zh-CN" sz="1600" i="1">
                            <a:latin typeface="Arial" panose="02040503050406030204" pitchFamily="18" charset="0"/>
                            <a:ea typeface="Arial" panose="02010609060101010101" pitchFamily="49" charset="-122"/>
                            <a:cs typeface="Arial"/>
                          </a:rPr>
                          <m:t>+</m:t>
                        </m:r>
                        <m:r>
                          <a:rPr lang="en-US" altLang="zh-CN" sz="1600" i="1">
                            <a:latin typeface="Arial" panose="02040503050406030204" pitchFamily="18" charset="0"/>
                            <a:ea typeface="Arial" panose="02010609060101010101" pitchFamily="49" charset="-122"/>
                            <a:cs typeface="Arial"/>
                          </a:rPr>
                          <m:t>𝑏</m:t>
                        </m:r>
                      </m:e>
                    </m:nary>
                  </m:e>
                </m:d>
                <m:r>
                  <a:rPr lang="en-US" altLang="zh-CN" sz="1600" b="0" i="1" smtClean="0">
                    <a:latin typeface="Arial" panose="02040503050406030204" pitchFamily="18" charset="0"/>
                    <a:ea typeface="Arial" panose="02010609060101010101" pitchFamily="49" charset="-122"/>
                    <a:cs typeface="Arial"/>
                  </a:rPr>
                  <m:t>−</m:t>
                </m:r>
                <m:sSub>
                  <m:sSubPr>
                    <m:ctrlPr>
                      <a:rPr lang="en-US" altLang="zh-CN" sz="1600" b="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b="0" i="1" smtClean="0">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=1,2</m:t>
                </m:r>
              </m:oMath>
            </a14:m>
            <a:r>
              <a:rPr lang="en-US" altLang="en-US" sz="1600" dirty="0">
                <a:latin typeface="Arial" panose="020B0604020202020204" pitchFamily="34" charset="0"/>
                <a:ea typeface="Arial" panose="02010609060101010101" pitchFamily="49" charset="-122"/>
                <a:cs typeface="Arial"/>
              </a:rPr>
              <a:t>.</a:t>
            </a:r>
          </a:p>
          <a:p>
            <a:r>
              <a:rPr lang="en-US" altLang="en-US" sz="1600" dirty="0">
                <a:latin typeface="Arial" panose="020B0604020202020204" pitchFamily="34" charset="0"/>
                <a:ea typeface="Arial" panose="02010609060101010101" pitchFamily="49" charset="-122"/>
                <a:cs typeface="Arial"/>
              </a:rPr>
              <a:t>For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𝑖</m:t>
                </m:r>
                <m:r>
                  <a:rPr lang="en-US" altLang="zh-CN" sz="1600" b="0" i="1" smtClean="0">
                    <a:latin typeface="Arial" panose="02040503050406030204" pitchFamily="18" charset="0"/>
                    <a:ea typeface="Arial" panose="02010609060101010101" pitchFamily="49" charset="-122"/>
                    <a:cs typeface="Arial"/>
                  </a:rPr>
                  <m:t>=1,2</m:t>
                </m:r>
              </m:oMath>
            </a14:m>
            <a:r>
              <a:rPr lang="en-US" altLang="en-US" sz="1600" dirty="0">
                <a:latin typeface="Arial" panose="020B0604020202020204" pitchFamily="34" charset="0"/>
                <a:ea typeface="Arial" panose="02010609060101010101" pitchFamily="49" charset="-122"/>
                <a:cs typeface="Arial"/>
              </a:rPr>
              <a:t>, </a:t>
            </a:r>
            <a14:m>
              <m:oMath xmlns:m="http://schemas.openxmlformats.org/officeDocument/2006/math">
                <m:sSub>
                  <m:sSubPr>
                    <m:ctrlPr>
                      <a:rPr lang="en-US" altLang="zh-CN" sz="1600" i="1" smtClean="0">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𝐸</m:t>
                    </m:r>
                  </m:e>
                  <m:sub>
                    <m:r>
                      <a:rPr lang="en-US" altLang="zh-CN" sz="1600" b="0" i="1" smtClean="0">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is the difference between the prediction of </a:t>
            </a:r>
            <a14:m>
              <m:oMath xmlns:m="http://schemas.openxmlformats.org/officeDocument/2006/math">
                <m:r>
                  <a:rPr lang="en-US" altLang="zh-CN" sz="1600" b="0" i="1" smtClean="0">
                    <a:latin typeface="Arial" panose="02040503050406030204" pitchFamily="18" charset="0"/>
                    <a:ea typeface="Arial" panose="02010609060101010101" pitchFamily="49" charset="-122"/>
                    <a:cs typeface="Arial"/>
                  </a:rPr>
                  <m:t>𝑔</m:t>
                </m:r>
                <m:r>
                  <a:rPr lang="en-US" altLang="zh-CN" sz="1600" b="0" i="1" smtClean="0">
                    <a:latin typeface="Arial" panose="02040503050406030204" pitchFamily="18" charset="0"/>
                    <a:ea typeface="Arial" panose="02010609060101010101" pitchFamily="49" charset="-122"/>
                    <a:cs typeface="Arial"/>
                  </a:rPr>
                  <m:t>(</m:t>
                </m:r>
                <m:r>
                  <a:rPr lang="en-US" altLang="zh-CN" sz="1600" b="1" i="1" smtClean="0">
                    <a:latin typeface="Arial" panose="02040503050406030204" pitchFamily="18" charset="0"/>
                    <a:ea typeface="Arial" panose="02010609060101010101" pitchFamily="49" charset="-122"/>
                    <a:cs typeface="Arial"/>
                  </a:rPr>
                  <m:t>𝒙</m:t>
                </m:r>
                <m:r>
                  <a:rPr lang="en-US" altLang="zh-CN" sz="1600" b="0" i="1" smtClean="0">
                    <a:latin typeface="Arial" panose="02040503050406030204" pitchFamily="18" charset="0"/>
                    <a:ea typeface="Arial" panose="02010609060101010101" pitchFamily="49" charset="-122"/>
                    <a:cs typeface="Arial"/>
                  </a:rPr>
                  <m:t>)</m:t>
                </m:r>
              </m:oMath>
            </a14:m>
            <a:r>
              <a:rPr lang="en-US" altLang="en-US" sz="1600" dirty="0">
                <a:latin typeface="Arial" panose="020B0604020202020204" pitchFamily="34" charset="0"/>
                <a:ea typeface="Arial" panose="02010609060101010101" pitchFamily="49" charset="-122"/>
                <a:cs typeface="Arial"/>
              </a:rPr>
              <a:t> for input </a:t>
            </a:r>
            <a14:m>
              <m:oMath xmlns:m="http://schemas.openxmlformats.org/officeDocument/2006/math">
                <m:sSub>
                  <m:sSubPr>
                    <m:ctrlPr>
                      <a:rPr lang="en-US" altLang="zh-CN" sz="1600" i="1">
                        <a:latin typeface="Arial" panose="02040503050406030204" pitchFamily="18" charset="0"/>
                        <a:ea typeface="Arial" panose="02010609060101010101" pitchFamily="49" charset="-122"/>
                        <a:cs typeface="Arial"/>
                      </a:rPr>
                    </m:ctrlPr>
                  </m:sSubPr>
                  <m:e>
                    <m:r>
                      <a:rPr lang="en-US" altLang="zh-CN" sz="1600" b="1" i="1">
                        <a:latin typeface="Arial" panose="02040503050406030204" pitchFamily="18" charset="0"/>
                        <a:ea typeface="Arial" panose="02010609060101010101" pitchFamily="49" charset="-122"/>
                        <a:cs typeface="Arial"/>
                      </a:rPr>
                      <m:t>𝒙</m:t>
                    </m:r>
                  </m:e>
                  <m:sub>
                    <m:r>
                      <a:rPr lang="en-US" altLang="zh-CN" sz="1600" i="1">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 and the true output </a:t>
            </a:r>
            <a14:m>
              <m:oMath xmlns:m="http://schemas.openxmlformats.org/officeDocument/2006/math">
                <m:sSub>
                  <m:sSubPr>
                    <m:ctrlPr>
                      <a:rPr lang="en-US" altLang="zh-CN" sz="1600" i="1">
                        <a:latin typeface="Arial" panose="02040503050406030204" pitchFamily="18" charset="0"/>
                        <a:ea typeface="Arial" panose="02010609060101010101" pitchFamily="49" charset="-122"/>
                        <a:cs typeface="Arial"/>
                      </a:rPr>
                    </m:ctrlPr>
                  </m:sSubPr>
                  <m:e>
                    <m:r>
                      <a:rPr lang="en-US" altLang="zh-CN" sz="1600" b="0" i="1" smtClean="0">
                        <a:latin typeface="Arial" panose="02040503050406030204" pitchFamily="18" charset="0"/>
                        <a:ea typeface="Arial" panose="02010609060101010101" pitchFamily="49" charset="-122"/>
                        <a:cs typeface="Arial"/>
                      </a:rPr>
                      <m:t>𝑦</m:t>
                    </m:r>
                  </m:e>
                  <m:sub>
                    <m:r>
                      <a:rPr lang="en-US" altLang="zh-CN" sz="1600" i="1">
                        <a:latin typeface="Arial" panose="02040503050406030204" pitchFamily="18" charset="0"/>
                        <a:ea typeface="Arial" panose="02010609060101010101" pitchFamily="49" charset="-122"/>
                        <a:cs typeface="Arial"/>
                      </a:rPr>
                      <m:t>𝑖</m:t>
                    </m:r>
                  </m:sub>
                </m:sSub>
              </m:oMath>
            </a14:m>
            <a:r>
              <a:rPr lang="en-US" altLang="en-US" sz="1600" dirty="0">
                <a:latin typeface="Arial" panose="020B0604020202020204" pitchFamily="34" charset="0"/>
                <a:ea typeface="Arial" panose="02010609060101010101" pitchFamily="49" charset="-122"/>
                <a:cs typeface="Arial"/>
              </a:rPr>
              <a:t>.</a:t>
            </a:r>
          </a:p>
        </p:txBody>
      </p:sp>
      <p:sp>
        <p:nvSpPr>
          <p:cNvPr id="5" name="文本框 4">
            <a:extLst>
              <a:ext uri="{FF2B5EF4-FFF2-40B4-BE49-F238E27FC236}">
                <a16:creationId xmlns:a16="http://schemas.microsoft.com/office/drawing/2014/main" id="{44524D78-E894-AFEF-8311-94D2C6F83FAB}"/>
              </a:ext>
            </a:extLst>
          </p:cNvPr>
          <p:cNvSpPr txBox="1"/>
          <p:nvPr/>
        </p:nvSpPr>
        <p:spPr>
          <a:xfrm>
            <a:off x="277585" y="2318199"/>
            <a:ext cx="7971608" cy="307777"/>
          </a:xfrm>
          <a:prstGeom prst="rect">
            <a:avLst/>
          </a:prstGeom>
          <a:noFill/>
        </p:spPr>
        <p:txBody>
          <a:bodyPr wrap="square" lIns="0" tIns="0" rIns="0" bIns="0">
            <a:noAutofit/>
          </a:bodyPr>
          <a:lstStyle/>
          <a:p>
            <a:r>
              <a:rPr lang="en-US" altLang="en-US" sz="1600" dirty="0">
                <a:latin typeface="Arial" panose="020B0604020202020204" pitchFamily="34" charset="0"/>
                <a:ea typeface="Arial" panose="02010609060101010101" pitchFamily="49" charset="-122"/>
                <a:cs typeface="Arial"/>
              </a:rPr>
              <a:t>Theorem 7.6. The unclipped solution of (7.101)–(7.103), along the feasible direction, is:</a:t>
            </a:r>
          </a:p>
        </p:txBody>
      </p:sp>
      <p:pic>
        <p:nvPicPr>
          <p:cNvPr id="11" name="图片 10">
            <a:extLst>
              <a:ext uri="{FF2B5EF4-FFF2-40B4-BE49-F238E27FC236}">
                <a16:creationId xmlns:a16="http://schemas.microsoft.com/office/drawing/2014/main" id="{4840F963-1BBA-7292-B2D9-024667960D2A}"/>
              </a:ext>
            </a:extLst>
          </p:cNvPr>
          <p:cNvPicPr>
            <a:picLocks noChangeAspect="1"/>
          </p:cNvPicPr>
          <p:nvPr/>
        </p:nvPicPr>
        <p:blipFill rotWithShape="1">
          <a:blip r:embed="rId3"/>
          <a:srcRect r="39636"/>
          <a:stretch/>
        </p:blipFill>
        <p:spPr>
          <a:xfrm>
            <a:off x="1550333" y="4636204"/>
            <a:ext cx="4228207" cy="1368000"/>
          </a:xfrm>
          <a:prstGeom prst="rect">
            <a:avLst/>
          </a:prstGeom>
        </p:spPr>
      </p:pic>
      <p:sp xmlns:a14="http://schemas.microsoft.com/office/drawing/2010/main">
        <p:nvSpPr>
          <p:cNvPr id="15" name="文本框 14">
            <a:extLst>
              <a:ext uri="{FF2B5EF4-FFF2-40B4-BE49-F238E27FC236}">
                <a16:creationId xmlns:a16="http://schemas.microsoft.com/office/drawing/2014/main" id="{BD0EA170-7C61-DB6B-AB3C-1239B09FEE03}"/>
              </a:ext>
            </a:extLst>
          </p:cNvPr>
          <p:cNvSpPr txBox="1"/>
          <p:nvPr/>
        </p:nvSpPr>
        <p:spPr>
          <a:xfrm>
            <a:off x="292091" y="3946473"/>
            <a:ext cx="8786656" cy="615553"/>
          </a:xfrm>
          <a:prstGeom prst="rect">
            <a:avLst/>
          </a:prstGeom>
          <a:noFill/>
        </p:spPr>
        <p:txBody>
          <a:bodyPr wrap="square" lIns="0" tIns="0" rIns="0" bIns="0">
            <a:noAutofit/>
          </a:bodyPr>
          <a:lstStyle/>
          <a:p>
            <a14:m>
              <m:oMath xmlns:m="http://schemas.openxmlformats.org/officeDocument/2006/math">
                <m:r>
                  <m:rPr>
                    <m:sty m:val="p"/>
                  </m:rPr>
                  <a:rPr lang="en-US" altLang="zh-CN" sz="1600" i="1" smtClean="0">
                    <a:latin typeface="Arial" panose="02040503050406030204" pitchFamily="18" charset="0"/>
                    <a:ea typeface="Arial" panose="02040503050406030204" pitchFamily="18" charset="0"/>
                    <a:cs typeface="Arial"/>
                  </a:rPr>
                  <m:t>Φ</m:t>
                </m:r>
                <m:r>
                  <a:rPr lang="en-US" altLang="zh-CN" sz="1600" b="0" i="1" smtClean="0">
                    <a:latin typeface="Arial" panose="02040503050406030204" pitchFamily="18" charset="0"/>
                    <a:ea typeface="Arial" panose="02040503050406030204" pitchFamily="18" charset="0"/>
                    <a:cs typeface="Arial"/>
                  </a:rPr>
                  <m:t>(</m:t>
                </m:r>
                <m:r>
                  <a:rPr lang="en-US" altLang="zh-CN" sz="1600" b="0" i="1" smtClean="0">
                    <a:latin typeface="Arial" panose="02040503050406030204" pitchFamily="18" charset="0"/>
                    <a:ea typeface="Arial" panose="02040503050406030204" pitchFamily="18" charset="0"/>
                    <a:cs typeface="Arial"/>
                  </a:rPr>
                  <m:t>𝑥</m:t>
                </m:r>
                <m:r>
                  <a:rPr lang="en-US" altLang="zh-CN" sz="1600" b="0" i="1" smtClean="0">
                    <a:latin typeface="Arial" panose="02040503050406030204" pitchFamily="18" charset="0"/>
                    <a:ea typeface="Arial" panose="02040503050406030204" pitchFamily="18" charset="0"/>
                    <a:cs typeface="Arial"/>
                  </a:rPr>
                  <m:t>)</m:t>
                </m:r>
              </m:oMath>
            </a14:m>
            <a:r>
              <a:rPr lang="en-US" altLang="en-US" sz="1600" dirty="0">
                <a:latin typeface="Arial" panose="020B0604020202020204" pitchFamily="34" charset="0"/>
                <a:ea typeface="Arial" panose="02010609060101010101" pitchFamily="49" charset="-122"/>
                <a:cs typeface="Arial"/>
              </a:rPr>
              <a:t> maps inputs to feature space;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𝑖</m:t>
                    </m:r>
                  </m:sub>
                </m:sSub>
                <m:r>
                  <a:rPr lang="en-US" altLang="zh-CN" sz="1600" b="0" i="1" smtClean="0">
                    <a:latin typeface="Arial" panose="02040503050406030204" pitchFamily="18" charset="0"/>
                    <a:ea typeface="Arial"/>
                    <a:cs typeface="Arial"/>
                  </a:rPr>
                  <m:t>,</m:t>
                </m:r>
                <m:r>
                  <a:rPr lang="en-US" altLang="zh-CN" sz="1600" b="0" i="1" smtClean="0">
                    <a:latin typeface="Arial" panose="02040503050406030204" pitchFamily="18" charset="0"/>
                    <a:ea typeface="Arial"/>
                    <a:cs typeface="Arial"/>
                  </a:rPr>
                  <m:t>𝑖</m:t>
                </m:r>
                <m:r>
                  <a:rPr lang="en-US" altLang="zh-CN" sz="1600" b="0" i="1" smtClean="0">
                    <a:latin typeface="Arial" panose="02040503050406030204" pitchFamily="18" charset="0"/>
                    <a:ea typeface="Arial"/>
                    <a:cs typeface="Arial"/>
                  </a:rPr>
                  <m:t>=1,2</m:t>
                </m:r>
              </m:oMath>
            </a14:m>
            <a:r>
              <a:rPr lang="en-US" altLang="en-US" sz="1600" dirty="0">
                <a:latin typeface="Arial" panose="020B0604020202020204" pitchFamily="34" charset="0"/>
                <a:ea typeface="Arial" panose="02010609060101010101" pitchFamily="49" charset="-122"/>
                <a:cs typeface="Arial"/>
              </a:rPr>
              <a:t> is given by (7.105). After clipping, the solution for </a:t>
            </a:r>
            <a14:m>
              <m:oMath xmlns:m="http://schemas.openxmlformats.org/officeDocument/2006/math">
                <m:sSub>
                  <m:sSubPr>
                    <m:ctrlPr>
                      <a:rPr lang="en-US" altLang="zh-CN" sz="1600" i="1" smtClean="0">
                        <a:latin typeface="Arial" panose="02040503050406030204" pitchFamily="18" charset="0"/>
                        <a:ea typeface="Arial"/>
                        <a:cs typeface="Arial"/>
                      </a:rPr>
                    </m:ctrlPr>
                  </m:sSub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Sub>
              </m:oMath>
            </a14:m>
            <a:r>
              <a:rPr lang="en-US" altLang="en-US" sz="1600" dirty="0">
                <a:latin typeface="Arial" panose="020B0604020202020204" pitchFamily="34" charset="0"/>
                <a:ea typeface="Arial" panose="02010609060101010101" pitchFamily="49" charset="-122"/>
                <a:cs typeface="Arial"/>
              </a:rPr>
              <a:t> is:</a:t>
            </a:r>
          </a:p>
        </p:txBody>
      </p:sp>
      <p:sp xmlns:a14="http://schemas.microsoft.com/office/drawing/2010/main">
        <p:nvSpPr>
          <p:cNvPr id="3" name="文本框 2">
            <a:extLst>
              <a:ext uri="{FF2B5EF4-FFF2-40B4-BE49-F238E27FC236}">
                <a16:creationId xmlns:a16="http://schemas.microsoft.com/office/drawing/2014/main" id="{1C1B4D4D-C7F2-9F09-C4A1-FC06F4A8E371}"/>
              </a:ext>
            </a:extLst>
          </p:cNvPr>
          <p:cNvSpPr txBox="1"/>
          <p:nvPr/>
        </p:nvSpPr>
        <p:spPr>
          <a:xfrm>
            <a:off x="1474595" y="2722398"/>
            <a:ext cx="4837671" cy="946093"/>
          </a:xfrm>
          <a:prstGeom prst="rect">
            <a:avLst/>
          </a:prstGeom>
          <a:noFill/>
        </p:spPr>
        <p:txBody>
          <a:bodyPr wrap="none" lIns="0" tIns="0" rIns="0" bIns="0" rtlCol="0">
            <a:noAutofit/>
          </a:bodyPr>
          <a:lstStyle/>
          <a:p>
            <a:pPr/>
            <a14:m>
              <m:oMathPara xmlns:m="http://schemas.openxmlformats.org/officeDocument/2006/math">
                <m:oMathParaPr>
                  <m:jc m:val="centerGroup"/>
                </m:oMathParaPr>
                <m:o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r>
                        <a:rPr lang="en-US" altLang="zh-CN" sz="1600" b="0" i="0" smtClean="0">
                          <a:latin typeface="Arial" panose="02040503050406030204" pitchFamily="18" charset="0"/>
                          <a:ea typeface="Arial"/>
                          <a:cs typeface="Arial"/>
                        </a:rPr>
                        <m:t>,</m:t>
                      </m:r>
                      <m:r>
                        <m:rPr>
                          <m:sty m:val="p"/>
                        </m:rPr>
                        <a:rPr lang="en-US" altLang="zh-CN" sz="1600" b="0" i="0" smtClean="0">
                          <a:latin typeface="Arial" panose="02040503050406030204" pitchFamily="18" charset="0"/>
                          <a:ea typeface="Arial"/>
                          <a:cs typeface="Arial"/>
                        </a:rPr>
                        <m:t>unc</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f>
                    <m:fPr>
                      <m:ctrlPr>
                        <a:rPr lang="en-US" altLang="zh-CN" sz="1600" b="0" i="1" smtClean="0">
                          <a:latin typeface="Arial" panose="02040503050406030204" pitchFamily="18" charset="0"/>
                          <a:ea typeface="Arial"/>
                          <a:cs typeface="Arial"/>
                        </a:rPr>
                      </m:ctrlPr>
                    </m:fPr>
                    <m:num>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𝐸</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num>
                    <m:den>
                      <m:r>
                        <a:rPr lang="en-US" altLang="en-US" sz="1600" b="0" i="1" smtClean="0">
                          <a:latin typeface="Arial" panose="02040503050406030204" pitchFamily="18" charset="0"/>
                          <a:ea typeface="Arial"/>
                          <a:cs typeface="Arial"/>
                        </a:rPr>
                        <m:t>𝜂</m:t>
                      </m:r>
                    </m:den>
                  </m:f>
                </m:oMath>
              </m:oMathPara>
            </a14:m>
            <a:endParaRPr lang="en-US" altLang="zh-CN" sz="1600" i="1" dirty="0">
              <a:latin typeface="Arial" panose="02040503050406030204" pitchFamily="18" charset="0"/>
              <a:ea typeface="Arial"/>
              <a:cs typeface="Arial"/>
            </a:endParaRPr>
          </a:p>
          <a:p>
            <a:pPr/>
            <a14:m>
              <m:oMathPara xmlns:m="http://schemas.openxmlformats.org/officeDocument/2006/math">
                <m:oMathParaPr>
                  <m:jc m:val="centerGroup"/>
                </m:oMathParaPr>
                <m:oMath>
                  <m:r>
                    <a:rPr lang="en-US" altLang="en-US" sz="1600" i="1" smtClean="0">
                      <a:latin typeface="Arial" panose="02040503050406030204" pitchFamily="18" charset="0"/>
                      <a:ea typeface="Arial"/>
                      <a:cs typeface="Arial"/>
                    </a:rPr>
                    <m:t>𝜂</m:t>
                  </m:r>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11</m:t>
                      </m:r>
                    </m:sub>
                  </m:sSub>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22</m:t>
                      </m:r>
                    </m:sub>
                  </m:sSub>
                  <m:r>
                    <a:rPr lang="en-US" altLang="zh-CN" sz="1600" b="0" i="1" smtClean="0">
                      <a:latin typeface="Arial" panose="02040503050406030204" pitchFamily="18" charset="0"/>
                      <a:ea typeface="Arial"/>
                      <a:cs typeface="Arial"/>
                    </a:rPr>
                    <m:t>−2</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𝐾</m:t>
                      </m:r>
                    </m:e>
                    <m:sub>
                      <m:r>
                        <a:rPr lang="en-US" altLang="zh-CN" sz="1600" b="0" i="1" smtClean="0">
                          <a:latin typeface="Arial" panose="02040503050406030204" pitchFamily="18" charset="0"/>
                          <a:ea typeface="Arial"/>
                          <a:cs typeface="Arial"/>
                        </a:rPr>
                        <m:t>12</m:t>
                      </m:r>
                    </m:sub>
                  </m:sSub>
                  <m:r>
                    <a:rPr lang="en-US" altLang="zh-CN" sz="1600" b="0" i="1" smtClean="0">
                      <a:latin typeface="Arial" panose="02040503050406030204" pitchFamily="18" charset="0"/>
                      <a:ea typeface="Arial"/>
                      <a:cs typeface="Arial"/>
                    </a:rPr>
                    <m:t>=</m:t>
                  </m:r>
                  <m:sSup>
                    <m:sSupPr>
                      <m:ctrlPr>
                        <a:rPr lang="en-US" altLang="zh-CN" sz="1600" b="0" i="1" smtClean="0">
                          <a:latin typeface="Arial" panose="02040503050406030204" pitchFamily="18" charset="0"/>
                          <a:ea typeface="Arial"/>
                          <a:cs typeface="Arial"/>
                        </a:rPr>
                      </m:ctrlPr>
                    </m:sSupPr>
                    <m:e>
                      <m:d>
                        <m:dPr>
                          <m:begChr m:val="‖"/>
                          <m:endChr m:val="‖"/>
                          <m:ctrlPr>
                            <a:rPr lang="en-US" altLang="zh-CN" sz="1600" b="0" i="1" smtClean="0">
                              <a:latin typeface="Arial" panose="02040503050406030204" pitchFamily="18" charset="0"/>
                              <a:ea typeface="Arial"/>
                              <a:cs typeface="Arial"/>
                            </a:rPr>
                          </m:ctrlPr>
                        </m:dPr>
                        <m:e>
                          <m:r>
                            <m:rPr>
                              <m:sty m:val="p"/>
                            </m:rPr>
                            <a:rPr lang="en-US" altLang="zh-CN" sz="1600" b="0" i="1" smtClean="0">
                              <a:latin typeface="Arial" panose="02040503050406030204" pitchFamily="18" charset="0"/>
                              <a:ea typeface="Arial" panose="02040503050406030204" pitchFamily="18" charset="0"/>
                              <a:cs typeface="Arial"/>
                            </a:rPr>
                            <m:t>Φ</m:t>
                          </m:r>
                          <m:d>
                            <m:dPr>
                              <m:ctrlPr>
                                <a:rPr lang="en-US" altLang="zh-CN" sz="1600" b="0" i="1" smtClean="0">
                                  <a:latin typeface="Arial" panose="02040503050406030204" pitchFamily="18" charset="0"/>
                                  <a:ea typeface="Arial" panose="02040503050406030204" pitchFamily="18" charset="0"/>
                                  <a:cs typeface="Arial"/>
                                </a:rPr>
                              </m:ctrlPr>
                            </m:dPr>
                            <m:e>
                              <m:sSub>
                                <m:sSubPr>
                                  <m:ctrlPr>
                                    <a:rPr lang="en-US" altLang="zh-CN" sz="1600" b="0" i="1" smtClean="0">
                                      <a:latin typeface="Arial" panose="02040503050406030204" pitchFamily="18" charset="0"/>
                                      <a:ea typeface="Arial" panose="02040503050406030204" pitchFamily="18" charset="0"/>
                                      <a:cs typeface="Arial"/>
                                    </a:rPr>
                                  </m:ctrlPr>
                                </m:sSubPr>
                                <m:e>
                                  <m:r>
                                    <a:rPr lang="en-US" altLang="zh-CN" sz="1600" b="1" i="1" smtClean="0">
                                      <a:latin typeface="Arial" panose="02040503050406030204" pitchFamily="18" charset="0"/>
                                      <a:ea typeface="Arial" panose="02040503050406030204" pitchFamily="18" charset="0"/>
                                      <a:cs typeface="Arial"/>
                                    </a:rPr>
                                    <m:t>𝒙</m:t>
                                  </m:r>
                                </m:e>
                                <m:sub>
                                  <m:r>
                                    <a:rPr lang="en-US" altLang="zh-CN" sz="1600" b="0" i="1" smtClean="0">
                                      <a:latin typeface="Arial" panose="02040503050406030204" pitchFamily="18" charset="0"/>
                                      <a:ea typeface="Arial" panose="02040503050406030204" pitchFamily="18" charset="0"/>
                                      <a:cs typeface="Arial"/>
                                    </a:rPr>
                                    <m:t>1</m:t>
                                  </m:r>
                                </m:sub>
                              </m:sSub>
                            </m:e>
                          </m:d>
                          <m:r>
                            <a:rPr lang="en-US" altLang="zh-CN" sz="1600" b="0" i="1" smtClean="0">
                              <a:latin typeface="Arial" panose="02040503050406030204" pitchFamily="18" charset="0"/>
                              <a:ea typeface="Arial" panose="02040503050406030204" pitchFamily="18" charset="0"/>
                              <a:cs typeface="Arial"/>
                            </a:rPr>
                            <m:t>−</m:t>
                          </m:r>
                          <m:r>
                            <m:rPr>
                              <m:sty m:val="p"/>
                            </m:rPr>
                            <a:rPr lang="en-US" altLang="zh-CN" sz="1600" i="1">
                              <a:latin typeface="Arial" panose="02040503050406030204" pitchFamily="18" charset="0"/>
                              <a:ea typeface="Arial" panose="02040503050406030204" pitchFamily="18" charset="0"/>
                              <a:cs typeface="Arial"/>
                            </a:rPr>
                            <m:t>Φ</m:t>
                          </m:r>
                          <m:d>
                            <m:dPr>
                              <m:ctrlPr>
                                <a:rPr lang="en-US" altLang="zh-CN" sz="1600" i="1">
                                  <a:latin typeface="Arial" panose="02040503050406030204" pitchFamily="18" charset="0"/>
                                  <a:ea typeface="Arial" panose="02040503050406030204" pitchFamily="18" charset="0"/>
                                  <a:cs typeface="Arial"/>
                                </a:rPr>
                              </m:ctrlPr>
                            </m:dPr>
                            <m:e>
                              <m:sSub>
                                <m:sSubPr>
                                  <m:ctrlPr>
                                    <a:rPr lang="en-US" altLang="zh-CN" sz="1600" i="1">
                                      <a:latin typeface="Arial" panose="02040503050406030204" pitchFamily="18" charset="0"/>
                                      <a:ea typeface="Arial" panose="02040503050406030204" pitchFamily="18" charset="0"/>
                                      <a:cs typeface="Arial"/>
                                    </a:rPr>
                                  </m:ctrlPr>
                                </m:sSubPr>
                                <m:e>
                                  <m:r>
                                    <a:rPr lang="en-US" altLang="zh-CN" sz="1600" b="1" i="1">
                                      <a:latin typeface="Arial" panose="02040503050406030204" pitchFamily="18" charset="0"/>
                                      <a:ea typeface="Arial" panose="02040503050406030204" pitchFamily="18" charset="0"/>
                                      <a:cs typeface="Arial"/>
                                    </a:rPr>
                                    <m:t>𝒙</m:t>
                                  </m:r>
                                </m:e>
                                <m:sub>
                                  <m:r>
                                    <a:rPr lang="en-US" altLang="zh-CN" sz="1600" b="0" i="1" smtClean="0">
                                      <a:latin typeface="Arial" panose="02040503050406030204" pitchFamily="18" charset="0"/>
                                      <a:ea typeface="Arial" panose="02040503050406030204" pitchFamily="18" charset="0"/>
                                      <a:cs typeface="Arial"/>
                                    </a:rPr>
                                    <m:t>2</m:t>
                                  </m:r>
                                </m:sub>
                              </m:sSub>
                            </m:e>
                          </m:d>
                        </m:e>
                      </m:d>
                    </m:e>
                    <m:sup>
                      <m:r>
                        <a:rPr lang="en-US" altLang="zh-CN" sz="1600" b="0" i="1" smtClean="0">
                          <a:latin typeface="Arial" panose="02040503050406030204" pitchFamily="18" charset="0"/>
                          <a:ea typeface="Arial"/>
                          <a:cs typeface="Arial"/>
                        </a:rPr>
                        <m:t>2</m:t>
                      </m:r>
                    </m:sup>
                  </m:sSup>
                </m:oMath>
              </m:oMathPara>
            </a14:m>
            <a:endParaRPr lang="en-US" altLang="en-US" sz="1600" dirty="0">
              <a:latin typeface="Arial"/>
              <a:ea typeface="Arial"/>
              <a:cs typeface="Arial"/>
            </a:endParaRPr>
          </a:p>
        </p:txBody>
      </p:sp>
      <p:sp>
        <p:nvSpPr>
          <p:cNvPr id="6" name="文本框 5">
            <a:extLst>
              <a:ext uri="{FF2B5EF4-FFF2-40B4-BE49-F238E27FC236}">
                <a16:creationId xmlns:a16="http://schemas.microsoft.com/office/drawing/2014/main" id="{182B4755-E888-5AEF-9678-58E3257925CA}"/>
              </a:ext>
            </a:extLst>
          </p:cNvPr>
          <p:cNvSpPr txBox="1"/>
          <p:nvPr/>
        </p:nvSpPr>
        <p:spPr>
          <a:xfrm>
            <a:off x="7240441" y="2867662"/>
            <a:ext cx="730969" cy="276999"/>
          </a:xfrm>
          <a:prstGeom prst="rect">
            <a:avLst/>
          </a:prstGeom>
          <a:noFill/>
        </p:spPr>
        <p:txBody>
          <a:bodyPr wrap="none" lIns="0" tIns="0" rIns="0" bIns="0" rtlCol="0">
            <a:noAutofit/>
          </a:bodyPr>
          <a:lstStyle/>
          <a:p>
            <a:r>
              <a:rPr lang="en-US" altLang="zh-CN" dirty="0" sz="1600">
                <a:latin typeface="Arial" panose="020B0604020202020204" pitchFamily="34" charset="0"/>
                <a:ea typeface="Arial" panose="02010609060101010101" pitchFamily="49" charset="-122"/>
                <a:cs typeface="Arial"/>
              </a:rPr>
              <a:t>(7.106)</a:t>
            </a:r>
            <a:endParaRPr lang="en-US" altLang="en-US" dirty="0" sz="1600">
              <a:latin typeface="Arial" panose="020B0604020202020204" pitchFamily="34" charset="0"/>
              <a:ea typeface="Arial" panose="02010609060101010101" pitchFamily="49" charset="-122"/>
              <a:cs typeface="Arial"/>
            </a:endParaRPr>
          </a:p>
        </p:txBody>
      </p:sp>
      <p:sp>
        <p:nvSpPr>
          <p:cNvPr id="8" name="文本框 7">
            <a:extLst>
              <a:ext uri="{FF2B5EF4-FFF2-40B4-BE49-F238E27FC236}">
                <a16:creationId xmlns:a16="http://schemas.microsoft.com/office/drawing/2014/main" id="{2009B080-1BBD-F961-F81F-A590E1203A77}"/>
              </a:ext>
            </a:extLst>
          </p:cNvPr>
          <p:cNvSpPr txBox="1"/>
          <p:nvPr/>
        </p:nvSpPr>
        <p:spPr>
          <a:xfrm>
            <a:off x="7240440" y="3311765"/>
            <a:ext cx="730969" cy="276999"/>
          </a:xfrm>
          <a:prstGeom prst="rect">
            <a:avLst/>
          </a:prstGeom>
          <a:noFill/>
        </p:spPr>
        <p:txBody>
          <a:bodyPr wrap="none" lIns="0" tIns="0" rIns="0" bIns="0" rtlCol="0">
            <a:noAutofit/>
          </a:bodyPr>
          <a:lstStyle/>
          <a:p>
            <a:r>
              <a:rPr lang="en-US" altLang="zh-CN" dirty="0" sz="1600">
                <a:latin typeface="Arial" panose="020B0604020202020204" pitchFamily="34" charset="0"/>
                <a:ea typeface="Arial" panose="02010609060101010101" pitchFamily="49" charset="-122"/>
                <a:cs typeface="Arial"/>
              </a:rPr>
              <a:t>(7.107)</a:t>
            </a:r>
            <a:endParaRPr lang="en-US" altLang="en-US" dirty="0" sz="1600">
              <a:latin typeface="Arial" panose="020B0604020202020204" pitchFamily="34" charset="0"/>
              <a:ea typeface="Arial" panose="02010609060101010101" pitchFamily="49" charset="-122"/>
              <a:cs typeface="Arial"/>
            </a:endParaRPr>
          </a:p>
        </p:txBody>
      </p:sp>
      <p:sp xmlns:a14="http://schemas.microsoft.com/office/drawing/2010/main">
        <p:nvSpPr>
          <p:cNvPr id="9" name="文本框 8">
            <a:extLst>
              <a:ext uri="{FF2B5EF4-FFF2-40B4-BE49-F238E27FC236}">
                <a16:creationId xmlns:a16="http://schemas.microsoft.com/office/drawing/2014/main" id="{FA300059-02FB-AC6D-8336-2F682B08390E}"/>
              </a:ext>
            </a:extLst>
          </p:cNvPr>
          <p:cNvSpPr txBox="1"/>
          <p:nvPr/>
        </p:nvSpPr>
        <p:spPr>
          <a:xfrm>
            <a:off x="1550332" y="6150448"/>
            <a:ext cx="4955524" cy="328167"/>
          </a:xfrm>
          <a:prstGeom prst="rect">
            <a:avLst/>
          </a:prstGeom>
          <a:noFill/>
        </p:spPr>
        <p:txBody>
          <a:bodyPr wrap="none" lIns="0" tIns="0" rIns="0" bIns="0" rtlCol="0">
            <a:noAutofit/>
          </a:bodyPr>
          <a:lstStyle/>
          <a:p>
            <a14:m>
              <m:oMath xmlns:m="http://schemas.openxmlformats.org/officeDocument/2006/math">
                <m:sSubSup>
                  <m:sSubSupPr>
                    <m:ctrlPr>
                      <a:rPr lang="en-US" altLang="zh-CN" sz="1600" i="1" smtClean="0">
                        <a:latin typeface="Arial" panose="02040503050406030204" pitchFamily="18" charset="0"/>
                        <a:ea typeface="Arial"/>
                        <a:cs typeface="Arial"/>
                      </a:rPr>
                    </m:ctrlPr>
                  </m:sSubSupPr>
                  <m:e>
                    <m:r>
                      <a:rPr lang="en-US" altLang="en-US" sz="1600" i="1" smtClean="0">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1</m:t>
                    </m:r>
                  </m:sub>
                  <m:sup>
                    <m:r>
                      <m:rPr>
                        <m:sty m:val="p"/>
                      </m:rPr>
                      <a:rPr lang="en-US" altLang="zh-CN" sz="1600" b="0" i="0" smtClean="0">
                        <a:latin typeface="Arial" panose="02040503050406030204" pitchFamily="18" charset="0"/>
                        <a:ea typeface="Arial"/>
                        <a:cs typeface="Arial"/>
                      </a:rPr>
                      <m:t>new</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i="1">
                        <a:latin typeface="Arial" panose="02040503050406030204" pitchFamily="18" charset="0"/>
                        <a:ea typeface="Arial"/>
                        <a:cs typeface="Arial"/>
                      </a:rPr>
                      <m:t>1</m:t>
                    </m:r>
                  </m:sub>
                  <m:sup>
                    <m:r>
                      <m:rPr>
                        <m:sty m:val="p"/>
                      </m:rPr>
                      <a:rPr lang="en-US" altLang="zh-CN" sz="1600" b="0" i="0" smtClean="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1</m:t>
                    </m:r>
                  </m:sub>
                </m:sSub>
                <m:sSub>
                  <m:sSubPr>
                    <m:ctrlPr>
                      <a:rPr lang="en-US" altLang="zh-CN" sz="1600" b="0" i="1" smtClean="0">
                        <a:latin typeface="Arial" panose="02040503050406030204" pitchFamily="18" charset="0"/>
                        <a:ea typeface="Arial"/>
                        <a:cs typeface="Arial"/>
                      </a:rPr>
                    </m:ctrlPr>
                  </m:sSubPr>
                  <m:e>
                    <m:r>
                      <a:rPr lang="en-US" altLang="zh-CN" sz="1600" b="0" i="1" smtClean="0">
                        <a:latin typeface="Arial" panose="02040503050406030204" pitchFamily="18" charset="0"/>
                        <a:ea typeface="Arial"/>
                        <a:cs typeface="Arial"/>
                      </a:rPr>
                      <m:t>𝑦</m:t>
                    </m:r>
                  </m:e>
                  <m:sub>
                    <m:r>
                      <a:rPr lang="en-US" altLang="zh-CN" sz="1600" b="0" i="1" smtClean="0">
                        <a:latin typeface="Arial" panose="02040503050406030204" pitchFamily="18" charset="0"/>
                        <a:ea typeface="Arial"/>
                        <a:cs typeface="Arial"/>
                      </a:rPr>
                      <m:t>2</m:t>
                    </m:r>
                  </m:sub>
                </m:sSub>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a:latin typeface="Arial" panose="02040503050406030204" pitchFamily="18" charset="0"/>
                        <a:ea typeface="Arial"/>
                        <a:cs typeface="Arial"/>
                      </a:rPr>
                      <m:t>old</m:t>
                    </m:r>
                  </m:sup>
                </m:sSubSup>
                <m:r>
                  <a:rPr lang="en-US" altLang="zh-CN" sz="1600" b="0" i="1" smtClean="0">
                    <a:latin typeface="Arial" panose="02040503050406030204" pitchFamily="18" charset="0"/>
                    <a:ea typeface="Arial"/>
                    <a:cs typeface="Arial"/>
                  </a:rPr>
                  <m:t>−</m:t>
                </m:r>
                <m:sSubSup>
                  <m:sSubSupPr>
                    <m:ctrlPr>
                      <a:rPr lang="en-US" altLang="zh-CN" sz="1600" i="1">
                        <a:latin typeface="Arial" panose="02040503050406030204" pitchFamily="18" charset="0"/>
                        <a:ea typeface="Arial"/>
                        <a:cs typeface="Arial"/>
                      </a:rPr>
                    </m:ctrlPr>
                  </m:sSubSupPr>
                  <m:e>
                    <m:r>
                      <a:rPr lang="en-US" altLang="en-US" sz="1600" i="1">
                        <a:latin typeface="Arial" panose="02040503050406030204" pitchFamily="18" charset="0"/>
                        <a:ea typeface="Arial"/>
                        <a:cs typeface="Arial"/>
                      </a:rPr>
                      <m:t>𝛼</m:t>
                    </m:r>
                  </m:e>
                  <m:sub>
                    <m:r>
                      <a:rPr lang="en-US" altLang="zh-CN" sz="1600" b="0" i="1" smtClean="0">
                        <a:latin typeface="Arial" panose="02040503050406030204" pitchFamily="18" charset="0"/>
                        <a:ea typeface="Arial"/>
                        <a:cs typeface="Arial"/>
                      </a:rPr>
                      <m:t>2</m:t>
                    </m:r>
                  </m:sub>
                  <m:sup>
                    <m:r>
                      <m:rPr>
                        <m:sty m:val="p"/>
                      </m:rPr>
                      <a:rPr lang="en-US" altLang="zh-CN" sz="1600" b="0" i="0" smtClean="0">
                        <a:latin typeface="Arial" panose="02040503050406030204" pitchFamily="18" charset="0"/>
                        <a:ea typeface="Arial"/>
                        <a:cs typeface="Arial"/>
                      </a:rPr>
                      <m:t>new</m:t>
                    </m:r>
                  </m:sup>
                </m:sSubSup>
                <m:r>
                  <a:rPr lang="en-US" altLang="zh-CN" sz="1600" b="0" i="1" smtClean="0">
                    <a:latin typeface="Arial" panose="02040503050406030204" pitchFamily="18" charset="0"/>
                    <a:ea typeface="Arial"/>
                    <a:cs typeface="Arial"/>
                  </a:rPr>
                  <m:t>)</m:t>
                </m:r>
              </m:oMath>
            </a14:m>
            <a:r>
              <a:rPr lang="en-US" altLang="en-US" sz="1600" dirty="0">
                <a:latin typeface="Arial" panose="020B0604020202020204" pitchFamily="34" charset="0"/>
                <a:ea typeface="Arial" panose="02010609060101010101" pitchFamily="49" charset="-122"/>
                <a:cs typeface="Arial"/>
              </a:rPr>
              <a:t>      </a:t>
            </a:r>
            <a:r>
              <a:rPr lang="en-US" altLang="zh-CN" sz="1600" dirty="0">
                <a:latin typeface="Arial" panose="020B0604020202020204" pitchFamily="34" charset="0"/>
                <a:ea typeface="Arial" panose="02010609060101010101" pitchFamily="49" charset="-122"/>
                <a:cs typeface="Arial"/>
              </a:rPr>
              <a:t>(7.109)</a:t>
            </a:r>
            <a:endParaRPr lang="en-US" altLang="en-US" sz="1600" dirty="0">
              <a:latin typeface="Arial" panose="020B0604020202020204" pitchFamily="34" charset="0"/>
              <a:ea typeface="Arial" panose="02010609060101010101" pitchFamily="49" charset="-122"/>
              <a:cs typeface="Arial"/>
            </a:endParaRPr>
          </a:p>
        </p:txBody>
      </p:sp>
      <p:sp>
        <p:nvSpPr>
          <p:cNvPr id="14" name="文本框 13">
            <a:extLst>
              <a:ext uri="{FF2B5EF4-FFF2-40B4-BE49-F238E27FC236}">
                <a16:creationId xmlns:a16="http://schemas.microsoft.com/office/drawing/2014/main" id="{F877CC07-89B5-EA52-B516-5896092218F2}"/>
              </a:ext>
            </a:extLst>
          </p:cNvPr>
          <p:cNvSpPr txBox="1"/>
          <p:nvPr/>
        </p:nvSpPr>
        <p:spPr>
          <a:xfrm>
            <a:off x="7199644" y="5086971"/>
            <a:ext cx="859134" cy="307777"/>
          </a:xfrm>
          <a:prstGeom prst="rect">
            <a:avLst/>
          </a:prstGeom>
          <a:noFill/>
        </p:spPr>
        <p:txBody>
          <a:bodyPr wrap="square" lIns="0" tIns="0" rIns="0" bIns="0">
            <a:noAutofit/>
          </a:bodyPr>
          <a:lstStyle/>
          <a:p>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(7.108)</a:t>
            </a:r>
            <a:endParaRPr lang="en-US" altLang="en-US" dirty="0" sz="1600">
              <a:latin typeface="Arial"/>
              <a:ea typeface="Arial"/>
              <a:cs typeface="Arial"/>
            </a:endParaRPr>
          </a:p>
        </p:txBody>
      </p:sp>
    </p:spTree>
    <p:extLst>
      <p:ext uri="{BB962C8B-B14F-4D97-AF65-F5344CB8AC3E}">
        <p14:creationId xmlns:p14="http://schemas.microsoft.com/office/powerpoint/2010/main" val="1294978710"/>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en-US" dirty="0" sz="1600">
                <a:latin typeface="Arial"/>
                <a:ea typeface="Arial"/>
                <a:cs typeface="Arial"/>
              </a:rPr>
              <a:t>Support Vector Machines</a:t>
            </a:r>
          </a:p>
        </p:txBody>
      </p:sp>
      <p:sp>
        <p:nvSpPr>
          <p:cNvPr id="4" name="灯片编号占位符 3">
            <a:extLst>
              <a:ext uri="{FF2B5EF4-FFF2-40B4-BE49-F238E27FC236}">
                <a16:creationId xmlns:a16="http://schemas.microsoft.com/office/drawing/2014/main" id="{F6881FDF-DE7C-92F5-8CE3-8AD27566F22B}"/>
              </a:ext>
            </a:extLst>
          </p:cNvPr>
          <p:cNvSpPr>
            <a:spLocks noGrp="1"/>
          </p:cNvSpPr>
          <p:nvPr>
            <p:ph type="sldNum" sz="quarter" idx="12"/>
          </p:nvPr>
        </p:nvSpPr>
        <p:spPr/>
        <p:txBody>
          <a:bodyPr>
            <a:noAutofit/>
          </a:bodyPr>
          <a:lstStyle/>
          <a:p>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fld id="{5AD84F5B-1672-4D3F-9FEC-5DF89A7B7912}" type="slidenum">
              <a:rPr kumimoji="0" lang="en-US" altLang="en-US" sz="1600" b="1" i="0" u="none" strike="noStrike" kern="1200" cap="none" spc="0" normalizeH="0" baseline="0" noProof="0" smtClean="0">
                <a:ln>
                  <a:noFill/>
                </a:ln>
                <a:solidFill>
                  <a:srgbClr val="002060"/>
                </a:solidFill>
                <a:effectLst/>
                <a:uLnTx/>
                <a:uFillTx/>
                <a:latin typeface="Arial"/>
                <a:ea typeface="Arial"/>
                <a:cs typeface="Arial"/>
              </a:rPr>
              <a:pPr marL="0" marR="0" lvl="0" indent="0" algn="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t>98</a:t>
            </a:fld>
            <a:endParaRPr kumimoji="0" lang="en-US" altLang="en-US" sz="1600" b="1" i="0" u="none" strike="noStrike" kern="1200" cap="none" spc="0" normalizeH="0" baseline="0" noProof="0">
              <a:ln>
                <a:noFill/>
              </a:ln>
              <a:solidFill>
                <a:srgbClr val="002060"/>
              </a:solidFill>
              <a:effectLst/>
              <a:uLnTx/>
              <a:uFillTx/>
              <a:latin typeface="Arial"/>
              <a:ea typeface="Arial"/>
              <a:cs typeface="Arial"/>
            </a:endParaRPr>
          </a:p>
        </p:txBody>
      </p:sp>
      <p:sp xmlns:a14="http://schemas.microsoft.com/office/drawing/2010/main">
        <p:nvSpPr>
          <p:cNvPr id="6" name="内容占位符 2">
            <a:extLst>
              <a:ext uri="{FF2B5EF4-FFF2-40B4-BE49-F238E27FC236}">
                <a16:creationId xmlns:a16="http://schemas.microsoft.com/office/drawing/2014/main" id="{0220BF4E-074B-50D0-55C9-4F62A41E997A}"/>
              </a:ext>
            </a:extLst>
          </p:cNvPr>
          <p:cNvSpPr txBox="1">
            <a:spLocks/>
          </p:cNvSpPr>
          <p:nvPr/>
        </p:nvSpPr>
        <p:spPr bwMode="auto">
          <a:xfrm>
            <a:off x="3206276" y="873560"/>
            <a:ext cx="5329799" cy="115271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0" tIns="0" rIns="0" bIns="0" numCol="1" anchor="t" anchorCtr="0" compatLnSpc="1">
            <a:prstTxWarp prst="textNoShape">
              <a:avLst/>
            </a:prstTxWarp>
            <a:noAutofit/>
          </a:bodyPr>
          <a:lstStyle>
            <a:lvl1pPr marL="228600" indent="-360000" algn="l" rtl="0" eaLnBrk="0" fontAlgn="base" hangingPunct="0">
              <a:lnSpc>
                <a:spcPct val="90000"/>
              </a:lnSpc>
              <a:spcBef>
                <a:spcPts val="1000"/>
              </a:spcBef>
              <a:spcAft>
                <a:spcPct val="0"/>
              </a:spcAft>
              <a:buClr>
                <a:schemeClr val="accent1"/>
              </a:buClr>
              <a:buSzPct val="100000"/>
              <a:buFont typeface="Wingdings" panose="05000000000000000000" pitchFamily="2" charset="2"/>
              <a:buChar char="p"/>
              <a:defRPr lang="en-US" altLang="en-US" sz="1600" kern="1200" dirty="0" smtClean="0">
                <a:solidFill>
                  <a:schemeClr val="tx1"/>
                </a:solidFill>
                <a:latin typeface="Arial" panose="020B0604030504040204" pitchFamily="34" charset="0"/>
                <a:ea typeface="Arial" panose="02010509060101010101" pitchFamily="49" charset="-122"/>
                <a:cs typeface="Arial"/>
              </a:defRPr>
            </a:lvl1pPr>
            <a:lvl2pPr marL="6858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2pPr>
            <a:lvl3pPr marL="11430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3pPr>
            <a:lvl4pPr marL="16002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4pPr>
            <a:lvl5pPr marL="2057400" indent="-360000" algn="l" rtl="0" eaLnBrk="0" fontAlgn="base" hangingPunct="0">
              <a:lnSpc>
                <a:spcPct val="90000"/>
              </a:lnSpc>
              <a:spcBef>
                <a:spcPts val="500"/>
              </a:spcBef>
              <a:spcAft>
                <a:spcPct val="0"/>
              </a:spcAft>
              <a:buClr>
                <a:schemeClr val="accent1"/>
              </a:buClr>
              <a:buFont typeface="Wingdings" panose="05000000000000000000" pitchFamily="2" charset="2"/>
              <a:buChar char="l"/>
              <a:defRPr sz="1600" kern="1200" baseline="0" lang="en-US">
                <a:solidFill>
                  <a:schemeClr val="tx1"/>
                </a:solidFill>
                <a:latin typeface="Arial" panose="020B0604030504040204" pitchFamily="34" charset="0"/>
                <a:ea typeface="Arial" panose="02010509060101010101" pitchFamily="49" charset="-122"/>
                <a:cs typeface="Arial"/>
              </a:defRPr>
            </a:lvl5pPr>
            <a:lvl6pPr marL="2286000" indent="0" algn="l" defTabSz="914400" rtl="0" eaLnBrk="1" latinLnBrk="0" hangingPunct="1">
              <a:lnSpc>
                <a:spcPct val="90000"/>
              </a:lnSpc>
              <a:spcBef>
                <a:spcPts val="500"/>
              </a:spcBef>
              <a:buClr>
                <a:schemeClr val="tx2"/>
              </a:buClr>
              <a:buFont typeface="Arial" panose="020B0604020202020204" pitchFamily="34" charset="0"/>
              <a:buNone/>
              <a:defRPr sz="1600" kern="1200" lang="en-US">
                <a:solidFill>
                  <a:schemeClr val="tx1"/>
                </a:solidFill>
                <a:latin typeface="Arial"/>
                <a:ea typeface="Arial"/>
                <a:cs typeface="Arial"/>
              </a:defRPr>
            </a:lvl6pPr>
            <a:lvl7pPr marL="27432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7pPr>
            <a:lvl8pPr marL="3200400" indent="0" algn="l" defTabSz="914400" rtl="0" eaLnBrk="1" latinLnBrk="0" hangingPunct="1">
              <a:lnSpc>
                <a:spcPct val="90000"/>
              </a:lnSpc>
              <a:spcBef>
                <a:spcPts val="500"/>
              </a:spcBef>
              <a:buFont typeface="Arial" panose="020B0604020202020204" pitchFamily="34" charset="0"/>
              <a:buNone/>
              <a:defRPr sz="1600" kern="1200" lang="en-US">
                <a:solidFill>
                  <a:schemeClr val="tx1"/>
                </a:solidFill>
                <a:latin typeface="Arial"/>
                <a:ea typeface="Arial"/>
                <a:cs typeface="Arial"/>
              </a:defRPr>
            </a:lvl8pPr>
            <a:lvl9pPr marL="3886200" indent="-228600" algn="l" defTabSz="914400" rtl="0" eaLnBrk="1" latinLnBrk="0" hangingPunct="1">
              <a:lnSpc>
                <a:spcPct val="90000"/>
              </a:lnSpc>
              <a:spcBef>
                <a:spcPts val="500"/>
              </a:spcBef>
              <a:buFont typeface="Arial" panose="020B0604020202020204" pitchFamily="34" charset="0"/>
              <a:buChar char="•"/>
              <a:defRPr sz="1600" kern="1200" lang="en-US">
                <a:solidFill>
                  <a:schemeClr val="tx1"/>
                </a:solidFill>
                <a:latin typeface="Arial"/>
                <a:ea typeface="Arial"/>
                <a:cs typeface="Arial"/>
              </a:defRPr>
            </a:lvl9pPr>
          </a:lstStyle>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func>
                  <m:func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uncPr>
                  <m:fName>
                    <m:limLow>
                      <m:limLow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limLowPr>
                      <m:e>
                        <m:r>
                          <m:rPr>
                            <m:sty m:val="p"/>
                          </m:rPr>
                          <a:rPr kumimoji="0" lang="en-US" altLang="zh-CN" sz="1600" b="0" i="0"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min</m:t>
                        </m:r>
                      </m:e>
                      <m:lim>
                        <m:r>
                          <a:rPr kumimoji="0" lang="en-US" altLang="en-US"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𝜶</m:t>
                        </m:r>
                      </m:lim>
                    </m:limLow>
                  </m:fName>
                  <m:e>
                    <m:f>
                      <m:f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fPr>
                      <m:num>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num>
                      <m:den>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2</m:t>
                        </m:r>
                      </m:den>
                    </m:f>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𝐾</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1"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𝒙</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e>
                        </m:nary>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e>
                </m:func>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base" latinLnBrk="0" hangingPunct="1">
              <a:lnSpc>
                <a:spcPct val="100000"/>
              </a:lnSpc>
              <a:spcBef>
                <a:spcPts val="0"/>
              </a:spcBef>
              <a:spcAft>
                <a:spcPts val="0"/>
              </a:spcAft>
              <a:buClr>
                <a:srgbClr val="16754D"/>
              </a:buClr>
              <a:buSzPct val="100000"/>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10609060101010101" pitchFamily="49" charset="-122"/>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𝑠</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𝑡</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      </m:t>
                </m:r>
                <m:nary>
                  <m:naryPr>
                    <m:chr m:val="∑"/>
                    <m:ctrl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ctrlPr>
                  </m:naryPr>
                  <m:sub>
                    <m:r>
                      <m:rPr>
                        <m:brk m:alnAt="23"/>
                      </m:rP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1</m:t>
                    </m:r>
                  </m:sub>
                  <m:sup>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𝑦</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e>
                </m:nary>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0</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a:p>
            <a:pPr marL="0" marR="0" lvl="0" indent="0" algn="l" defTabSz="914400" rtl="0" eaLnBrk="1" fontAlgn="auto" latinLnBrk="0" hangingPunct="1">
              <a:lnSpc>
                <a:spcPct val="100000"/>
              </a:lnSpc>
              <a:spcBef>
                <a:spcPts val="0"/>
              </a:spcBef>
              <a:spcAft>
                <a:spcPts val="0"/>
              </a:spcAft>
              <a:buClr>
                <a:srgbClr val="16754D"/>
              </a:buClr>
              <a:buSzTx/>
              <a:buFont typeface="Wingdings" panose="05000000000000000000" pitchFamily="2" charset="2"/>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panose="020B0604030504040204" pitchFamily="34" charset="0"/>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 </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𝑖</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1</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2</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𝑁</m:t>
                </m:r>
              </m:oMath>
            </a14:m>
            <a:endParaRPr kumimoji="0" lang="en-US" altLang="zh-CN" sz="1600" b="0" i="0" u="none" strike="noStrike" kern="1200" cap="none" spc="0" normalizeH="0" baseline="0" noProof="0" dirty="0">
              <a:ln>
                <a:noFill/>
              </a:ln>
              <a:solidFill>
                <a:sysClr val="windowText" lastClr="000000"/>
              </a:solidFill>
              <a:effectLst/>
              <a:uLnTx/>
              <a:uFillTx/>
              <a:latin typeface="Arial" panose="020B0604020202020204" pitchFamily="34" charset="0"/>
              <a:ea typeface="Arial" panose="02010609060101010101" pitchFamily="49" charset="-122"/>
              <a:cs typeface="Arial"/>
            </a:endParaRPr>
          </a:p>
        </p:txBody>
      </p:sp>
      <p:sp xmlns:a14="http://schemas.microsoft.com/office/drawing/2010/main">
        <p:nvSpPr>
          <p:cNvPr id="56" name="object 5">
            <a:extLst>
              <a:ext uri="{FF2B5EF4-FFF2-40B4-BE49-F238E27FC236}">
                <a16:creationId xmlns:a16="http://schemas.microsoft.com/office/drawing/2014/main" id="{41403CDE-F633-1F2A-BFAA-D38A25340C00}"/>
              </a:ext>
            </a:extLst>
          </p:cNvPr>
          <p:cNvSpPr txBox="1"/>
          <p:nvPr/>
        </p:nvSpPr>
        <p:spPr>
          <a:xfrm>
            <a:off x="273008" y="2377440"/>
            <a:ext cx="8503920" cy="2240280"/>
          </a:xfrm>
          <a:prstGeom prst="rect">
            <a:avLst/>
          </a:prstGeom>
        </p:spPr>
        <p:txBody>
          <a:bodyPr vert="horz" wrap="square" lIns="0" tIns="0" rIns="0" bIns="0" rtlCol="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Sequential minimal optimization (SMO)</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Repeat until convergence:</a:t>
            </a: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① Select two variables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35"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to update.</a:t>
            </a:r>
          </a:p>
          <a:p>
            <a:pPr marL="0" marR="0" lvl="0" indent="0" algn="l" defTabSz="914400" rtl="0" eaLnBrk="1" fontAlgn="auto" latinLnBrk="0" hangingPunct="1">
              <a:lnSpc>
                <a:spcPct val="100000"/>
              </a:lnSpc>
              <a:spcBef>
                <a:spcPts val="0"/>
              </a:spcBef>
              <a:spcAft>
                <a:spcPts val="0"/>
              </a:spcAft>
              <a:buClr>
                <a:prstClr val="black"/>
              </a:buClr>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② Fix all parameters except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simplify the constraints to obtain:</a:t>
            </a:r>
          </a:p>
          <a:p>
            <a:pPr marL="457200" marR="0" lvl="0" indent="0" algn="l" defTabSz="914400" rtl="0" eaLnBrk="1" fontAlgn="auto" latinLnBrk="0" hangingPunct="1">
              <a:lnSpc>
                <a:spcPct val="100000"/>
              </a:lnSpc>
              <a:spcBef>
                <a:spcPts val="0"/>
              </a:spcBef>
              <a:spcAft>
                <a:spcPts val="0"/>
              </a:spcAft>
              <a:buClr>
                <a:srgbClr val="16754D"/>
              </a:buClr>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a:ea typeface="Arial" panose="02010609060101010101" pitchFamily="49" charset="-122"/>
                <a:cs typeface="Arial"/>
              </a:rPr>
              <a:t> </a:t>
            </a: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nary>
                  <m:naryPr>
                    <m:chr m:val="∑"/>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naryPr>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m:t>
                    </m:r>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up>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𝑁</m:t>
                    </m:r>
                  </m:sup>
                  <m:e>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sub>
                    </m:sSub>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𝑦</m:t>
                        </m:r>
                      </m:e>
                      <m:sub>
                        <m:r>
                          <a:rPr kumimoji="0" lang="en-US" altLang="ar-AE"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𝑘</m:t>
                        </m:r>
                      </m:sub>
                    </m:sSub>
                  </m:e>
                </m:nary>
              </m:oMath>
            </a14:m>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457200" marR="0" lvl="0" indent="0" algn="l" defTabSz="914400" rtl="0" eaLnBrk="1" fontAlgn="auto" latinLnBrk="0" hangingPunct="1">
              <a:lnSpc>
                <a:spcPct val="100000"/>
              </a:lnSpc>
              <a:spcBef>
                <a:spcPts val="0"/>
              </a:spcBef>
              <a:spcAft>
                <a:spcPts val="0"/>
              </a:spcAft>
              <a:buClr>
                <a:srgbClr val="16754D"/>
              </a:buClr>
              <a:buSzTx/>
              <a:buFontTx/>
              <a:buNone/>
              <a:tabLst/>
              <a:defRPr sz="1600" lang="en-US">
                <a:latin typeface="Arial"/>
                <a:ea typeface="Arial"/>
                <a:cs typeface="Arial"/>
              </a:defRPr>
            </a:pPr>
            <a:r>
              <a:rPr kumimoji="0" lang="en-US" altLang="zh-CN" sz="1600" b="0" i="0" u="none" strike="noStrike" kern="1200" cap="none" spc="0" normalizeH="0" baseline="0" noProof="0" dirty="0">
                <a:ln>
                  <a:noFill/>
                </a:ln>
                <a:solidFill>
                  <a:sysClr val="windowText" lastClr="000000"/>
                </a:solidFill>
                <a:effectLst/>
                <a:uLnTx/>
                <a:uFillTx/>
                <a:latin typeface="Arial"/>
                <a:ea typeface="Arial" panose="02040503050406030204" pitchFamily="18" charset="0"/>
                <a:cs typeface="Arial"/>
              </a:rPr>
              <a:t> </a:t>
            </a:r>
            <a14:m>
              <m:oMath xmlns:m="http://schemas.openxmlformats.org/officeDocument/2006/math">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0</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sSub>
                  <m:sSubPr>
                    <m:ctrlP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ctrlPr>
                  </m:sSubPr>
                  <m:e>
                    <m:r>
                      <a:rPr kumimoji="0" lang="en-US" altLang="en-US"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𝛼</m:t>
                    </m:r>
                  </m:e>
                  <m:sub>
                    <m:r>
                      <a:rPr kumimoji="0" lang="en-US" altLang="zh-CN" sz="1600" b="0" i="1" u="none" strike="noStrike" kern="1200" cap="none" spc="0" normalizeH="0" baseline="0" noProof="0">
                        <a:ln>
                          <a:noFill/>
                        </a:ln>
                        <a:solidFill>
                          <a:sysClr val="windowText" lastClr="000000"/>
                        </a:solidFill>
                        <a:effectLst/>
                        <a:uLnTx/>
                        <a:uFillTx/>
                        <a:latin typeface="Arial" panose="02040503050406030204" pitchFamily="18" charset="0"/>
                        <a:ea typeface="Arial" panose="02010609060101010101" pitchFamily="49" charset="-122"/>
                        <a:cs typeface="Arial"/>
                      </a:rPr>
                      <m:t>𝑖</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10609060101010101" pitchFamily="49" charset="-122"/>
                    <a:cs typeface="Arial"/>
                  </a:rPr>
                  <m:t>,</m:t>
                </m:r>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𝑗</m:t>
                    </m:r>
                  </m:sub>
                </m:sSub>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m:t>
                </m:r>
                <m:r>
                  <a:rPr kumimoji="0" lang="en-US" altLang="zh-CN" sz="1600" b="0" i="1" u="none" strike="noStrike" kern="1200" cap="none" spc="0" normalizeH="0" baseline="0" noProof="0" smtClean="0">
                    <a:ln>
                      <a:noFill/>
                    </a:ln>
                    <a:solidFill>
                      <a:sysClr val="windowText" lastClr="000000"/>
                    </a:solidFill>
                    <a:effectLst/>
                    <a:uLnTx/>
                    <a:uFillTx/>
                    <a:latin typeface="Arial" panose="02040503050406030204" pitchFamily="18" charset="0"/>
                    <a:ea typeface="Arial" panose="02040503050406030204" pitchFamily="18" charset="0"/>
                    <a:cs typeface="Arial"/>
                  </a:rPr>
                  <m:t>𝐶</m:t>
                </m:r>
              </m:oMath>
            </a14:m>
            <a:endPar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endParaRPr>
          </a:p>
          <a:p>
            <a:pPr marL="0" marR="508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③ Compute and update </a:t>
            </a:r>
            <a14:m>
              <m:oMath xmlns:m="http://schemas.openxmlformats.org/officeDocument/2006/math">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and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503020000020004" pitchFamily="34" charset="-127"/>
                <a:ea typeface="Arial" panose="020B0503020000020004" pitchFamily="34" charset="-127"/>
                <a:cs typeface="Arial"/>
              </a:rPr>
              <a:t> to minimize the objective.</a:t>
            </a:r>
          </a:p>
        </p:txBody>
      </p:sp>
      <p:sp>
        <p:nvSpPr>
          <p:cNvPr id="58" name="文本框 57">
            <a:extLst>
              <a:ext uri="{FF2B5EF4-FFF2-40B4-BE49-F238E27FC236}">
                <a16:creationId xmlns:a16="http://schemas.microsoft.com/office/drawing/2014/main" id="{2706EAB3-FAE6-099C-8D95-97FA8AA954A3}"/>
              </a:ext>
            </a:extLst>
          </p:cNvPr>
          <p:cNvSpPr txBox="1"/>
          <p:nvPr/>
        </p:nvSpPr>
        <p:spPr>
          <a:xfrm>
            <a:off x="53621" y="874126"/>
            <a:ext cx="2506700" cy="338554"/>
          </a:xfrm>
          <a:prstGeom prst="rect">
            <a:avLst/>
          </a:prstGeom>
          <a:noFill/>
        </p:spPr>
        <p:txBody>
          <a:bodyPr wrap="square" lIns="0" tIns="0" rIns="0" bIns="0">
            <a:noAutofit/>
          </a:bodyPr>
          <a:lstStyle/>
          <a:p>
            <a:pPr marL="342900" marR="0" lvl="0" indent="-342900" algn="l" defTabSz="914400" rtl="0" eaLnBrk="1" fontAlgn="auto" latinLnBrk="0" hangingPunct="1">
              <a:lnSpc>
                <a:spcPct val="100000"/>
              </a:lnSpc>
              <a:spcBef>
                <a:spcPts val="0"/>
              </a:spcBef>
              <a:spcAft>
                <a:spcPts val="0"/>
              </a:spcAft>
              <a:buClrTx/>
              <a:buSzTx/>
              <a:buFont typeface="Wingdings" panose="05000000000000000000" pitchFamily="2" charset="2"/>
              <a:buChar char="u"/>
              <a:tabLst/>
              <a:defRPr sz="1600" lang="en-US">
                <a:latin typeface="Arial"/>
                <a:ea typeface="Arial"/>
                <a:cs typeface="Arial"/>
              </a:defRPr>
            </a:pPr>
            <a:r>
              <a:rPr kumimoji="0" lang="en-US" altLang="zh-CN" sz="1600" b="0" i="0" u="none" strike="noStrike" kern="1200" cap="none" spc="0" normalizeH="0" baseline="0" noProof="0" dirty="0">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SMO Algorithm</a:t>
            </a:r>
          </a:p>
        </p:txBody>
      </p:sp>
      <p:sp>
        <p:nvSpPr>
          <p:cNvPr id="59" name="文本框 58">
            <a:extLst>
              <a:ext uri="{FF2B5EF4-FFF2-40B4-BE49-F238E27FC236}">
                <a16:creationId xmlns:a16="http://schemas.microsoft.com/office/drawing/2014/main" id="{73239659-FEFB-FC7E-7C42-A0815268763B}"/>
              </a:ext>
            </a:extLst>
          </p:cNvPr>
          <p:cNvSpPr txBox="1"/>
          <p:nvPr/>
        </p:nvSpPr>
        <p:spPr>
          <a:xfrm>
            <a:off x="341710" y="1205380"/>
            <a:ext cx="2804736"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Dual problem of the soft-margin SVM:</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srgbClr val="0000FF"/>
                </a:solidFill>
                <a:effectLst/>
                <a:uLnTx/>
                <a:uFillTx/>
                <a:latin typeface="Arial" panose="020B0604020202020204" pitchFamily="34" charset="0"/>
                <a:ea typeface="Arial" panose="02010609060101010101" pitchFamily="49" charset="-122"/>
                <a:cs typeface="Arial"/>
              </a:rPr>
              <a:t>Quadratic programming problem</a:t>
            </a:r>
          </a:p>
        </p:txBody>
      </p:sp>
      <p:sp xmlns:a14="http://schemas.microsoft.com/office/drawing/2010/main">
        <p:nvSpPr>
          <p:cNvPr id="3" name="文本框 2">
            <a:extLst>
              <a:ext uri="{FF2B5EF4-FFF2-40B4-BE49-F238E27FC236}">
                <a16:creationId xmlns:a16="http://schemas.microsoft.com/office/drawing/2014/main" id="{A6D32FD5-3E30-08B8-A83D-246A3E90DFC8}"/>
              </a:ext>
            </a:extLst>
          </p:cNvPr>
          <p:cNvSpPr txBox="1"/>
          <p:nvPr/>
        </p:nvSpPr>
        <p:spPr>
          <a:xfrm>
            <a:off x="266937" y="4800600"/>
            <a:ext cx="8831627" cy="1645920"/>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If either </a:t>
            </a:r>
            <a14:m>
              <m:oMath xmlns:m="http://schemas.openxmlformats.org/officeDocument/2006/math">
                <m:r>
                  <a:rPr kumimoji="0" lang="en-US" altLang="zh-CN" sz="1600" b="0" i="0"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 </m:t>
                </m:r>
                <m:sSub>
                  <m:sSubPr>
                    <m:ctrlPr>
                      <a:rPr kumimoji="0" lang="en-US" altLang="zh-CN"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𝑖</m:t>
                    </m:r>
                  </m:sub>
                </m:sSub>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or </a:t>
            </a:r>
            <a14:m>
              <m:oMath xmlns:m="http://schemas.openxmlformats.org/officeDocument/2006/math">
                <m:sSub>
                  <m:sSubPr>
                    <m:ctrlPr>
                      <a:rPr kumimoji="0" lang="en-US" altLang="zh-CN"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ctrlPr>
                  </m:sSubPr>
                  <m:e>
                    <m:r>
                      <a:rPr kumimoji="0" lang="en-US" altLang="ar-AE" sz="1600" b="0" i="1" u="none" strike="noStrike" kern="1200" cap="none" spc="35" normalizeH="0" baseline="0" noProof="0">
                        <a:ln>
                          <a:noFill/>
                        </a:ln>
                        <a:solidFill>
                          <a:prstClr val="black"/>
                        </a:solidFill>
                        <a:effectLst/>
                        <a:uLnTx/>
                        <a:uFillTx/>
                        <a:latin typeface="Arial" panose="02040503050406030204" pitchFamily="18" charset="0"/>
                        <a:ea typeface="Arial" panose="02010609060101010101" pitchFamily="49" charset="-122"/>
                        <a:cs typeface="Arial"/>
                      </a:rPr>
                      <m:t>𝛼</m:t>
                    </m:r>
                  </m:e>
                  <m:sub>
                    <m:r>
                      <a:rPr kumimoji="0" lang="en-US" altLang="ar-AE" sz="1600" b="0" i="1" u="none" strike="noStrike" kern="1200" cap="none" spc="35"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a:rPr>
                      <m:t>𝑗</m:t>
                    </m:r>
                  </m:sub>
                </m:sSub>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 violates the KKT conditions, the objective increases after an iteration [Osuna et al., 1997]. First select the variable with the largest KKT violation. Choose the second for the fastest objective increase. Heuristic: maximize the separation between the samples associated with the two variables.</a:t>
            </a:r>
          </a:p>
        </p:txBody>
      </p:sp>
    </p:spTree>
    <p:extLst>
      <p:ext uri="{BB962C8B-B14F-4D97-AF65-F5344CB8AC3E}">
        <p14:creationId xmlns:p14="http://schemas.microsoft.com/office/powerpoint/2010/main" val="2467014175"/>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95C0DD52-98E9-0993-F636-26B5D3007CC6}"/>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99E9B624-D244-5ACD-8566-EC34BAC343EE}"/>
              </a:ext>
            </a:extLst>
          </p:cNvPr>
          <p:cNvSpPr/>
          <p:nvPr/>
        </p:nvSpPr>
        <p:spPr>
          <a:xfrm>
            <a:off x="201168" y="5120640"/>
            <a:ext cx="8778240" cy="1691640"/>
          </a:xfrm>
          <a:prstGeom prst="rect">
            <a:avLst/>
          </a:prstGeom>
        </p:spPr>
        <p:txBody>
          <a:bodyPr wrap="square" lIns="0" tIns="0" rIns="0" bIns="0">
            <a:noAutofit/>
          </a:bodyPr>
          <a:lstStyle/>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[3] Fei Wu, Introduction to Artificial Intelligence: Models and Algorithms, 2020, Higher Education Press. Ch. 4.5</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[1] Zhi-Hua Zhou, Machine Learning, 2016, Tsinghua University Press. Chs. 8.1, 8.2</a:t>
            </a:r>
          </a:p>
          <a:p>
            <a:pPr marR="0" lvl="0" algn="l" defTabSz="1097280" rtl="0" eaLnBrk="1" fontAlgn="base" latinLnBrk="0" hangingPunct="1">
              <a:lnSpc>
                <a:spcPct val="100000"/>
              </a:lnSpc>
              <a:spcBef>
                <a:spcPct val="0"/>
              </a:spcBef>
              <a:spcAft>
                <a:spcPct val="0"/>
              </a:spcAft>
              <a:buClr>
                <a:srgbClr val="0070C0"/>
              </a:buClr>
              <a:buSzTx/>
              <a:tabLst/>
              <a:defRPr sz="1600" lang="en-US">
                <a:latin typeface="Arial"/>
                <a:ea typeface="Arial"/>
                <a:cs typeface="Arial"/>
              </a:defRPr>
            </a:pPr>
            <a:r>
              <a:rPr kumimoji="0" lang="en-US" altLang="zh-CN"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a:rPr>
              <a:t>[2] Hang Li, Machine Learning Methods, 2021, Tsinghua University Press. Ch. 8</a:t>
            </a:r>
          </a:p>
        </p:txBody>
      </p:sp>
      <p:sp>
        <p:nvSpPr>
          <p:cNvPr id="8" name="矩形 7">
            <a:extLst>
              <a:ext uri="{FF2B5EF4-FFF2-40B4-BE49-F238E27FC236}">
                <a16:creationId xmlns:a16="http://schemas.microsoft.com/office/drawing/2014/main" id="{E717BA0C-30A0-7941-F642-7ACF6E1C44E5}"/>
              </a:ext>
            </a:extLst>
          </p:cNvPr>
          <p:cNvSpPr>
            <a:spLocks noChangeArrowheads="1"/>
          </p:cNvSpPr>
          <p:nvPr/>
        </p:nvSpPr>
        <p:spPr bwMode="auto">
          <a:xfrm>
            <a:off x="233846" y="1505700"/>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2. Computational Learning Theory</a:t>
            </a:r>
          </a:p>
        </p:txBody>
      </p:sp>
      <p:sp>
        <p:nvSpPr>
          <p:cNvPr id="9" name="矩形 7">
            <a:extLst>
              <a:ext uri="{FF2B5EF4-FFF2-40B4-BE49-F238E27FC236}">
                <a16:creationId xmlns:a16="http://schemas.microsoft.com/office/drawing/2014/main" id="{56F6CB50-CD13-63BC-217C-769FF1EAACB7}"/>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rPr>
              <a:t>1. Basic Concepts of Machine Learning</a:t>
            </a:r>
          </a:p>
        </p:txBody>
      </p:sp>
      <p:sp>
        <p:nvSpPr>
          <p:cNvPr id="3" name="矩形 2">
            <a:extLst>
              <a:ext uri="{FF2B5EF4-FFF2-40B4-BE49-F238E27FC236}">
                <a16:creationId xmlns:a16="http://schemas.microsoft.com/office/drawing/2014/main" id="{E8BE92E5-B63D-D1C2-87D5-9E2BDDB1BA76}"/>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7.</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Expectation Maximization*</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4" name="矩形 3">
            <a:extLst>
              <a:ext uri="{FF2B5EF4-FFF2-40B4-BE49-F238E27FC236}">
                <a16:creationId xmlns:a16="http://schemas.microsoft.com/office/drawing/2014/main" id="{518D3AF3-C8F3-DA59-5930-70B8335CEFF6}"/>
              </a:ext>
            </a:extLst>
          </p:cNvPr>
          <p:cNvSpPr>
            <a:spLocks noChangeArrowheads="1"/>
          </p:cNvSpPr>
          <p:nvPr/>
        </p:nvSpPr>
        <p:spPr bwMode="auto">
          <a:xfrm>
            <a:off x="233846" y="3763292"/>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6. Principal Component Analysis*</a:t>
            </a:r>
          </a:p>
        </p:txBody>
      </p:sp>
      <p:sp>
        <p:nvSpPr>
          <p:cNvPr id="5" name="矩形 4">
            <a:extLst>
              <a:ext uri="{FF2B5EF4-FFF2-40B4-BE49-F238E27FC236}">
                <a16:creationId xmlns:a16="http://schemas.microsoft.com/office/drawing/2014/main" id="{36849196-B1C8-1C03-17A0-E0DCC0C0B4E4}"/>
              </a:ext>
            </a:extLst>
          </p:cNvPr>
          <p:cNvSpPr>
            <a:spLocks noChangeArrowheads="1"/>
          </p:cNvSpPr>
          <p:nvPr/>
        </p:nvSpPr>
        <p:spPr bwMode="auto">
          <a:xfrm>
            <a:off x="233846" y="31988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5.</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Ada Boost*</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6" name="矩形 5">
            <a:extLst>
              <a:ext uri="{FF2B5EF4-FFF2-40B4-BE49-F238E27FC236}">
                <a16:creationId xmlns:a16="http://schemas.microsoft.com/office/drawing/2014/main" id="{24752AE2-DFBC-3008-4B56-2501935242A0}"/>
              </a:ext>
            </a:extLst>
          </p:cNvPr>
          <p:cNvSpPr>
            <a:spLocks noChangeArrowheads="1"/>
          </p:cNvSpPr>
          <p:nvPr/>
        </p:nvSpPr>
        <p:spPr bwMode="auto">
          <a:xfrm>
            <a:off x="233846" y="2634496"/>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4.</a:t>
            </a:r>
            <a:r>
              <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 </a:t>
            </a: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Support vector machine</a:t>
            </a:r>
            <a:endParaRPr kumimoji="0" lang="en-US" altLang="en-US"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endParaRPr>
          </a:p>
        </p:txBody>
      </p:sp>
      <p:sp>
        <p:nvSpPr>
          <p:cNvPr id="13" name="矩形 12">
            <a:extLst>
              <a:ext uri="{FF2B5EF4-FFF2-40B4-BE49-F238E27FC236}">
                <a16:creationId xmlns:a16="http://schemas.microsoft.com/office/drawing/2014/main" id="{A9C19A47-1954-660F-C613-80E620273EDC}"/>
              </a:ext>
            </a:extLst>
          </p:cNvPr>
          <p:cNvSpPr>
            <a:spLocks noChangeArrowheads="1"/>
          </p:cNvSpPr>
          <p:nvPr/>
        </p:nvSpPr>
        <p:spPr bwMode="auto">
          <a:xfrm>
            <a:off x="233846" y="2070098"/>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srgbClr val="C00000"/>
                </a:solidFill>
                <a:effectLst/>
                <a:uLnTx/>
                <a:uFillTx/>
                <a:latin typeface="Arial" panose="020B0604020202020204" pitchFamily="34" charset="0"/>
                <a:ea typeface="Arial" panose="02010609060101010101" pitchFamily="49" charset="-122"/>
                <a:cs typeface="Arial"/>
                <a:sym typeface="Calibri" panose="020F0502020204030204" pitchFamily="34" charset="0"/>
              </a:rPr>
              <a:t>3. Generative Methods</a:t>
            </a:r>
          </a:p>
        </p:txBody>
      </p:sp>
      <p:sp>
        <p:nvSpPr>
          <p:cNvPr id="14" name="矩形 13">
            <a:extLst>
              <a:ext uri="{FF2B5EF4-FFF2-40B4-BE49-F238E27FC236}">
                <a16:creationId xmlns:a16="http://schemas.microsoft.com/office/drawing/2014/main" id="{D6096492-11B3-AAA4-E26B-BA82B8F3B0F0}"/>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00B0F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00B0F0"/>
              </a:solidFill>
              <a:ea typeface="Arial" panose="02010609060101010101" pitchFamily="49" charset="-122"/>
              <a:sym typeface="Calibri" panose="020F0502020204030204" pitchFamily="34" charset="0"/>
              <a:latin typeface="Arial"/>
              <a:cs typeface="Arial"/>
            </a:endParaRPr>
          </a:p>
        </p:txBody>
      </p:sp>
      <p:sp>
        <p:nvSpPr>
          <p:cNvPr id="15" name="矩形 14">
            <a:extLst>
              <a:ext uri="{FF2B5EF4-FFF2-40B4-BE49-F238E27FC236}">
                <a16:creationId xmlns:a16="http://schemas.microsoft.com/office/drawing/2014/main" id="{8470E590-F626-4158-BCE2-7C3454F27AD0}"/>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6" name="矩形 15">
            <a:extLst>
              <a:ext uri="{FF2B5EF4-FFF2-40B4-BE49-F238E27FC236}">
                <a16:creationId xmlns:a16="http://schemas.microsoft.com/office/drawing/2014/main" id="{D87273F0-E887-C92C-856A-D5FA08DC93D3}"/>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5. Generative Methods*</a:t>
            </a:r>
          </a:p>
        </p:txBody>
      </p:sp>
    </p:spTree>
    <p:extLst>
      <p:ext uri="{BB962C8B-B14F-4D97-AF65-F5344CB8AC3E}">
        <p14:creationId xmlns:p14="http://schemas.microsoft.com/office/powerpoint/2010/main" val="1422811487"/>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latin typeface="Arial" panose="020B0604020202020204" pitchFamily="34" charset="0"/>
              <a:ea typeface="Arial" panose="02010609060101010101" pitchFamily="49" charset="-122"/>
              <a:cs typeface="Arial"/>
            </a:endParaRPr>
          </a:p>
        </p:txBody>
      </p:sp>
      <p:pic>
        <p:nvPicPr>
          <p:cNvPr id="5" name="Picture 2">
            <a:extLst>
              <a:ext uri="{FF2B5EF4-FFF2-40B4-BE49-F238E27FC236}">
                <a16:creationId xmlns:a16="http://schemas.microsoft.com/office/drawing/2014/main" id="{9B315491-35A4-5D55-110F-612F55020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3296" y="986461"/>
            <a:ext cx="3633849" cy="378404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8" name="矩形 7">
            <a:extLst>
              <a:ext uri="{FF2B5EF4-FFF2-40B4-BE49-F238E27FC236}">
                <a16:creationId xmlns:a16="http://schemas.microsoft.com/office/drawing/2014/main" id="{5965D3B4-8236-F197-D013-E1AD6049D48B}"/>
              </a:ext>
            </a:extLst>
          </p:cNvPr>
          <p:cNvSpPr/>
          <p:nvPr/>
        </p:nvSpPr>
        <p:spPr>
          <a:xfrm>
            <a:off x="3967073" y="986461"/>
            <a:ext cx="4893632" cy="4062651"/>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 complex classification task can be split into subtasks. Combine their solutions to solve the original task.</a:t>
            </a: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Combine several weak classifiers to form a strong classifier.</a:t>
            </a: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endParaRPr kumimoji="0" lang="en-US" altLang="zh-CN" sz="1600" b="0" i="0" u="none" strike="noStrike" kern="1200" cap="none" spc="0" normalizeH="0" noProof="0" dirty="0">
              <a:ln>
                <a:noFill/>
              </a:ln>
              <a:solidFill>
                <a:srgbClr val="C00000"/>
              </a:solidFill>
              <a:effectLst/>
              <a:uLnTx/>
              <a:uFillTx/>
              <a:latin typeface="Arial" panose="020B0604020202020204" pitchFamily="34" charset="0"/>
              <a:ea typeface="Arial" panose="02010609060101010101" pitchFamily="49" charset="-122"/>
              <a:cs typeface="Arial" panose="02020603050405020304" pitchFamily="18" charset="0"/>
            </a:endParaRPr>
          </a:p>
          <a:p>
            <a:pPr marL="306000" marR="0" lvl="0" indent="-306000" algn="just" defTabSz="914400" rtl="0" eaLnBrk="1" fontAlgn="auto" latinLnBrk="0" hangingPunct="1">
              <a:lnSpc>
                <a:spcPct val="100000"/>
              </a:lnSpc>
              <a:spcBef>
                <a:spcPts val="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“With the strength of many, one is invincible; with the wisdom of many, one need not fear even sages.” — Records of the Three Kingdoms, Book of Wu, Biography of Sun Quan</a:t>
            </a:r>
          </a:p>
          <a:p>
            <a:pPr marL="0" marR="0" lvl="0" indent="0" algn="l" defTabSz="914400" rtl="0" eaLnBrk="1" fontAlgn="auto" latinLnBrk="0" hangingPunct="1">
              <a:lnSpc>
                <a:spcPct val="100000"/>
              </a:lnSpc>
              <a:spcBef>
                <a:spcPct val="20000"/>
              </a:spcBef>
              <a:spcAft>
                <a:spcPts val="0"/>
              </a:spcAft>
              <a:buClr>
                <a:srgbClr val="C0504D"/>
              </a:buClr>
              <a:buSzTx/>
              <a:buFont typeface="Wingdings" pitchFamily="2" charset="2"/>
              <a:buChar char="o"/>
              <a:tabLst/>
              <a:defRPr sz="1600" lang="en-US">
                <a:latin typeface="Arial"/>
                <a:ea typeface="Arial"/>
                <a:cs typeface="Arial"/>
              </a:defRPr>
            </a:pPr>
            <a:endPar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sp>
        <p:nvSpPr>
          <p:cNvPr id="9" name="矩形 8">
            <a:extLst>
              <a:ext uri="{FF2B5EF4-FFF2-40B4-BE49-F238E27FC236}">
                <a16:creationId xmlns:a16="http://schemas.microsoft.com/office/drawing/2014/main" id="{6E7C8FD8-D302-44F4-B1E5-8C180F925367}"/>
              </a:ext>
            </a:extLst>
          </p:cNvPr>
          <p:cNvSpPr/>
          <p:nvPr/>
        </p:nvSpPr>
        <p:spPr>
          <a:xfrm>
            <a:off x="260072" y="5337827"/>
            <a:ext cx="8731528" cy="1231106"/>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0" indent="0" algn="just"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Freund, Yoav; </a:t>
            </a:r>
            <a:r>
              <a:rPr kumimoji="0" lang="en-US" altLang="zh-CN" sz="1600" b="0" i="0" u="none" strike="noStrike" kern="1200" cap="none" spc="0" normalizeH="0" noProof="0" dirty="0" err="1">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Schapire</a:t>
            </a: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Robert E (1997), A decision-theoretic generalization of on-line learning and an application to boosting, Journal of Computer and System Sciences (original paper of Yoav Freund and Robert </a:t>
            </a:r>
            <a:r>
              <a:rPr kumimoji="0" lang="en-US" altLang="zh-CN" sz="1600" b="0" i="0" u="none" strike="noStrike" kern="1200" cap="none" spc="0" normalizeH="0" noProof="0" dirty="0" err="1">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E.Schapire</a:t>
            </a:r>
            <a:r>
              <a:rPr kumimoji="0" lang="en-US" altLang="zh-CN"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AdaBoost is first introduced.)</a:t>
            </a:r>
            <a:endPar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p:txBody>
      </p:sp>
    </p:spTree>
    <p:extLst>
      <p:ext uri="{BB962C8B-B14F-4D97-AF65-F5344CB8AC3E}">
        <p14:creationId xmlns:p14="http://schemas.microsoft.com/office/powerpoint/2010/main" val="2828079832"/>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latin typeface="Arial" panose="020B0604020202020204" pitchFamily="34" charset="0"/>
              <a:ea typeface="Arial" panose="02010609060101010101" pitchFamily="49" charset="-122"/>
              <a:cs typeface="Arial"/>
            </a:endParaRPr>
          </a:p>
        </p:txBody>
      </p:sp>
      <p:sp xmlns:a14="http://schemas.microsoft.com/office/drawing/2010/main">
        <p:nvSpPr>
          <p:cNvPr id="3" name="矩形 2">
            <a:extLst>
              <a:ext uri="{FF2B5EF4-FFF2-40B4-BE49-F238E27FC236}">
                <a16:creationId xmlns:a16="http://schemas.microsoft.com/office/drawing/2014/main" id="{66FFC0ED-504B-514C-E932-AEDDFE2F5896}"/>
              </a:ext>
            </a:extLst>
          </p:cNvPr>
          <p:cNvSpPr/>
          <p:nvPr/>
        </p:nvSpPr>
        <p:spPr>
          <a:xfrm>
            <a:off x="214642" y="1339238"/>
            <a:ext cx="8829509" cy="3061094"/>
          </a:xfrm>
          <a:prstGeom prst="rect">
            <a:avLst/>
          </a:prstGeom>
        </p:spPr>
        <p:txBody>
          <a:bodyPr wrap="square" lIns="0" tIns="0" rIns="0" bIns="0">
            <a:noAutofit/>
          </a:bodyPr>
          <a:lstStyle/>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Learning task: estimate the nationwide audience rating of a television program.</a:t>
            </a:r>
          </a:p>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Method: surveying everyone is infeasible. Sample part of the population and use the proportion of viewers in the sample to estimate the nationwide rating.</a:t>
            </a:r>
          </a:p>
          <a:p>
            <a:pPr marL="0" marR="0" lvl="1"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Hoeffding's inequality: the population proportion of viewers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the sample proportion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satisfy:</a:t>
            </a:r>
          </a:p>
          <a:p>
            <a:pPr marL="288000" marR="0" lvl="1" indent="0"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up>
                    </m:sSup>
                  </m:sup>
                </m:sSup>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sample size; </a:t>
            </a: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𝜖</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0</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allowed error.)</a:t>
            </a:r>
          </a:p>
        </p:txBody>
      </p:sp>
      <p:sp xmlns:a14="http://schemas.microsoft.com/office/drawing/2010/main">
        <p:nvSpPr>
          <p:cNvPr id="4" name="矩形 3">
            <a:extLst>
              <a:ext uri="{FF2B5EF4-FFF2-40B4-BE49-F238E27FC236}">
                <a16:creationId xmlns:a16="http://schemas.microsoft.com/office/drawing/2014/main" id="{0BC37628-6764-1803-A101-99E7A9CE1066}"/>
              </a:ext>
            </a:extLst>
          </p:cNvPr>
          <p:cNvSpPr/>
          <p:nvPr/>
        </p:nvSpPr>
        <p:spPr>
          <a:xfrm>
            <a:off x="595131" y="5218212"/>
            <a:ext cx="7873340" cy="707886"/>
          </a:xfrm>
          <a:prstGeom prst="rect">
            <a:avLst/>
          </a:prstGeom>
          <a:solidFill>
            <a:srgbClr val="FFFF00"/>
          </a:solidFill>
        </p:spPr>
        <p:txBody>
          <a:bodyPr wrap="square">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sufficiently large </a:t>
            </a:r>
            <a14:m>
              <m:oMath xmlns:m="http://schemas.openxmlformats.org/officeDocument/2006/math">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 probability that the sample rating differs from the nationwide rating by more than </a:t>
            </a: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𝜖</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very small.</a:t>
            </a:r>
          </a:p>
        </p:txBody>
      </p:sp>
      <p:sp>
        <p:nvSpPr>
          <p:cNvPr id="5" name="文本框 4">
            <a:extLst>
              <a:ext uri="{FF2B5EF4-FFF2-40B4-BE49-F238E27FC236}">
                <a16:creationId xmlns:a16="http://schemas.microsoft.com/office/drawing/2014/main" id="{77F11DB0-CC9C-BC56-50F2-2197A2907647}"/>
              </a:ext>
            </a:extLst>
          </p:cNvPr>
          <p:cNvSpPr txBox="1"/>
          <p:nvPr/>
        </p:nvSpPr>
        <p:spPr>
          <a:xfrm>
            <a:off x="53621" y="874126"/>
            <a:ext cx="5239675" cy="338554"/>
          </a:xfrm>
          <a:prstGeom prst="rect">
            <a:avLst/>
          </a:prstGeom>
          <a:noFill/>
        </p:spPr>
        <p:txBody>
          <a:bodyPr wrap="square" lIns="0" tIns="0" rIns="0" bIns="0">
            <a:noAutofit/>
          </a:bodyPr>
          <a:lstStyle/>
          <a:p>
            <a:pPr marL="342900" indent="-342900">
              <a:buFont typeface="Wingdings" panose="05000000000000000000" pitchFamily="2" charset="2"/>
              <a:buChar char="u"/>
            </a:pPr>
            <a:r>
              <a:rPr kumimoji="0" lang="en-US" altLang="zh-CN" sz="1600" b="0" i="0" u="none" strike="noStrike" kern="1200" cap="none" spc="0" normalizeH="0" noProof="0" dirty="0" err="1">
                <a:ln>
                  <a:noFill/>
                </a:ln>
                <a:solidFill>
                  <a:srgbClr val="16754D"/>
                </a:solidFill>
                <a:effectLst/>
                <a:uLnTx/>
                <a:uFillTx/>
                <a:latin typeface="Arial" panose="020B0604020202020204" pitchFamily="34" charset="0"/>
                <a:ea typeface="Arial" panose="02010609060101010101" pitchFamily="49" charset="-122"/>
                <a:cs typeface="Arial" panose="02020603050405020304" pitchFamily="18" charset="0"/>
              </a:rPr>
              <a:t>Hoeffding's Inequality</a:t>
            </a:r>
          </a:p>
        </p:txBody>
      </p:sp>
    </p:spTree>
    <p:extLst>
      <p:ext uri="{BB962C8B-B14F-4D97-AF65-F5344CB8AC3E}">
        <p14:creationId xmlns:p14="http://schemas.microsoft.com/office/powerpoint/2010/main" val="2609240787"/>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dirty="0" sz="1600">
                <a:latin typeface="Arial" panose="020B0604020202020204" pitchFamily="34" charset="0"/>
                <a:ea typeface="Arial" panose="02010609060101010101" pitchFamily="49" charset="-122"/>
                <a:cs typeface="Arial"/>
              </a:rPr>
              <a:t>Boosting</a:t>
            </a:r>
            <a:endParaRPr lang="en-US" altLang="en-US" dirty="0" sz="1600">
              <a:solidFill>
                <a:srgbClr val="16754D"/>
              </a:solidFill>
              <a:latin typeface="Arial" panose="020B0604020202020204" pitchFamily="34" charset="0"/>
              <a:ea typeface="Arial" panose="02010609060101010101" pitchFamily="49" charset="-122"/>
              <a:cs typeface="Arial"/>
            </a:endParaRPr>
          </a:p>
        </p:txBody>
      </p:sp>
      <p:sp>
        <p:nvSpPr>
          <p:cNvPr id="5" name="矩形 4">
            <a:extLst>
              <a:ext uri="{FF2B5EF4-FFF2-40B4-BE49-F238E27FC236}">
                <a16:creationId xmlns:a16="http://schemas.microsoft.com/office/drawing/2014/main" id="{DDAF30EA-489F-C04B-5258-9EB627054BE1}"/>
              </a:ext>
            </a:extLst>
          </p:cNvPr>
          <p:cNvSpPr/>
          <p:nvPr/>
        </p:nvSpPr>
        <p:spPr>
          <a:xfrm>
            <a:off x="102475" y="934898"/>
            <a:ext cx="8957442" cy="1615827"/>
          </a:xfrm>
          <a:prstGeom prst="rect">
            <a:avLst/>
          </a:prstGeom>
        </p:spPr>
        <p:txBody>
          <a:bodyPr wrap="square" lIns="0" tIns="0" rIns="0" bIns="0">
            <a:noAutofit/>
          </a:bodyPr>
          <a:lstStyle/>
          <a:p>
            <a:pPr marL="342900" marR="0" lvl="1" indent="-342900" algn="l" defTabSz="914400" rtl="0" eaLnBrk="1" fontAlgn="auto" latinLnBrk="0" hangingPunct="1">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audience-rating estimation, different sampling methods (models) yield different errors.</a:t>
            </a:r>
          </a:p>
          <a:p>
            <a:pPr marL="342900" marR="0" lvl="1" indent="-342900" algn="l" defTabSz="914400" rtl="0" eaLnBrk="1" fontAlgn="auto" latinLnBrk="0" hangingPunct="1">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Question: can several weak models be combined into a strong model with very small error? This is a question addressed by probably approximately correct (PAC) learning.</a:t>
            </a:r>
          </a:p>
        </p:txBody>
      </p:sp>
      <p:graphicFrame>
        <p:nvGraphicFramePr>
          <p:cNvPr id="6" name="表格 5">
            <a:extLst>
              <a:ext uri="{FF2B5EF4-FFF2-40B4-BE49-F238E27FC236}">
                <a16:creationId xmlns:a16="http://schemas.microsoft.com/office/drawing/2014/main" id="{3624C45F-01F1-3BCF-835A-2BB30EEEDDC4}"/>
              </a:ext>
            </a:extLst>
          </p:cNvPr>
          <p:cNvGraphicFramePr>
            <a:graphicFrameLocks noGrp="1"/>
          </p:cNvGraphicFramePr>
          <p:nvPr>
            <p:extLst>
              <p:ext uri="{D42A27DB-BD31-4B8C-83A1-F6EECF244321}">
                <p14:modId xmlns:p14="http://schemas.microsoft.com/office/powerpoint/2010/main" val="701931606"/>
              </p:ext>
            </p:extLst>
          </p:nvPr>
        </p:nvGraphicFramePr>
        <p:xfrm>
          <a:off x="308962" y="3232136"/>
          <a:ext cx="8431481" cy="3180761"/>
        </p:xfrm>
        <a:graphic>
          <a:graphicData uri="http://schemas.openxmlformats.org/drawingml/2006/table">
            <a:tbl>
              <a:tblPr firstRow="1" bandRow="1">
                <a:tableStyleId>{5C22544A-7EE6-4342-B048-85BDC9FD1C3A}</a:tableStyleId>
              </a:tblPr>
              <a:tblGrid>
                <a:gridCol w="2365921">
                  <a:extLst>
                    <a:ext uri="{9D8B030D-6E8A-4147-A177-3AD203B41FA5}">
                      <a16:colId xmlns:a16="http://schemas.microsoft.com/office/drawing/2014/main" val="20000"/>
                    </a:ext>
                  </a:extLst>
                </a:gridCol>
                <a:gridCol w="6065560">
                  <a:extLst>
                    <a:ext uri="{9D8B030D-6E8A-4147-A177-3AD203B41FA5}">
                      <a16:colId xmlns:a16="http://schemas.microsoft.com/office/drawing/2014/main" val="20001"/>
                    </a:ext>
                  </a:extLst>
                </a:gridCol>
              </a:tblGrid>
              <a:tr h="656692">
                <a:tc>
                  <a:txBody>
                    <a:bodyPr>
                      <a:noAutofit/>
                    </a:bodyPr>
                    <a:lstStyle/>
                    <a:p>
                      <a:pPr marL="0" marR="0" indent="0" algn="ctr" defTabSz="6858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Strong learnability</a:t>
                      </a:r>
                    </a:p>
                    <a:p>
                      <a:pPr indent="0" algn="ctr">
                        <a:lnSpc>
                          <a:spcPct val="100000"/>
                        </a:lnSpc>
                        <a:spcBef>
                          <a:spcPts val="0"/>
                        </a:spcBef>
                        <a:spcAft>
                          <a:spcPts val="0"/>
                        </a:spcAft>
                      </a:pPr>
                      <a:r>
                        <a:rPr lang="en-US" altLang="zh-CN"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(strongly learnable)</a:t>
                      </a:r>
                      <a:endPar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oAutofit/>
                    </a:bodyPr>
                    <a:lstStyle/>
                    <a:p>
                      <a:pPr marL="0" indent="0" algn="l" defTabSz="685800" rtl="0" eaLnBrk="1" latinLnBrk="0" hangingPunct="1">
                        <a:lnSpc>
                          <a:spcPct val="100000"/>
                        </a:lnSpc>
                        <a:spcBef>
                          <a:spcPts val="0"/>
                        </a:spcBef>
                        <a:spcAft>
                          <a:spcPts val="0"/>
                        </a:spcAft>
                        <a:buFont typeface="Wingdings" panose="05000000000000000000" pitchFamily="2" charset="2"/>
                        <a:buNone/>
                      </a:pPr>
                      <a:r>
                        <a:rPr lang="en-US" altLang="en-US" sz="1600" b="0" kern="1200" baseline="0" dirty="0">
                          <a:solidFill>
                            <a:schemeClr val="tx1"/>
                          </a:solidFill>
                          <a:latin typeface="Arial" panose="020B0604020202020204" pitchFamily="34" charset="0"/>
                          <a:ea typeface="Arial" panose="02010609060101010101" pitchFamily="49" charset="-122"/>
                          <a:cs typeface="Arial" panose="02020603050405020304" pitchFamily="18" charset="0"/>
                        </a:rPr>
                        <a:t>A model classifies the vast majority of samples with high accuracy.</a:t>
                      </a:r>
                    </a:p>
                  </a:txBody>
                  <a:tcPr marL="36000" marR="36000" marT="36000" marB="3600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0"/>
                  </a:ext>
                </a:extLst>
              </a:tr>
              <a:tr h="802997">
                <a:tc>
                  <a:txBody>
                    <a:bodyPr>
                      <a:noAutofit/>
                    </a:bodyPr>
                    <a:lstStyle/>
                    <a:p>
                      <a:pPr indent="0" algn="ctr">
                        <a:lnSpc>
                          <a:spcPct val="100000"/>
                        </a:lnSpc>
                        <a:spcBef>
                          <a:spcPts val="0"/>
                        </a:spcBef>
                        <a:spcAft>
                          <a:spcPts val="0"/>
                        </a:spcAft>
                      </a:pPr>
                      <a:r>
                        <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Weak learnability</a:t>
                      </a:r>
                    </a:p>
                    <a:p>
                      <a:pPr indent="0" algn="ctr">
                        <a:lnSpc>
                          <a:spcPct val="100000"/>
                        </a:lnSpc>
                        <a:spcBef>
                          <a:spcPts val="0"/>
                        </a:spcBef>
                        <a:spcAft>
                          <a:spcPts val="0"/>
                        </a:spcAft>
                      </a:pPr>
                      <a:r>
                        <a:rPr lang="en-US" altLang="zh-CN"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rPr>
                        <a:t>(weakly learnable)</a:t>
                      </a:r>
                      <a:endParaRPr lang="en-US" altLang="en-US" sz="1600" b="0" kern="1200" baseline="0" dirty="0">
                        <a:solidFill>
                          <a:srgbClr val="C00000"/>
                        </a:solidFill>
                        <a:latin typeface="Arial" panose="020B0604020202020204" pitchFamily="34" charset="0"/>
                        <a:ea typeface="Arial" panose="02010609060101010101" pitchFamily="49" charset="-122"/>
                        <a:cs typeface="Arial" panose="02020603050405020304" pitchFamily="18" charset="0"/>
                      </a:endParaRP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a:txBody>
                    <a:bodyPr>
                      <a:noAutofit/>
                    </a:bodyPr>
                    <a:lstStyle/>
                    <a:p>
                      <a:pPr marL="0" indent="0" algn="l" defTabSz="685800" rtl="0" eaLnBrk="1" latinLnBrk="0" hangingPunct="1">
                        <a:lnSpc>
                          <a:spcPct val="100000"/>
                        </a:lnSpc>
                        <a:spcBef>
                          <a:spcPts val="0"/>
                        </a:spcBef>
                        <a:spcAft>
                          <a:spcPts val="0"/>
                        </a:spcAft>
                      </a:pPr>
                      <a:r>
                        <a:rPr lang="en-US" altLang="en-US" sz="1600" b="0" kern="1200" baseline="0" dirty="0">
                          <a:solidFill>
                            <a:schemeClr val="tx1"/>
                          </a:solidFill>
                          <a:latin typeface="Arial" panose="020B0604020202020204" pitchFamily="34" charset="0"/>
                          <a:ea typeface="Arial" panose="02010609060101010101" pitchFamily="49" charset="-122"/>
                          <a:cs typeface="Arial" panose="02020603050405020304" pitchFamily="18" charset="0"/>
                        </a:rPr>
                        <a:t>A model classifies samples with accuracy slightly above random guessing. (Here, “unlearnable” means 50% accuracy, equivalent to random guessing.)</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1"/>
                  </a:ext>
                </a:extLst>
              </a:tr>
              <a:tr h="1412921">
                <a:tc gridSpan="2">
                  <a:txBody>
                    <a:bodyPr>
                      <a:noAutofit/>
                    </a:bodyPr>
                    <a:lstStyle/>
                    <a:p>
                      <a:pPr indent="0" algn="l">
                        <a:lnSpc>
                          <a:spcPct val="100000"/>
                        </a:lnSpc>
                        <a:spcBef>
                          <a:spcPts val="0"/>
                        </a:spcBef>
                        <a:spcAft>
                          <a:spcPts val="0"/>
                        </a:spcAft>
                      </a:pPr>
                      <a:r>
                        <a:rPr lang="en-US" altLang="en-US" sz="1600" b="0" kern="1200" baseline="0" dirty="0">
                          <a:solidFill>
                            <a:schemeClr val="tx2"/>
                          </a:solidFill>
                          <a:latin typeface="Arial" panose="020B0604020202020204" pitchFamily="34" charset="0"/>
                          <a:ea typeface="Arial" panose="02010609060101010101" pitchFamily="49" charset="-122"/>
                          <a:cs typeface="Arial" panose="02020603050405020304" pitchFamily="18" charset="0"/>
                        </a:rPr>
                        <a:t>Strong and weak learnability are equivalent: a weak learning algorithm can be boosted into a strong one. AdaBoost does this by combining a sequence of weak classifiers into one strong classifier.</a:t>
                      </a:r>
                    </a:p>
                  </a:txBody>
                  <a:tcPr marT="60960" marB="60960"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tc hMerge="1">
                  <a:txBody>
                    <a:bodyPr>
                      <a:noAutofit/>
                    </a:bodyPr>
                    <a:lstStyle/>
                    <a:p>
                      <a:pPr marL="0" algn="ctr" defTabSz="685800" rtl="0" eaLnBrk="1" latinLnBrk="0" hangingPunct="1">
                        <a:lnSpc>
                          <a:spcPct val="150000"/>
                        </a:lnSpc>
                      </a:pPr>
                      <a:endParaRPr lang="en-US" altLang="en-US" sz="1600" b="0" kern="1200" dirty="0">
                        <a:solidFill>
                          <a:schemeClr val="tx1"/>
                        </a:solidFill>
                        <a:latin typeface="Arial" panose="02020603050405020304" pitchFamily="18" charset="0"/>
                        <a:ea typeface="Arial" panose="02010609060101010101" pitchFamily="49" charset="-122"/>
                        <a:cs typeface="Arial"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2"/>
                  </a:ext>
                </a:extLst>
              </a:tr>
            </a:tbl>
          </a:graphicData>
        </a:graphic>
      </p:graphicFrame>
      <p:sp>
        <p:nvSpPr>
          <p:cNvPr id="7" name="矩形 6">
            <a:extLst>
              <a:ext uri="{FF2B5EF4-FFF2-40B4-BE49-F238E27FC236}">
                <a16:creationId xmlns:a16="http://schemas.microsoft.com/office/drawing/2014/main" id="{17564BC7-6B43-945D-6516-8E8D370FAD44}"/>
              </a:ext>
            </a:extLst>
          </p:cNvPr>
          <p:cNvSpPr/>
          <p:nvPr/>
        </p:nvSpPr>
        <p:spPr>
          <a:xfrm>
            <a:off x="361514" y="2817909"/>
            <a:ext cx="7437934" cy="307777"/>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In the PAC framework: strong and weak learnability</a:t>
            </a:r>
          </a:p>
        </p:txBody>
      </p:sp>
    </p:spTree>
    <p:extLst>
      <p:ext uri="{BB962C8B-B14F-4D97-AF65-F5344CB8AC3E}">
        <p14:creationId xmlns:p14="http://schemas.microsoft.com/office/powerpoint/2010/main" val="2612981435"/>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Key Idea</a:t>
            </a:r>
          </a:p>
        </p:txBody>
      </p:sp>
      <p:pic>
        <p:nvPicPr>
          <p:cNvPr id="3" name="图片 2" descr="C:\Users\34460\AppData\Local\Microsoft\Windows\INetCache\Content.Word\AdaBoosting.jpg">
            <a:extLst>
              <a:ext uri="{FF2B5EF4-FFF2-40B4-BE49-F238E27FC236}">
                <a16:creationId xmlns:a16="http://schemas.microsoft.com/office/drawing/2014/main" id="{5FEEB40E-65C2-C981-14C8-FAE9E35A32A6}"/>
              </a:ext>
            </a:extLst>
          </p:cNvPr>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178290" y="916432"/>
            <a:ext cx="6637669" cy="3445361"/>
          </a:xfrm>
          <a:prstGeom prst="rect">
            <a:avLst/>
          </a:prstGeom>
          <a:noFill/>
          <a:ln>
            <a:noFill/>
          </a:ln>
        </p:spPr>
      </p:pic>
      <p:sp>
        <p:nvSpPr>
          <p:cNvPr id="4" name="矩形 3">
            <a:extLst>
              <a:ext uri="{FF2B5EF4-FFF2-40B4-BE49-F238E27FC236}">
                <a16:creationId xmlns:a16="http://schemas.microsoft.com/office/drawing/2014/main" id="{D0CCAC37-AFFE-CA42-B75C-CC389AA9C9C1}"/>
              </a:ext>
            </a:extLst>
          </p:cNvPr>
          <p:cNvSpPr/>
          <p:nvPr/>
        </p:nvSpPr>
        <p:spPr>
          <a:xfrm>
            <a:off x="7017475" y="1480974"/>
            <a:ext cx="2047698" cy="923330"/>
          </a:xfrm>
          <a:prstGeom prst="rect">
            <a:avLst/>
          </a:prstGeom>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a:cs typeface="Arial"/>
              </a:rPr>
              <a:t>Fig. 4.9.</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noProof="0" dirty="0">
                <a:ln>
                  <a:noFill/>
                </a:ln>
                <a:solidFill>
                  <a:prstClr val="black"/>
                </a:solidFill>
                <a:effectLst/>
                <a:uLnTx/>
                <a:uFillTx/>
                <a:latin typeface="Arial" panose="020B0604020202020204" pitchFamily="34" charset="0"/>
                <a:ea typeface="Arial"/>
                <a:cs typeface="Arial"/>
              </a:rPr>
              <a:t>Illustration of the AdaBoost learning process</a:t>
            </a:r>
          </a:p>
        </p:txBody>
      </p:sp>
      <p:sp>
        <p:nvSpPr>
          <p:cNvPr id="8" name="矩形 7">
            <a:extLst>
              <a:ext uri="{FF2B5EF4-FFF2-40B4-BE49-F238E27FC236}">
                <a16:creationId xmlns:a16="http://schemas.microsoft.com/office/drawing/2014/main" id="{45C03545-81B8-E07A-92FB-FCB0846F032C}"/>
              </a:ext>
            </a:extLst>
          </p:cNvPr>
          <p:cNvSpPr/>
          <p:nvPr/>
        </p:nvSpPr>
        <p:spPr>
          <a:xfrm>
            <a:off x="99463" y="4621862"/>
            <a:ext cx="8965710" cy="2002343"/>
          </a:xfrm>
          <a:prstGeom prst="rect">
            <a:avLst/>
          </a:prstGeom>
        </p:spPr>
        <p:txBody>
          <a:bodyPr wrap="square" lIns="0" tIns="0" rIns="0" bIns="0">
            <a:noAutofit/>
          </a:bodyPr>
          <a:lstStyle/>
          <a:p>
            <a:pPr marL="0" marR="0" lvl="1" algn="l" defTabSz="914400" rtl="0" eaLnBrk="1" fontAlgn="auto" latinLnBrk="0" hangingPunct="1">
              <a:lnSpc>
                <a:spcPct val="110000"/>
              </a:lnSpc>
              <a:spcBef>
                <a:spcPts val="0"/>
              </a:spcBef>
              <a:spcAft>
                <a:spcPts val="0"/>
              </a:spcAft>
              <a:buClrTx/>
              <a:buSzTx/>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Two key questions in AdaBoost:</a:t>
            </a:r>
          </a:p>
          <a:p>
            <a:pPr marL="342900" marR="0" lvl="2"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How should training weights change for each weak learner? Increase the weights of samples misclassified in the previous round.</a:t>
            </a:r>
          </a:p>
          <a:p>
            <a:pPr marL="342900" marR="0" lvl="2" indent="-342900" algn="l" defTabSz="914400" rtl="0" eaLnBrk="1" fontAlgn="auto" latinLnBrk="0" hangingPunct="1">
              <a:lnSpc>
                <a:spcPct val="110000"/>
              </a:lnSpc>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How are weak classifiers combined? Use weighted majority voting: assign larger weights to classifiers with lower error so they contribute more, and smaller weights to those with higher error so they contribute less.</a:t>
            </a:r>
          </a:p>
        </p:txBody>
      </p:sp>
    </p:spTree>
    <p:extLst>
      <p:ext uri="{BB962C8B-B14F-4D97-AF65-F5344CB8AC3E}">
        <p14:creationId xmlns:p14="http://schemas.microsoft.com/office/powerpoint/2010/main" val="403096811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Algorithm</a:t>
            </a:r>
          </a:p>
        </p:txBody>
      </p:sp>
      <p:sp xmlns:a14="http://schemas.microsoft.com/office/drawing/2010/main">
        <p:nvSpPr>
          <p:cNvPr id="5" name="矩形 4">
            <a:extLst>
              <a:ext uri="{FF2B5EF4-FFF2-40B4-BE49-F238E27FC236}">
                <a16:creationId xmlns:a16="http://schemas.microsoft.com/office/drawing/2014/main" id="{20194129-A896-7FF9-1B55-4CF450FA64FB}"/>
              </a:ext>
            </a:extLst>
          </p:cNvPr>
          <p:cNvSpPr/>
          <p:nvPr/>
        </p:nvSpPr>
        <p:spPr>
          <a:xfrm>
            <a:off x="105006" y="882493"/>
            <a:ext cx="8933987" cy="1231106"/>
          </a:xfrm>
          <a:prstGeom prst="rect">
            <a:avLst/>
          </a:prstGeom>
        </p:spPr>
        <p:txBody>
          <a:bodyPr wrap="square" lIns="0" tIns="0" rIns="0" bIns="0">
            <a:noAutofit/>
          </a:bodyPr>
          <a:lstStyle/>
          <a:p>
            <a:pPr marL="0" marR="0" lvl="1" algn="l" defTabSz="914400" rtl="0" eaLnBrk="1" fontAlgn="auto" latinLnBrk="0" hangingPunct="1">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Given a training set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labeled samples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𝛤</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d>
                  <m:dPr>
                    <m:begChr m:val="{"/>
                    <m:end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dPr>
                  <m:e>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sub>
                        </m:s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sub>
                        </m:sSub>
                      </m:e>
                    </m:d>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0" lvl="1">
              <a:defRPr sz="1600" lang="en-US">
                <a:latin typeface="Arial"/>
                <a:ea typeface="Arial"/>
                <a:cs typeface="Arial"/>
              </a:defRPr>
            </a:pP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d>
                  <m:d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𝑖</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𝑁</m:t>
                    </m:r>
                  </m:e>
                </m:d>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𝑋</m:t>
                </m:r>
                <m:r>
                  <a:rPr kumimoji="0" lang="en-US" altLang="en-US"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m:t>
                </m:r>
                <m:sSup>
                  <m:sSup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𝑅</m:t>
                    </m:r>
                  </m:e>
                  <m:sup>
                    <m:r>
                      <a:rPr kumimoji="0" lang="en-US" altLang="zh-CN" sz="1600" b="0" i="1" u="none" strike="noStrike" kern="1200" cap="none" spc="0" normalizeH="0" noProof="0" dirty="0" smtClean="0">
                        <a:ln>
                          <a:noFill/>
                        </a:ln>
                        <a:solidFill>
                          <a:prstClr val="black"/>
                        </a:solidFill>
                        <a:effectLst/>
                        <a:uLnTx/>
                        <a:uFillTx/>
                        <a:latin typeface="Arial"/>
                        <a:ea typeface="Arial"/>
                        <a:cs typeface="Arial" panose="02020603050405020304" pitchFamily="18" charset="0"/>
                      </a:rPr>
                      <m:t>𝑛</m:t>
                    </m:r>
                  </m:sup>
                </m:sSup>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lang="en-US" altLang="zh-CN" sz="1600" i="1" dirty="0">
                        <a:solidFill>
                          <a:prstClr val="black"/>
                        </a:solidFill>
                        <a:latin typeface="Arial" panose="02040503050406030204" pitchFamily="18" charset="0"/>
                        <a:ea typeface="Arial"/>
                        <a:cs typeface="Arial" panose="02020603050405020304" pitchFamily="18" charset="0"/>
                      </a:rPr>
                    </m:ctrlPr>
                  </m:sSubPr>
                  <m:e>
                    <m:r>
                      <a:rPr lang="en-US" altLang="zh-CN" sz="1600" i="1" dirty="0">
                        <a:solidFill>
                          <a:prstClr val="black"/>
                        </a:solidFill>
                        <a:latin typeface="Arial"/>
                        <a:ea typeface="Arial"/>
                        <a:cs typeface="Arial" panose="02020603050405020304" pitchFamily="18" charset="0"/>
                      </a:rPr>
                      <m:t>𝑦</m:t>
                    </m:r>
                  </m:e>
                  <m:sub>
                    <m:r>
                      <a:rPr lang="en-US" altLang="zh-CN" sz="1600" i="1" dirty="0">
                        <a:solidFill>
                          <a:prstClr val="black"/>
                        </a:solidFill>
                        <a:latin typeface="Arial"/>
                        <a:ea typeface="Arial"/>
                        <a:cs typeface="Arial" panose="02020603050405020304" pitchFamily="18" charset="0"/>
                      </a:rPr>
                      <m:t>𝑖</m:t>
                    </m:r>
                  </m:sub>
                </m:sSub>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𝑌</m:t>
                </m:r>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1</m:t>
                </m:r>
                <m:r>
                  <a:rPr lang="en-US" altLang="zh-CN" sz="1600" i="1" dirty="0">
                    <a:solidFill>
                      <a:prstClr val="black"/>
                    </a:solidFill>
                    <a:latin typeface="Arial"/>
                    <a:ea typeface="Arial"/>
                    <a:cs typeface="Arial" panose="02020603050405020304" pitchFamily="18" charset="0"/>
                  </a:rPr>
                  <m:t>,</m:t>
                </m:r>
                <m:r>
                  <a:rPr lang="en-US" altLang="zh-CN" sz="1600" i="1" dirty="0">
                    <a:solidFill>
                      <a:prstClr val="black"/>
                    </a:solidFill>
                    <a:latin typeface="Arial"/>
                    <a:ea typeface="Arial"/>
                    <a:cs typeface="Arial" panose="02020603050405020304" pitchFamily="18" charset="0"/>
                  </a:rPr>
                  <m:t>1</m:t>
                </m:r>
                <m:r>
                  <a:rPr lang="en-US" altLang="zh-CN" sz="1600" i="1" dirty="0">
                    <a:solidFill>
                      <a:prstClr val="black"/>
                    </a:solidFill>
                    <a:latin typeface="Arial"/>
                    <a:ea typeface="Arial"/>
                    <a:cs typeface="Arial" panose="02020603050405020304" pitchFamily="18" charset="0"/>
                  </a:rPr>
                  <m:t>}</m:t>
                </m:r>
              </m:oMath>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1" algn="l" defTabSz="914400" rtl="0" eaLnBrk="1" fontAlgn="auto" latinLnBrk="0" hangingPunct="1">
              <a:buClrTx/>
              <a:buSzTx/>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AdaBoost learns a sequence of weak classifiers from the labeled data and combines them linearly into a strong classifier.</a:t>
            </a:r>
          </a:p>
        </p:txBody>
      </p:sp>
      <p:sp xmlns:a14="http://schemas.microsoft.com/office/drawing/2010/main">
        <p:nvSpPr>
          <p:cNvPr id="3" name="矩形 2">
            <a:extLst>
              <a:ext uri="{FF2B5EF4-FFF2-40B4-BE49-F238E27FC236}">
                <a16:creationId xmlns:a16="http://schemas.microsoft.com/office/drawing/2014/main" id="{A10A5089-59BA-8CB9-36C3-999687AB71D3}"/>
              </a:ext>
            </a:extLst>
          </p:cNvPr>
          <p:cNvSpPr/>
          <p:nvPr/>
        </p:nvSpPr>
        <p:spPr>
          <a:xfrm>
            <a:off x="105006" y="2905726"/>
            <a:ext cx="8759686" cy="3135858"/>
          </a:xfrm>
          <a:prstGeom prst="rect">
            <a:avLst/>
          </a:prstGeom>
        </p:spPr>
        <p:txBody>
          <a:bodyPr wrap="square" lIns="0" tIns="0" rIns="0" bIns="0">
            <a:noAutofit/>
          </a:bodyPr>
          <a:lstStyle>
            <a:defPPr>
              <a:defRPr lang="en-US" sz="1600">
                <a:latin typeface="Arial"/>
                <a:ea typeface="Arial"/>
                <a:cs typeface="Arial"/>
              </a:defRPr>
            </a:defPPr>
            <a:lvl1pPr marL="0" algn="l" defTabSz="914400" rtl="0" eaLnBrk="1" latinLnBrk="0" hangingPunct="1">
              <a:defRPr sz="1600" kern="1200" lang="en-US">
                <a:solidFill>
                  <a:schemeClr val="tx1"/>
                </a:solidFill>
                <a:latin typeface="Arial"/>
                <a:ea typeface="Arial"/>
                <a:cs typeface="Arial"/>
              </a:defRPr>
            </a:lvl1pPr>
            <a:lvl2pPr marL="457200" algn="l" defTabSz="914400" rtl="0" eaLnBrk="1" latinLnBrk="0" hangingPunct="1">
              <a:defRPr sz="1600" kern="1200" lang="en-US">
                <a:solidFill>
                  <a:schemeClr val="tx1"/>
                </a:solidFill>
                <a:latin typeface="Arial"/>
                <a:ea typeface="Arial"/>
                <a:cs typeface="Arial"/>
              </a:defRPr>
            </a:lvl2pPr>
            <a:lvl3pPr marL="914400" algn="l" defTabSz="914400" rtl="0" eaLnBrk="1" latinLnBrk="0" hangingPunct="1">
              <a:defRPr sz="1600" kern="1200" lang="en-US">
                <a:solidFill>
                  <a:schemeClr val="tx1"/>
                </a:solidFill>
                <a:latin typeface="Arial"/>
                <a:ea typeface="Arial"/>
                <a:cs typeface="Arial"/>
              </a:defRPr>
            </a:lvl3pPr>
            <a:lvl4pPr marL="1371600" algn="l" defTabSz="914400" rtl="0" eaLnBrk="1" latinLnBrk="0" hangingPunct="1">
              <a:defRPr sz="1600" kern="1200" lang="en-US">
                <a:solidFill>
                  <a:schemeClr val="tx1"/>
                </a:solidFill>
                <a:latin typeface="Arial"/>
                <a:ea typeface="Arial"/>
                <a:cs typeface="Arial"/>
              </a:defRPr>
            </a:lvl4pPr>
            <a:lvl5pPr marL="1828800" algn="l" defTabSz="914400" rtl="0" eaLnBrk="1" latinLnBrk="0" hangingPunct="1">
              <a:defRPr sz="1600" kern="1200" lang="en-US">
                <a:solidFill>
                  <a:schemeClr val="tx1"/>
                </a:solidFill>
                <a:latin typeface="Arial"/>
                <a:ea typeface="Arial"/>
                <a:cs typeface="Arial"/>
              </a:defRPr>
            </a:lvl5pPr>
            <a:lvl6pPr marL="2286000" algn="l" defTabSz="914400" rtl="0" eaLnBrk="1" latinLnBrk="0" hangingPunct="1">
              <a:defRPr sz="1600" kern="1200" lang="en-US">
                <a:solidFill>
                  <a:schemeClr val="tx1"/>
                </a:solidFill>
                <a:latin typeface="Arial"/>
                <a:ea typeface="Arial"/>
                <a:cs typeface="Arial"/>
              </a:defRPr>
            </a:lvl6pPr>
            <a:lvl7pPr marL="2743200" algn="l" defTabSz="914400" rtl="0" eaLnBrk="1" latinLnBrk="0" hangingPunct="1">
              <a:defRPr sz="1600" kern="1200" lang="en-US">
                <a:solidFill>
                  <a:schemeClr val="tx1"/>
                </a:solidFill>
                <a:latin typeface="Arial"/>
                <a:ea typeface="Arial"/>
                <a:cs typeface="Arial"/>
              </a:defRPr>
            </a:lvl7pPr>
            <a:lvl8pPr marL="3200400" algn="l" defTabSz="914400" rtl="0" eaLnBrk="1" latinLnBrk="0" hangingPunct="1">
              <a:defRPr sz="1600" kern="1200" lang="en-US">
                <a:solidFill>
                  <a:schemeClr val="tx1"/>
                </a:solidFill>
                <a:latin typeface="Arial"/>
                <a:ea typeface="Arial"/>
                <a:cs typeface="Arial"/>
              </a:defRPr>
            </a:lvl8pPr>
            <a:lvl9pPr marL="3657600" algn="l" defTabSz="914400" rtl="0" eaLnBrk="1" latinLnBrk="0" hangingPunct="1">
              <a:defRPr sz="1600" kern="1200" lang="en-US">
                <a:solidFill>
                  <a:schemeClr val="tx1"/>
                </a:solidFill>
                <a:latin typeface="Arial"/>
                <a:ea typeface="Arial"/>
                <a:cs typeface="Arial"/>
              </a:defRPr>
            </a:lvl9pPr>
          </a:lstStyle>
          <a:p>
            <a:pPr marL="0" marR="0" lvl="2" algn="l" defTabSz="914400" rtl="0" eaLnBrk="1" fontAlgn="auto" latinLnBrk="0" hangingPunct="1">
              <a:spcBef>
                <a:spcPts val="400"/>
              </a:spcBef>
              <a:spcAft>
                <a:spcPts val="0"/>
              </a:spcAft>
              <a:buClrTx/>
              <a:buSzTx/>
              <a:buFont typeface="+mj-lt"/>
              <a:buAutoNum type="arabicPeriod" startAt="2"/>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For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2</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Use training data with weights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to learn the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startAt="2"/>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Compute the training error of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0 otherwise.</a:t>
            </a:r>
          </a:p>
          <a:p>
            <a:pPr marL="288000" marR="0" lvl="2" algn="l" defTabSz="914400" rtl="0" eaLnBrk="1" fontAlgn="auto" latinLnBrk="0" hangingPunct="1">
              <a:spcBef>
                <a:spcPts val="400"/>
              </a:spcBef>
              <a:spcAft>
                <a:spcPts val="0"/>
              </a:spcAft>
              <a:buClrTx/>
              <a:buSzTx/>
              <a:buFont typeface="+mj-lt"/>
              <a:buAutoNum type="alphaLcParenR"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Compute the weight of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ln</m:t>
                    </m:r>
                  </m:fName>
                  <m:e>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2" algn="l" defTabSz="914400" rtl="0" eaLnBrk="1" fontAlgn="auto" latinLnBrk="0" hangingPunct="1">
              <a:spcBef>
                <a:spcPts val="400"/>
              </a:spcBef>
              <a:spcAft>
                <a:spcPts val="0"/>
              </a:spcAft>
              <a:buClrTx/>
              <a:buSzTx/>
              <a:buFont typeface="+mj-lt"/>
              <a:buAutoNum type="alphaLcParenR"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Update the training-sample weights: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up>
                </m:sSup>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normalizes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into a probability distribution,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𝑖</m:t>
                        </m:r>
                      </m:sub>
                    </m:sSub>
                  </m:e>
                </m:nary>
                <m:sSup>
                  <m:sSup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up>
                </m:sSup>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xmlns:a14="http://schemas.microsoft.com/office/drawing/2010/main">
        <p:nvSpPr>
          <p:cNvPr id="6" name="文本框 5">
            <a:extLst>
              <a:ext uri="{FF2B5EF4-FFF2-40B4-BE49-F238E27FC236}">
                <a16:creationId xmlns:a16="http://schemas.microsoft.com/office/drawing/2014/main" id="{7F77A43C-35EF-79C4-E886-4843A24D9950}"/>
              </a:ext>
            </a:extLst>
          </p:cNvPr>
          <p:cNvSpPr txBox="1"/>
          <p:nvPr/>
        </p:nvSpPr>
        <p:spPr>
          <a:xfrm>
            <a:off x="105006" y="2152379"/>
            <a:ext cx="8652132" cy="742383"/>
          </a:xfrm>
          <a:prstGeom prst="rect">
            <a:avLst/>
          </a:prstGeom>
          <a:noFill/>
        </p:spPr>
        <p:txBody>
          <a:bodyPr wrap="square" lIns="0" tIns="0" rIns="0" bIns="0">
            <a:noAutofit/>
          </a:bodyPr>
          <a:lstStyle/>
          <a:p>
            <a:pPr marL="0" marR="0" lvl="2" indent="0" algn="l" defTabSz="914400" rtl="0" eaLnBrk="1" fontAlgn="auto" latinLnBrk="0" hangingPunct="1">
              <a:lnSpc>
                <a:spcPct val="100000"/>
              </a:lnSpc>
              <a:spcBef>
                <a:spcPts val="0"/>
              </a:spcBef>
              <a:spcAft>
                <a:spcPts val="0"/>
              </a:spcAft>
              <a:buClrTx/>
              <a:buSzTx/>
              <a:buFont typeface="+mj-lt"/>
              <a:buAutoNum type="arabicPeriod"/>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Initialize the weight of each training sample:</a:t>
            </a:r>
          </a:p>
          <a:p>
            <a:pPr marL="0" marR="0" lvl="2"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 xmlns:m="http://schemas.openxmlformats.org/officeDocument/2006/math">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𝐷</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d>
                  <m:d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11</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b>
                    </m:sSub>
                  </m:e>
                </m:d>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sSub>
                  <m:sSub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den>
                </m:f>
                <m:r>
                  <a:rPr kumimoji="0" lang="en-US" altLang="zh-CN" sz="1600" b="0" i="0"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0"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𝑖</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dirty="0">
                    <a:ln>
                      <a:noFill/>
                    </a:ln>
                    <a:solidFill>
                      <a:prstClr val="black"/>
                    </a:solidFill>
                    <a:effectLst/>
                    <a:uLnTx/>
                    <a:uFillTx/>
                    <a:latin typeface="Arial"/>
                    <a:ea typeface="Arial"/>
                    <a:cs typeface="Arial" panose="02020603050405020304" pitchFamily="18" charset="0"/>
                  </a:rPr>
                  <m:t>𝑁</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xmlns:a14="http://schemas.microsoft.com/office/drawing/2010/main">
        <p:nvSpPr>
          <p:cNvPr id="7" name="矩形 6">
            <a:extLst>
              <a:ext uri="{FF2B5EF4-FFF2-40B4-BE49-F238E27FC236}">
                <a16:creationId xmlns:a16="http://schemas.microsoft.com/office/drawing/2014/main" id="{A4886DBE-F7CB-FB00-E37B-FE4FE93C5405}"/>
              </a:ext>
            </a:extLst>
          </p:cNvPr>
          <p:cNvSpPr/>
          <p:nvPr/>
        </p:nvSpPr>
        <p:spPr>
          <a:xfrm>
            <a:off x="148146" y="5988735"/>
            <a:ext cx="8857474" cy="649280"/>
          </a:xfrm>
          <a:prstGeom prst="rect">
            <a:avLst/>
          </a:prstGeom>
        </p:spPr>
        <p:txBody>
          <a:bodyPr wrap="square" lIns="0" tIns="0" rIns="0" bIns="0">
            <a:noAutofit/>
          </a:bodyPr>
          <a:lstStyle/>
          <a:p>
            <a:pPr marL="0" marR="0" lvl="2" algn="l" defTabSz="914400" rtl="0" eaLnBrk="1" fontAlgn="auto" latinLnBrk="0" hangingPunct="1">
              <a:spcBef>
                <a:spcPts val="0"/>
              </a:spcBef>
              <a:spcAft>
                <a:spcPts val="0"/>
              </a:spcAft>
              <a:buClrTx/>
              <a:buSzTx/>
              <a:buFont typeface="+mj-lt"/>
              <a:buAutoNum type="arabicPeriod" startAt="3"/>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Combine weak classifiers by a weighted sum: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p>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Obtain the strong classifier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𝑠𝑖𝑔𝑛</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𝑠𝑖𝑔𝑛</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Tree>
    <p:extLst>
      <p:ext uri="{BB962C8B-B14F-4D97-AF65-F5344CB8AC3E}">
        <p14:creationId xmlns:p14="http://schemas.microsoft.com/office/powerpoint/2010/main" val="1625097902"/>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Algorithm</a:t>
            </a:r>
          </a:p>
        </p:txBody>
      </p:sp>
      <p:sp xmlns:a14="http://schemas.microsoft.com/office/drawing/2010/main">
        <p:nvSpPr>
          <p:cNvPr id="5" name="矩形 4">
            <a:extLst>
              <a:ext uri="{FF2B5EF4-FFF2-40B4-BE49-F238E27FC236}">
                <a16:creationId xmlns:a16="http://schemas.microsoft.com/office/drawing/2014/main" id="{E787BC7C-BE0A-A1C0-C0A2-9385A460B3D4}"/>
              </a:ext>
            </a:extLst>
          </p:cNvPr>
          <p:cNvSpPr/>
          <p:nvPr/>
        </p:nvSpPr>
        <p:spPr>
          <a:xfrm>
            <a:off x="60111" y="1011819"/>
            <a:ext cx="8845275" cy="1107291"/>
          </a:xfrm>
          <a:prstGeom prst="rect">
            <a:avLst/>
          </a:prstGeom>
          <a:noFill/>
          <a:ln>
            <a:noFill/>
          </a:ln>
        </p:spPr>
        <p:txBody>
          <a:bodyPr wrap="square" lIns="0" tIns="0" rIns="0" bIns="0">
            <a:noAutofit/>
          </a:bodyPr>
          <a:lstStyle/>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Training error of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t>
            </a:r>
          </a:p>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error is the sum of the weights of misclassified samples.</a:t>
            </a:r>
          </a:p>
          <a:p>
            <a:pPr marL="0" marR="0" lvl="2" indent="0" algn="l" defTabSz="914400" rtl="0" eaLnBrk="1" fontAlgn="auto" latinLnBrk="0" hangingPunct="1">
              <a:spcBef>
                <a:spcPts val="600"/>
              </a:spcBef>
              <a:spcAft>
                <a:spcPts val="0"/>
              </a:spcAft>
              <a:buClrTx/>
              <a:buSzTx/>
              <a:buFontTx/>
              <a:buNone/>
              <a:tabLst/>
              <a:defRPr sz="1600" lang="en-US">
                <a:latin typeface="Arial"/>
                <a:ea typeface="Arial"/>
                <a:cs typeface="Arial"/>
              </a:defRPr>
            </a:pP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where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e>
                </m:d>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𝑖</m:t>
                    </m:r>
                  </m:sub>
                </m:sSub>
              </m:oMath>
            </a14:m>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0 otherwise.</a:t>
            </a:r>
          </a:p>
        </p:txBody>
      </p:sp>
      <p:sp xmlns:a14="http://schemas.microsoft.com/office/drawing/2010/main">
        <p:nvSpPr>
          <p:cNvPr id="6" name="矩形 5">
            <a:extLst>
              <a:ext uri="{FF2B5EF4-FFF2-40B4-BE49-F238E27FC236}">
                <a16:creationId xmlns:a16="http://schemas.microsoft.com/office/drawing/2014/main" id="{E5244AE1-E275-108D-D1CC-D34BAF35C9F8}"/>
              </a:ext>
            </a:extLst>
          </p:cNvPr>
          <p:cNvSpPr/>
          <p:nvPr/>
        </p:nvSpPr>
        <p:spPr>
          <a:xfrm>
            <a:off x="109949" y="2999474"/>
            <a:ext cx="8924102" cy="3463320"/>
          </a:xfrm>
          <a:prstGeom prst="rect">
            <a:avLst/>
          </a:prstGeom>
          <a:ln>
            <a:noFill/>
          </a:ln>
        </p:spPr>
        <p:txBody>
          <a:bodyPr wrap="square" lIns="0" tIns="0" rIns="0" bIns="0">
            <a:noAutofit/>
          </a:bodyPr>
          <a:lstStyle/>
          <a:p>
            <a:pPr marL="0" marR="0" lvl="2" algn="l" defTabSz="914400" rtl="0" eaLnBrk="1" fontAlgn="auto" latinLnBrk="0" hangingPunct="1">
              <a:spcBef>
                <a:spcPts val="60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Weight </a:t>
            </a:r>
            <a14:m>
              <m:oMath xmlns:m="http://schemas.openxmlformats.org/officeDocument/2006/math">
                <m:sSub>
                  <m:sSub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of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oMath>
            </a14:m>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has error 1, i.e.,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𝑁</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𝑚𝑖</m:t>
                        </m:r>
                      </m:sub>
                    </m:sSub>
                    <m:r>
                      <a:rPr kumimoji="0" lang="en-US" altLang="en-US"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𝕀</m:t>
                    </m:r>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e>
                </m:nary>
                <m:r>
                  <a:rPr kumimoji="0" lang="en-US" altLang="zh-CN" sz="1600" b="0" i="0"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every sample is misclassified. Then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assigning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 very low weight.</a:t>
            </a:r>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has error </a:t>
            </a:r>
            <a14:m>
              <m:oMath xmlns:m="http://schemas.openxmlformats.org/officeDocument/2006/math">
                <m:f>
                  <m:fPr>
                    <m:ctrlPr>
                      <a:rPr kumimoji="0" lang="en-US" altLang="zh-CN" sz="1600" i="1" u="none" strike="noStrike" kern="1200" cap="none" spc="0" normalizeH="0" noProof="0" dirty="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smtClean="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then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2</m:t>
                    </m:r>
                  </m:den>
                </m:f>
                <m:func>
                  <m:func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uncPr>
                  <m:fNa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𝑙𝑛</m:t>
                    </m:r>
                  </m:fNa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e>
                </m:func>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0</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If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below </a:t>
            </a:r>
            <a14:m>
              <m:oMath xmlns:m="http://schemas.openxmlformats.org/officeDocument/2006/math">
                <m:f>
                  <m:f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weight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positive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&lt;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den>
                </m:f>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&gt;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0</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Weight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increases as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𝑒𝑟𝑟</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decreases: lower-error classifiers receive larger weights.</a:t>
            </a:r>
          </a:p>
          <a:p>
            <a:pPr marL="0" marR="0" lvl="2" algn="l" defTabSz="914400" rtl="0" eaLnBrk="1" fontAlgn="auto" latinLnBrk="0" hangingPunct="1">
              <a:spcBef>
                <a:spcPts val="600"/>
              </a:spcBef>
              <a:spcAft>
                <a:spcPts val="0"/>
              </a:spcAft>
              <a:buClrTx/>
              <a:buSzTx/>
              <a:buFontTx/>
              <a:buAutoNum type="alphaLcParenBoth"/>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 weak classifier with error </a:t>
            </a:r>
            <a14:m>
              <m:oMath xmlns:m="http://schemas.openxmlformats.org/officeDocument/2006/math">
                <m:f>
                  <m:fPr>
                    <m:ctrlPr>
                      <a:rPr kumimoji="0" lang="en-US" altLang="zh-CN" sz="1600" i="1" u="none" strike="noStrike" kern="1200" cap="none" spc="0" normalizeH="0" noProof="0" dirty="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dirty="0">
                        <a:ln>
                          <a:noFill/>
                        </a:ln>
                        <a:solidFill>
                          <a:prstClr val="black"/>
                        </a:solidFill>
                        <a:effectLst/>
                        <a:uLnTx/>
                        <a:uFillTx/>
                        <a:latin typeface="Arial"/>
                        <a:ea typeface="Arial" panose="02010609060101010101" pitchFamily="49" charset="-122"/>
                        <a:cs typeface="Arial" panose="02020603050405020304" pitchFamily="18" charset="0"/>
                      </a:rPr>
                      <m:t>2</m:t>
                    </m:r>
                  </m:den>
                </m:f>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performs no better than random classification.</a:t>
            </a:r>
          </a:p>
        </p:txBody>
      </p:sp>
    </p:spTree>
    <p:extLst>
      <p:ext uri="{BB962C8B-B14F-4D97-AF65-F5344CB8AC3E}">
        <p14:creationId xmlns:p14="http://schemas.microsoft.com/office/powerpoint/2010/main" val="605402959"/>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xmlns:a14="http://schemas.microsoft.com/office/drawing/2010/main">
        <p:nvSpPr>
          <p:cNvPr id="3" name="矩形 2">
            <a:extLst>
              <a:ext uri="{FF2B5EF4-FFF2-40B4-BE49-F238E27FC236}">
                <a16:creationId xmlns:a16="http://schemas.microsoft.com/office/drawing/2014/main" id="{68E739B7-A502-A32E-1DBA-B30FEE61B4A3}"/>
              </a:ext>
            </a:extLst>
          </p:cNvPr>
          <p:cNvSpPr/>
          <p:nvPr/>
        </p:nvSpPr>
        <p:spPr>
          <a:xfrm>
            <a:off x="132314" y="911458"/>
            <a:ext cx="8879371" cy="3387979"/>
          </a:xfrm>
          <a:prstGeom prst="rect">
            <a:avLst/>
          </a:prstGeom>
          <a:ln>
            <a:noFill/>
          </a:ln>
        </p:spPr>
        <p:txBody>
          <a:bodyPr wrap="square" lIns="0" tIns="0" rIns="0" bIns="0">
            <a:noAutofit/>
          </a:bodyPr>
          <a:lstStyle/>
          <a:p>
            <a:pPr marL="0" marR="0" lvl="2" algn="just" defTabSz="914400" rtl="0" eaLnBrk="1" fontAlgn="auto" latinLnBrk="0" hangingPunct="1">
              <a:spcBef>
                <a:spcPts val="600"/>
              </a:spcBef>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Adjust the training-sample weights before training the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sub>
                </m:sSub>
                <m:d>
                  <m:dPr>
                    <m:ctrlPr>
                      <a:rPr kumimoji="0" lang="en-US" altLang="zh-CN" sz="1600" i="1" u="none" strike="noStrike" kern="1200" cap="none" spc="0" normalizeH="0" noProof="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t>
            </a:r>
          </a:p>
          <a:p>
            <a:pPr marL="0" lvl="2" algn="just">
              <a:spcBef>
                <a:spcPts val="600"/>
              </a:spcBef>
            </a:pPr>
            <a14:m>
              <m:oMathPara xmlns:m="http://schemas.openxmlformats.org/officeDocument/2006/math">
                <m:oMathParaPr>
                  <m:jc m:val="centerGroup"/>
                </m:oMathParaPr>
                <m:o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d>
                    <m:dPr>
                      <m:begChr m:val="{"/>
                      <m:end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eqArr>
                        <m:eqArr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eqArrPr>
                        <m:e>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lang="en-US" altLang="zh-CN" sz="1600" i="1">
                                      <a:solidFill>
                                        <a:prstClr val="black"/>
                                      </a:solidFill>
                                      <a:latin typeface="Arial" panose="02040503050406030204" pitchFamily="18" charset="0"/>
                                      <a:ea typeface="Arial" panose="02010609060101010101" pitchFamily="49" charset="-122"/>
                                      <a:cs typeface="Arial" panose="02020603050405020304" pitchFamily="18" charset="0"/>
                                    </a:rPr>
                                  </m:ctrlPr>
                                </m:sSubPr>
                                <m:e>
                                  <m:r>
                                    <a:rPr lang="en-US" altLang="en-US" sz="1600" i="1">
                                      <a:solidFill>
                                        <a:prstClr val="black"/>
                                      </a:solidFill>
                                      <a:latin typeface="Arial" panose="02040503050406030204" pitchFamily="18" charset="0"/>
                                      <a:ea typeface="Arial" panose="02010609060101010101" pitchFamily="49" charset="-122"/>
                                      <a:cs typeface="Arial" panose="02020603050405020304" pitchFamily="18" charset="0"/>
                                    </a:rPr>
                                    <m:t>𝛼</m:t>
                                  </m:r>
                                </m:e>
                                <m:sub>
                                  <m:r>
                                    <a:rPr lang="en-US" altLang="zh-CN" sz="1600" i="1">
                                      <a:solidFill>
                                        <a:prstClr val="black"/>
                                      </a:solidFill>
                                      <a:latin typeface="Arial" panose="02040503050406030204" pitchFamily="18" charset="0"/>
                                      <a:ea typeface="Arial" panose="02010609060101010101" pitchFamily="49" charset="-122"/>
                                      <a:cs typeface="Arial" panose="02020603050405020304" pitchFamily="18" charset="0"/>
                                    </a:rPr>
                                    <m:t>𝑚</m:t>
                                  </m:r>
                                </m:sub>
                              </m:sSub>
                            </m:sup>
                          </m:s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e>
                          <m:f>
                            <m:f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𝑤</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num>
                            <m:den>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𝑍</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en>
                          </m:f>
                          <m:sSup>
                            <m:sSup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𝑒</m:t>
                              </m:r>
                            </m:e>
                            <m:sup>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t>𝑚</m:t>
                                  </m:r>
                                </m:sub>
                              </m:sSub>
                            </m:sup>
                          </m:sSup>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  </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sub>
                          </m:sSub>
                        </m:e>
                      </m:eqArr>
                    </m:e>
                  </m:d>
                </m:oMath>
              </m:oMathPara>
            </a14:m>
            <a:endPar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endParaRPr>
          </a:p>
          <a:p>
            <a:pPr marL="342900" marR="0" lvl="2" indent="-342900" algn="just" defTabSz="914400" rtl="0" eaLnBrk="1" fontAlgn="auto" latinLnBrk="0" hangingPunct="1">
              <a:spcBef>
                <a:spcPts val="600"/>
              </a:spcBef>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If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misclassifies a sample, increase its weight; otherwise decrease it. Misclassified samples receive more attention when training the </a:t>
            </a:r>
            <a14:m>
              <m:oMath xmlns:m="http://schemas.openxmlformats.org/officeDocument/2006/math">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 weak classifier </a:t>
            </a:r>
            <a14:m>
              <m:oMath xmlns:m="http://schemas.openxmlformats.org/officeDocument/2006/math">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Sub>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342900" marR="0" lvl="2" indent="-342900" algn="just" defTabSz="914400" rtl="0" eaLnBrk="1" fontAlgn="auto" latinLnBrk="0" hangingPunct="1">
              <a:spcBef>
                <a:spcPts val="600"/>
              </a:spcBef>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each round, AdaBoost focuses on samples that are not yet correctly classified.</a:t>
            </a:r>
          </a:p>
        </p:txBody>
      </p:sp>
      <p:sp xmlns:a14="http://schemas.microsoft.com/office/drawing/2010/main">
        <p:nvSpPr>
          <p:cNvPr id="4" name="矩形 3">
            <a:extLst>
              <a:ext uri="{FF2B5EF4-FFF2-40B4-BE49-F238E27FC236}">
                <a16:creationId xmlns:a16="http://schemas.microsoft.com/office/drawing/2014/main" id="{86E80AC6-7018-BB85-1AE4-638F6B746A74}"/>
              </a:ext>
            </a:extLst>
          </p:cNvPr>
          <p:cNvSpPr/>
          <p:nvPr/>
        </p:nvSpPr>
        <p:spPr>
          <a:xfrm>
            <a:off x="132313" y="4635766"/>
            <a:ext cx="8879371" cy="1880387"/>
          </a:xfrm>
          <a:prstGeom prst="rect">
            <a:avLst/>
          </a:prstGeom>
          <a:ln>
            <a:noFill/>
          </a:ln>
        </p:spPr>
        <p:txBody>
          <a:bodyPr wrap="square" lIns="0" tIns="0" rIns="0" bIns="0">
            <a:noAutofit/>
          </a:bodyPr>
          <a:lstStyle/>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Construct a strong classifier from weak classifiers: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sign</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m:rPr>
                    <m:sty m:val="p"/>
                  </m:rPr>
                  <a:rPr kumimoji="0" lang="en-US" altLang="zh-CN" sz="1600" b="0" i="0"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sign</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a weighted sum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weak classifiers. More accurate classifiers receive larger weights.</a:t>
            </a:r>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sum of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does not equal 1.</a:t>
            </a:r>
          </a:p>
          <a:p>
            <a:pPr marL="342900" marR="0" lvl="2" indent="-34290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sign of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determines whether sample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labeled 1 or −1. If </a:t>
            </a:r>
            <a14:m>
              <m:oMath xmlns:m="http://schemas.openxmlformats.org/officeDocument/2006/math">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positive, strong classifier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d>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assigns sample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to class 1; otherwise to class −1.</a:t>
            </a:r>
          </a:p>
        </p:txBody>
      </p:sp>
    </p:spTree>
    <p:extLst>
      <p:ext uri="{BB962C8B-B14F-4D97-AF65-F5344CB8AC3E}">
        <p14:creationId xmlns:p14="http://schemas.microsoft.com/office/powerpoint/2010/main" val="3668491077"/>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xmlns:a14="http://schemas.microsoft.com/office/drawing/2010/main">
        <p:nvSpPr>
          <p:cNvPr id="4" name="矩形 3">
            <a:extLst>
              <a:ext uri="{FF2B5EF4-FFF2-40B4-BE49-F238E27FC236}">
                <a16:creationId xmlns:a16="http://schemas.microsoft.com/office/drawing/2014/main" id="{C74CE643-5919-E6FA-7979-0E735072945C}"/>
              </a:ext>
            </a:extLst>
          </p:cNvPr>
          <p:cNvSpPr/>
          <p:nvPr/>
        </p:nvSpPr>
        <p:spPr>
          <a:xfrm>
            <a:off x="53622" y="1816106"/>
            <a:ext cx="8963754" cy="3635482"/>
          </a:xfrm>
          <a:prstGeom prst="rect">
            <a:avLst/>
          </a:prstGeom>
          <a:ln>
            <a:noFill/>
          </a:ln>
        </p:spPr>
        <p:txBody>
          <a:bodyPr wrap="square" lIns="0" tIns="0" rIns="0" bIns="0">
            <a:noAutofit/>
          </a:bodyPr>
          <a:lstStyle/>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Suppose there are </a:t>
            </a:r>
            <a14:m>
              <m:oMath xmlns:m="http://schemas.openxmlformats.org/officeDocument/2006/math">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weak classifiers </a:t>
            </a:r>
            <a14:m>
              <m:oMath xmlns:m="http://schemas.openxmlformats.org/officeDocument/2006/math">
                <m:sSub>
                  <m:sSubPr>
                    <m:ctrlPr>
                      <a:rPr kumimoji="0" lang="en-US" altLang="zh-CN" sz="1600" i="1" u="none" strike="noStrike" kern="1200" cap="none" spc="0" normalizeH="0" noProof="0" smtClean="0">
                        <a:ln>
                          <a:noFill/>
                        </a:ln>
                        <a:solidFill>
                          <a:srgbClr val="FF0000"/>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1</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𝑚</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srgbClr val="FF0000"/>
                    </a:solidFill>
                    <a:effectLst/>
                    <a:uLnTx/>
                    <a:uFillTx/>
                    <a:latin typeface="Arial"/>
                    <a:ea typeface="Arial"/>
                    <a:cs typeface="Arial" panose="02020603050405020304" pitchFamily="18" charset="0"/>
                  </a:rPr>
                  <m:t>𝑀</m:t>
                </m:r>
                <m:r>
                  <a:rPr kumimoji="0" lang="en-US" altLang="zh-CN" sz="1600" b="0" i="1" u="none" strike="noStrike" kern="1200" cap="none" spc="0" normalizeH="0" noProof="0" smtClean="0">
                    <a:ln>
                      <a:noFill/>
                    </a:ln>
                    <a:solidFill>
                      <a:srgbClr val="FF0000"/>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 </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 The error of their </a:t>
            </a:r>
            <a14:m>
              <m:oMath xmlns:m="http://schemas.openxmlformats.org/officeDocument/2006/math">
                <m:r>
                  <a:rPr kumimoji="0" lang="en-US" altLang="zh-CN" sz="1600" b="0" i="1" u="none" strike="noStrike" kern="1200" cap="none" spc="0" normalizeH="0" noProof="0">
                    <a:ln>
                      <a:noFill/>
                    </a:ln>
                    <a:solidFill>
                      <a:srgbClr val="FF0000"/>
                    </a:solidFill>
                    <a:effectLst/>
                    <a:uLnTx/>
                    <a:uFillTx/>
                    <a:latin typeface="Arial"/>
                    <a:ea typeface="Arial" panose="02010609060101010101" pitchFamily="49" charset="-122"/>
                    <a:cs typeface="Arial" panose="02020603050405020304" pitchFamily="18" charset="0"/>
                  </a:rPr>
                  <m:t>𝑀</m:t>
                </m:r>
              </m:oMath>
            </a14:m>
            <a:r>
              <a:rPr kumimoji="0" lang="en-US" altLang="en-US"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-classifier linear combination satisfies:</a:t>
            </a:r>
          </a:p>
          <a:p>
            <a:pPr marL="0" marR="0" lvl="2" algn="l" defTabSz="914400" rtl="0" eaLnBrk="1" fontAlgn="auto" latinLnBrk="0" hangingPunct="1">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𝜁</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𝑥</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den>
                          </m:f>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𝑀</m:t>
                          </m:r>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r>
                                <a:rPr kumimoji="0" lang="en-US" altLang="en-US"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𝜖</m:t>
                              </m:r>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e>
                            <m:sup>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2</m:t>
                              </m:r>
                            </m:sup>
                          </m:sSup>
                        </m:sup>
                      </m:sSup>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14:m>
              <m:oMath xmlns:m="http://schemas.openxmlformats.org/officeDocument/2006/math">
                <m:r>
                  <a:rPr kumimoji="0" lang="en-US" altLang="en-US" sz="1600" b="0" i="1" u="none" strike="noStrike" kern="1200" cap="none" spc="0" normalizeH="0" noProof="0">
                    <a:ln>
                      <a:noFill/>
                    </a:ln>
                    <a:solidFill>
                      <a:prstClr val="black"/>
                    </a:solidFill>
                    <a:effectLst/>
                    <a:uLnTx/>
                    <a:uFillTx/>
                    <a:latin typeface="Arial"/>
                    <a:ea typeface="Arial"/>
                    <a:cs typeface="Arial" panose="02020603050405020304" pitchFamily="18" charset="0"/>
                  </a:rPr>
                  <m:t>𝜁</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𝑥</m:t>
                </m:r>
                <m:r>
                  <a:rPr kumimoji="0" lang="en-US" altLang="zh-CN" sz="1600" b="0" i="1" u="none" strike="noStrike" kern="1200" cap="none" spc="0" normalizeH="0" noProof="0">
                    <a:ln>
                      <a:noFill/>
                    </a:ln>
                    <a:solidFill>
                      <a:prstClr val="black"/>
                    </a:solidFill>
                    <a:effectLst/>
                    <a:uLnTx/>
                    <a:uFillTx/>
                    <a:latin typeface="Arial"/>
                    <a:ea typeface="Arial"/>
                    <a:cs typeface="Arial" panose="02020603050405020304" pitchFamily="18" charset="0"/>
                  </a:rPr>
                  <m:t>) </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is the true classification function, </a:t>
            </a:r>
            <a14:m>
              <m:oMath xmlns:m="http://schemas.openxmlformats.org/officeDocument/2006/math">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𝜀</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0</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As more weak classifiers are combined, the training classification error decreases exponentially toward zero.</a:t>
            </a: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inequality assumes: (1) independent errors across weak classifiers; (2) each error rate below 50%. Since all classifiers use the same training set, (1) is difficult to satisfy. Accuracy of predictions and diversity among classifiers are hard to achieve simultaneously.</a:t>
            </a:r>
          </a:p>
          <a:p>
            <a:pPr marL="285750" marR="0" lvl="2" indent="-285750" algn="l" defTabSz="914400" rtl="0" eaLnBrk="1" fontAlgn="auto" latinLnBrk="0" hangingPunct="1">
              <a:spcBef>
                <a:spcPts val="0"/>
              </a:spcBef>
              <a:spcAft>
                <a:spcPts val="0"/>
              </a:spcAft>
              <a:buClrTx/>
              <a:buSzTx/>
              <a:buFont typeface="Wingdings" panose="05000000000000000000" pitchFamily="2" charset="2"/>
              <a:buChar char="Ø"/>
              <a:tabLst/>
              <a:defRPr sz="1600" lang="en-US">
                <a:latin typeface="Arial"/>
                <a:ea typeface="Arial"/>
                <a:cs typeface="Arial"/>
              </a:defRPr>
            </a:pPr>
            <a:r>
              <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AdaBoost uses sequential learning.</a:t>
            </a:r>
          </a:p>
        </p:txBody>
      </p:sp>
      <p:sp>
        <p:nvSpPr>
          <p:cNvPr id="5" name="文本框 4">
            <a:extLst>
              <a:ext uri="{FF2B5EF4-FFF2-40B4-BE49-F238E27FC236}">
                <a16:creationId xmlns:a16="http://schemas.microsoft.com/office/drawing/2014/main" id="{7F280935-7CBB-B86E-2AA2-74853F4003A5}"/>
              </a:ext>
            </a:extLst>
          </p:cNvPr>
          <p:cNvSpPr txBox="1"/>
          <p:nvPr/>
        </p:nvSpPr>
        <p:spPr>
          <a:xfrm>
            <a:off x="53622" y="874126"/>
            <a:ext cx="2841978" cy="338554"/>
          </a:xfrm>
          <a:prstGeom prst="rect">
            <a:avLst/>
          </a:prstGeom>
          <a:noFill/>
        </p:spPr>
        <p:txBody>
          <a:bodyPr wrap="square" lIns="0" tIns="0" rIns="0" bIns="0">
            <a:noAutofit/>
          </a:bodyPr>
          <a:lstStyle/>
          <a:p>
            <a:pPr marL="342900" indent="-342900">
              <a:buFont typeface="Wingdings" panose="05000000000000000000" pitchFamily="2" charset="2"/>
              <a:buChar char="l"/>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Revisiting Hoeffding's Inequality</a:t>
            </a:r>
          </a:p>
        </p:txBody>
      </p:sp>
    </p:spTree>
    <p:extLst>
      <p:ext uri="{BB962C8B-B14F-4D97-AF65-F5344CB8AC3E}">
        <p14:creationId xmlns:p14="http://schemas.microsoft.com/office/powerpoint/2010/main" val="2347356409"/>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6571B20C-53BB-B6E0-FF37-851DAB2F087C}"/>
              </a:ext>
            </a:extLst>
          </p:cNvPr>
          <p:cNvSpPr>
            <a:spLocks noGrp="1"/>
          </p:cNvSpPr>
          <p:nvPr>
            <p:ph type="title"/>
          </p:nvPr>
        </p:nvSpPr>
        <p:spPr/>
        <p:txBody>
          <a:bodyPr>
            <a:noAutofit/>
          </a:bodyPr>
          <a:lstStyle/>
          <a:p>
            <a:r>
              <a:rPr lang="en-US" altLang="zh-CN" sz="1600" dirty="0">
                <a:latin typeface="Arial" panose="020B0604020202020204" pitchFamily="34" charset="0"/>
                <a:ea typeface="Arial" panose="02010609060101010101" pitchFamily="49" charset="-122"/>
                <a:cs typeface="Arial"/>
              </a:rPr>
              <a:t>AdaBoost: Explanation</a:t>
            </a:r>
          </a:p>
        </p:txBody>
      </p:sp>
      <p:sp>
        <p:nvSpPr>
          <p:cNvPr id="5" name="文本框 4">
            <a:extLst>
              <a:ext uri="{FF2B5EF4-FFF2-40B4-BE49-F238E27FC236}">
                <a16:creationId xmlns:a16="http://schemas.microsoft.com/office/drawing/2014/main" id="{7F280935-7CBB-B86E-2AA2-74853F4003A5}"/>
              </a:ext>
            </a:extLst>
          </p:cNvPr>
          <p:cNvSpPr txBox="1"/>
          <p:nvPr/>
        </p:nvSpPr>
        <p:spPr>
          <a:xfrm>
            <a:off x="53622" y="874126"/>
            <a:ext cx="2841978" cy="338554"/>
          </a:xfrm>
          <a:prstGeom prst="rect">
            <a:avLst/>
          </a:prstGeom>
          <a:noFill/>
        </p:spPr>
        <p:txBody>
          <a:bodyPr wrap="square" lIns="0" tIns="0" rIns="0" bIns="0">
            <a:noAutofit/>
          </a:bodyPr>
          <a:lstStyle/>
          <a:p>
            <a:pPr marL="342900" indent="-342900">
              <a:buFont typeface="Wingdings" panose="05000000000000000000" pitchFamily="2" charset="2"/>
              <a:buChar char="l"/>
            </a:pPr>
            <a:r>
              <a:rPr lang="en-US" altLang="en-US" sz="1600" dirty="0">
                <a:solidFill>
                  <a:srgbClr val="16754D"/>
                </a:solidFill>
                <a:latin typeface="Arial" panose="020B0604020202020204" pitchFamily="34" charset="0"/>
                <a:ea typeface="Arial" panose="02010609060101010101" pitchFamily="49" charset="-122"/>
                <a:cs typeface="Arial" panose="02020603050405020304" pitchFamily="18" charset="0"/>
              </a:rPr>
              <a:t>Optimization objective</a:t>
            </a:r>
          </a:p>
        </p:txBody>
      </p:sp>
      <p:sp xmlns:a14="http://schemas.microsoft.com/office/drawing/2010/main">
        <p:nvSpPr>
          <p:cNvPr id="3" name="矩形 2">
            <a:extLst>
              <a:ext uri="{FF2B5EF4-FFF2-40B4-BE49-F238E27FC236}">
                <a16:creationId xmlns:a16="http://schemas.microsoft.com/office/drawing/2014/main" id="{F1EF83B2-ABB4-146C-D404-7C08335B75B0}"/>
              </a:ext>
            </a:extLst>
          </p:cNvPr>
          <p:cNvSpPr/>
          <p:nvPr/>
        </p:nvSpPr>
        <p:spPr>
          <a:xfrm>
            <a:off x="320634" y="1647578"/>
            <a:ext cx="8665711" cy="4114268"/>
          </a:xfrm>
          <a:prstGeom prst="rect">
            <a:avLst/>
          </a:prstGeom>
          <a:ln>
            <a:noFill/>
          </a:ln>
        </p:spPr>
        <p:txBody>
          <a:bodyPr wrap="square" lIns="0" tIns="0" rIns="0" bIns="0">
            <a:noAutofit/>
          </a:bodyPr>
          <a:lstStyle/>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AdaBoost minimizes the following exponential loss:</a:t>
            </a: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up>
                      </m:s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𝑀</m:t>
                                  </m:r>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en-US"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𝛼</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e>
                              </m:nary>
                            </m:sup>
                          </m:sSup>
                        </m:e>
                      </m:nary>
                    </m:e>
                  </m:nary>
                </m:oMath>
              </m:oMathPara>
            </a14:m>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zh-CN" sz="1600" i="0" u="none" strike="noStrike" kern="1200" cap="none" spc="0" normalizeH="0" noProof="0" dirty="0">
                <a:ln>
                  <a:noFill/>
                </a:ln>
                <a:solidFill>
                  <a:srgbClr val="FF0000"/>
                </a:solidFill>
                <a:effectLst/>
                <a:uLnTx/>
                <a:uFillTx/>
                <a:latin typeface="Arial" panose="020B0604020202020204" pitchFamily="34" charset="0"/>
                <a:ea typeface="Arial" panose="02010609060101010101" pitchFamily="49" charset="-122"/>
                <a:cs typeface="Arial" panose="02020603050405020304" pitchFamily="18" charset="0"/>
              </a:rPr>
              <a:t>The upper bound on AdaBoost's classification error is:</a:t>
            </a: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den>
                  </m:f>
                  <m:nary>
                    <m:naryPr>
                      <m:chr m:val="∑"/>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naryPr>
                    <m:sub>
                      <m:r>
                        <m:rPr>
                          <m:brk m:alnAt="23"/>
                        </m:rP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1</m:t>
                      </m:r>
                    </m:sub>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𝑁</m:t>
                      </m:r>
                    </m:sup>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𝐼</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d>
                            <m:d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Sub>
                        </m:e>
                      </m:d>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f>
                        <m:f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fPr>
                        <m:num>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1</m:t>
                          </m:r>
                        </m:num>
                        <m:den>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𝑁</m:t>
                          </m:r>
                        </m:den>
                      </m:f>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𝑖</m:t>
                          </m:r>
                        </m:sub>
                        <m:sup/>
                        <m:e>
                          <m:sSup>
                            <m:sSup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p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𝑒</m:t>
                              </m:r>
                            </m:e>
                            <m:sup>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m:t>
                              </m:r>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𝑦</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d>
                                <m:d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sSub>
                                    <m:sSubPr>
                                      <m:ctrlPr>
                                        <a:rPr kumimoji="0" lang="en-US" altLang="zh-CN" sz="1600" i="1" u="none" strike="noStrike" kern="1200" cap="none" spc="0" normalizeH="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𝑥</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𝑖</m:t>
                                      </m:r>
                                    </m:sub>
                                  </m:sSub>
                                </m:e>
                              </m:d>
                            </m:sup>
                          </m:sSup>
                        </m:e>
                      </m:nary>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m:t>
                      </m:r>
                      <m:nary>
                        <m:naryPr>
                          <m:chr m:val="∏"/>
                          <m:supHide m:val="on"/>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naryPr>
                        <m:sub>
                          <m:r>
                            <m:rPr>
                              <m:brk m:alnAt="7"/>
                            </m:rP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𝑚</m:t>
                          </m:r>
                        </m:sub>
                        <m:sup/>
                        <m:e>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𝑍</m:t>
                              </m:r>
                            </m:e>
                            <m:sub>
                              <m:r>
                                <a:rPr kumimoji="0" lang="en-US" altLang="zh-CN" sz="1600" b="0" i="1" u="none" strike="noStrike" kern="1200" cap="none" spc="0" normalizeH="0" noProof="0" smtClean="0">
                                  <a:ln>
                                    <a:noFill/>
                                  </a:ln>
                                  <a:solidFill>
                                    <a:prstClr val="black"/>
                                  </a:solidFill>
                                  <a:effectLst/>
                                  <a:uLnTx/>
                                  <a:uFillTx/>
                                  <a:latin typeface="Arial"/>
                                  <a:ea typeface="Arial"/>
                                  <a:cs typeface="Arial" panose="02020603050405020304" pitchFamily="18" charset="0"/>
                                </a:rPr>
                                <m:t>𝑚</m:t>
                              </m:r>
                            </m:sub>
                          </m:sSub>
                        </m:e>
                      </m:nary>
                    </m:e>
                  </m:nary>
                </m:oMath>
              </m:oMathPara>
            </a14:m>
            <a:endParaRPr lang="en-US" altLang="zh-CN" sz="1600" dirty="0">
              <a:solidFill>
                <a:prstClr val="black"/>
              </a:solidFill>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endParaRPr kumimoji="0" lang="en-US" altLang="zh-CN"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endParaRPr>
          </a:p>
          <a:p>
            <a:pPr marL="0" marR="0" lvl="2" algn="l" defTabSz="914400" rtl="0" eaLnBrk="1" fontAlgn="auto" latinLnBrk="0" hangingPunct="1">
              <a:lnSpc>
                <a:spcPct val="120000"/>
              </a:lnSpc>
              <a:spcBef>
                <a:spcPts val="0"/>
              </a:spcBef>
              <a:spcAft>
                <a:spcPts val="0"/>
              </a:spcAft>
              <a:buClrTx/>
              <a:buSzTx/>
              <a:tabLst/>
              <a:defRPr sz="1600" lang="en-US">
                <a:latin typeface="Arial"/>
                <a:ea typeface="Arial"/>
                <a:cs typeface="Arial"/>
              </a:defRPr>
            </a:pPr>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iteration </a:t>
            </a:r>
            <a14:m>
              <m:oMath xmlns:m="http://schemas.openxmlformats.org/officeDocument/2006/math">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AdaBoost tends to select the lowest-error model as the weak classifier </a:t>
            </a:r>
            <a14:m>
              <m:oMath xmlns:m="http://schemas.openxmlformats.org/officeDocument/2006/math">
                <m:sSub>
                  <m:sSubPr>
                    <m:ctrlPr>
                      <a:rPr kumimoji="0" lang="en-US" altLang="zh-CN" sz="1600" i="1" u="none" strike="noStrike" kern="1200" cap="none" spc="0" normalizeH="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sSubPr>
                  <m:e>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𝐺</m:t>
                    </m:r>
                  </m:e>
                  <m:sub>
                    <m:r>
                      <a:rPr kumimoji="0" lang="en-US" altLang="zh-CN" sz="1600" b="0" i="1" u="none" strike="noStrike" kern="1200" cap="none" spc="0" normalizeH="0" noProof="0" smtClean="0">
                        <a:ln>
                          <a:noFill/>
                        </a:ln>
                        <a:solidFill>
                          <a:prstClr val="black"/>
                        </a:solidFill>
                        <a:effectLst/>
                        <a:uLnTx/>
                        <a:uFillTx/>
                        <a:latin typeface="Arial"/>
                        <a:ea typeface="Arial" panose="02010609060101010101" pitchFamily="49" charset="-122"/>
                        <a:cs typeface="Arial" panose="02020603050405020304" pitchFamily="18" charset="0"/>
                      </a:rPr>
                      <m:t>𝑚</m:t>
                    </m:r>
                  </m:sub>
                </m:sSub>
              </m:oMath>
            </a14:m>
            <a:r>
              <a:rPr kumimoji="0" lang="en-US" altLang="en-US" sz="1600" i="0" u="none" strike="noStrike" kern="1200" cap="none" spc="0" normalizeH="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rapidly reducing cumulative error.</a:t>
            </a:r>
          </a:p>
        </p:txBody>
      </p:sp>
    </p:spTree>
    <p:extLst>
      <p:ext uri="{BB962C8B-B14F-4D97-AF65-F5344CB8AC3E}">
        <p14:creationId xmlns:p14="http://schemas.microsoft.com/office/powerpoint/2010/main" val="215395643"/>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DE8A59-11D3-F516-0B95-46A30858FDF3}"/>
            </a:ext>
          </a:extLst>
        </p:cNvPr>
        <p:cNvGrpSpPr/>
        <p:nvPr/>
      </p:nvGrpSpPr>
      <p:grpSpPr>
        <a:xfrm>
          <a:off x="0" y="0"/>
          <a:ext cx="0" cy="0"/>
          <a:chOff x="0" y="0"/>
          <a:chExt cx="0" cy="0"/>
        </a:xfrm>
      </p:grpSpPr>
      <p:sp>
        <p:nvSpPr>
          <p:cNvPr id="2" name="标题 1">
            <a:extLst>
              <a:ext uri="{FF2B5EF4-FFF2-40B4-BE49-F238E27FC236}">
                <a16:creationId xmlns:a16="http://schemas.microsoft.com/office/drawing/2014/main" id="{D6E1F784-306F-78ED-4FA4-0227A146C542}"/>
              </a:ext>
            </a:extLst>
          </p:cNvPr>
          <p:cNvSpPr>
            <a:spLocks noGrp="1"/>
          </p:cNvSpPr>
          <p:nvPr>
            <p:ph type="title"/>
          </p:nvPr>
        </p:nvSpPr>
        <p:spPr/>
        <p:txBody>
          <a:bodyPr>
            <a:noAutofit/>
          </a:bodyPr>
          <a:lstStyle/>
          <a:p>
            <a:pPr algn="l"/>
            <a:r>
              <a:rPr lang="en-US" altLang="en-US" b="1" dirty="0" sz="1600">
                <a:latin typeface="Arial" panose="020B0604020202020204" pitchFamily="34" charset="0"/>
                <a:ea typeface="Arial" panose="02010609060101010101" pitchFamily="49" charset="-122"/>
                <a:sym typeface="Times New Roman" panose="02020603050405020304" pitchFamily="18" charset="0"/>
                <a:cs typeface="Arial"/>
              </a:rPr>
              <a:t>Contents</a:t>
            </a:r>
          </a:p>
        </p:txBody>
      </p:sp>
      <p:sp>
        <p:nvSpPr>
          <p:cNvPr id="7" name="矩形 6">
            <a:extLst>
              <a:ext uri="{FF2B5EF4-FFF2-40B4-BE49-F238E27FC236}">
                <a16:creationId xmlns:a16="http://schemas.microsoft.com/office/drawing/2014/main" id="{7530603A-F73B-2664-6218-49D151B36E26}"/>
              </a:ext>
            </a:extLst>
          </p:cNvPr>
          <p:cNvSpPr/>
          <p:nvPr/>
        </p:nvSpPr>
        <p:spPr>
          <a:xfrm>
            <a:off x="201168" y="5120640"/>
            <a:ext cx="8778240" cy="1691640"/>
          </a:xfrm>
          <a:prstGeom prst="rect">
            <a:avLst/>
          </a:prstGeom>
        </p:spPr>
        <p:txBody>
          <a:bodyPr wrap="square" lIns="0" tIns="0" rIns="0" bIns="0">
            <a:noAutofit/>
          </a:bodyPr>
          <a:lstStyle/>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[2] Hang Li, Machine Learning Methods, 2021, Tsinghua University Press. Ch. 1.7</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[3] Fei Wu, Introduction to Artificial Intelligence: Models and Algorithms, 2020, Higher Education Press.</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[1] Zhi-Hua Zhou, Machine Learning, 2016, Tsinghua University Press.</a:t>
            </a:r>
          </a:p>
          <a:p>
            <a:pPr defTabSz="1097280" fontAlgn="base">
              <a:spcBef>
                <a:spcPct val="0"/>
              </a:spcBef>
              <a:spcAft>
                <a:spcPct val="0"/>
              </a:spcAft>
              <a:buClr>
                <a:srgbClr val="0070C0"/>
              </a:buClr>
            </a:pPr>
            <a:r>
              <a:rPr lang="en-US" altLang="zh-CN" dirty="0" sz="1600">
                <a:solidFill>
                  <a:prstClr val="black"/>
                </a:solidFill>
                <a:latin typeface="Arial" panose="020B0604020202020204" pitchFamily="34" charset="0"/>
                <a:ea typeface="Arial" panose="02010609060101010101" pitchFamily="49" charset="-122"/>
                <a:cs typeface="Arial"/>
              </a:rPr>
              <a:t>[4] Zhi-Hua Zhou et al., An Introduction to Machine Learning Theory, 2020, China Machine Press.</a:t>
            </a:r>
          </a:p>
        </p:txBody>
      </p:sp>
      <p:sp>
        <p:nvSpPr>
          <p:cNvPr id="8" name="矩形 7">
            <a:extLst>
              <a:ext uri="{FF2B5EF4-FFF2-40B4-BE49-F238E27FC236}">
                <a16:creationId xmlns:a16="http://schemas.microsoft.com/office/drawing/2014/main" id="{8F6591AA-752E-3B3A-5A0E-1B6764CE7555}"/>
              </a:ext>
            </a:extLst>
          </p:cNvPr>
          <p:cNvSpPr>
            <a:spLocks noChangeArrowheads="1"/>
          </p:cNvSpPr>
          <p:nvPr/>
        </p:nvSpPr>
        <p:spPr bwMode="auto">
          <a:xfrm>
            <a:off x="233846" y="1505701"/>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2. Computational Learning Theory</a:t>
            </a:r>
          </a:p>
        </p:txBody>
      </p:sp>
      <p:sp>
        <p:nvSpPr>
          <p:cNvPr id="9" name="矩形 7">
            <a:extLst>
              <a:ext uri="{FF2B5EF4-FFF2-40B4-BE49-F238E27FC236}">
                <a16:creationId xmlns:a16="http://schemas.microsoft.com/office/drawing/2014/main" id="{EC6702FC-9B6A-B5B3-AD84-86D73BE90C0B}"/>
              </a:ext>
            </a:extLst>
          </p:cNvPr>
          <p:cNvSpPr>
            <a:spLocks noChangeArrowheads="1"/>
          </p:cNvSpPr>
          <p:nvPr/>
        </p:nvSpPr>
        <p:spPr bwMode="auto">
          <a:xfrm>
            <a:off x="233846" y="94130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r>
              <a:rPr kumimoji="0" lang="en-US" altLang="zh-CN" sz="1600" b="1" dirty="0">
                <a:solidFill>
                  <a:srgbClr val="C00000"/>
                </a:solidFill>
                <a:ea typeface="Arial" panose="02010609060101010101" pitchFamily="49" charset="-122"/>
                <a:latin typeface="Arial"/>
                <a:cs typeface="Arial"/>
              </a:rPr>
              <a:t>1. Basic Concepts of Machine Learning</a:t>
            </a:r>
          </a:p>
        </p:txBody>
      </p:sp>
      <p:sp>
        <p:nvSpPr>
          <p:cNvPr id="10" name="矩形 9">
            <a:extLst>
              <a:ext uri="{FF2B5EF4-FFF2-40B4-BE49-F238E27FC236}">
                <a16:creationId xmlns:a16="http://schemas.microsoft.com/office/drawing/2014/main" id="{E60BBBDD-274C-86EB-8DC2-9F7935A9BFA2}"/>
              </a:ext>
            </a:extLst>
          </p:cNvPr>
          <p:cNvSpPr>
            <a:spLocks noChangeArrowheads="1"/>
          </p:cNvSpPr>
          <p:nvPr/>
        </p:nvSpPr>
        <p:spPr bwMode="auto">
          <a:xfrm>
            <a:off x="233846" y="2634497"/>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4.</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Ada Boost*</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1" name="矩形 10">
            <a:extLst>
              <a:ext uri="{FF2B5EF4-FFF2-40B4-BE49-F238E27FC236}">
                <a16:creationId xmlns:a16="http://schemas.microsoft.com/office/drawing/2014/main" id="{B88311FB-0D26-ECC5-C948-D5079C64A19C}"/>
              </a:ext>
            </a:extLst>
          </p:cNvPr>
          <p:cNvSpPr>
            <a:spLocks noChangeArrowheads="1"/>
          </p:cNvSpPr>
          <p:nvPr/>
        </p:nvSpPr>
        <p:spPr bwMode="auto">
          <a:xfrm>
            <a:off x="233846" y="2070099"/>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3.</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Support vector machine</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12" name="矩形 11">
            <a:extLst>
              <a:ext uri="{FF2B5EF4-FFF2-40B4-BE49-F238E27FC236}">
                <a16:creationId xmlns:a16="http://schemas.microsoft.com/office/drawing/2014/main" id="{949B8ACD-1E02-9CE0-546E-0CE146FE862A}"/>
              </a:ext>
            </a:extLst>
          </p:cNvPr>
          <p:cNvSpPr>
            <a:spLocks noChangeArrowheads="1"/>
          </p:cNvSpPr>
          <p:nvPr/>
        </p:nvSpPr>
        <p:spPr bwMode="auto">
          <a:xfrm>
            <a:off x="233846" y="3198895"/>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00B0F0"/>
                </a:solidFill>
                <a:ea typeface="Arial" panose="02010609060101010101" pitchFamily="49" charset="-122"/>
                <a:sym typeface="Calibri" panose="020F0502020204030204" pitchFamily="34" charset="0"/>
                <a:latin typeface="Arial"/>
                <a:cs typeface="Arial"/>
              </a:rPr>
              <a:t>5. Generative Methods*</a:t>
            </a:r>
          </a:p>
        </p:txBody>
      </p:sp>
      <p:sp>
        <p:nvSpPr>
          <p:cNvPr id="3" name="矩形 2">
            <a:extLst>
              <a:ext uri="{FF2B5EF4-FFF2-40B4-BE49-F238E27FC236}">
                <a16:creationId xmlns:a16="http://schemas.microsoft.com/office/drawing/2014/main" id="{FDD2C42A-1288-A02E-91AA-12EA03915B3E}"/>
              </a:ext>
            </a:extLst>
          </p:cNvPr>
          <p:cNvSpPr>
            <a:spLocks noChangeArrowheads="1"/>
          </p:cNvSpPr>
          <p:nvPr/>
        </p:nvSpPr>
        <p:spPr bwMode="auto">
          <a:xfrm>
            <a:off x="233846" y="4327693"/>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7.</a:t>
            </a:r>
            <a:r>
              <a:rPr kumimoji="0" lang="en-US" altLang="en-US" sz="1600" b="1" dirty="0">
                <a:solidFill>
                  <a:srgbClr val="C00000"/>
                </a:solidFill>
                <a:ea typeface="Arial" panose="02010609060101010101" pitchFamily="49" charset="-122"/>
                <a:sym typeface="Calibri" panose="020F0502020204030204" pitchFamily="34" charset="0"/>
                <a:latin typeface="Arial"/>
                <a:cs typeface="Arial"/>
              </a:rPr>
              <a:t> </a:t>
            </a:r>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Expectation Maximization*</a:t>
            </a:r>
            <a:endParaRPr kumimoji="0" lang="en-US" altLang="en-US" sz="1600" b="1" dirty="0">
              <a:solidFill>
                <a:srgbClr val="C00000"/>
              </a:solidFill>
              <a:ea typeface="Arial" panose="02010609060101010101" pitchFamily="49" charset="-122"/>
              <a:sym typeface="Calibri" panose="020F0502020204030204" pitchFamily="34" charset="0"/>
              <a:latin typeface="Arial"/>
              <a:cs typeface="Arial"/>
            </a:endParaRPr>
          </a:p>
        </p:txBody>
      </p:sp>
      <p:sp>
        <p:nvSpPr>
          <p:cNvPr id="4" name="矩形 3">
            <a:extLst>
              <a:ext uri="{FF2B5EF4-FFF2-40B4-BE49-F238E27FC236}">
                <a16:creationId xmlns:a16="http://schemas.microsoft.com/office/drawing/2014/main" id="{1D3C445A-B495-E017-5F45-B0B087355B15}"/>
              </a:ext>
            </a:extLst>
          </p:cNvPr>
          <p:cNvSpPr>
            <a:spLocks noChangeArrowheads="1"/>
          </p:cNvSpPr>
          <p:nvPr/>
        </p:nvSpPr>
        <p:spPr bwMode="auto">
          <a:xfrm>
            <a:off x="233846" y="3763294"/>
            <a:ext cx="7200000" cy="430887"/>
          </a:xfrm>
          <a:prstGeom prst="rect">
            <a:avLst/>
          </a:prstGeom>
          <a:solidFill>
            <a:schemeClr val="bg1">
              <a:lumMod val="85000"/>
            </a:schemeClr>
          </a:solidFill>
          <a:ln>
            <a:noFill/>
          </a:ln>
        </p:spPr>
        <p:txBody>
          <a:bodyPr wrap="square" lIns="36000" tIns="0" rIns="36000" bIns="0" anchor="ctr">
            <a:noAutofit/>
          </a:bodyPr>
          <a:lstStyle>
            <a:lvl1pPr>
              <a:defRPr kumimoji="1" sz="1600" lang="en-US">
                <a:solidFill>
                  <a:schemeClr val="tx1"/>
                </a:solidFill>
                <a:latin typeface="Arial" panose="020B0604020202020204" pitchFamily="34" charset="0"/>
                <a:ea typeface="Arial" panose="02010600030101010101" pitchFamily="2" charset="-122"/>
                <a:cs typeface="Arial"/>
              </a:defRPr>
            </a:lvl1pPr>
            <a:lvl2pPr marL="742950" indent="-285750">
              <a:defRPr kumimoji="1" sz="1600" lang="en-US">
                <a:solidFill>
                  <a:schemeClr val="tx1"/>
                </a:solidFill>
                <a:latin typeface="Arial" panose="020B0604020202020204" pitchFamily="34" charset="0"/>
                <a:ea typeface="Arial" panose="02010600030101010101" pitchFamily="2" charset="-122"/>
                <a:cs typeface="Arial"/>
              </a:defRPr>
            </a:lvl2pPr>
            <a:lvl3pPr marL="1143000" indent="-228600">
              <a:defRPr kumimoji="1" sz="1600" lang="en-US">
                <a:solidFill>
                  <a:schemeClr val="tx1"/>
                </a:solidFill>
                <a:latin typeface="Arial" panose="020B0604020202020204" pitchFamily="34" charset="0"/>
                <a:ea typeface="Arial" panose="02010600030101010101" pitchFamily="2" charset="-122"/>
                <a:cs typeface="Arial"/>
              </a:defRPr>
            </a:lvl3pPr>
            <a:lvl4pPr marL="1600200" indent="-228600">
              <a:defRPr kumimoji="1" sz="1600" lang="en-US">
                <a:solidFill>
                  <a:schemeClr val="tx1"/>
                </a:solidFill>
                <a:latin typeface="Arial" panose="020B0604020202020204" pitchFamily="34" charset="0"/>
                <a:ea typeface="Arial" panose="02010600030101010101" pitchFamily="2" charset="-122"/>
                <a:cs typeface="Arial"/>
              </a:defRPr>
            </a:lvl4pPr>
            <a:lvl5pPr marL="2057400" indent="-228600">
              <a:defRPr kumimoji="1" sz="1600" lang="en-US">
                <a:solidFill>
                  <a:schemeClr val="tx1"/>
                </a:solidFill>
                <a:latin typeface="Arial" panose="020B0604020202020204" pitchFamily="34" charset="0"/>
                <a:ea typeface="Arial" panose="02010600030101010101" pitchFamily="2" charset="-122"/>
                <a:cs typeface="Arial"/>
              </a:defRPr>
            </a:lvl5pPr>
            <a:lvl6pPr marL="25146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6pPr>
            <a:lvl7pPr marL="29718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7pPr>
            <a:lvl8pPr marL="34290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8pPr>
            <a:lvl9pPr marL="3886200" indent="-228600" fontAlgn="base">
              <a:spcBef>
                <a:spcPct val="0"/>
              </a:spcBef>
              <a:spcAft>
                <a:spcPct val="0"/>
              </a:spcAft>
              <a:buFont typeface="Arial" panose="020B0604020202020204" pitchFamily="34" charset="0"/>
              <a:defRPr kumimoji="1" sz="1600" lang="en-US">
                <a:solidFill>
                  <a:schemeClr val="tx1"/>
                </a:solidFill>
                <a:latin typeface="Arial" panose="020B0604020202020204" pitchFamily="34" charset="0"/>
                <a:ea typeface="Arial" panose="02010600030101010101" pitchFamily="2" charset="-122"/>
                <a:cs typeface="Arial"/>
              </a:defRPr>
            </a:lvl9pPr>
          </a:lstStyle>
          <a:p>
            <a:pPr eaLnBrk="1" hangingPunct="1"/>
            <a:r>
              <a:rPr kumimoji="0" lang="en-US" altLang="zh-CN" sz="1600" b="1" dirty="0">
                <a:solidFill>
                  <a:srgbClr val="C00000"/>
                </a:solidFill>
                <a:ea typeface="Arial" panose="02010609060101010101" pitchFamily="49" charset="-122"/>
                <a:sym typeface="Calibri" panose="020F0502020204030204" pitchFamily="34" charset="0"/>
                <a:latin typeface="Arial"/>
                <a:cs typeface="Arial"/>
              </a:rPr>
              <a:t>6. Principal Component Analysis*</a:t>
            </a:r>
          </a:p>
        </p:txBody>
      </p:sp>
    </p:spTree>
    <p:extLst>
      <p:ext uri="{BB962C8B-B14F-4D97-AF65-F5344CB8AC3E}">
        <p14:creationId xmlns:p14="http://schemas.microsoft.com/office/powerpoint/2010/main" val="2046700748"/>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nvSpPr>
        <p:spPr>
          <a:xfrm>
            <a:off x="320634" y="1161580"/>
            <a:ext cx="8383980" cy="1163652"/>
          </a:xfrm>
          <a:prstGeom prst="rect">
            <a:avLst/>
          </a:prstGeom>
        </p:spPr>
        <p:txBody>
          <a:bodyPr wrap="square">
            <a:noAutofit/>
          </a:bodyPr>
          <a:lstStyle/>
          <a:p>
            <a:pPr marL="0" marR="0" lvl="0" indent="0" algn="just" defTabSz="914400" rtl="0" eaLnBrk="1" fontAlgn="auto" latinLnBrk="0" hangingPunct="1">
              <a:lnSpc>
                <a:spcPct val="12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Supervised learning includes generative and discriminative approaches, producing generative and discriminative models, respectively.</a:t>
            </a:r>
          </a:p>
        </p:txBody>
      </p:sp>
      <p:sp xmlns:a14="http://schemas.microsoft.com/office/drawing/2010/main">
        <p:nvSpPr>
          <p:cNvPr id="10" name="矩形 9"/>
          <p:cNvSpPr/>
          <p:nvPr/>
        </p:nvSpPr>
        <p:spPr>
          <a:xfrm>
            <a:off x="362033" y="2847688"/>
            <a:ext cx="5314209" cy="2638415"/>
          </a:xfrm>
          <a:prstGeom prst="rect">
            <a:avLst/>
          </a:prstGeom>
          <a:ln>
            <a:solidFill>
              <a:srgbClr val="C00000"/>
            </a:solidFill>
          </a:ln>
        </p:spPr>
        <p:txBody>
          <a:bodyPr wrap="square">
            <a:noAutofit/>
          </a:bodyPr>
          <a:lstStyle/>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Discriminative methods directly learn a decision function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𝑓</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a conditional probability distribution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for prediction.</a:t>
            </a:r>
          </a:p>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Given an input, a discriminative model predicts its output.</a:t>
            </a:r>
          </a:p>
          <a:p>
            <a:pPr marL="288000" marR="0" lvl="0" indent="-288000" algn="l" defTabSz="914400" rtl="0" eaLnBrk="1" fontAlgn="auto" latinLnBrk="0" hangingPunct="1">
              <a:lnSpc>
                <a:spcPct val="110000"/>
              </a:lnSpc>
              <a:spcBef>
                <a:spcPts val="8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Examples include decision trees, SVMs, AdaBoost, and neural networks for classification and regression.</a:t>
            </a:r>
          </a:p>
        </p:txBody>
      </p:sp>
      <p:grpSp>
        <p:nvGrpSpPr>
          <p:cNvPr id="19" name="组合 18"/>
          <p:cNvGrpSpPr/>
          <p:nvPr/>
        </p:nvGrpSpPr>
        <p:grpSpPr>
          <a:xfrm>
            <a:off x="5887860" y="3035648"/>
            <a:ext cx="2728660" cy="1029709"/>
            <a:chOff x="5887859" y="2276736"/>
            <a:chExt cx="2728660" cy="772282"/>
          </a:xfrm>
        </p:grpSpPr>
        <p:sp xmlns:a14="http://schemas.microsoft.com/office/drawing/2010/main">
          <p:nvSpPr>
            <p:cNvPr id="12" name="TextBox 11"/>
            <p:cNvSpPr txBox="1"/>
            <p:nvPr/>
          </p:nvSpPr>
          <p:spPr>
            <a:xfrm>
              <a:off x="5887859" y="2524378"/>
              <a:ext cx="1436612" cy="27699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𝒇</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m:t>
                    </m:r>
                  </m:oMath>
                </m:oMathPara>
              </a14:m>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pic>
          <p:nvPicPr>
            <p:cNvPr id="5123" name="Picture 3"/>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311095" y="2276736"/>
              <a:ext cx="654142" cy="7722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cxnSp>
          <p:nvCxnSpPr>
            <p:cNvPr id="17" name="直接箭头连接符 16"/>
            <p:cNvCxnSpPr>
              <a:cxnSpLocks/>
              <a:stCxn id="12" idx="3"/>
              <a:endCxn id="18" idx="1"/>
            </p:cNvCxnSpPr>
            <p:nvPr/>
          </p:nvCxnSpPr>
          <p:spPr>
            <a:xfrm>
              <a:off x="7324471" y="2662877"/>
              <a:ext cx="594421" cy="0"/>
            </a:xfrm>
            <a:prstGeom prst="straightConnector1">
              <a:avLst/>
            </a:prstGeom>
            <a:ln>
              <a:tailEnd type="arrow"/>
            </a:ln>
          </p:spPr>
          <p:style>
            <a:lnRef idx="1">
              <a:schemeClr val="accent1"/>
            </a:lnRef>
            <a:fillRef idx="0">
              <a:schemeClr val="accent1"/>
            </a:fillRef>
            <a:effectRef idx="0">
              <a:schemeClr val="accent1"/>
            </a:effectRef>
            <a:fontRef idx="minor">
              <a:schemeClr val="tx1"/>
            </a:fontRef>
          </p:style>
        </p:cxnSp>
        <p:sp>
          <p:nvSpPr>
            <p:cNvPr id="18" name="矩形 17"/>
            <p:cNvSpPr/>
            <p:nvPr/>
          </p:nvSpPr>
          <p:spPr>
            <a:xfrm>
              <a:off x="7918892" y="2512835"/>
              <a:ext cx="697627" cy="300083"/>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rPr>
                <a:t>Face</a:t>
              </a:r>
            </a:p>
          </p:txBody>
        </p:sp>
      </p:grpSp>
      <p:grpSp>
        <p:nvGrpSpPr>
          <p:cNvPr id="28" name="组合 27"/>
          <p:cNvGrpSpPr/>
          <p:nvPr/>
        </p:nvGrpSpPr>
        <p:grpSpPr>
          <a:xfrm>
            <a:off x="5887860" y="4710744"/>
            <a:ext cx="2816754" cy="884275"/>
            <a:chOff x="5946665" y="2384479"/>
            <a:chExt cx="2816754" cy="663206"/>
          </a:xfrm>
        </p:grpSpPr>
        <p:sp xmlns:a14="http://schemas.microsoft.com/office/drawing/2010/main">
          <p:nvSpPr>
            <p:cNvPr id="29" name="TextBox 28"/>
            <p:cNvSpPr txBox="1"/>
            <p:nvPr/>
          </p:nvSpPr>
          <p:spPr>
            <a:xfrm>
              <a:off x="5946665" y="2560003"/>
              <a:ext cx="2154756" cy="276999"/>
            </a:xfrm>
            <a:prstGeom prst="rect">
              <a:avLst/>
            </a:prstGeom>
            <a:noFill/>
          </p:spPr>
          <p:txBody>
            <a:bodyPr wrap="none"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𝑷</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m:t>
                    </m:r>
                    <m:r>
                      <a:rPr kumimoji="0" lang="en-US" altLang="en-US" sz="1600" b="1" i="1" u="none" strike="noStrike" kern="1200" cap="none" spc="0" normalizeH="0" baseline="0" noProof="0">
                        <a:ln>
                          <a:noFill/>
                        </a:ln>
                        <a:solidFill>
                          <a:prstClr val="black"/>
                        </a:solidFill>
                        <a:effectLst/>
                        <a:uLnTx/>
                        <a:uFillTx/>
                        <a:latin typeface="Arial"/>
                        <a:ea typeface="Arial" pitchFamily="49" charset="-122"/>
                        <a:cs typeface="Arial"/>
                      </a:rPr>
                      <m:t>Face</m:t>
                    </m:r>
                    <m:r>
                      <a:rPr kumimoji="0" lang="en-US" altLang="zh-CN" sz="1600" b="1" i="1" u="none" strike="noStrike" kern="1200" cap="none" spc="0" normalizeH="0" baseline="0" noProof="0" smtClean="0">
                        <a:ln>
                          <a:noFill/>
                        </a:ln>
                        <a:solidFill>
                          <a:prstClr val="black"/>
                        </a:solidFill>
                        <a:effectLst/>
                        <a:uLnTx/>
                        <a:uFillTx/>
                        <a:latin typeface="Arial"/>
                        <a:ea typeface="Arial" pitchFamily="49" charset="-122"/>
                        <a:cs typeface="Arial"/>
                      </a:rPr>
                      <m:t> |                )</m:t>
                    </m:r>
                  </m:oMath>
                </m:oMathPara>
              </a14:m>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pic>
          <p:nvPicPr>
            <p:cNvPr id="30" name="Picture 3"/>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7175389" y="2384479"/>
              <a:ext cx="561752" cy="66320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32" name="矩形 31"/>
            <p:cNvSpPr/>
            <p:nvPr/>
          </p:nvSpPr>
          <p:spPr>
            <a:xfrm>
              <a:off x="7985642" y="2568190"/>
              <a:ext cx="777777" cy="300082"/>
            </a:xfrm>
            <a:prstGeom prst="rect">
              <a:avLst/>
            </a:prstGeom>
          </p:spPr>
          <p:txBody>
            <a:bodyPr wrap="none">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rPr>
                <a:t>=0.99</a:t>
              </a:r>
              <a:endParaRPr kumimoji="0" lang="en-US" altLang="en-US" sz="1600" b="1" i="0" u="none" strike="noStrike" kern="1200" cap="none" spc="0" normalizeH="0" baseline="0" noProof="0" dirty="0">
                <a:ln>
                  <a:noFill/>
                </a:ln>
                <a:solidFill>
                  <a:prstClr val="black"/>
                </a:solidFill>
                <a:effectLst/>
                <a:uLnTx/>
                <a:uFillTx/>
                <a:latin typeface="Arial" panose="02020603050405020304" pitchFamily="18" charset="0"/>
                <a:ea typeface="Arial" panose="02010609060101010101" pitchFamily="49" charset="-122"/>
                <a:cs typeface="Arial" panose="02020603050405020304" pitchFamily="18" charset="0"/>
              </a:endParaRPr>
            </a:p>
          </p:txBody>
        </p:sp>
      </p:grpSp>
      <p:sp>
        <p:nvSpPr>
          <p:cNvPr id="3" name="标题 2">
            <a:extLst>
              <a:ext uri="{FF2B5EF4-FFF2-40B4-BE49-F238E27FC236}">
                <a16:creationId xmlns:a16="http://schemas.microsoft.com/office/drawing/2014/main" id="{060C3C24-BDD7-442D-56DB-5B96B2AD2512}"/>
              </a:ext>
            </a:extLst>
          </p:cNvPr>
          <p:cNvSpPr>
            <a:spLocks noGrp="1"/>
          </p:cNvSpPr>
          <p:nvPr>
            <p:ph type="title"/>
          </p:nvPr>
        </p:nvSpPr>
        <p:spPr/>
        <p:txBody>
          <a:bodyPr>
            <a:noAutofit/>
          </a:bodyPr>
          <a:lstStyle/>
          <a:p>
            <a:r>
              <a:rPr lang="en-US" altLang="en-US" dirty="0" sz="1600">
                <a:latin typeface="Arial"/>
                <a:ea typeface="Arial"/>
                <a:cs typeface="Arial"/>
              </a:rPr>
              <a:t>Generative vs. Discriminative Methods</a:t>
            </a:r>
          </a:p>
        </p:txBody>
      </p:sp>
    </p:spTree>
    <p:extLst>
      <p:ext uri="{BB962C8B-B14F-4D97-AF65-F5344CB8AC3E}">
        <p14:creationId xmlns:p14="http://schemas.microsoft.com/office/powerpoint/2010/main" val="895793482"/>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xmlns:a14="http://schemas.microsoft.com/office/drawing/2010/main">
        <p:nvSpPr>
          <p:cNvPr id="10" name="矩形 9"/>
          <p:cNvSpPr/>
          <p:nvPr/>
        </p:nvSpPr>
        <p:spPr>
          <a:xfrm>
            <a:off x="48168" y="3553933"/>
            <a:ext cx="6320359" cy="2357056"/>
          </a:xfrm>
          <a:prstGeom prst="rect">
            <a:avLst/>
          </a:prstGeom>
          <a:ln>
            <a:solidFill>
              <a:srgbClr val="C00000"/>
            </a:solidFill>
          </a:ln>
        </p:spPr>
        <p:txBody>
          <a:bodyPr wrap="square" lIns="36000" tIns="0" rIns="0" bIns="0">
            <a:noAutofit/>
          </a:bodyPr>
          <a:lstStyle/>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Generative models learn the joint distribution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from data, using the product of likelihood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and class probability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 </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num>
                  <m:den>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den>
                </m:f>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𝑃</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𝑌</m:t>
                    </m:r>
                    <m:r>
                      <a:rPr kumimoji="0" lang="en-US" altLang="zh-CN" sz="1600" b="0" i="1" u="none" strike="noStrike" kern="1200" cap="none" spc="0" normalizeH="0" baseline="0" noProof="0" smtClean="0">
                        <a:ln>
                          <a:noFill/>
                        </a:ln>
                        <a:solidFill>
                          <a:prstClr val="black"/>
                        </a:solidFill>
                        <a:effectLst/>
                        <a:uLnTx/>
                        <a:uFillTx/>
                        <a:latin typeface="Arial"/>
                        <a:ea typeface="Arial"/>
                        <a:cs typeface="Arial" panose="02020603050405020304" pitchFamily="18" charset="0"/>
                      </a:rPr>
                      <m:t>)</m:t>
                    </m:r>
                  </m:num>
                  <m:den>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den>
                </m:f>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The joint distribution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e>
                </m:d>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or likelihood </a:t>
            </a:r>
            <a14:m>
              <m:oMath xmlns:m="http://schemas.openxmlformats.org/officeDocument/2006/math">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oMath>
            </a14:m>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can be difficult to compute.</a:t>
            </a:r>
          </a:p>
          <a:p>
            <a:pPr marL="288000" marR="0" lvl="0" indent="-288000" algn="l" defTabSz="914400" rtl="0" eaLnBrk="1" fontAlgn="auto" latinLnBrk="0" hangingPunct="1">
              <a:lnSpc>
                <a:spcPct val="110000"/>
              </a:lnSpc>
              <a:spcBef>
                <a:spcPts val="600"/>
              </a:spcBef>
              <a:spcAft>
                <a:spcPts val="0"/>
              </a:spcAft>
              <a:buClrTx/>
              <a:buSzTx/>
              <a:buFont typeface="Arial" panose="020B0604020202020204" pitchFamily="34" charset="0"/>
              <a:buChar char="•"/>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Examples include Bayesian methods, hidden Markov models, and latent Dirichlet allocation (LDA).</a:t>
            </a:r>
          </a:p>
        </p:txBody>
      </p:sp>
      <p:sp xmlns:a14="http://schemas.microsoft.com/office/drawing/2010/main">
        <p:nvSpPr>
          <p:cNvPr id="2" name="矩形 1"/>
          <p:cNvSpPr/>
          <p:nvPr/>
        </p:nvSpPr>
        <p:spPr>
          <a:xfrm>
            <a:off x="6420172" y="5577824"/>
            <a:ext cx="2539541" cy="576761"/>
          </a:xfrm>
          <a:prstGeom prst="rect">
            <a:avLst/>
          </a:prstGeom>
        </p:spPr>
        <p:txBody>
          <a:bodyPr wrap="non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14:m>
              <m:oMathPara xmlns:m="http://schemas.openxmlformats.org/officeDocument/2006/math">
                <m:oMathParaPr>
                  <m:jc m:val="centerGroup"/>
                </m:oMathParaPr>
                <m:o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𝑃</m:t>
                  </m:r>
                  <m:d>
                    <m:d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dPr>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𝑌</m:t>
                      </m:r>
                    </m:e>
                    <m:e>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e>
                  </m:d>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f>
                    <m:fPr>
                      <m:ctrlPr>
                        <a:rPr kumimoji="0" lang="en-US" altLang="zh-CN" sz="1600" b="0" i="1" u="none" strike="noStrike" kern="1200" cap="none" spc="0" normalizeH="0" baseline="0" noProof="0">
                          <a:ln>
                            <a:noFill/>
                          </a:ln>
                          <a:solidFill>
                            <a:prstClr val="black"/>
                          </a:solidFill>
                          <a:effectLst/>
                          <a:uLnTx/>
                          <a:uFillTx/>
                          <a:latin typeface="Arial" panose="02040503050406030204" pitchFamily="18" charset="0"/>
                          <a:ea typeface="Arial" panose="02010609060101010101" pitchFamily="49" charset="-122"/>
                          <a:cs typeface="Arial" panose="02020603050405020304" pitchFamily="18" charset="0"/>
                        </a:rPr>
                      </m:ctrlPr>
                    </m:fPr>
                    <m:num>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𝑌</m:t>
                      </m:r>
                      <m:r>
                        <a:rPr kumimoji="0" lang="en-US" altLang="zh-CN" sz="1600" b="0" i="1" u="none" strike="noStrike" kern="1200" cap="none" spc="0" normalizeH="0" baseline="0" noProof="0">
                          <a:ln>
                            <a:noFill/>
                          </a:ln>
                          <a:solidFill>
                            <a:prstClr val="black"/>
                          </a:solidFill>
                          <a:effectLst/>
                          <a:uLnTx/>
                          <a:uFillTx/>
                          <a:latin typeface="Arial"/>
                          <a:ea typeface="Arial"/>
                          <a:cs typeface="Arial" panose="02020603050405020304" pitchFamily="18" charset="0"/>
                        </a:rPr>
                        <m:t>)</m:t>
                      </m:r>
                    </m:num>
                    <m:den>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𝑃</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𝑋</m:t>
                      </m:r>
                      <m:r>
                        <a:rPr kumimoji="0" lang="en-US" altLang="zh-CN" sz="1600" b="0" i="1" u="none" strike="noStrike" kern="1200" cap="none" spc="0" normalizeH="0" baseline="0" noProof="0">
                          <a:ln>
                            <a:noFill/>
                          </a:ln>
                          <a:solidFill>
                            <a:prstClr val="black"/>
                          </a:solidFill>
                          <a:effectLst/>
                          <a:uLnTx/>
                          <a:uFillTx/>
                          <a:latin typeface="Arial"/>
                          <a:ea typeface="Arial" panose="02010609060101010101" pitchFamily="49" charset="-122"/>
                          <a:cs typeface="Arial" panose="02020603050405020304" pitchFamily="18" charset="0"/>
                        </a:rPr>
                        <m:t>)</m:t>
                      </m:r>
                    </m:den>
                  </m:f>
                </m:oMath>
              </m:oMathPara>
            </a14:m>
            <a:endParaRPr kumimoji="0" lang="en-US" altLang="en-US" sz="1600" b="0" i="0" u="none" strike="noStrike" kern="1200" cap="none" spc="0" normalizeH="0" baseline="0" noProof="0" dirty="0">
              <a:ln>
                <a:noFill/>
              </a:ln>
              <a:solidFill>
                <a:prstClr val="black"/>
              </a:solidFill>
              <a:effectLst/>
              <a:uLnTx/>
              <a:uFillTx/>
              <a:latin typeface="Arial"/>
              <a:ea typeface="Arial"/>
              <a:cs typeface="Arial"/>
            </a:endParaRPr>
          </a:p>
        </p:txBody>
      </p:sp>
      <p:sp xmlns:a14="http://schemas.microsoft.com/office/drawing/2010/main">
        <p:nvSpPr>
          <p:cNvPr id="3" name="椭圆形标注 2"/>
          <p:cNvSpPr/>
          <p:nvPr/>
        </p:nvSpPr>
        <p:spPr>
          <a:xfrm>
            <a:off x="6529892" y="3674516"/>
            <a:ext cx="2429821" cy="1260086"/>
          </a:xfrm>
          <a:prstGeom prst="wedgeEllipseCallout">
            <a:avLst>
              <a:gd name="adj1" fmla="val 3572"/>
              <a:gd name="adj2" fmla="val 100754"/>
            </a:avLst>
          </a:prstGeom>
        </p:spPr>
        <p:style>
          <a:lnRef idx="2">
            <a:schemeClr val="accent1"/>
          </a:lnRef>
          <a:fillRef idx="1">
            <a:schemeClr val="lt1"/>
          </a:fillRef>
          <a:effectRef idx="0">
            <a:schemeClr val="accent1"/>
          </a:effectRef>
          <a:fontRef idx="minor">
            <a:schemeClr val="dk1"/>
          </a:fontRef>
        </p:style>
        <p:txBody>
          <a:bodyPr lIns="0" tIns="0" rIns="0" bIns="0"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pitchFamily="49" charset="-122"/>
                <a:cs typeface="Arial"/>
              </a:rPr>
              <a:t>Likelihood: evaluate model parameter values that could generate sample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a:ea typeface="Arial" panose="02010609060101010101" pitchFamily="49" charset="-122"/>
                    <a:cs typeface="Arial" panose="02020603050405020304" pitchFamily="18" charset="0"/>
                  </a:rPr>
                  <m:t>𝑋</m:t>
                </m:r>
              </m:oMath>
            </a14:m>
            <a:r>
              <a:rPr kumimoji="0" lang="en-US" altLang="en-US" sz="1600" b="0" i="0" u="none" strike="noStrike" kern="1200" cap="none" spc="0" normalizeH="0" baseline="0" noProof="0" dirty="0">
                <a:ln>
                  <a:noFill/>
                </a:ln>
                <a:solidFill>
                  <a:prstClr val="black"/>
                </a:solidFill>
                <a:effectLst/>
                <a:uLnTx/>
                <a:uFillTx/>
                <a:latin typeface="Arial"/>
                <a:ea typeface="Arial" pitchFamily="49" charset="-122"/>
                <a:cs typeface="Arial"/>
              </a:rPr>
              <a:t>.</a:t>
            </a:r>
          </a:p>
        </p:txBody>
      </p:sp>
      <p:sp xmlns:a14="http://schemas.microsoft.com/office/drawing/2010/main">
        <p:nvSpPr>
          <p:cNvPr id="4" name="文本框 3">
            <a:extLst>
              <a:ext uri="{FF2B5EF4-FFF2-40B4-BE49-F238E27FC236}">
                <a16:creationId xmlns:a16="http://schemas.microsoft.com/office/drawing/2014/main" id="{FE92E3BC-B210-9219-71C0-FB0573F23C2C}"/>
              </a:ext>
            </a:extLst>
          </p:cNvPr>
          <p:cNvSpPr txBox="1"/>
          <p:nvPr/>
        </p:nvSpPr>
        <p:spPr>
          <a:xfrm>
            <a:off x="94177" y="893373"/>
            <a:ext cx="8977087" cy="798104"/>
          </a:xfrm>
          <a:prstGeom prst="rect">
            <a:avLst/>
          </a:prstGeom>
          <a:noFill/>
        </p:spPr>
        <p:txBody>
          <a:bodyPr wrap="square" lIns="0" tIns="0" rIns="0" bIns="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Generative methods learn the joint distribution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𝑋</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𝐶</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then derive the conditional distribution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𝐶</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𝑋</m:t>
                </m:r>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 for prediction: </a:t>
            </a:r>
            <a14:m>
              <m:oMath xmlns:m="http://schemas.openxmlformats.org/officeDocument/2006/math">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d>
                  <m:d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dPr>
                  <m:e>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𝑐</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𝑖</m:t>
                        </m:r>
                      </m:sub>
                    </m:sSub>
                  </m:e>
                  <m:e>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e>
                </m:d>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f>
                  <m:f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fPr>
                  <m:num>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sSub>
                      <m:sSubPr>
                        <m:ctrlP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40503050406030204" pitchFamily="18" charset="0"/>
                            <a:cs typeface="Arial" panose="02020603050405020304" pitchFamily="18" charset="0"/>
                          </a:rPr>
                        </m:ctrlPr>
                      </m:sSubPr>
                      <m:e>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𝑐</m:t>
                        </m:r>
                      </m:e>
                      <m:sub>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𝑖</m:t>
                        </m:r>
                      </m:sub>
                    </m:sSub>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num>
                  <m:den>
                    <m:r>
                      <a:rPr kumimoji="0" lang="en-US" altLang="zh-CN" sz="1600" b="0"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𝑃</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r>
                      <a:rPr kumimoji="0" lang="en-US" altLang="zh-CN" sz="1600" b="1" i="1"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𝒙</m:t>
                    </m:r>
                    <m:r>
                      <a:rPr kumimoji="0" lang="en-US" altLang="zh-CN" sz="1600" b="0" i="0" u="none" strike="noStrike" kern="100" cap="none" spc="0" normalizeH="0" baseline="0" noProof="0">
                        <a:ln>
                          <a:noFill/>
                        </a:ln>
                        <a:solidFill>
                          <a:prstClr val="black"/>
                        </a:solidFill>
                        <a:effectLst/>
                        <a:uLnTx/>
                        <a:uFillTx/>
                        <a:latin typeface="Arial" panose="02040503050406030204" pitchFamily="18" charset="0"/>
                        <a:ea typeface="Arial" panose="02010600040101010101" pitchFamily="2" charset="-122"/>
                        <a:cs typeface="Arial" panose="02020603050405020304" pitchFamily="18" charset="0"/>
                      </a:rPr>
                      <m:t>)</m:t>
                    </m:r>
                  </m:den>
                </m:f>
              </m:oMath>
            </a14:m>
            <a:r>
              <a:rPr kumimoji="0" lang="en-US" altLang="zh-CN" sz="1600" b="0" i="0" u="none" strike="noStrike" kern="100" cap="none" spc="0" normalizeH="0" baseline="0" noProof="0" dirty="0">
                <a:ln>
                  <a:noFill/>
                </a:ln>
                <a:solidFill>
                  <a:prstClr val="black"/>
                </a:solidFill>
                <a:effectLst/>
                <a:uLnTx/>
                <a:uFillTx/>
                <a:latin typeface="Arial" panose="020B0604020202020204" pitchFamily="34" charset="0"/>
                <a:ea typeface="Arial" panose="02010609060101010101" pitchFamily="49" charset="-122"/>
                <a:cs typeface="Arial" panose="02020603050405020304" pitchFamily="18" charset="0"/>
              </a:rPr>
              <a:t>.</a:t>
            </a:r>
          </a:p>
        </p:txBody>
      </p:sp>
      <p:sp>
        <p:nvSpPr>
          <p:cNvPr id="7" name="箭头: 右 6">
            <a:extLst>
              <a:ext uri="{FF2B5EF4-FFF2-40B4-BE49-F238E27FC236}">
                <a16:creationId xmlns:a16="http://schemas.microsoft.com/office/drawing/2014/main" id="{CD34F81C-E554-E37F-3983-8BF5934C4C36}"/>
              </a:ext>
            </a:extLst>
          </p:cNvPr>
          <p:cNvSpPr/>
          <p:nvPr/>
        </p:nvSpPr>
        <p:spPr>
          <a:xfrm>
            <a:off x="3554193" y="1829609"/>
            <a:ext cx="907961" cy="43788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endParaRPr kumimoji="0" lang="en-US" altLang="en-US" sz="1600" b="0" i="0" u="none" strike="noStrike" kern="1200" cap="none" spc="0" normalizeH="0" baseline="0" noProof="0">
              <a:ln>
                <a:noFill/>
              </a:ln>
              <a:solidFill>
                <a:prstClr val="white"/>
              </a:solidFill>
              <a:effectLst/>
              <a:uLnTx/>
              <a:uFillTx/>
              <a:latin typeface="Arial"/>
              <a:ea typeface="Arial"/>
              <a:cs typeface="Arial"/>
            </a:endParaRPr>
          </a:p>
        </p:txBody>
      </p:sp>
      <p:sp>
        <p:nvSpPr>
          <p:cNvPr id="12" name="标题 11">
            <a:extLst>
              <a:ext uri="{FF2B5EF4-FFF2-40B4-BE49-F238E27FC236}">
                <a16:creationId xmlns:a16="http://schemas.microsoft.com/office/drawing/2014/main" id="{814D1E5E-C8B8-FBB1-37AB-3C3E3F1A47EB}"/>
              </a:ext>
            </a:extLst>
          </p:cNvPr>
          <p:cNvSpPr>
            <a:spLocks noGrp="1"/>
          </p:cNvSpPr>
          <p:nvPr>
            <p:ph type="title"/>
          </p:nvPr>
        </p:nvSpPr>
        <p:spPr/>
        <p:txBody>
          <a:bodyPr>
            <a:noAutofit/>
          </a:bodyPr>
          <a:lstStyle/>
          <a:p>
            <a:r>
              <a:rPr lang="en-US" altLang="en-US" dirty="0" sz="1600">
                <a:latin typeface="Arial"/>
                <a:ea typeface="Arial"/>
                <a:cs typeface="Arial"/>
              </a:rPr>
              <a:t>Generative vs. Discriminative Methods</a:t>
            </a:r>
          </a:p>
        </p:txBody>
      </p:sp>
      <p:sp xmlns:a14="http://schemas.microsoft.com/office/drawing/2010/main">
        <p:nvSpPr>
          <p:cNvPr id="5" name="文本框 4">
            <a:extLst>
              <a:ext uri="{FF2B5EF4-FFF2-40B4-BE49-F238E27FC236}">
                <a16:creationId xmlns:a16="http://schemas.microsoft.com/office/drawing/2014/main" id="{BBC1A4BC-C50F-326C-8D94-97A331F566B4}"/>
              </a:ext>
            </a:extLst>
          </p:cNvPr>
          <p:cNvSpPr txBox="1"/>
          <p:nvPr/>
        </p:nvSpPr>
        <p:spPr>
          <a:xfrm>
            <a:off x="94177" y="2452863"/>
            <a:ext cx="7818072" cy="615553"/>
          </a:xfrm>
          <a:prstGeom prst="rect">
            <a:avLst/>
          </a:prstGeom>
          <a:noFill/>
        </p:spPr>
        <p:txBody>
          <a:bodyPr wrap="square" lIns="0" tIns="0" rIns="0" bIns="0" rtlCol="0">
            <a:noAutofit/>
          </a:bodyPr>
          <a:lstStyle/>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For a given input </a:t>
            </a:r>
            <a14:m>
              <m:oMath xmlns:m="http://schemas.openxmlformats.org/officeDocument/2006/math">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 its probability </a:t>
            </a:r>
            <a14:m>
              <m:oMath xmlns:m="http://schemas.openxmlformats.org/officeDocument/2006/math">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𝑃</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r>
                  <a:rPr kumimoji="0" lang="en-US" altLang="zh-CN" sz="1600" b="1"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𝒙</m:t>
                </m:r>
                <m:r>
                  <a:rPr kumimoji="0" lang="en-US" altLang="zh-CN" sz="1600" b="0" i="1" u="none" strike="noStrike" kern="1200" cap="none" spc="0" normalizeH="0" baseline="0" noProof="0" smtClean="0">
                    <a:ln>
                      <a:noFill/>
                    </a:ln>
                    <a:solidFill>
                      <a:prstClr val="black"/>
                    </a:solidFill>
                    <a:effectLst/>
                    <a:uLnTx/>
                    <a:uFillTx/>
                    <a:latin typeface="Arial" panose="02040503050406030204" pitchFamily="18" charset="0"/>
                    <a:cs typeface="Arial"/>
                    <a:ea typeface="Arial"/>
                  </a:rPr>
                  <m:t>)</m:t>
                </m:r>
              </m:oMath>
            </a14:m>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 is the same across classes and can be omitted.</a:t>
            </a:r>
          </a:p>
          <a:p>
            <a:pPr marL="0" marR="0" lvl="0" indent="0" algn="l" defTabSz="914400" rtl="0" eaLnBrk="1" fontAlgn="auto" latinLnBrk="0" hangingPunct="1">
              <a:lnSpc>
                <a:spcPct val="100000"/>
              </a:lnSpc>
              <a:spcBef>
                <a:spcPts val="0"/>
              </a:spcBef>
              <a:spcAft>
                <a:spcPts val="0"/>
              </a:spcAft>
              <a:buClrTx/>
              <a:buSzTx/>
              <a:buFontTx/>
              <a:buNone/>
              <a:tabLst/>
              <a:defRPr sz="1600" lang="en-US">
                <a:latin typeface="Arial"/>
                <a:ea typeface="Arial"/>
                <a:cs typeface="Arial"/>
              </a:defRPr>
            </a:pPr>
            <a:r>
              <a:rPr kumimoji="0" lang="en-US" altLang="en-US" sz="1600" b="0" i="0" u="none" strike="noStrike" kern="1200" cap="none" spc="0" normalizeH="0" baseline="0" noProof="0" dirty="0">
                <a:ln>
                  <a:noFill/>
                </a:ln>
                <a:solidFill>
                  <a:prstClr val="black"/>
                </a:solidFill>
                <a:effectLst/>
                <a:uLnTx/>
                <a:uFillTx/>
                <a:latin typeface="Arial"/>
                <a:ea typeface="Arial"/>
                <a:cs typeface="Arial"/>
              </a:rPr>
              <a:t>The likelihood encodes how a class generates the input data.</a:t>
            </a:r>
          </a:p>
        </p:txBody>
      </p:sp>
      <p:sp>
        <p:nvSpPr>
          <p:cNvPr id="13" name="TextBox 12"/>
          <p:cNvSpPr txBox="1"/>
          <p:nvPr/>
        </p:nvSpPr>
        <p:spPr>
          <a:xfrm>
            <a:off x="457200" y="1847088"/>
            <a:ext cx="2743200" cy="32004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P(x, c) = P(x | c) × P(c)</a:t>
            </a:r>
          </a:p>
        </p:txBody>
      </p:sp>
      <p:sp>
        <p:nvSpPr>
          <p:cNvPr id="14" name="TextBox 13"/>
          <p:cNvSpPr txBox="1"/>
          <p:nvPr/>
        </p:nvSpPr>
        <p:spPr>
          <a:xfrm>
            <a:off x="457200" y="2194560"/>
            <a:ext cx="274320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Joint = likelihood × prior</a:t>
            </a:r>
          </a:p>
        </p:txBody>
      </p:sp>
      <p:sp>
        <p:nvSpPr>
          <p:cNvPr id="15" name="TextBox 14"/>
          <p:cNvSpPr txBox="1"/>
          <p:nvPr/>
        </p:nvSpPr>
        <p:spPr>
          <a:xfrm>
            <a:off x="4617720" y="1773936"/>
            <a:ext cx="4297680" cy="32004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P(c | x) = P(x | c) × P(c) / P(x)</a:t>
            </a:r>
          </a:p>
        </p:txBody>
      </p:sp>
      <p:sp>
        <p:nvSpPr>
          <p:cNvPr id="16" name="TextBox 15"/>
          <p:cNvSpPr txBox="1"/>
          <p:nvPr/>
        </p:nvSpPr>
        <p:spPr>
          <a:xfrm>
            <a:off x="4617720" y="2121408"/>
            <a:ext cx="4297680" cy="411480"/>
          </a:xfrm>
          <a:prstGeom prst="rect">
            <a:avLst/>
          </a:prstGeom>
          <a:noFill/>
        </p:spPr>
        <p:txBody>
          <a:bodyPr wrap="square" lIns="18288" rIns="18288" tIns="0" bIns="0">
            <a:spAutoFit/>
          </a:bodyPr>
          <a:lstStyle/>
          <a:p>
            <a:pPr>
              <a:spcBef>
                <a:spcPts val="0"/>
              </a:spcBef>
              <a:spcAft>
                <a:spcPts val="0"/>
              </a:spcAft>
            </a:pPr>
            <a:r>
              <a:rPr sz="1600">
                <a:solidFill>
                  <a:srgbClr val="000000"/>
                </a:solidFill>
                <a:latin typeface="Arial"/>
                <a:ea typeface="Arial"/>
                <a:cs typeface="Arial"/>
              </a:rPr>
              <a:t>Posterior = likelihood × prior / evidence</a:t>
            </a:r>
          </a:p>
        </p:txBody>
      </p:sp>
    </p:spTree>
    <p:extLst>
      <p:ext uri="{BB962C8B-B14F-4D97-AF65-F5344CB8AC3E}">
        <p14:creationId xmlns:p14="http://schemas.microsoft.com/office/powerpoint/2010/main" val="3928368893"/>
      </p:ext>
    </p:extLst>
  </p:cSld>
  <p:clrMapOvr>
    <a:masterClrMapping/>
  </p:clrMapOvr>
</p:sld>
</file>

<file path=ppt/theme/theme1.xml><?xml version="1.0" encoding="utf-8"?>
<a:theme xmlns:a="http://schemas.openxmlformats.org/drawingml/2006/main" name="白底灰边-Office2010风格">
  <a:themeElements>
    <a:clrScheme name="Office 2007-2010">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黑体+Times">
      <a:majorFont>
        <a:latin typeface="Times New Roman"/>
        <a:ea typeface="黑体"/>
        <a:cs typeface=""/>
      </a:majorFont>
      <a:minorFont>
        <a:latin typeface="Times New Roman"/>
        <a:ea typeface="黑体"/>
        <a:cs typeface=""/>
      </a:minorFont>
    </a:fontScheme>
    <a:fmtScheme name="Office 2007-2010">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白底灰边-Office2010风格</Template>
  <TotalTime>13637</TotalTime>
  <Words>15898</Words>
  <Application>Microsoft Office PowerPoint</Application>
  <PresentationFormat>全屏显示(4:3)</PresentationFormat>
  <Paragraphs>1356</Paragraphs>
  <Slides>111</Slides>
  <Notes>24</Notes>
  <HiddenSlides>0</HiddenSlides>
  <MMClips>0</MMClips>
  <ScaleCrop>false</ScaleCrop>
  <HeadingPairs>
    <vt:vector size="8" baseType="variant">
      <vt:variant>
        <vt:lpstr>已用的字体</vt:lpstr>
      </vt:variant>
      <vt:variant>
        <vt:i4>13</vt:i4>
      </vt:variant>
      <vt:variant>
        <vt:lpstr>主题</vt:lpstr>
      </vt:variant>
      <vt:variant>
        <vt:i4>1</vt:i4>
      </vt:variant>
      <vt:variant>
        <vt:lpstr>嵌入 OLE 服务器</vt:lpstr>
      </vt:variant>
      <vt:variant>
        <vt:i4>1</vt:i4>
      </vt:variant>
      <vt:variant>
        <vt:lpstr>幻灯片标题</vt:lpstr>
      </vt:variant>
      <vt:variant>
        <vt:i4>111</vt:i4>
      </vt:variant>
    </vt:vector>
  </HeadingPairs>
  <TitlesOfParts>
    <vt:vector size="126" baseType="lpstr">
      <vt:lpstr>-apple-system</vt:lpstr>
      <vt:lpstr>Malgun Gothic</vt:lpstr>
      <vt:lpstr>PingFang SC</vt:lpstr>
      <vt:lpstr>Times </vt:lpstr>
      <vt:lpstr>等线</vt:lpstr>
      <vt:lpstr>黑体</vt:lpstr>
      <vt:lpstr>Arial</vt:lpstr>
      <vt:lpstr>Calibri</vt:lpstr>
      <vt:lpstr>Cambria Math</vt:lpstr>
      <vt:lpstr>Roboto</vt:lpstr>
      <vt:lpstr>Times New Roman</vt:lpstr>
      <vt:lpstr>Verdana</vt:lpstr>
      <vt:lpstr>Wingdings</vt:lpstr>
      <vt:lpstr>白底灰边-Office2010风格</vt:lpstr>
      <vt:lpstr>Formula</vt:lpstr>
      <vt:lpstr>第6章 机器学习</vt:lpstr>
      <vt:lpstr>主要内容</vt:lpstr>
      <vt:lpstr>主要内容</vt:lpstr>
      <vt:lpstr>智能体的结构</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机器学习的基本概念</vt:lpstr>
      <vt:lpstr>主成分分析</vt:lpstr>
      <vt:lpstr>主成分分析</vt:lpstr>
      <vt:lpstr>主成分分析</vt:lpstr>
      <vt:lpstr>主成分分析</vt:lpstr>
      <vt:lpstr>主成分分析</vt:lpstr>
      <vt:lpstr>主成分分析</vt:lpstr>
      <vt:lpstr>主成分分析</vt:lpstr>
      <vt:lpstr>主成分分析</vt:lpstr>
      <vt:lpstr>主成分分析</vt:lpstr>
      <vt:lpstr>基于特征人脸的降维</vt:lpstr>
      <vt:lpstr>基于特征人脸的降维</vt:lpstr>
      <vt:lpstr>特征人脸方法  算法描述</vt:lpstr>
      <vt:lpstr>其他常用的降维方法</vt:lpstr>
      <vt:lpstr>线性区别分析：二分类问题</vt:lpstr>
      <vt:lpstr>线性区别分析：二分类问题</vt:lpstr>
      <vt:lpstr>线性区别分析：二分类问题</vt:lpstr>
      <vt:lpstr>线性区别分析：多分类问题</vt:lpstr>
      <vt:lpstr>线性区别分析：多分类问题</vt:lpstr>
      <vt:lpstr>线性区别分析：线性判别分析的降维步骤</vt:lpstr>
      <vt:lpstr>机器学习的基本概念</vt:lpstr>
      <vt:lpstr>机器学习的基本概念</vt:lpstr>
      <vt:lpstr>机器学习的基本概念</vt:lpstr>
      <vt:lpstr>主要内容</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计算学习理论</vt:lpstr>
      <vt:lpstr>主要内容</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支持向量机</vt:lpstr>
      <vt:lpstr>主要内容</vt:lpstr>
      <vt:lpstr>Boosting</vt:lpstr>
      <vt:lpstr>Boosting</vt:lpstr>
      <vt:lpstr>Boosting</vt:lpstr>
      <vt:lpstr>Ada Boost  思路描述</vt:lpstr>
      <vt:lpstr>Ada Boost  算法描述</vt:lpstr>
      <vt:lpstr>Ada Boost  算法描述</vt:lpstr>
      <vt:lpstr>Ada Boost  算法解释</vt:lpstr>
      <vt:lpstr>Ada Boost  算法解释</vt:lpstr>
      <vt:lpstr>Ada Boost  算法解释</vt:lpstr>
      <vt:lpstr>主要内容</vt:lpstr>
      <vt:lpstr>生成式方法与判别式方法</vt:lpstr>
      <vt:lpstr>生成式方法与判别式方法</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yinglong</dc:creator>
  <cp:lastModifiedBy>Lorin YING</cp:lastModifiedBy>
  <cp:revision>2131</cp:revision>
  <dcterms:created xsi:type="dcterms:W3CDTF">2018-01-15T02:11:00Z</dcterms:created>
  <dcterms:modified xsi:type="dcterms:W3CDTF">2025-11-18T05:25:02Z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2052-11.1.0.9440</vt:lpwstr>
  </property>
</Properties>
</file>